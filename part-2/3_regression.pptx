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8229600" cx="14630400"/>
  <p:notesSz cx="8229600" cy="14630400"/>
  <p:embeddedFontLst>
    <p:embeddedFont>
      <p:font typeface="Kanit Light"/>
      <p:regular r:id="rId25"/>
      <p:bold r:id="rId26"/>
      <p:italic r:id="rId27"/>
      <p:boldItalic r:id="rId28"/>
    </p:embeddedFont>
    <p:embeddedFont>
      <p:font typeface="Martel Sans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jGJofZQZKBD5rVV7Bq4JtjQ02h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KanitLight-bold.fntdata"/><Relationship Id="rId25" Type="http://schemas.openxmlformats.org/officeDocument/2006/relationships/font" Target="fonts/KanitLight-regular.fntdata"/><Relationship Id="rId28" Type="http://schemas.openxmlformats.org/officeDocument/2006/relationships/font" Target="fonts/KanitLight-boldItalic.fntdata"/><Relationship Id="rId27" Type="http://schemas.openxmlformats.org/officeDocument/2006/relationships/font" Target="fonts/Kanit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artel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MartelSans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" name="Google Shape;7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"/>
          <p:cNvSpPr/>
          <p:nvPr/>
        </p:nvSpPr>
        <p:spPr>
          <a:xfrm>
            <a:off x="6280190" y="2155746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Machine Learning Regression Models: Predicting Continuous Outcomes</a:t>
            </a:r>
            <a:endParaRPr b="0" i="0" sz="4450" u="none" cap="none" strike="noStrike"/>
          </a:p>
        </p:txBody>
      </p:sp>
      <p:sp>
        <p:nvSpPr>
          <p:cNvPr id="78" name="Google Shape;78;p1"/>
          <p:cNvSpPr/>
          <p:nvPr/>
        </p:nvSpPr>
        <p:spPr>
          <a:xfrm>
            <a:off x="6280190" y="4622244"/>
            <a:ext cx="75564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Explore the foundational techniques that power prediction across industries, from forecasting stock prices to estimating real estate values. Regression models transform raw data into actionable insights.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4" name="Google Shape;8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"/>
          <p:cNvSpPr/>
          <p:nvPr/>
        </p:nvSpPr>
        <p:spPr>
          <a:xfrm>
            <a:off x="793790" y="4299109"/>
            <a:ext cx="11341298" cy="1417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8900"/>
              <a:buFont typeface="Kanit Light"/>
              <a:buNone/>
            </a:pPr>
            <a:r>
              <a:rPr b="0" i="0" lang="en-US" sz="890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Chapter 1</a:t>
            </a:r>
            <a:endParaRPr b="0" i="0" sz="8900" u="none" cap="none" strike="noStrike"/>
          </a:p>
        </p:txBody>
      </p:sp>
      <p:sp>
        <p:nvSpPr>
          <p:cNvPr id="86" name="Google Shape;86;p2"/>
          <p:cNvSpPr/>
          <p:nvPr/>
        </p:nvSpPr>
        <p:spPr>
          <a:xfrm>
            <a:off x="793790" y="6056948"/>
            <a:ext cx="1165645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Understanding Regression in Machine Learning</a:t>
            </a:r>
            <a:endParaRPr b="0" i="0" sz="44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/>
          <p:nvPr/>
        </p:nvSpPr>
        <p:spPr>
          <a:xfrm>
            <a:off x="793790" y="118622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What is Regression?</a:t>
            </a:r>
            <a:endParaRPr b="0" i="0" sz="4450" u="none" cap="none" strike="noStrike"/>
          </a:p>
        </p:txBody>
      </p:sp>
      <p:sp>
        <p:nvSpPr>
          <p:cNvPr id="93" name="Google Shape;93;p3"/>
          <p:cNvSpPr/>
          <p:nvPr/>
        </p:nvSpPr>
        <p:spPr>
          <a:xfrm>
            <a:off x="793790" y="2439233"/>
            <a:ext cx="7604284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Regression is a powerful supervised learning technique that models the relationship between input features and a continuous output variable. Unlike classification, which predicts categories, regression predicts measurable quantities.</a:t>
            </a:r>
            <a:endParaRPr b="0" i="0" sz="1750" u="none" cap="none" strike="noStrike"/>
          </a:p>
        </p:txBody>
      </p:sp>
      <p:sp>
        <p:nvSpPr>
          <p:cNvPr id="94" name="Google Shape;94;p3"/>
          <p:cNvSpPr/>
          <p:nvPr/>
        </p:nvSpPr>
        <p:spPr>
          <a:xfrm>
            <a:off x="793790" y="4094917"/>
            <a:ext cx="7604284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At its core, regression learns patterns from labeled training data—datasets where both inputs and outputs are known. The model then generalizes these patterns to make accurate predictions on new, unseen data.</a:t>
            </a:r>
            <a:endParaRPr b="0" i="0" sz="1750" u="none" cap="none" strike="noStrike"/>
          </a:p>
        </p:txBody>
      </p:sp>
      <p:sp>
        <p:nvSpPr>
          <p:cNvPr id="95" name="Google Shape;95;p3"/>
          <p:cNvSpPr/>
          <p:nvPr/>
        </p:nvSpPr>
        <p:spPr>
          <a:xfrm>
            <a:off x="793790" y="5750600"/>
            <a:ext cx="7604284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Common applications include predicting house prices, forecasting temperatures, estimating customer lifetime value, and projecting sales figures.</a:t>
            </a:r>
            <a:endParaRPr b="0" i="0" sz="1750" u="none" cap="none" strike="noStrike"/>
          </a:p>
        </p:txBody>
      </p:sp>
      <p:pic>
        <p:nvPicPr>
          <p:cNvPr descr="preencoded.png"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9096" y="2490311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2" name="Google Shape;10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6260902" y="609124"/>
            <a:ext cx="5819299" cy="691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350"/>
              <a:buFont typeface="Kanit Light"/>
              <a:buNone/>
            </a:pPr>
            <a:r>
              <a:rPr b="0" i="0" lang="en-US" sz="43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Why Regression Matters</a:t>
            </a:r>
            <a:endParaRPr b="0" i="0" sz="4350" u="none" cap="none" strike="noStrike"/>
          </a:p>
        </p:txBody>
      </p:sp>
      <p:sp>
        <p:nvSpPr>
          <p:cNvPr id="104" name="Google Shape;104;p4"/>
          <p:cNvSpPr/>
          <p:nvPr/>
        </p:nvSpPr>
        <p:spPr>
          <a:xfrm>
            <a:off x="6260902" y="1632466"/>
            <a:ext cx="3686889" cy="3237428"/>
          </a:xfrm>
          <a:prstGeom prst="roundRect">
            <a:avLst>
              <a:gd fmla="val 2871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489740" y="1861304"/>
            <a:ext cx="663773" cy="663773"/>
          </a:xfrm>
          <a:prstGeom prst="roundRect">
            <a:avLst>
              <a:gd fmla="val 13774416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2263" y="2043708"/>
            <a:ext cx="298728" cy="29872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/>
          <p:nvPr/>
        </p:nvSpPr>
        <p:spPr>
          <a:xfrm>
            <a:off x="6489740" y="2746296"/>
            <a:ext cx="2766179" cy="345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50"/>
              <a:buFont typeface="Kanit Light"/>
              <a:buNone/>
            </a:pPr>
            <a:r>
              <a:rPr b="0" i="0" lang="en-US" sz="21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Forecasting Power</a:t>
            </a:r>
            <a:endParaRPr b="0" i="0" sz="2150" u="none" cap="none" strike="noStrike"/>
          </a:p>
        </p:txBody>
      </p:sp>
      <p:sp>
        <p:nvSpPr>
          <p:cNvPr id="108" name="Google Shape;108;p4"/>
          <p:cNvSpPr/>
          <p:nvPr/>
        </p:nvSpPr>
        <p:spPr>
          <a:xfrm>
            <a:off x="6489740" y="3224689"/>
            <a:ext cx="3229213" cy="1416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00"/>
              <a:buFont typeface="Martel Sans"/>
              <a:buNone/>
            </a:pP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Enables accurate predictions in finance, healthcare, real estate, retail, and manufacturing sectors</a:t>
            </a:r>
            <a:endParaRPr b="0" i="0" sz="1700" u="none" cap="none" strike="noStrike"/>
          </a:p>
        </p:txBody>
      </p:sp>
      <p:sp>
        <p:nvSpPr>
          <p:cNvPr id="109" name="Google Shape;109;p4"/>
          <p:cNvSpPr/>
          <p:nvPr/>
        </p:nvSpPr>
        <p:spPr>
          <a:xfrm>
            <a:off x="10169009" y="1632466"/>
            <a:ext cx="3686889" cy="3237428"/>
          </a:xfrm>
          <a:prstGeom prst="roundRect">
            <a:avLst>
              <a:gd fmla="val 2871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10397847" y="1861304"/>
            <a:ext cx="663773" cy="663773"/>
          </a:xfrm>
          <a:prstGeom prst="roundRect">
            <a:avLst>
              <a:gd fmla="val 13774416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80370" y="2043708"/>
            <a:ext cx="298728" cy="29872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10397847" y="2746296"/>
            <a:ext cx="2766179" cy="345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50"/>
              <a:buFont typeface="Kanit Light"/>
              <a:buNone/>
            </a:pPr>
            <a:r>
              <a:rPr b="0" i="0" lang="en-US" sz="21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Data Completion</a:t>
            </a:r>
            <a:endParaRPr b="0" i="0" sz="2150" u="none" cap="none" strike="noStrike"/>
          </a:p>
        </p:txBody>
      </p:sp>
      <p:sp>
        <p:nvSpPr>
          <p:cNvPr id="113" name="Google Shape;113;p4"/>
          <p:cNvSpPr/>
          <p:nvPr/>
        </p:nvSpPr>
        <p:spPr>
          <a:xfrm>
            <a:off x="10397847" y="3224689"/>
            <a:ext cx="3229213" cy="1416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00"/>
              <a:buFont typeface="Martel Sans"/>
              <a:buNone/>
            </a:pP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Fills missing values and estimates trends from historical patterns to create complete datasets</a:t>
            </a:r>
            <a:endParaRPr b="0" i="0" sz="1700" u="none" cap="none" strike="noStrike"/>
          </a:p>
        </p:txBody>
      </p:sp>
      <p:sp>
        <p:nvSpPr>
          <p:cNvPr id="114" name="Google Shape;114;p4"/>
          <p:cNvSpPr/>
          <p:nvPr/>
        </p:nvSpPr>
        <p:spPr>
          <a:xfrm>
            <a:off x="6260902" y="5091112"/>
            <a:ext cx="7594997" cy="2529245"/>
          </a:xfrm>
          <a:prstGeom prst="roundRect">
            <a:avLst>
              <a:gd fmla="val 3675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489740" y="5319951"/>
            <a:ext cx="663773" cy="663773"/>
          </a:xfrm>
          <a:prstGeom prst="roundRect">
            <a:avLst>
              <a:gd fmla="val 13774416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2263" y="5502354"/>
            <a:ext cx="298728" cy="29872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6489740" y="6204942"/>
            <a:ext cx="2766179" cy="345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50"/>
              <a:buFont typeface="Kanit Light"/>
              <a:buNone/>
            </a:pPr>
            <a:r>
              <a:rPr b="0" i="0" lang="en-US" sz="21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Smart Decisions</a:t>
            </a:r>
            <a:endParaRPr b="0" i="0" sz="2150" u="none" cap="none" strike="noStrike"/>
          </a:p>
        </p:txBody>
      </p:sp>
      <p:sp>
        <p:nvSpPr>
          <p:cNvPr id="118" name="Google Shape;118;p4"/>
          <p:cNvSpPr/>
          <p:nvPr/>
        </p:nvSpPr>
        <p:spPr>
          <a:xfrm>
            <a:off x="6489740" y="6683335"/>
            <a:ext cx="7137321" cy="708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00"/>
              <a:buFont typeface="Martel Sans"/>
              <a:buNone/>
            </a:pP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Transforms raw data into actionable insights that drive strategic business decisions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793790" y="386869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Visualizing Regression</a:t>
            </a:r>
            <a:endParaRPr b="0" i="0" sz="4450" u="none" cap="none" strike="noStrike"/>
          </a:p>
        </p:txBody>
      </p:sp>
      <p:sp>
        <p:nvSpPr>
          <p:cNvPr id="126" name="Google Shape;126;p5"/>
          <p:cNvSpPr/>
          <p:nvPr/>
        </p:nvSpPr>
        <p:spPr>
          <a:xfrm>
            <a:off x="793790" y="4917638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Kanit Light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01</a:t>
            </a:r>
            <a:endParaRPr b="0" i="0" sz="1750" u="none" cap="none" strike="noStrike"/>
          </a:p>
        </p:txBody>
      </p:sp>
      <p:sp>
        <p:nvSpPr>
          <p:cNvPr id="127" name="Google Shape;127;p5"/>
          <p:cNvSpPr/>
          <p:nvPr/>
        </p:nvSpPr>
        <p:spPr>
          <a:xfrm>
            <a:off x="793790" y="5272683"/>
            <a:ext cx="4196358" cy="30480"/>
          </a:xfrm>
          <a:prstGeom prst="rect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793790" y="544699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Plot Your Data</a:t>
            </a:r>
            <a:endParaRPr b="0" i="0" sz="2200" u="none" cap="none" strike="noStrike"/>
          </a:p>
        </p:txBody>
      </p:sp>
      <p:sp>
        <p:nvSpPr>
          <p:cNvPr id="129" name="Google Shape;129;p5"/>
          <p:cNvSpPr/>
          <p:nvPr/>
        </p:nvSpPr>
        <p:spPr>
          <a:xfrm>
            <a:off x="793790" y="5937409"/>
            <a:ext cx="4196358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Start by visualizing data points on a coordinate system, with features on x-axis and target values on y-axis</a:t>
            </a:r>
            <a:endParaRPr b="0" i="0" sz="1750" u="none" cap="none" strike="noStrike"/>
          </a:p>
        </p:txBody>
      </p:sp>
      <p:sp>
        <p:nvSpPr>
          <p:cNvPr id="130" name="Google Shape;130;p5"/>
          <p:cNvSpPr/>
          <p:nvPr/>
        </p:nvSpPr>
        <p:spPr>
          <a:xfrm>
            <a:off x="5216950" y="4917793"/>
            <a:ext cx="12474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Kanit Light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02</a:t>
            </a:r>
            <a:endParaRPr b="0" i="0" sz="1750" u="none" cap="none" strike="noStrike"/>
          </a:p>
        </p:txBody>
      </p:sp>
      <p:sp>
        <p:nvSpPr>
          <p:cNvPr id="131" name="Google Shape;131;p5"/>
          <p:cNvSpPr/>
          <p:nvPr/>
        </p:nvSpPr>
        <p:spPr>
          <a:xfrm>
            <a:off x="5216962" y="5272683"/>
            <a:ext cx="4196358" cy="30480"/>
          </a:xfrm>
          <a:prstGeom prst="rect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5216962" y="544699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Fit the Trend</a:t>
            </a:r>
            <a:endParaRPr b="0" i="0" sz="2200" u="none" cap="none" strike="noStrike"/>
          </a:p>
        </p:txBody>
      </p:sp>
      <p:sp>
        <p:nvSpPr>
          <p:cNvPr id="133" name="Google Shape;133;p5"/>
          <p:cNvSpPr/>
          <p:nvPr/>
        </p:nvSpPr>
        <p:spPr>
          <a:xfrm>
            <a:off x="5216962" y="5937409"/>
            <a:ext cx="4196358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Regression algorithms find a line or curve that best represents the underlying pattern in your data</a:t>
            </a:r>
            <a:endParaRPr b="0" i="0" sz="1750" u="none" cap="none" strike="noStrike"/>
          </a:p>
        </p:txBody>
      </p:sp>
      <p:sp>
        <p:nvSpPr>
          <p:cNvPr id="134" name="Google Shape;134;p5"/>
          <p:cNvSpPr/>
          <p:nvPr/>
        </p:nvSpPr>
        <p:spPr>
          <a:xfrm>
            <a:off x="9640125" y="4917850"/>
            <a:ext cx="12474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Kanit Light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03</a:t>
            </a:r>
            <a:endParaRPr b="0" i="0" sz="1750" u="none" cap="none" strike="noStrike"/>
          </a:p>
        </p:txBody>
      </p:sp>
      <p:sp>
        <p:nvSpPr>
          <p:cNvPr id="135" name="Google Shape;135;p5"/>
          <p:cNvSpPr/>
          <p:nvPr/>
        </p:nvSpPr>
        <p:spPr>
          <a:xfrm>
            <a:off x="9640133" y="5272683"/>
            <a:ext cx="4196358" cy="30480"/>
          </a:xfrm>
          <a:prstGeom prst="rect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9640133" y="544699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Minimize Error</a:t>
            </a:r>
            <a:endParaRPr b="0" i="0" sz="2200" u="none" cap="none" strike="noStrike"/>
          </a:p>
        </p:txBody>
      </p:sp>
      <p:sp>
        <p:nvSpPr>
          <p:cNvPr id="137" name="Google Shape;137;p5"/>
          <p:cNvSpPr/>
          <p:nvPr/>
        </p:nvSpPr>
        <p:spPr>
          <a:xfrm>
            <a:off x="9640133" y="5937409"/>
            <a:ext cx="4196358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The model optimizes to minimize the distance between actual data points and the fitted line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3" name="Google Shape;1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793790" y="2527102"/>
            <a:ext cx="7556421" cy="1417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8900"/>
              <a:buFont typeface="Kanit Light"/>
              <a:buNone/>
            </a:pPr>
            <a:r>
              <a:rPr b="0" i="0" lang="en-US" sz="890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Chapter 2</a:t>
            </a:r>
            <a:endParaRPr b="0" i="0" sz="8900" u="none" cap="none" strike="noStrike"/>
          </a:p>
        </p:txBody>
      </p:sp>
      <p:sp>
        <p:nvSpPr>
          <p:cNvPr id="145" name="Google Shape;145;p6"/>
          <p:cNvSpPr/>
          <p:nvPr/>
        </p:nvSpPr>
        <p:spPr>
          <a:xfrm>
            <a:off x="793790" y="4284940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Key Types of Regression Models</a:t>
            </a:r>
            <a:endParaRPr b="0" i="0" sz="44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/>
          <p:nvPr/>
        </p:nvSpPr>
        <p:spPr>
          <a:xfrm>
            <a:off x="793790" y="1041559"/>
            <a:ext cx="623851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Simple Linear Regression</a:t>
            </a:r>
            <a:endParaRPr b="0" i="0" sz="4450" u="none" cap="none" strike="noStrike"/>
          </a:p>
        </p:txBody>
      </p:sp>
      <p:pic>
        <p:nvPicPr>
          <p:cNvPr descr="preencoded.png" id="152" name="Google Shape;1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345650"/>
            <a:ext cx="2286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/>
          <p:nvPr/>
        </p:nvSpPr>
        <p:spPr>
          <a:xfrm>
            <a:off x="7599521" y="2317313"/>
            <a:ext cx="4454128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650"/>
              <a:buFont typeface="Kanit Light"/>
              <a:buNone/>
            </a:pPr>
            <a:r>
              <a:rPr b="0" i="0" lang="en-US" sz="26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The Foundation of Regression</a:t>
            </a:r>
            <a:endParaRPr b="0" i="0" sz="2650" u="none" cap="none" strike="noStrike"/>
          </a:p>
        </p:txBody>
      </p:sp>
      <p:sp>
        <p:nvSpPr>
          <p:cNvPr id="154" name="Google Shape;154;p7"/>
          <p:cNvSpPr/>
          <p:nvPr/>
        </p:nvSpPr>
        <p:spPr>
          <a:xfrm>
            <a:off x="7599521" y="2969419"/>
            <a:ext cx="62447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Simple linear regression models a straight-line relationship between a single input feature and the target variable. It's the most intuitive form of regression.</a:t>
            </a:r>
            <a:endParaRPr b="0" i="0" sz="1750" u="none" cap="none" strike="noStrike"/>
          </a:p>
        </p:txBody>
      </p:sp>
      <p:sp>
        <p:nvSpPr>
          <p:cNvPr id="155" name="Google Shape;155;p7"/>
          <p:cNvSpPr/>
          <p:nvPr/>
        </p:nvSpPr>
        <p:spPr>
          <a:xfrm>
            <a:off x="7599521" y="4313277"/>
            <a:ext cx="6244709" cy="1326713"/>
          </a:xfrm>
          <a:prstGeom prst="roundRect">
            <a:avLst>
              <a:gd fmla="val 7181" name="adj"/>
            </a:avLst>
          </a:prstGeom>
          <a:solidFill>
            <a:srgbClr val="CFE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6335" y="4626888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8336637" y="4596765"/>
            <a:ext cx="528077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artel Sans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Martel Sans"/>
                <a:ea typeface="Martel Sans"/>
                <a:cs typeface="Martel Sans"/>
                <a:sym typeface="Martel Sans"/>
              </a:rPr>
              <a:t>Equation:</a:t>
            </a:r>
            <a:r>
              <a:rPr b="0" i="0" lang="en-US" sz="1750" u="none" cap="none" strike="noStrike">
                <a:solidFill>
                  <a:srgbClr val="000000"/>
                </a:solidFill>
                <a:latin typeface="Martel Sans"/>
                <a:ea typeface="Martel Sans"/>
                <a:cs typeface="Martel Sans"/>
                <a:sym typeface="Martel Sans"/>
              </a:rPr>
              <a:t> y = mx + b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Martel Sans"/>
                <a:ea typeface="Martel Sans"/>
                <a:cs typeface="Martel Sans"/>
                <a:sym typeface="Martel Sans"/>
              </a:rPr>
              <a:t>where m is the slope and b is the y-intercept</a:t>
            </a:r>
            <a:endParaRPr b="0" i="0" sz="1750" u="none" cap="none" strike="noStrike"/>
          </a:p>
        </p:txBody>
      </p:sp>
      <p:sp>
        <p:nvSpPr>
          <p:cNvPr id="158" name="Google Shape;158;p7"/>
          <p:cNvSpPr/>
          <p:nvPr/>
        </p:nvSpPr>
        <p:spPr>
          <a:xfrm>
            <a:off x="7599521" y="5895142"/>
            <a:ext cx="62447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Example:</a:t>
            </a: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Predicting house price based solely on square footage. The model learns how price changes for each additional square foot.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4" name="Google Shape;1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793790" y="1020247"/>
            <a:ext cx="652593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Multiple Linear Regression</a:t>
            </a:r>
            <a:endParaRPr b="0" i="0" sz="4450" u="none" cap="none" strike="noStrike"/>
          </a:p>
        </p:txBody>
      </p:sp>
      <p:sp>
        <p:nvSpPr>
          <p:cNvPr id="166" name="Google Shape;166;p8"/>
          <p:cNvSpPr/>
          <p:nvPr/>
        </p:nvSpPr>
        <p:spPr>
          <a:xfrm>
            <a:off x="793790" y="2069187"/>
            <a:ext cx="3664744" cy="3182422"/>
          </a:xfrm>
          <a:prstGeom prst="roundRect">
            <a:avLst>
              <a:gd fmla="val 2994" name="adj"/>
            </a:avLst>
          </a:prstGeom>
          <a:solidFill>
            <a:srgbClr val="FFFFFF"/>
          </a:solidFill>
          <a:ln cap="flat" cmpd="sng" w="3047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1051084" y="232648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Multiple Features</a:t>
            </a:r>
            <a:endParaRPr b="0" i="0" sz="2200" u="none" cap="none" strike="noStrike"/>
          </a:p>
        </p:txBody>
      </p:sp>
      <p:sp>
        <p:nvSpPr>
          <p:cNvPr id="168" name="Google Shape;168;p8"/>
          <p:cNvSpPr/>
          <p:nvPr/>
        </p:nvSpPr>
        <p:spPr>
          <a:xfrm>
            <a:off x="1051084" y="2816900"/>
            <a:ext cx="3150156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Extends simple linear regression to handle multiple input variables simultaneously, capturing complex real-world relationships</a:t>
            </a:r>
            <a:endParaRPr b="0" i="0" sz="1750" u="none" cap="none" strike="noStrike"/>
          </a:p>
        </p:txBody>
      </p:sp>
      <p:sp>
        <p:nvSpPr>
          <p:cNvPr id="169" name="Google Shape;169;p8"/>
          <p:cNvSpPr/>
          <p:nvPr/>
        </p:nvSpPr>
        <p:spPr>
          <a:xfrm>
            <a:off x="4685348" y="2069187"/>
            <a:ext cx="3664863" cy="3182422"/>
          </a:xfrm>
          <a:prstGeom prst="roundRect">
            <a:avLst>
              <a:gd fmla="val 2994" name="adj"/>
            </a:avLst>
          </a:prstGeom>
          <a:solidFill>
            <a:srgbClr val="FFFFFF"/>
          </a:solidFill>
          <a:ln cap="flat" cmpd="sng" w="3047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4942642" y="232648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Weighted Influence</a:t>
            </a:r>
            <a:endParaRPr b="0" i="0" sz="2200" u="none" cap="none" strike="noStrike"/>
          </a:p>
        </p:txBody>
      </p:sp>
      <p:sp>
        <p:nvSpPr>
          <p:cNvPr id="171" name="Google Shape;171;p8"/>
          <p:cNvSpPr/>
          <p:nvPr/>
        </p:nvSpPr>
        <p:spPr>
          <a:xfrm>
            <a:off x="4942642" y="2816900"/>
            <a:ext cx="3150275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Each feature receives a unique weight coefficient that quantifies its contribution to the final prediction</a:t>
            </a:r>
            <a:endParaRPr b="0" i="0" sz="1750" u="none" cap="none" strike="noStrike"/>
          </a:p>
        </p:txBody>
      </p:sp>
      <p:sp>
        <p:nvSpPr>
          <p:cNvPr id="172" name="Google Shape;172;p8"/>
          <p:cNvSpPr/>
          <p:nvPr/>
        </p:nvSpPr>
        <p:spPr>
          <a:xfrm>
            <a:off x="793790" y="5478423"/>
            <a:ext cx="7556421" cy="1730812"/>
          </a:xfrm>
          <a:prstGeom prst="roundRect">
            <a:avLst>
              <a:gd fmla="val 5504" name="adj"/>
            </a:avLst>
          </a:prstGeom>
          <a:solidFill>
            <a:srgbClr val="FFFFFF"/>
          </a:solidFill>
          <a:ln cap="flat" cmpd="sng" w="3047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1051084" y="573571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Real Application</a:t>
            </a:r>
            <a:endParaRPr b="0" i="0" sz="2200" u="none" cap="none" strike="noStrike"/>
          </a:p>
        </p:txBody>
      </p:sp>
      <p:sp>
        <p:nvSpPr>
          <p:cNvPr id="174" name="Google Shape;174;p8"/>
          <p:cNvSpPr/>
          <p:nvPr/>
        </p:nvSpPr>
        <p:spPr>
          <a:xfrm>
            <a:off x="1051084" y="6226135"/>
            <a:ext cx="704183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Predict house prices using size, location, number of bedrooms, age, and neighborhood amenities all at once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/>
          <p:nvPr/>
        </p:nvSpPr>
        <p:spPr>
          <a:xfrm>
            <a:off x="793790" y="1194792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Polynomial Regression</a:t>
            </a:r>
            <a:endParaRPr b="0" i="0" sz="4450" u="none" cap="none" strike="noStrike"/>
          </a:p>
        </p:txBody>
      </p:sp>
      <p:sp>
        <p:nvSpPr>
          <p:cNvPr id="181" name="Google Shape;181;p9"/>
          <p:cNvSpPr/>
          <p:nvPr/>
        </p:nvSpPr>
        <p:spPr>
          <a:xfrm>
            <a:off x="793790" y="2470547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650"/>
              <a:buFont typeface="Kanit Light"/>
              <a:buNone/>
            </a:pPr>
            <a:r>
              <a:rPr b="0" i="0" lang="en-US" sz="26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Capturing Complexity</a:t>
            </a:r>
            <a:endParaRPr b="0" i="0" sz="2650" u="none" cap="none" strike="noStrike"/>
          </a:p>
        </p:txBody>
      </p:sp>
      <p:sp>
        <p:nvSpPr>
          <p:cNvPr id="182" name="Google Shape;182;p9"/>
          <p:cNvSpPr/>
          <p:nvPr/>
        </p:nvSpPr>
        <p:spPr>
          <a:xfrm>
            <a:off x="793790" y="3122652"/>
            <a:ext cx="556486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When relationships aren't linear, polynomial regression adds higher-order terms (x², x³, etc.) to model curves and complex patterns.</a:t>
            </a:r>
            <a:endParaRPr b="0" i="0" sz="1750" u="none" cap="none" strike="noStrike"/>
          </a:p>
        </p:txBody>
      </p:sp>
      <p:sp>
        <p:nvSpPr>
          <p:cNvPr id="183" name="Google Shape;183;p9"/>
          <p:cNvSpPr/>
          <p:nvPr/>
        </p:nvSpPr>
        <p:spPr>
          <a:xfrm>
            <a:off x="793790" y="4415433"/>
            <a:ext cx="556486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Perfect for scenarios where the rate of change itself changes—like accelerating growth, diminishing returns, or cyclical patterns.</a:t>
            </a:r>
            <a:endParaRPr b="0" i="0" sz="1750" u="none" cap="none" strike="noStrike"/>
          </a:p>
        </p:txBody>
      </p:sp>
      <p:sp>
        <p:nvSpPr>
          <p:cNvPr id="184" name="Google Shape;184;p9"/>
          <p:cNvSpPr/>
          <p:nvPr/>
        </p:nvSpPr>
        <p:spPr>
          <a:xfrm>
            <a:off x="793790" y="5708213"/>
            <a:ext cx="556486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Population growth over decades</a:t>
            </a:r>
            <a:endParaRPr b="0" i="0" sz="1750" u="none" cap="none" strike="noStrike"/>
          </a:p>
        </p:txBody>
      </p:sp>
      <p:sp>
        <p:nvSpPr>
          <p:cNvPr id="185" name="Google Shape;185;p9"/>
          <p:cNvSpPr/>
          <p:nvPr/>
        </p:nvSpPr>
        <p:spPr>
          <a:xfrm>
            <a:off x="793790" y="6150412"/>
            <a:ext cx="556486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Product sales lifecycle curves</a:t>
            </a:r>
            <a:endParaRPr b="0" i="0" sz="1750" u="none" cap="none" strike="noStrike"/>
          </a:p>
        </p:txBody>
      </p:sp>
      <p:sp>
        <p:nvSpPr>
          <p:cNvPr id="186" name="Google Shape;186;p9"/>
          <p:cNvSpPr/>
          <p:nvPr/>
        </p:nvSpPr>
        <p:spPr>
          <a:xfrm>
            <a:off x="793790" y="6592610"/>
            <a:ext cx="556486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Temperature variations through seasons</a:t>
            </a:r>
            <a:endParaRPr b="0" i="0" sz="1750" u="none" cap="none" strike="noStrike"/>
          </a:p>
        </p:txBody>
      </p:sp>
      <p:pic>
        <p:nvPicPr>
          <p:cNvPr descr="preencoded.png" id="187" name="Google Shape;18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5645" y="1107035"/>
            <a:ext cx="6015525" cy="6015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/>
          <p:nvPr/>
        </p:nvSpPr>
        <p:spPr>
          <a:xfrm>
            <a:off x="659130" y="517922"/>
            <a:ext cx="6404848" cy="588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3700"/>
              <a:buFont typeface="Kanit Light"/>
              <a:buNone/>
            </a:pPr>
            <a:r>
              <a:rPr b="0" i="0" lang="en-US" sz="370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Regularized Regression Models</a:t>
            </a:r>
            <a:endParaRPr b="0" i="0" sz="3700" u="none" cap="none" strike="noStrike"/>
          </a:p>
        </p:txBody>
      </p:sp>
      <p:sp>
        <p:nvSpPr>
          <p:cNvPr id="194" name="Google Shape;194;p10"/>
          <p:cNvSpPr/>
          <p:nvPr/>
        </p:nvSpPr>
        <p:spPr>
          <a:xfrm>
            <a:off x="659130" y="1483043"/>
            <a:ext cx="13312140" cy="602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Martel Sans"/>
              <a:buNone/>
            </a:pPr>
            <a:r>
              <a:rPr b="0" i="0" lang="en-US" sz="14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Regularization techniques prevent overfitting by adding constraints that keep model complexity in check. These methods are essential when working with high-dimensional data or limited training samples.</a:t>
            </a:r>
            <a:endParaRPr b="0" i="0" sz="1450" u="none" cap="none" strike="noStrike"/>
          </a:p>
        </p:txBody>
      </p:sp>
      <p:pic>
        <p:nvPicPr>
          <p:cNvPr descr="preencoded.png" id="195" name="Google Shape;19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130" y="2297549"/>
            <a:ext cx="4280416" cy="428041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0"/>
          <p:cNvSpPr/>
          <p:nvPr/>
        </p:nvSpPr>
        <p:spPr>
          <a:xfrm>
            <a:off x="659130" y="6766203"/>
            <a:ext cx="2354342" cy="294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850"/>
              <a:buFont typeface="Kanit Light"/>
              <a:buNone/>
            </a:pPr>
            <a:r>
              <a:rPr b="0" i="0" lang="en-US" sz="18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Ridge Regression (L2)</a:t>
            </a:r>
            <a:endParaRPr b="0" i="0" sz="1850" u="none" cap="none" strike="noStrike"/>
          </a:p>
        </p:txBody>
      </p:sp>
      <p:sp>
        <p:nvSpPr>
          <p:cNvPr id="197" name="Google Shape;197;p10"/>
          <p:cNvSpPr/>
          <p:nvPr/>
        </p:nvSpPr>
        <p:spPr>
          <a:xfrm>
            <a:off x="659130" y="7173397"/>
            <a:ext cx="4280416" cy="904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Martel Sans"/>
              <a:buNone/>
            </a:pPr>
            <a:r>
              <a:rPr b="0" i="0" lang="en-US" sz="14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Adds penalty proportional to square of coefficients, shrinking them toward zero without eliminating features entirely</a:t>
            </a:r>
            <a:endParaRPr b="0" i="0" sz="1450" u="none" cap="none" strike="noStrike"/>
          </a:p>
        </p:txBody>
      </p:sp>
      <p:pic>
        <p:nvPicPr>
          <p:cNvPr descr="preencoded.png" id="198" name="Google Shape;19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4933" y="2297549"/>
            <a:ext cx="4280416" cy="428041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0"/>
          <p:cNvSpPr/>
          <p:nvPr/>
        </p:nvSpPr>
        <p:spPr>
          <a:xfrm>
            <a:off x="5174933" y="6766203"/>
            <a:ext cx="2354342" cy="294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850"/>
              <a:buFont typeface="Kanit Light"/>
              <a:buNone/>
            </a:pPr>
            <a:r>
              <a:rPr b="0" i="0" lang="en-US" sz="18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Lasso Regression (L1)</a:t>
            </a:r>
            <a:endParaRPr b="0" i="0" sz="1850" u="none" cap="none" strike="noStrike"/>
          </a:p>
        </p:txBody>
      </p:sp>
      <p:sp>
        <p:nvSpPr>
          <p:cNvPr id="200" name="Google Shape;200;p10"/>
          <p:cNvSpPr/>
          <p:nvPr/>
        </p:nvSpPr>
        <p:spPr>
          <a:xfrm>
            <a:off x="5174933" y="7173397"/>
            <a:ext cx="4280416" cy="904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Martel Sans"/>
              <a:buNone/>
            </a:pPr>
            <a:r>
              <a:rPr b="0" i="0" lang="en-US" sz="14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Can shrink coefficients exactly to zero, effectively performing automatic feature selection for sparse models</a:t>
            </a:r>
            <a:endParaRPr b="0" i="0" sz="1450" u="none" cap="none" strike="noStrike"/>
          </a:p>
        </p:txBody>
      </p:sp>
      <p:pic>
        <p:nvPicPr>
          <p:cNvPr descr="preencoded.png" id="201" name="Google Shape;20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90735" y="2297549"/>
            <a:ext cx="4280416" cy="428041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0"/>
          <p:cNvSpPr/>
          <p:nvPr/>
        </p:nvSpPr>
        <p:spPr>
          <a:xfrm>
            <a:off x="9690735" y="6766203"/>
            <a:ext cx="2354342" cy="294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850"/>
              <a:buFont typeface="Kanit Light"/>
              <a:buNone/>
            </a:pPr>
            <a:r>
              <a:rPr b="0" i="0" lang="en-US" sz="18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ElasticNet</a:t>
            </a:r>
            <a:endParaRPr b="0" i="0" sz="1850" u="none" cap="none" strike="noStrike"/>
          </a:p>
        </p:txBody>
      </p:sp>
      <p:sp>
        <p:nvSpPr>
          <p:cNvPr id="203" name="Google Shape;203;p10"/>
          <p:cNvSpPr/>
          <p:nvPr/>
        </p:nvSpPr>
        <p:spPr>
          <a:xfrm>
            <a:off x="9690735" y="7173397"/>
            <a:ext cx="4280416" cy="904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Martel Sans"/>
              <a:buNone/>
            </a:pPr>
            <a:r>
              <a:rPr b="0" i="0" lang="en-US" sz="14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Combines Ridge and Lasso penalties to balance coefficient shrinkage with feature selection capabilities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9" name="Google Shape;20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1"/>
          <p:cNvSpPr/>
          <p:nvPr/>
        </p:nvSpPr>
        <p:spPr>
          <a:xfrm>
            <a:off x="793790" y="2881432"/>
            <a:ext cx="7556421" cy="1417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8900"/>
              <a:buFont typeface="Kanit Light"/>
              <a:buNone/>
            </a:pPr>
            <a:r>
              <a:rPr b="0" i="0" lang="en-US" sz="890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Chapter 3</a:t>
            </a:r>
            <a:endParaRPr b="0" i="0" sz="8900" u="none" cap="none" strike="noStrike"/>
          </a:p>
        </p:txBody>
      </p:sp>
      <p:sp>
        <p:nvSpPr>
          <p:cNvPr id="211" name="Google Shape;211;p11"/>
          <p:cNvSpPr/>
          <p:nvPr/>
        </p:nvSpPr>
        <p:spPr>
          <a:xfrm>
            <a:off x="793790" y="4639270"/>
            <a:ext cx="736675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How Regression Models Learn</a:t>
            </a:r>
            <a:endParaRPr b="0" i="0" sz="445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7" name="Google Shape;21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2"/>
          <p:cNvSpPr/>
          <p:nvPr/>
        </p:nvSpPr>
        <p:spPr>
          <a:xfrm>
            <a:off x="754023" y="884515"/>
            <a:ext cx="6593681" cy="673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200"/>
              <a:buFont typeface="Kanit Light"/>
              <a:buNone/>
            </a:pPr>
            <a:r>
              <a:rPr b="0" i="0" lang="en-US" sz="420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Training a Regression Model</a:t>
            </a:r>
            <a:endParaRPr b="0" i="0" sz="4200" u="none" cap="none" strike="noStrike"/>
          </a:p>
        </p:txBody>
      </p:sp>
      <p:pic>
        <p:nvPicPr>
          <p:cNvPr descr="preencoded.png" id="219" name="Google Shape;21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023" y="1880949"/>
            <a:ext cx="1077278" cy="129266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2"/>
          <p:cNvSpPr/>
          <p:nvPr/>
        </p:nvSpPr>
        <p:spPr>
          <a:xfrm>
            <a:off x="2046684" y="2096333"/>
            <a:ext cx="2693194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00"/>
              <a:buFont typeface="Kanit Light"/>
              <a:buNone/>
            </a:pPr>
            <a:r>
              <a:rPr b="0" i="0" lang="en-US" sz="21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Input Training Data</a:t>
            </a:r>
            <a:endParaRPr b="0" i="0" sz="2100" u="none" cap="none" strike="noStrike"/>
          </a:p>
        </p:txBody>
      </p:sp>
      <p:sp>
        <p:nvSpPr>
          <p:cNvPr id="221" name="Google Shape;221;p12"/>
          <p:cNvSpPr/>
          <p:nvPr/>
        </p:nvSpPr>
        <p:spPr>
          <a:xfrm>
            <a:off x="2046684" y="2562106"/>
            <a:ext cx="6343293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650"/>
              <a:buFont typeface="Martel Sans"/>
              <a:buNone/>
            </a:pPr>
            <a:r>
              <a:rPr b="0" i="0" lang="en-US" sz="16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Feed labeled examples with known inputs and outputs</a:t>
            </a:r>
            <a:endParaRPr b="0" i="0" sz="1650" u="none" cap="none" strike="noStrike"/>
          </a:p>
        </p:txBody>
      </p:sp>
      <p:pic>
        <p:nvPicPr>
          <p:cNvPr descr="preencoded.png" id="222" name="Google Shape;22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023" y="3173611"/>
            <a:ext cx="1077278" cy="129266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2"/>
          <p:cNvSpPr/>
          <p:nvPr/>
        </p:nvSpPr>
        <p:spPr>
          <a:xfrm>
            <a:off x="2046684" y="3388995"/>
            <a:ext cx="2693194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00"/>
              <a:buFont typeface="Kanit Light"/>
              <a:buNone/>
            </a:pPr>
            <a:r>
              <a:rPr b="0" i="0" lang="en-US" sz="21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Adjust Parameters</a:t>
            </a:r>
            <a:endParaRPr b="0" i="0" sz="2100" u="none" cap="none" strike="noStrike"/>
          </a:p>
        </p:txBody>
      </p:sp>
      <p:sp>
        <p:nvSpPr>
          <p:cNvPr id="224" name="Google Shape;224;p12"/>
          <p:cNvSpPr/>
          <p:nvPr/>
        </p:nvSpPr>
        <p:spPr>
          <a:xfrm>
            <a:off x="2046684" y="3854768"/>
            <a:ext cx="6343293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650"/>
              <a:buFont typeface="Martel Sans"/>
              <a:buNone/>
            </a:pPr>
            <a:r>
              <a:rPr b="0" i="0" lang="en-US" sz="16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Model tweaks weights and bias to minimize prediction errors</a:t>
            </a:r>
            <a:endParaRPr b="0" i="0" sz="1650" u="none" cap="none" strike="noStrike"/>
          </a:p>
        </p:txBody>
      </p:sp>
      <p:pic>
        <p:nvPicPr>
          <p:cNvPr descr="preencoded.png" id="225" name="Google Shape;22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023" y="4466273"/>
            <a:ext cx="1077278" cy="1586151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2"/>
          <p:cNvSpPr/>
          <p:nvPr/>
        </p:nvSpPr>
        <p:spPr>
          <a:xfrm>
            <a:off x="2046684" y="4681657"/>
            <a:ext cx="2693194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00"/>
              <a:buFont typeface="Kanit Light"/>
              <a:buNone/>
            </a:pPr>
            <a:r>
              <a:rPr b="0" i="0" lang="en-US" sz="21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Measure Loss</a:t>
            </a:r>
            <a:endParaRPr b="0" i="0" sz="2100" u="none" cap="none" strike="noStrike"/>
          </a:p>
        </p:txBody>
      </p:sp>
      <p:sp>
        <p:nvSpPr>
          <p:cNvPr id="227" name="Google Shape;227;p12"/>
          <p:cNvSpPr/>
          <p:nvPr/>
        </p:nvSpPr>
        <p:spPr>
          <a:xfrm>
            <a:off x="2046684" y="5147429"/>
            <a:ext cx="6343293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650"/>
              <a:buFont typeface="Martel Sans"/>
              <a:buNone/>
            </a:pPr>
            <a:r>
              <a:rPr b="0" i="0" lang="en-US" sz="16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Loss functions quantify difference between predictions and actual values</a:t>
            </a:r>
            <a:endParaRPr b="0" i="0" sz="1650" u="none" cap="none" strike="noStrike"/>
          </a:p>
        </p:txBody>
      </p:sp>
      <p:pic>
        <p:nvPicPr>
          <p:cNvPr descr="preencoded.png" id="228" name="Google Shape;228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4023" y="6052423"/>
            <a:ext cx="1077278" cy="129266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2"/>
          <p:cNvSpPr/>
          <p:nvPr/>
        </p:nvSpPr>
        <p:spPr>
          <a:xfrm>
            <a:off x="2046684" y="6267807"/>
            <a:ext cx="2693194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00"/>
              <a:buFont typeface="Kanit Light"/>
              <a:buNone/>
            </a:pPr>
            <a:r>
              <a:rPr b="0" i="0" lang="en-US" sz="21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Optimize</a:t>
            </a:r>
            <a:endParaRPr b="0" i="0" sz="2100" u="none" cap="none" strike="noStrike"/>
          </a:p>
        </p:txBody>
      </p:sp>
      <p:sp>
        <p:nvSpPr>
          <p:cNvPr id="230" name="Google Shape;230;p12"/>
          <p:cNvSpPr/>
          <p:nvPr/>
        </p:nvSpPr>
        <p:spPr>
          <a:xfrm>
            <a:off x="2046684" y="6733580"/>
            <a:ext cx="6343293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650"/>
              <a:buFont typeface="Martel Sans"/>
              <a:buNone/>
            </a:pPr>
            <a:r>
              <a:rPr b="0" i="0" lang="en-US" sz="16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Algorithms find parameter values that minimize overall loss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"/>
          <p:cNvSpPr/>
          <p:nvPr/>
        </p:nvSpPr>
        <p:spPr>
          <a:xfrm>
            <a:off x="793790" y="1013341"/>
            <a:ext cx="689395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Gradient Descent Explained</a:t>
            </a:r>
            <a:endParaRPr b="0" i="0" sz="4450" u="none" cap="none" strike="noStrike"/>
          </a:p>
        </p:txBody>
      </p:sp>
      <p:sp>
        <p:nvSpPr>
          <p:cNvPr id="237" name="Google Shape;237;p13"/>
          <p:cNvSpPr/>
          <p:nvPr/>
        </p:nvSpPr>
        <p:spPr>
          <a:xfrm>
            <a:off x="793790" y="2289096"/>
            <a:ext cx="4262318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650"/>
              <a:buFont typeface="Kanit Light"/>
              <a:buNone/>
            </a:pPr>
            <a:r>
              <a:rPr b="0" i="0" lang="en-US" sz="26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The Optimization Workhorse</a:t>
            </a:r>
            <a:endParaRPr b="0" i="0" sz="2650" u="none" cap="none" strike="noStrike"/>
          </a:p>
        </p:txBody>
      </p:sp>
      <p:sp>
        <p:nvSpPr>
          <p:cNvPr id="238" name="Google Shape;238;p13"/>
          <p:cNvSpPr/>
          <p:nvPr/>
        </p:nvSpPr>
        <p:spPr>
          <a:xfrm>
            <a:off x="793790" y="2941201"/>
            <a:ext cx="692443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Gradient descent is the iterative algorithm that powers regression model training. It systematically adjusts parameters to minimize the loss function.</a:t>
            </a:r>
            <a:endParaRPr b="0" i="0" sz="1750" u="none" cap="none" strike="noStrike"/>
          </a:p>
        </p:txBody>
      </p:sp>
      <p:sp>
        <p:nvSpPr>
          <p:cNvPr id="239" name="Google Shape;239;p13"/>
          <p:cNvSpPr/>
          <p:nvPr/>
        </p:nvSpPr>
        <p:spPr>
          <a:xfrm>
            <a:off x="793790" y="4233982"/>
            <a:ext cx="6924437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The Intuition:</a:t>
            </a: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Imagine standing on a hilly landscape in fog. You want to reach the lowest valley (minimum loss). Gradient descent calculates the slope beneath your feet and takes steps downhill.</a:t>
            </a:r>
            <a:endParaRPr b="0" i="0" sz="1750" u="none" cap="none" strike="noStrike"/>
          </a:p>
        </p:txBody>
      </p:sp>
      <p:sp>
        <p:nvSpPr>
          <p:cNvPr id="240" name="Google Shape;240;p13"/>
          <p:cNvSpPr/>
          <p:nvPr/>
        </p:nvSpPr>
        <p:spPr>
          <a:xfrm>
            <a:off x="793790" y="5889665"/>
            <a:ext cx="692443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Calibri"/>
              <a:buAutoNum type="arabicPeriod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Calculate the gradient (slope) of the loss function</a:t>
            </a:r>
            <a:endParaRPr b="0" i="0" sz="1750" u="none" cap="none" strike="noStrike"/>
          </a:p>
        </p:txBody>
      </p:sp>
      <p:sp>
        <p:nvSpPr>
          <p:cNvPr id="241" name="Google Shape;241;p13"/>
          <p:cNvSpPr/>
          <p:nvPr/>
        </p:nvSpPr>
        <p:spPr>
          <a:xfrm>
            <a:off x="793790" y="6331863"/>
            <a:ext cx="692443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Calibri"/>
              <a:buAutoNum type="arabicPeriod" startAt="2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Move parameters in the opposite direction of the gradient</a:t>
            </a:r>
            <a:endParaRPr b="0" i="0" sz="1750" u="none" cap="none" strike="noStrike"/>
          </a:p>
        </p:txBody>
      </p:sp>
      <p:sp>
        <p:nvSpPr>
          <p:cNvPr id="242" name="Google Shape;242;p13"/>
          <p:cNvSpPr/>
          <p:nvPr/>
        </p:nvSpPr>
        <p:spPr>
          <a:xfrm>
            <a:off x="793790" y="6774061"/>
            <a:ext cx="692443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Calibri"/>
              <a:buAutoNum type="arabicPeriod" startAt="3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Repeat until reaching a minimum (convergence)</a:t>
            </a:r>
            <a:endParaRPr b="0" i="0" sz="1750" u="none" cap="none" strike="noStrike"/>
          </a:p>
        </p:txBody>
      </p:sp>
      <p:pic>
        <p:nvPicPr>
          <p:cNvPr descr="preencoded.png" id="243" name="Google Shape;24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5020" y="1610107"/>
            <a:ext cx="5618200" cy="561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"/>
          <p:cNvSpPr/>
          <p:nvPr/>
        </p:nvSpPr>
        <p:spPr>
          <a:xfrm>
            <a:off x="773769" y="608175"/>
            <a:ext cx="106764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350"/>
              <a:buFont typeface="Kanit Light"/>
              <a:buNone/>
            </a:pPr>
            <a:r>
              <a:rPr b="0" i="0" lang="en-US" sz="43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Evaluating Regression Models</a:t>
            </a:r>
            <a:endParaRPr b="0" i="0" sz="4350" u="none" cap="none" strike="noStrike"/>
          </a:p>
        </p:txBody>
      </p:sp>
      <p:sp>
        <p:nvSpPr>
          <p:cNvPr id="250" name="Google Shape;250;p14"/>
          <p:cNvSpPr/>
          <p:nvPr/>
        </p:nvSpPr>
        <p:spPr>
          <a:xfrm>
            <a:off x="773787" y="1741051"/>
            <a:ext cx="13082826" cy="707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00"/>
              <a:buFont typeface="Martel Sans"/>
              <a:buNone/>
            </a:pP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Robust evaluation metrics help us understand model performance and guide improvements. Different metrics emphasize different aspects of prediction quality.</a:t>
            </a:r>
            <a:endParaRPr b="0" i="0" sz="1700" u="none" cap="none" strike="noStrike"/>
          </a:p>
        </p:txBody>
      </p:sp>
      <p:sp>
        <p:nvSpPr>
          <p:cNvPr id="251" name="Google Shape;251;p14"/>
          <p:cNvSpPr/>
          <p:nvPr/>
        </p:nvSpPr>
        <p:spPr>
          <a:xfrm>
            <a:off x="773787" y="2697242"/>
            <a:ext cx="6430923" cy="2351603"/>
          </a:xfrm>
          <a:prstGeom prst="roundRect">
            <a:avLst>
              <a:gd fmla="val 3949" name="adj"/>
            </a:avLst>
          </a:prstGeom>
          <a:solidFill>
            <a:srgbClr val="FFFFFF"/>
          </a:solidFill>
          <a:ln cap="flat" cmpd="sng" w="3047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"/>
          <p:cNvSpPr/>
          <p:nvPr/>
        </p:nvSpPr>
        <p:spPr>
          <a:xfrm>
            <a:off x="804267" y="2727722"/>
            <a:ext cx="6369963" cy="663178"/>
          </a:xfrm>
          <a:prstGeom prst="roundRect">
            <a:avLst>
              <a:gd fmla="val 8487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3454" y="2889647"/>
            <a:ext cx="331589" cy="331589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4"/>
          <p:cNvSpPr/>
          <p:nvPr/>
        </p:nvSpPr>
        <p:spPr>
          <a:xfrm>
            <a:off x="1025247" y="3611880"/>
            <a:ext cx="3137416" cy="3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50"/>
              <a:buFont typeface="Kanit Light"/>
              <a:buNone/>
            </a:pPr>
            <a:r>
              <a:rPr b="0" i="0" lang="en-US" sz="21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Mean Squared Error (MSE)</a:t>
            </a:r>
            <a:endParaRPr b="0" i="0" sz="2150" u="none" cap="none" strike="noStrike"/>
          </a:p>
        </p:txBody>
      </p:sp>
      <p:sp>
        <p:nvSpPr>
          <p:cNvPr id="255" name="Google Shape;255;p14"/>
          <p:cNvSpPr/>
          <p:nvPr/>
        </p:nvSpPr>
        <p:spPr>
          <a:xfrm>
            <a:off x="1025247" y="4089916"/>
            <a:ext cx="5928003" cy="707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00"/>
              <a:buFont typeface="Martel Sans"/>
              <a:buNone/>
            </a:pP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Average of squared differences between predictions and actual values. Penalizes large errors heavily.</a:t>
            </a:r>
            <a:endParaRPr b="0" i="0" sz="1700" u="none" cap="none" strike="noStrike"/>
          </a:p>
        </p:txBody>
      </p:sp>
      <p:sp>
        <p:nvSpPr>
          <p:cNvPr id="256" name="Google Shape;256;p14"/>
          <p:cNvSpPr/>
          <p:nvPr/>
        </p:nvSpPr>
        <p:spPr>
          <a:xfrm>
            <a:off x="7425690" y="2697242"/>
            <a:ext cx="6430923" cy="2351603"/>
          </a:xfrm>
          <a:prstGeom prst="roundRect">
            <a:avLst>
              <a:gd fmla="val 3949" name="adj"/>
            </a:avLst>
          </a:prstGeom>
          <a:solidFill>
            <a:srgbClr val="FFFFFF"/>
          </a:solidFill>
          <a:ln cap="flat" cmpd="sng" w="3047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7456170" y="2727722"/>
            <a:ext cx="6369963" cy="663178"/>
          </a:xfrm>
          <a:prstGeom prst="roundRect">
            <a:avLst>
              <a:gd fmla="val 8487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8" name="Google Shape;25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5357" y="2889647"/>
            <a:ext cx="331589" cy="33158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4"/>
          <p:cNvSpPr/>
          <p:nvPr/>
        </p:nvSpPr>
        <p:spPr>
          <a:xfrm>
            <a:off x="7677150" y="3611880"/>
            <a:ext cx="3944064" cy="3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50"/>
              <a:buFont typeface="Kanit Light"/>
              <a:buNone/>
            </a:pPr>
            <a:r>
              <a:rPr b="0" i="0" lang="en-US" sz="21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Root Mean Squared Error (RMSE)</a:t>
            </a:r>
            <a:endParaRPr b="0" i="0" sz="2150" u="none" cap="none" strike="noStrike"/>
          </a:p>
        </p:txBody>
      </p:sp>
      <p:sp>
        <p:nvSpPr>
          <p:cNvPr id="260" name="Google Shape;260;p14"/>
          <p:cNvSpPr/>
          <p:nvPr/>
        </p:nvSpPr>
        <p:spPr>
          <a:xfrm>
            <a:off x="7677150" y="4089916"/>
            <a:ext cx="5928003" cy="707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00"/>
              <a:buFont typeface="Martel Sans"/>
              <a:buNone/>
            </a:pP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Square root of MSE, expressed in the same units as the target variable. More interpretable than MSE.</a:t>
            </a:r>
            <a:endParaRPr b="0" i="0" sz="1700" u="none" cap="none" strike="noStrike"/>
          </a:p>
        </p:txBody>
      </p:sp>
      <p:sp>
        <p:nvSpPr>
          <p:cNvPr id="261" name="Google Shape;261;p14"/>
          <p:cNvSpPr/>
          <p:nvPr/>
        </p:nvSpPr>
        <p:spPr>
          <a:xfrm>
            <a:off x="773787" y="5269825"/>
            <a:ext cx="6430923" cy="2351603"/>
          </a:xfrm>
          <a:prstGeom prst="roundRect">
            <a:avLst>
              <a:gd fmla="val 3949" name="adj"/>
            </a:avLst>
          </a:prstGeom>
          <a:solidFill>
            <a:srgbClr val="FFFFFF"/>
          </a:solidFill>
          <a:ln cap="flat" cmpd="sng" w="3047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"/>
          <p:cNvSpPr/>
          <p:nvPr/>
        </p:nvSpPr>
        <p:spPr>
          <a:xfrm>
            <a:off x="804267" y="5300305"/>
            <a:ext cx="6369963" cy="663178"/>
          </a:xfrm>
          <a:prstGeom prst="roundRect">
            <a:avLst>
              <a:gd fmla="val 8487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3" name="Google Shape;2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3454" y="5462230"/>
            <a:ext cx="331589" cy="331589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4"/>
          <p:cNvSpPr/>
          <p:nvPr/>
        </p:nvSpPr>
        <p:spPr>
          <a:xfrm>
            <a:off x="1025247" y="6184463"/>
            <a:ext cx="2763679" cy="3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50"/>
              <a:buFont typeface="Kanit Light"/>
              <a:buNone/>
            </a:pPr>
            <a:r>
              <a:rPr b="0" i="0" lang="en-US" sz="21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R-squared (R²)</a:t>
            </a:r>
            <a:endParaRPr b="0" i="0" sz="2150" u="none" cap="none" strike="noStrike"/>
          </a:p>
        </p:txBody>
      </p:sp>
      <p:sp>
        <p:nvSpPr>
          <p:cNvPr id="265" name="Google Shape;265;p14"/>
          <p:cNvSpPr/>
          <p:nvPr/>
        </p:nvSpPr>
        <p:spPr>
          <a:xfrm>
            <a:off x="1025247" y="6662499"/>
            <a:ext cx="5928003" cy="707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00"/>
              <a:buFont typeface="Martel Sans"/>
              <a:buNone/>
            </a:pP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Proportion of variance in the target explained by the model. Ranges from 0 to 1, with 1 being perfect fit.</a:t>
            </a:r>
            <a:endParaRPr b="0" i="0" sz="1700" u="none" cap="none" strike="noStrike"/>
          </a:p>
        </p:txBody>
      </p:sp>
      <p:sp>
        <p:nvSpPr>
          <p:cNvPr id="266" name="Google Shape;266;p14"/>
          <p:cNvSpPr/>
          <p:nvPr/>
        </p:nvSpPr>
        <p:spPr>
          <a:xfrm>
            <a:off x="7425690" y="5269825"/>
            <a:ext cx="6430923" cy="2351603"/>
          </a:xfrm>
          <a:prstGeom prst="roundRect">
            <a:avLst>
              <a:gd fmla="val 3949" name="adj"/>
            </a:avLst>
          </a:prstGeom>
          <a:solidFill>
            <a:srgbClr val="FFFFFF"/>
          </a:solidFill>
          <a:ln cap="flat" cmpd="sng" w="3047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4"/>
          <p:cNvSpPr/>
          <p:nvPr/>
        </p:nvSpPr>
        <p:spPr>
          <a:xfrm>
            <a:off x="7456170" y="5300305"/>
            <a:ext cx="6369963" cy="663178"/>
          </a:xfrm>
          <a:prstGeom prst="roundRect">
            <a:avLst>
              <a:gd fmla="val 8487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8" name="Google Shape;26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5357" y="5462230"/>
            <a:ext cx="331589" cy="33158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4"/>
          <p:cNvSpPr/>
          <p:nvPr/>
        </p:nvSpPr>
        <p:spPr>
          <a:xfrm>
            <a:off x="7677150" y="6184463"/>
            <a:ext cx="3260884" cy="3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50"/>
              <a:buFont typeface="Kanit Light"/>
              <a:buNone/>
            </a:pPr>
            <a:r>
              <a:rPr b="0" i="0" lang="en-US" sz="21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Mean Absolute Error (MAE)</a:t>
            </a:r>
            <a:endParaRPr b="0" i="0" sz="2150" u="none" cap="none" strike="noStrike"/>
          </a:p>
        </p:txBody>
      </p:sp>
      <p:sp>
        <p:nvSpPr>
          <p:cNvPr id="270" name="Google Shape;270;p14"/>
          <p:cNvSpPr/>
          <p:nvPr/>
        </p:nvSpPr>
        <p:spPr>
          <a:xfrm>
            <a:off x="7677150" y="6662499"/>
            <a:ext cx="5928003" cy="707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00"/>
              <a:buFont typeface="Martel Sans"/>
              <a:buNone/>
            </a:pP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Average absolute difference between predictions and actuals. More robust to outliers than MSE.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6" name="Google Shape;27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5"/>
          <p:cNvSpPr/>
          <p:nvPr/>
        </p:nvSpPr>
        <p:spPr>
          <a:xfrm>
            <a:off x="793790" y="2527102"/>
            <a:ext cx="7556421" cy="1417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8900"/>
              <a:buFont typeface="Kanit Light"/>
              <a:buNone/>
            </a:pPr>
            <a:r>
              <a:rPr b="0" i="0" lang="en-US" sz="890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Chapter 4</a:t>
            </a:r>
            <a:endParaRPr b="0" i="0" sz="8900" u="none" cap="none" strike="noStrike"/>
          </a:p>
        </p:txBody>
      </p:sp>
      <p:sp>
        <p:nvSpPr>
          <p:cNvPr id="278" name="Google Shape;278;p15"/>
          <p:cNvSpPr/>
          <p:nvPr/>
        </p:nvSpPr>
        <p:spPr>
          <a:xfrm>
            <a:off x="793790" y="4284940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Advanced Regression Techniques</a:t>
            </a:r>
            <a:endParaRPr b="0" i="0" sz="445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4" name="Google Shape;2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6"/>
          <p:cNvSpPr/>
          <p:nvPr/>
        </p:nvSpPr>
        <p:spPr>
          <a:xfrm>
            <a:off x="6280190" y="1101090"/>
            <a:ext cx="616422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Decision Tree Regression</a:t>
            </a:r>
            <a:endParaRPr b="0" i="0" sz="4450" u="none" cap="none" strike="noStrike"/>
          </a:p>
        </p:txBody>
      </p:sp>
      <p:sp>
        <p:nvSpPr>
          <p:cNvPr id="286" name="Google Shape;286;p16"/>
          <p:cNvSpPr/>
          <p:nvPr/>
        </p:nvSpPr>
        <p:spPr>
          <a:xfrm>
            <a:off x="6280190" y="2376845"/>
            <a:ext cx="3501509" cy="850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650"/>
              <a:buFont typeface="Kanit Light"/>
              <a:buNone/>
            </a:pPr>
            <a:r>
              <a:rPr b="0" i="0" lang="en-US" sz="26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Segment-Based Prediction</a:t>
            </a:r>
            <a:endParaRPr b="0" i="0" sz="2650" u="none" cap="none" strike="noStrike"/>
          </a:p>
        </p:txBody>
      </p:sp>
      <p:sp>
        <p:nvSpPr>
          <p:cNvPr id="287" name="Google Shape;287;p16"/>
          <p:cNvSpPr/>
          <p:nvPr/>
        </p:nvSpPr>
        <p:spPr>
          <a:xfrm>
            <a:off x="6280190" y="3454241"/>
            <a:ext cx="350150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Decision trees recursively split the data into smaller segments based on feature values, creating a tree-like structure of decisions.</a:t>
            </a:r>
            <a:endParaRPr b="0" i="0" sz="1750" u="none" cap="none" strike="noStrike"/>
          </a:p>
        </p:txBody>
      </p:sp>
      <p:sp>
        <p:nvSpPr>
          <p:cNvPr id="288" name="Google Shape;288;p16"/>
          <p:cNvSpPr/>
          <p:nvPr/>
        </p:nvSpPr>
        <p:spPr>
          <a:xfrm>
            <a:off x="6280190" y="5472827"/>
            <a:ext cx="350150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Each leaf node represents a segment and predicts the average target value of training samples in that region.</a:t>
            </a:r>
            <a:endParaRPr b="0" i="0" sz="1750" u="none" cap="none" strike="noStrike"/>
          </a:p>
        </p:txBody>
      </p:sp>
      <p:sp>
        <p:nvSpPr>
          <p:cNvPr id="289" name="Google Shape;289;p16"/>
          <p:cNvSpPr/>
          <p:nvPr/>
        </p:nvSpPr>
        <p:spPr>
          <a:xfrm>
            <a:off x="10342721" y="2376845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650"/>
              <a:buFont typeface="Kanit Light"/>
              <a:buNone/>
            </a:pPr>
            <a:r>
              <a:rPr b="0" i="0" lang="en-US" sz="26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Key Advantages</a:t>
            </a:r>
            <a:endParaRPr b="0" i="0" sz="2650" u="none" cap="none" strike="noStrike"/>
          </a:p>
        </p:txBody>
      </p:sp>
      <p:sp>
        <p:nvSpPr>
          <p:cNvPr id="290" name="Google Shape;290;p16"/>
          <p:cNvSpPr/>
          <p:nvPr/>
        </p:nvSpPr>
        <p:spPr>
          <a:xfrm>
            <a:off x="10342721" y="3028950"/>
            <a:ext cx="35015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Captures complex, non-linear relationships naturally</a:t>
            </a:r>
            <a:endParaRPr b="0" i="0" sz="1750" u="none" cap="none" strike="noStrike"/>
          </a:p>
        </p:txBody>
      </p:sp>
      <p:sp>
        <p:nvSpPr>
          <p:cNvPr id="291" name="Google Shape;291;p16"/>
          <p:cNvSpPr/>
          <p:nvPr/>
        </p:nvSpPr>
        <p:spPr>
          <a:xfrm>
            <a:off x="10342721" y="3834051"/>
            <a:ext cx="35015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No feature scaling required</a:t>
            </a:r>
            <a:endParaRPr b="0" i="0" sz="1750" u="none" cap="none" strike="noStrike"/>
          </a:p>
        </p:txBody>
      </p:sp>
      <p:sp>
        <p:nvSpPr>
          <p:cNvPr id="292" name="Google Shape;292;p16"/>
          <p:cNvSpPr/>
          <p:nvPr/>
        </p:nvSpPr>
        <p:spPr>
          <a:xfrm>
            <a:off x="10342721" y="4276249"/>
            <a:ext cx="35015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Handles both numerical and categorical features</a:t>
            </a:r>
            <a:endParaRPr b="0" i="0" sz="1750" u="none" cap="none" strike="noStrike"/>
          </a:p>
        </p:txBody>
      </p:sp>
      <p:sp>
        <p:nvSpPr>
          <p:cNvPr id="293" name="Google Shape;293;p16"/>
          <p:cNvSpPr/>
          <p:nvPr/>
        </p:nvSpPr>
        <p:spPr>
          <a:xfrm>
            <a:off x="10342721" y="5081349"/>
            <a:ext cx="35015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Easy to interpret and visualize</a:t>
            </a:r>
            <a:endParaRPr b="0" i="0" sz="1750" u="none" cap="none" strike="noStrike"/>
          </a:p>
        </p:txBody>
      </p:sp>
      <p:sp>
        <p:nvSpPr>
          <p:cNvPr id="294" name="Google Shape;294;p16"/>
          <p:cNvSpPr/>
          <p:nvPr/>
        </p:nvSpPr>
        <p:spPr>
          <a:xfrm>
            <a:off x="10342721" y="5886450"/>
            <a:ext cx="35015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Automatically performs feature selection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"/>
          <p:cNvSpPr/>
          <p:nvPr/>
        </p:nvSpPr>
        <p:spPr>
          <a:xfrm>
            <a:off x="793790" y="732592"/>
            <a:ext cx="808232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Support Vector Regression (SVR)</a:t>
            </a:r>
            <a:endParaRPr b="0" i="0" sz="4450" u="none" cap="none" strike="noStrike"/>
          </a:p>
        </p:txBody>
      </p:sp>
      <p:sp>
        <p:nvSpPr>
          <p:cNvPr id="301" name="Google Shape;301;p17"/>
          <p:cNvSpPr/>
          <p:nvPr/>
        </p:nvSpPr>
        <p:spPr>
          <a:xfrm>
            <a:off x="793790" y="2008346"/>
            <a:ext cx="3641527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650"/>
              <a:buFont typeface="Kanit Light"/>
              <a:buNone/>
            </a:pPr>
            <a:r>
              <a:rPr b="0" i="0" lang="en-US" sz="26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Margin-Based Approach</a:t>
            </a:r>
            <a:endParaRPr b="0" i="0" sz="2650" u="none" cap="none" strike="noStrike"/>
          </a:p>
        </p:txBody>
      </p:sp>
      <p:sp>
        <p:nvSpPr>
          <p:cNvPr id="302" name="Google Shape;302;p17"/>
          <p:cNvSpPr/>
          <p:nvPr/>
        </p:nvSpPr>
        <p:spPr>
          <a:xfrm>
            <a:off x="793790" y="2660452"/>
            <a:ext cx="556486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SVR fits a regression function within a specified margin of tolerance (epsilon), ignoring errors within this threshold.</a:t>
            </a:r>
            <a:endParaRPr b="0" i="0" sz="1750" u="none" cap="none" strike="noStrike"/>
          </a:p>
        </p:txBody>
      </p:sp>
      <p:sp>
        <p:nvSpPr>
          <p:cNvPr id="303" name="Google Shape;303;p17"/>
          <p:cNvSpPr/>
          <p:nvPr/>
        </p:nvSpPr>
        <p:spPr>
          <a:xfrm>
            <a:off x="793790" y="3953232"/>
            <a:ext cx="556486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The model finds the flattest function that stays within the epsilon-tube around the data points.</a:t>
            </a:r>
            <a:endParaRPr b="0" i="0" sz="1750" u="none" cap="none" strike="noStrike"/>
          </a:p>
        </p:txBody>
      </p:sp>
      <p:sp>
        <p:nvSpPr>
          <p:cNvPr id="304" name="Google Shape;304;p17"/>
          <p:cNvSpPr/>
          <p:nvPr/>
        </p:nvSpPr>
        <p:spPr>
          <a:xfrm>
            <a:off x="793790" y="4934188"/>
            <a:ext cx="5564862" cy="1326713"/>
          </a:xfrm>
          <a:prstGeom prst="roundRect">
            <a:avLst>
              <a:gd fmla="val 7181" name="adj"/>
            </a:avLst>
          </a:prstGeom>
          <a:solidFill>
            <a:srgbClr val="CFE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5" name="Google Shape;30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04" y="5247799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7"/>
          <p:cNvSpPr/>
          <p:nvPr/>
        </p:nvSpPr>
        <p:spPr>
          <a:xfrm>
            <a:off x="1530906" y="5217676"/>
            <a:ext cx="460093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artel Sans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Martel Sans"/>
                <a:ea typeface="Martel Sans"/>
                <a:cs typeface="Martel Sans"/>
                <a:sym typeface="Martel Sans"/>
              </a:rPr>
              <a:t>Strength:</a:t>
            </a:r>
            <a:r>
              <a:rPr b="0" i="0" lang="en-US" sz="1750" u="none" cap="none" strike="noStrike">
                <a:solidFill>
                  <a:srgbClr val="000000"/>
                </a:solidFill>
                <a:latin typeface="Martel Sans"/>
                <a:ea typeface="Martel Sans"/>
                <a:cs typeface="Martel Sans"/>
                <a:sym typeface="Martel Sans"/>
              </a:rPr>
              <a:t> Highly effective in high-dimensional spaces and robust to outliers</a:t>
            </a:r>
            <a:endParaRPr b="0" i="0" sz="1750" u="none" cap="none" strike="noStrike"/>
          </a:p>
        </p:txBody>
      </p:sp>
      <p:pic>
        <p:nvPicPr>
          <p:cNvPr descr="preencoded.png" id="307" name="Google Shape;30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5639" y="1888104"/>
            <a:ext cx="4856025" cy="4856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7"/>
          <p:cNvSpPr/>
          <p:nvPr/>
        </p:nvSpPr>
        <p:spPr>
          <a:xfrm>
            <a:off x="793790" y="6771203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SVR balances model complexity with prediction accuracy, making it particularly useful for datasets with noise or outliers that would otherwise skew predictions.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"/>
          <p:cNvSpPr/>
          <p:nvPr/>
        </p:nvSpPr>
        <p:spPr>
          <a:xfrm>
            <a:off x="789503" y="620435"/>
            <a:ext cx="8361283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36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00"/>
              <a:buFont typeface="Kanit Light"/>
              <a:buNone/>
            </a:pPr>
            <a:r>
              <a:rPr b="0" i="0" lang="en-US" sz="440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Ensemble Methods for Regression</a:t>
            </a:r>
            <a:endParaRPr b="0" i="0" sz="4400" u="none" cap="none" strike="noStrike"/>
          </a:p>
        </p:txBody>
      </p:sp>
      <p:sp>
        <p:nvSpPr>
          <p:cNvPr id="315" name="Google Shape;315;p18"/>
          <p:cNvSpPr/>
          <p:nvPr/>
        </p:nvSpPr>
        <p:spPr>
          <a:xfrm>
            <a:off x="789503" y="1776413"/>
            <a:ext cx="13051393" cy="721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Ensemble techniques combine predictions from multiple models to achieve superior accuracy and robustness compared to individual models.</a:t>
            </a:r>
            <a:endParaRPr b="0" i="0" sz="1750" u="none" cap="none" strike="noStrike"/>
          </a:p>
        </p:txBody>
      </p:sp>
      <p:sp>
        <p:nvSpPr>
          <p:cNvPr id="316" name="Google Shape;316;p18"/>
          <p:cNvSpPr/>
          <p:nvPr/>
        </p:nvSpPr>
        <p:spPr>
          <a:xfrm>
            <a:off x="789503" y="2752130"/>
            <a:ext cx="4200049" cy="4857036"/>
          </a:xfrm>
          <a:prstGeom prst="roundRect">
            <a:avLst>
              <a:gd fmla="val 2256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8"/>
          <p:cNvSpPr/>
          <p:nvPr/>
        </p:nvSpPr>
        <p:spPr>
          <a:xfrm>
            <a:off x="1022628" y="2985254"/>
            <a:ext cx="326659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Random Forest Regression</a:t>
            </a:r>
            <a:endParaRPr b="0" i="0" sz="2200" u="none" cap="none" strike="noStrike"/>
          </a:p>
        </p:txBody>
      </p:sp>
      <p:sp>
        <p:nvSpPr>
          <p:cNvPr id="318" name="Google Shape;318;p18"/>
          <p:cNvSpPr/>
          <p:nvPr/>
        </p:nvSpPr>
        <p:spPr>
          <a:xfrm>
            <a:off x="1022628" y="3472934"/>
            <a:ext cx="3733800" cy="144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Builds multiple decision trees on random subsets of data and features, then averages their predictions</a:t>
            </a:r>
            <a:endParaRPr b="0" i="0" sz="1750" u="none" cap="none" strike="noStrike"/>
          </a:p>
        </p:txBody>
      </p:sp>
      <p:sp>
        <p:nvSpPr>
          <p:cNvPr id="319" name="Google Shape;319;p18"/>
          <p:cNvSpPr/>
          <p:nvPr/>
        </p:nvSpPr>
        <p:spPr>
          <a:xfrm>
            <a:off x="1022628" y="5052179"/>
            <a:ext cx="3733800" cy="721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Reduces overfitting through averaging</a:t>
            </a:r>
            <a:endParaRPr b="0" i="0" sz="1750" u="none" cap="none" strike="noStrike"/>
          </a:p>
        </p:txBody>
      </p:sp>
      <p:sp>
        <p:nvSpPr>
          <p:cNvPr id="320" name="Google Shape;320;p18"/>
          <p:cNvSpPr/>
          <p:nvPr/>
        </p:nvSpPr>
        <p:spPr>
          <a:xfrm>
            <a:off x="1022628" y="5853113"/>
            <a:ext cx="3733800" cy="721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Handles large feature sets effectively</a:t>
            </a:r>
            <a:endParaRPr b="0" i="0" sz="1750" u="none" cap="none" strike="noStrike"/>
          </a:p>
        </p:txBody>
      </p:sp>
      <p:sp>
        <p:nvSpPr>
          <p:cNvPr id="321" name="Google Shape;321;p18"/>
          <p:cNvSpPr/>
          <p:nvPr/>
        </p:nvSpPr>
        <p:spPr>
          <a:xfrm>
            <a:off x="1022628" y="6654046"/>
            <a:ext cx="3733800" cy="721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Provides feature importance rankings</a:t>
            </a:r>
            <a:endParaRPr b="0" i="0" sz="1750" u="none" cap="none" strike="noStrike"/>
          </a:p>
        </p:txBody>
      </p:sp>
      <p:sp>
        <p:nvSpPr>
          <p:cNvPr id="322" name="Google Shape;322;p18"/>
          <p:cNvSpPr/>
          <p:nvPr/>
        </p:nvSpPr>
        <p:spPr>
          <a:xfrm>
            <a:off x="5215057" y="2752130"/>
            <a:ext cx="4200168" cy="4857036"/>
          </a:xfrm>
          <a:prstGeom prst="roundRect">
            <a:avLst>
              <a:gd fmla="val 2256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8"/>
          <p:cNvSpPr/>
          <p:nvPr/>
        </p:nvSpPr>
        <p:spPr>
          <a:xfrm>
            <a:off x="5448181" y="2985254"/>
            <a:ext cx="281963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Gradient Boosting</a:t>
            </a:r>
            <a:endParaRPr b="0" i="0" sz="2200" u="none" cap="none" strike="noStrike"/>
          </a:p>
        </p:txBody>
      </p:sp>
      <p:sp>
        <p:nvSpPr>
          <p:cNvPr id="324" name="Google Shape;324;p18"/>
          <p:cNvSpPr/>
          <p:nvPr/>
        </p:nvSpPr>
        <p:spPr>
          <a:xfrm>
            <a:off x="5448181" y="3472934"/>
            <a:ext cx="3733919" cy="1082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Sequentially builds trees where each new tree corrects errors made by previous trees</a:t>
            </a:r>
            <a:endParaRPr b="0" i="0" sz="1750" u="none" cap="none" strike="noStrike"/>
          </a:p>
        </p:txBody>
      </p:sp>
      <p:sp>
        <p:nvSpPr>
          <p:cNvPr id="325" name="Google Shape;325;p18"/>
          <p:cNvSpPr/>
          <p:nvPr/>
        </p:nvSpPr>
        <p:spPr>
          <a:xfrm>
            <a:off x="5448181" y="4691182"/>
            <a:ext cx="3733919" cy="721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Often achieves highest accuracy</a:t>
            </a:r>
            <a:endParaRPr b="0" i="0" sz="1750" u="none" cap="none" strike="noStrike"/>
          </a:p>
        </p:txBody>
      </p:sp>
      <p:sp>
        <p:nvSpPr>
          <p:cNvPr id="326" name="Google Shape;326;p18"/>
          <p:cNvSpPr/>
          <p:nvPr/>
        </p:nvSpPr>
        <p:spPr>
          <a:xfrm>
            <a:off x="5448181" y="5492115"/>
            <a:ext cx="3733919" cy="360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Flexible loss functions</a:t>
            </a:r>
            <a:endParaRPr b="0" i="0" sz="1750" u="none" cap="none" strike="noStrike"/>
          </a:p>
        </p:txBody>
      </p:sp>
      <p:sp>
        <p:nvSpPr>
          <p:cNvPr id="327" name="Google Shape;327;p18"/>
          <p:cNvSpPr/>
          <p:nvPr/>
        </p:nvSpPr>
        <p:spPr>
          <a:xfrm>
            <a:off x="5448181" y="5932051"/>
            <a:ext cx="3733919" cy="721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Examples: XGBoost, LightGBM, CatBoost</a:t>
            </a:r>
            <a:endParaRPr b="0" i="0" sz="1750" u="none" cap="none" strike="noStrike"/>
          </a:p>
        </p:txBody>
      </p:sp>
      <p:sp>
        <p:nvSpPr>
          <p:cNvPr id="328" name="Google Shape;328;p18"/>
          <p:cNvSpPr/>
          <p:nvPr/>
        </p:nvSpPr>
        <p:spPr>
          <a:xfrm>
            <a:off x="9640729" y="2752130"/>
            <a:ext cx="4200168" cy="4857036"/>
          </a:xfrm>
          <a:prstGeom prst="roundRect">
            <a:avLst>
              <a:gd fmla="val 2256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8"/>
          <p:cNvSpPr/>
          <p:nvPr/>
        </p:nvSpPr>
        <p:spPr>
          <a:xfrm>
            <a:off x="9873853" y="2985254"/>
            <a:ext cx="281963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Stacking &amp; Blending</a:t>
            </a:r>
            <a:endParaRPr b="0" i="0" sz="2200" u="none" cap="none" strike="noStrike"/>
          </a:p>
        </p:txBody>
      </p:sp>
      <p:sp>
        <p:nvSpPr>
          <p:cNvPr id="330" name="Google Shape;330;p18"/>
          <p:cNvSpPr/>
          <p:nvPr/>
        </p:nvSpPr>
        <p:spPr>
          <a:xfrm>
            <a:off x="9873853" y="3472934"/>
            <a:ext cx="3733919" cy="1082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Combines diverse model types using a meta-model that learns optimal weighting</a:t>
            </a:r>
            <a:endParaRPr b="0" i="0" sz="1750" u="none" cap="none" strike="noStrike"/>
          </a:p>
        </p:txBody>
      </p:sp>
      <p:sp>
        <p:nvSpPr>
          <p:cNvPr id="331" name="Google Shape;331;p18"/>
          <p:cNvSpPr/>
          <p:nvPr/>
        </p:nvSpPr>
        <p:spPr>
          <a:xfrm>
            <a:off x="9873853" y="4691182"/>
            <a:ext cx="3733919" cy="721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Leverages strengths of different algorithms</a:t>
            </a:r>
            <a:endParaRPr b="0" i="0" sz="1750" u="none" cap="none" strike="noStrike"/>
          </a:p>
        </p:txBody>
      </p:sp>
      <p:sp>
        <p:nvSpPr>
          <p:cNvPr id="332" name="Google Shape;332;p18"/>
          <p:cNvSpPr/>
          <p:nvPr/>
        </p:nvSpPr>
        <p:spPr>
          <a:xfrm>
            <a:off x="9873853" y="5492115"/>
            <a:ext cx="3733919" cy="360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Reduces bias and variance</a:t>
            </a:r>
            <a:endParaRPr b="0" i="0" sz="1750" u="none" cap="none" strike="noStrike"/>
          </a:p>
        </p:txBody>
      </p:sp>
      <p:sp>
        <p:nvSpPr>
          <p:cNvPr id="333" name="Google Shape;333;p18"/>
          <p:cNvSpPr/>
          <p:nvPr/>
        </p:nvSpPr>
        <p:spPr>
          <a:xfrm>
            <a:off x="9873853" y="5932051"/>
            <a:ext cx="3733919" cy="360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Competition-winning approach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9" name="Google Shape;3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9"/>
          <p:cNvSpPr/>
          <p:nvPr/>
        </p:nvSpPr>
        <p:spPr>
          <a:xfrm>
            <a:off x="6280190" y="2527102"/>
            <a:ext cx="7556421" cy="1417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8900"/>
              <a:buFont typeface="Kanit Light"/>
              <a:buNone/>
            </a:pPr>
            <a:r>
              <a:rPr b="0" i="0" lang="en-US" sz="890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Chapter 5</a:t>
            </a:r>
            <a:endParaRPr b="0" i="0" sz="8900" u="none" cap="none" strike="noStrike"/>
          </a:p>
        </p:txBody>
      </p:sp>
      <p:sp>
        <p:nvSpPr>
          <p:cNvPr id="341" name="Google Shape;341;p19"/>
          <p:cNvSpPr/>
          <p:nvPr/>
        </p:nvSpPr>
        <p:spPr>
          <a:xfrm>
            <a:off x="6280190" y="4284940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Practical Applications &amp; Considerations</a:t>
            </a:r>
            <a:endParaRPr b="0" i="0" sz="4450" u="none" cap="none" strike="noStrik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7" name="Google Shape;34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229564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0"/>
          <p:cNvSpPr/>
          <p:nvPr/>
        </p:nvSpPr>
        <p:spPr>
          <a:xfrm>
            <a:off x="624245" y="2864763"/>
            <a:ext cx="7664887" cy="557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85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3500"/>
              <a:buFont typeface="Kanit Light"/>
              <a:buNone/>
            </a:pPr>
            <a:r>
              <a:rPr b="0" i="0" lang="en-US" sz="350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Applying Regression Models Effectively</a:t>
            </a:r>
            <a:endParaRPr b="0" i="0" sz="3500" u="none" cap="none" strike="noStrike"/>
          </a:p>
        </p:txBody>
      </p:sp>
      <p:sp>
        <p:nvSpPr>
          <p:cNvPr id="349" name="Google Shape;349;p20"/>
          <p:cNvSpPr/>
          <p:nvPr/>
        </p:nvSpPr>
        <p:spPr>
          <a:xfrm>
            <a:off x="624245" y="3689628"/>
            <a:ext cx="401241" cy="401241"/>
          </a:xfrm>
          <a:prstGeom prst="roundRect">
            <a:avLst>
              <a:gd fmla="val 18671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0"/>
          <p:cNvSpPr/>
          <p:nvPr/>
        </p:nvSpPr>
        <p:spPr>
          <a:xfrm>
            <a:off x="1203841" y="3722965"/>
            <a:ext cx="3134201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00"/>
              <a:buFont typeface="Kanit Light"/>
              <a:buNone/>
            </a:pPr>
            <a:r>
              <a:rPr b="0" i="0" lang="en-US" sz="21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Quality Data is Foundation</a:t>
            </a:r>
            <a:endParaRPr b="0" i="0" sz="2100" u="none" cap="none" strike="noStrike"/>
          </a:p>
        </p:txBody>
      </p:sp>
      <p:sp>
        <p:nvSpPr>
          <p:cNvPr id="351" name="Google Shape;351;p20"/>
          <p:cNvSpPr/>
          <p:nvPr/>
        </p:nvSpPr>
        <p:spPr>
          <a:xfrm>
            <a:off x="1203841" y="4164211"/>
            <a:ext cx="5999917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00"/>
              <a:buFont typeface="Martel Sans"/>
              <a:buNone/>
            </a:pPr>
            <a:r>
              <a:rPr b="0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Model performance depends critically on having sufficient, accurate, and representative labeled training data. Garbage in, garbage out.</a:t>
            </a:r>
            <a:endParaRPr b="0" i="0" sz="1400" u="none" cap="none" strike="noStrike"/>
          </a:p>
        </p:txBody>
      </p:sp>
      <p:sp>
        <p:nvSpPr>
          <p:cNvPr id="352" name="Google Shape;352;p20"/>
          <p:cNvSpPr/>
          <p:nvPr/>
        </p:nvSpPr>
        <p:spPr>
          <a:xfrm>
            <a:off x="7426642" y="3689628"/>
            <a:ext cx="401241" cy="401241"/>
          </a:xfrm>
          <a:prstGeom prst="roundRect">
            <a:avLst>
              <a:gd fmla="val 18671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0"/>
          <p:cNvSpPr/>
          <p:nvPr/>
        </p:nvSpPr>
        <p:spPr>
          <a:xfrm>
            <a:off x="8006239" y="3722965"/>
            <a:ext cx="3308152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00"/>
              <a:buFont typeface="Kanit Light"/>
              <a:buNone/>
            </a:pPr>
            <a:r>
              <a:rPr b="0" i="0" lang="en-US" sz="21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Feature Engineering Matters</a:t>
            </a:r>
            <a:endParaRPr b="0" i="0" sz="2100" u="none" cap="none" strike="noStrike"/>
          </a:p>
        </p:txBody>
      </p:sp>
      <p:sp>
        <p:nvSpPr>
          <p:cNvPr id="354" name="Google Shape;354;p20"/>
          <p:cNvSpPr/>
          <p:nvPr/>
        </p:nvSpPr>
        <p:spPr>
          <a:xfrm>
            <a:off x="8006239" y="4164211"/>
            <a:ext cx="5999917" cy="855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00"/>
              <a:buFont typeface="Martel Sans"/>
              <a:buNone/>
            </a:pPr>
            <a:r>
              <a:rPr b="0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Creating meaningful features, handling missing values, encoding categorical variables, and scaling features dramatically impact model effectiveness.</a:t>
            </a:r>
            <a:endParaRPr b="0" i="0" sz="1400" u="none" cap="none" strike="noStrike"/>
          </a:p>
        </p:txBody>
      </p:sp>
      <p:sp>
        <p:nvSpPr>
          <p:cNvPr id="355" name="Google Shape;355;p20"/>
          <p:cNvSpPr/>
          <p:nvPr/>
        </p:nvSpPr>
        <p:spPr>
          <a:xfrm>
            <a:off x="624245" y="5376743"/>
            <a:ext cx="401241" cy="401241"/>
          </a:xfrm>
          <a:prstGeom prst="roundRect">
            <a:avLst>
              <a:gd fmla="val 18671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0"/>
          <p:cNvSpPr/>
          <p:nvPr/>
        </p:nvSpPr>
        <p:spPr>
          <a:xfrm>
            <a:off x="1203841" y="5410081"/>
            <a:ext cx="2675573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00"/>
              <a:buFont typeface="Kanit Light"/>
              <a:buNone/>
            </a:pPr>
            <a:r>
              <a:rPr b="0" i="0" lang="en-US" sz="21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Prevent Overfitting</a:t>
            </a:r>
            <a:endParaRPr b="0" i="0" sz="2100" u="none" cap="none" strike="noStrike"/>
          </a:p>
        </p:txBody>
      </p:sp>
      <p:sp>
        <p:nvSpPr>
          <p:cNvPr id="357" name="Google Shape;357;p20"/>
          <p:cNvSpPr/>
          <p:nvPr/>
        </p:nvSpPr>
        <p:spPr>
          <a:xfrm>
            <a:off x="1203841" y="5851327"/>
            <a:ext cx="5999917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00"/>
              <a:buFont typeface="Martel Sans"/>
              <a:buNone/>
            </a:pPr>
            <a:r>
              <a:rPr b="0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Use regularization techniques, cross-validation, and proper train-test splits to ensure models generalize well to new data.</a:t>
            </a:r>
            <a:endParaRPr b="0" i="0" sz="1400" u="none" cap="none" strike="noStrike"/>
          </a:p>
        </p:txBody>
      </p:sp>
      <p:sp>
        <p:nvSpPr>
          <p:cNvPr id="358" name="Google Shape;358;p20"/>
          <p:cNvSpPr/>
          <p:nvPr/>
        </p:nvSpPr>
        <p:spPr>
          <a:xfrm>
            <a:off x="7426642" y="5376743"/>
            <a:ext cx="401241" cy="401241"/>
          </a:xfrm>
          <a:prstGeom prst="roundRect">
            <a:avLst>
              <a:gd fmla="val 18671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"/>
          <p:cNvSpPr/>
          <p:nvPr/>
        </p:nvSpPr>
        <p:spPr>
          <a:xfrm>
            <a:off x="8006239" y="5410081"/>
            <a:ext cx="2983825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00"/>
              <a:buFont typeface="Kanit Light"/>
              <a:buNone/>
            </a:pPr>
            <a:r>
              <a:rPr b="0" i="0" lang="en-US" sz="21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Continuous Improvement</a:t>
            </a:r>
            <a:endParaRPr b="0" i="0" sz="2100" u="none" cap="none" strike="noStrike"/>
          </a:p>
        </p:txBody>
      </p:sp>
      <p:sp>
        <p:nvSpPr>
          <p:cNvPr id="360" name="Google Shape;360;p20"/>
          <p:cNvSpPr/>
          <p:nvPr/>
        </p:nvSpPr>
        <p:spPr>
          <a:xfrm>
            <a:off x="8006239" y="5851327"/>
            <a:ext cx="5999917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00"/>
              <a:buFont typeface="Martel Sans"/>
              <a:buNone/>
            </a:pPr>
            <a:r>
              <a:rPr b="0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Monitor model performance in production, retrain with new data, and iterate on feature engineering and hyperparameter tuning.</a:t>
            </a:r>
            <a:endParaRPr b="0" i="0" sz="1400" u="none" cap="none" strike="noStrike"/>
          </a:p>
        </p:txBody>
      </p:sp>
      <p:sp>
        <p:nvSpPr>
          <p:cNvPr id="361" name="Google Shape;361;p20"/>
          <p:cNvSpPr/>
          <p:nvPr/>
        </p:nvSpPr>
        <p:spPr>
          <a:xfrm>
            <a:off x="891778" y="6823115"/>
            <a:ext cx="13114377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00"/>
              <a:buFont typeface="Martel Sans"/>
              <a:buNone/>
            </a:pPr>
            <a:r>
              <a:rPr b="0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Regression models are foundational tools that transform data into predictions across every industry—from healthcare diagnostics to financial forecasting to autonomous vehicles.</a:t>
            </a:r>
            <a:endParaRPr b="0" i="0" sz="1400" u="none" cap="none" strike="noStrike"/>
          </a:p>
        </p:txBody>
      </p:sp>
      <p:sp>
        <p:nvSpPr>
          <p:cNvPr id="362" name="Google Shape;362;p20"/>
          <p:cNvSpPr/>
          <p:nvPr/>
        </p:nvSpPr>
        <p:spPr>
          <a:xfrm>
            <a:off x="624245" y="6622494"/>
            <a:ext cx="22860" cy="971788"/>
          </a:xfrm>
          <a:prstGeom prst="rect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2025-12-14T14:33:41Z</dcterms:created>
</cp:coreProperties>
</file>