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y="8229600" cx="14630400"/>
  <p:notesSz cx="8229600" cy="14630400"/>
  <p:embeddedFontLst>
    <p:embeddedFont>
      <p:font typeface="Kanit Light"/>
      <p:regular r:id="rId25"/>
      <p:bold r:id="rId26"/>
      <p:italic r:id="rId27"/>
      <p:boldItalic r:id="rId28"/>
    </p:embeddedFont>
    <p:embeddedFont>
      <p:font typeface="Martel Sans"/>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if/oKB+nGwQhzFMl2nuht/TKXR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KanitLight-bold.fntdata"/><Relationship Id="rId25" Type="http://schemas.openxmlformats.org/officeDocument/2006/relationships/font" Target="fonts/KanitLight-regular.fntdata"/><Relationship Id="rId28" Type="http://schemas.openxmlformats.org/officeDocument/2006/relationships/font" Target="fonts/KanitLight-boldItalic.fntdata"/><Relationship Id="rId27" Type="http://schemas.openxmlformats.org/officeDocument/2006/relationships/font" Target="fonts/KanitLight-italic.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artelSans-regular.fntdata"/><Relationship Id="rId7" Type="http://schemas.openxmlformats.org/officeDocument/2006/relationships/slide" Target="slides/slide3.xml"/><Relationship Id="rId8" Type="http://schemas.openxmlformats.org/officeDocument/2006/relationships/slide" Target="slides/slide4.xml"/><Relationship Id="rId31" Type="http://customschemas.google.com/relationships/presentationmetadata" Target="metadata"/><Relationship Id="rId30" Type="http://schemas.openxmlformats.org/officeDocument/2006/relationships/font" Target="fonts/MartelSans-bold.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9" name="Google Shape;29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3" name="Google Shape;393;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2"/>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3" name="Shape 13"/>
        <p:cNvGrpSpPr/>
        <p:nvPr/>
      </p:nvGrpSpPr>
      <p:grpSpPr>
        <a:xfrm>
          <a:off x="0" y="0"/>
          <a:ext cx="0" cy="0"/>
          <a:chOff x="0" y="0"/>
          <a:chExt cx="0" cy="0"/>
        </a:xfrm>
      </p:grpSpPr>
      <p:sp>
        <p:nvSpPr>
          <p:cNvPr id="14" name="Google Shape;14;p23"/>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6" name="Shape 16"/>
        <p:cNvGrpSpPr/>
        <p:nvPr/>
      </p:nvGrpSpPr>
      <p:grpSpPr>
        <a:xfrm>
          <a:off x="0" y="0"/>
          <a:ext cx="0" cy="0"/>
          <a:chOff x="0" y="0"/>
          <a:chExt cx="0" cy="0"/>
        </a:xfrm>
      </p:grpSpPr>
      <p:sp>
        <p:nvSpPr>
          <p:cNvPr id="17" name="Google Shape;17;p24"/>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19" name="Shape 19"/>
        <p:cNvGrpSpPr/>
        <p:nvPr/>
      </p:nvGrpSpPr>
      <p:grpSpPr>
        <a:xfrm>
          <a:off x="0" y="0"/>
          <a:ext cx="0" cy="0"/>
          <a:chOff x="0" y="0"/>
          <a:chExt cx="0" cy="0"/>
        </a:xfrm>
      </p:grpSpPr>
      <p:sp>
        <p:nvSpPr>
          <p:cNvPr id="20" name="Google Shape;20;p25"/>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2" name="Shape 22"/>
        <p:cNvGrpSpPr/>
        <p:nvPr/>
      </p:nvGrpSpPr>
      <p:grpSpPr>
        <a:xfrm>
          <a:off x="0" y="0"/>
          <a:ext cx="0" cy="0"/>
          <a:chOff x="0" y="0"/>
          <a:chExt cx="0" cy="0"/>
        </a:xfrm>
      </p:grpSpPr>
      <p:sp>
        <p:nvSpPr>
          <p:cNvPr id="23" name="Google Shape;23;p26"/>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25" name="Shape 25"/>
        <p:cNvGrpSpPr/>
        <p:nvPr/>
      </p:nvGrpSpPr>
      <p:grpSpPr>
        <a:xfrm>
          <a:off x="0" y="0"/>
          <a:ext cx="0" cy="0"/>
          <a:chOff x="0" y="0"/>
          <a:chExt cx="0" cy="0"/>
        </a:xfrm>
      </p:grpSpPr>
      <p:sp>
        <p:nvSpPr>
          <p:cNvPr id="26" name="Google Shape;26;p27"/>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28" name="Shape 28"/>
        <p:cNvGrpSpPr/>
        <p:nvPr/>
      </p:nvGrpSpPr>
      <p:grpSpPr>
        <a:xfrm>
          <a:off x="0" y="0"/>
          <a:ext cx="0" cy="0"/>
          <a:chOff x="0" y="0"/>
          <a:chExt cx="0" cy="0"/>
        </a:xfrm>
      </p:grpSpPr>
      <p:sp>
        <p:nvSpPr>
          <p:cNvPr id="29" name="Google Shape;29;p28"/>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1" name="Shape 31"/>
        <p:cNvGrpSpPr/>
        <p:nvPr/>
      </p:nvGrpSpPr>
      <p:grpSpPr>
        <a:xfrm>
          <a:off x="0" y="0"/>
          <a:ext cx="0" cy="0"/>
          <a:chOff x="0" y="0"/>
          <a:chExt cx="0" cy="0"/>
        </a:xfrm>
      </p:grpSpPr>
      <p:sp>
        <p:nvSpPr>
          <p:cNvPr id="32" name="Google Shape;32;p29"/>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34" name="Shape 34"/>
        <p:cNvGrpSpPr/>
        <p:nvPr/>
      </p:nvGrpSpPr>
      <p:grpSpPr>
        <a:xfrm>
          <a:off x="0" y="0"/>
          <a:ext cx="0" cy="0"/>
          <a:chOff x="0" y="0"/>
          <a:chExt cx="0" cy="0"/>
        </a:xfrm>
      </p:grpSpPr>
      <p:sp>
        <p:nvSpPr>
          <p:cNvPr id="35" name="Google Shape;35;p30"/>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37" name="Shape 37"/>
        <p:cNvGrpSpPr/>
        <p:nvPr/>
      </p:nvGrpSpPr>
      <p:grpSpPr>
        <a:xfrm>
          <a:off x="0" y="0"/>
          <a:ext cx="0" cy="0"/>
          <a:chOff x="0" y="0"/>
          <a:chExt cx="0" cy="0"/>
        </a:xfrm>
      </p:grpSpPr>
      <p:sp>
        <p:nvSpPr>
          <p:cNvPr id="38" name="Google Shape;38;p31"/>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40" name="Shape 40"/>
        <p:cNvGrpSpPr/>
        <p:nvPr/>
      </p:nvGrpSpPr>
      <p:grpSpPr>
        <a:xfrm>
          <a:off x="0" y="0"/>
          <a:ext cx="0" cy="0"/>
          <a:chOff x="0" y="0"/>
          <a:chExt cx="0" cy="0"/>
        </a:xfrm>
      </p:grpSpPr>
      <p:sp>
        <p:nvSpPr>
          <p:cNvPr id="41" name="Google Shape;41;p32"/>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43" name="Shape 43"/>
        <p:cNvGrpSpPr/>
        <p:nvPr/>
      </p:nvGrpSpPr>
      <p:grpSpPr>
        <a:xfrm>
          <a:off x="0" y="0"/>
          <a:ext cx="0" cy="0"/>
          <a:chOff x="0" y="0"/>
          <a:chExt cx="0" cy="0"/>
        </a:xfrm>
      </p:grpSpPr>
      <p:sp>
        <p:nvSpPr>
          <p:cNvPr id="44" name="Google Shape;44;p33"/>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46" name="Shape 46"/>
        <p:cNvGrpSpPr/>
        <p:nvPr/>
      </p:nvGrpSpPr>
      <p:grpSpPr>
        <a:xfrm>
          <a:off x="0" y="0"/>
          <a:ext cx="0" cy="0"/>
          <a:chOff x="0" y="0"/>
          <a:chExt cx="0" cy="0"/>
        </a:xfrm>
      </p:grpSpPr>
      <p:sp>
        <p:nvSpPr>
          <p:cNvPr id="47" name="Google Shape;47;p34"/>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3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49" name="Shape 49"/>
        <p:cNvGrpSpPr/>
        <p:nvPr/>
      </p:nvGrpSpPr>
      <p:grpSpPr>
        <a:xfrm>
          <a:off x="0" y="0"/>
          <a:ext cx="0" cy="0"/>
          <a:chOff x="0" y="0"/>
          <a:chExt cx="0" cy="0"/>
        </a:xfrm>
      </p:grpSpPr>
      <p:sp>
        <p:nvSpPr>
          <p:cNvPr id="50" name="Google Shape;50;p35"/>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52" name="Shape 52"/>
        <p:cNvGrpSpPr/>
        <p:nvPr/>
      </p:nvGrpSpPr>
      <p:grpSpPr>
        <a:xfrm>
          <a:off x="0" y="0"/>
          <a:ext cx="0" cy="0"/>
          <a:chOff x="0" y="0"/>
          <a:chExt cx="0" cy="0"/>
        </a:xfrm>
      </p:grpSpPr>
      <p:sp>
        <p:nvSpPr>
          <p:cNvPr id="53" name="Google Shape;53;p36"/>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55" name="Shape 55"/>
        <p:cNvGrpSpPr/>
        <p:nvPr/>
      </p:nvGrpSpPr>
      <p:grpSpPr>
        <a:xfrm>
          <a:off x="0" y="0"/>
          <a:ext cx="0" cy="0"/>
          <a:chOff x="0" y="0"/>
          <a:chExt cx="0" cy="0"/>
        </a:xfrm>
      </p:grpSpPr>
      <p:sp>
        <p:nvSpPr>
          <p:cNvPr id="56" name="Google Shape;56;p37"/>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58" name="Shape 58"/>
        <p:cNvGrpSpPr/>
        <p:nvPr/>
      </p:nvGrpSpPr>
      <p:grpSpPr>
        <a:xfrm>
          <a:off x="0" y="0"/>
          <a:ext cx="0" cy="0"/>
          <a:chOff x="0" y="0"/>
          <a:chExt cx="0" cy="0"/>
        </a:xfrm>
      </p:grpSpPr>
      <p:sp>
        <p:nvSpPr>
          <p:cNvPr id="59" name="Google Shape;59;p38"/>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8 master">
  <p:cSld name="Slide 18 master">
    <p:spTree>
      <p:nvGrpSpPr>
        <p:cNvPr id="61" name="Shape 61"/>
        <p:cNvGrpSpPr/>
        <p:nvPr/>
      </p:nvGrpSpPr>
      <p:grpSpPr>
        <a:xfrm>
          <a:off x="0" y="0"/>
          <a:ext cx="0" cy="0"/>
          <a:chOff x="0" y="0"/>
          <a:chExt cx="0" cy="0"/>
        </a:xfrm>
      </p:grpSpPr>
      <p:sp>
        <p:nvSpPr>
          <p:cNvPr id="62" name="Google Shape;62;p39"/>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9 master">
  <p:cSld name="Slide 19 master">
    <p:spTree>
      <p:nvGrpSpPr>
        <p:cNvPr id="64" name="Shape 64"/>
        <p:cNvGrpSpPr/>
        <p:nvPr/>
      </p:nvGrpSpPr>
      <p:grpSpPr>
        <a:xfrm>
          <a:off x="0" y="0"/>
          <a:ext cx="0" cy="0"/>
          <a:chOff x="0" y="0"/>
          <a:chExt cx="0" cy="0"/>
        </a:xfrm>
      </p:grpSpPr>
      <p:sp>
        <p:nvSpPr>
          <p:cNvPr id="65" name="Google Shape;65;p40"/>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0 master">
  <p:cSld name="Slide 20 master">
    <p:spTree>
      <p:nvGrpSpPr>
        <p:cNvPr id="67" name="Shape 67"/>
        <p:cNvGrpSpPr/>
        <p:nvPr/>
      </p:nvGrpSpPr>
      <p:grpSpPr>
        <a:xfrm>
          <a:off x="0" y="0"/>
          <a:ext cx="0" cy="0"/>
          <a:chOff x="0" y="0"/>
          <a:chExt cx="0" cy="0"/>
        </a:xfrm>
      </p:grpSpPr>
      <p:sp>
        <p:nvSpPr>
          <p:cNvPr id="68" name="Google Shape;68;p41"/>
          <p:cNvSpPr/>
          <p:nvPr/>
        </p:nvSpPr>
        <p:spPr>
          <a:xfrm>
            <a:off x="0" y="0"/>
            <a:ext cx="14630400" cy="8229600"/>
          </a:xfrm>
          <a:prstGeom prst="rect">
            <a:avLst/>
          </a:prstGeom>
          <a:solidFill>
            <a:srgbClr val="EBF4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1"/>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0" name="Shape 7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4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6.png"/><Relationship Id="rId5" Type="http://schemas.openxmlformats.org/officeDocument/2006/relationships/image" Target="../media/image31.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4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8.png"/><Relationship Id="rId5" Type="http://schemas.openxmlformats.org/officeDocument/2006/relationships/image" Target="../media/image33.png"/><Relationship Id="rId6" Type="http://schemas.openxmlformats.org/officeDocument/2006/relationships/image" Target="../media/image32.png"/><Relationship Id="rId7" Type="http://schemas.openxmlformats.org/officeDocument/2006/relationships/image" Target="../media/image34.png"/><Relationship Id="rId8"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0.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descr="preencoded.png" id="76" name="Google Shape;76;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77" name="Google Shape;77;p1"/>
          <p:cNvSpPr/>
          <p:nvPr/>
        </p:nvSpPr>
        <p:spPr>
          <a:xfrm>
            <a:off x="793790" y="2872978"/>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Machine Learning Model Evaluation and Optimization</a:t>
            </a:r>
            <a:endParaRPr b="0" i="0" sz="4450" u="none" cap="none" strike="noStrike"/>
          </a:p>
        </p:txBody>
      </p:sp>
      <p:sp>
        <p:nvSpPr>
          <p:cNvPr id="78" name="Google Shape;78;p1"/>
          <p:cNvSpPr/>
          <p:nvPr/>
        </p:nvSpPr>
        <p:spPr>
          <a:xfrm>
            <a:off x="793790" y="4630698"/>
            <a:ext cx="75564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A comprehensive guide to measuring, diagnosing, and improving machine learning model performance</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preencoded.png" id="84" name="Google Shape;84;p2"/>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85" name="Google Shape;85;p2"/>
          <p:cNvSpPr/>
          <p:nvPr/>
        </p:nvSpPr>
        <p:spPr>
          <a:xfrm>
            <a:off x="793790" y="1636752"/>
            <a:ext cx="7556421" cy="4253032"/>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272D45"/>
              </a:buClr>
              <a:buSzPts val="8900"/>
              <a:buFont typeface="Kanit Light"/>
              <a:buNone/>
            </a:pPr>
            <a:r>
              <a:rPr b="0" i="0" lang="en-US" sz="8900" u="none" cap="none" strike="noStrike">
                <a:solidFill>
                  <a:srgbClr val="272D45"/>
                </a:solidFill>
                <a:latin typeface="Kanit Light"/>
                <a:ea typeface="Kanit Light"/>
                <a:cs typeface="Kanit Light"/>
                <a:sym typeface="Kanit Light"/>
              </a:rPr>
              <a:t>Foundations of Model Evaluation</a:t>
            </a:r>
            <a:endParaRPr b="0" i="0" sz="8900" u="none" cap="none" strike="noStrike"/>
          </a:p>
        </p:txBody>
      </p:sp>
      <p:sp>
        <p:nvSpPr>
          <p:cNvPr id="86" name="Google Shape;86;p2"/>
          <p:cNvSpPr/>
          <p:nvPr/>
        </p:nvSpPr>
        <p:spPr>
          <a:xfrm>
            <a:off x="793790" y="6229945"/>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Chapter 1</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3"/>
          <p:cNvSpPr/>
          <p:nvPr/>
        </p:nvSpPr>
        <p:spPr>
          <a:xfrm>
            <a:off x="793790" y="1693069"/>
            <a:ext cx="652022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What is Model Evaluation?</a:t>
            </a:r>
            <a:endParaRPr b="0" i="0" sz="4450" u="none" cap="none" strike="noStrike"/>
          </a:p>
        </p:txBody>
      </p:sp>
      <p:sp>
        <p:nvSpPr>
          <p:cNvPr id="93" name="Google Shape;93;p3"/>
          <p:cNvSpPr/>
          <p:nvPr/>
        </p:nvSpPr>
        <p:spPr>
          <a:xfrm>
            <a:off x="793790" y="2855476"/>
            <a:ext cx="4196358" cy="3681055"/>
          </a:xfrm>
          <a:prstGeom prst="roundRect">
            <a:avLst>
              <a:gd fmla="val 258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
          <p:cNvSpPr/>
          <p:nvPr/>
        </p:nvSpPr>
        <p:spPr>
          <a:xfrm>
            <a:off x="1028224" y="3089910"/>
            <a:ext cx="680442" cy="680442"/>
          </a:xfrm>
          <a:prstGeom prst="roundRect">
            <a:avLst>
              <a:gd fmla="val 13436980"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5" name="Google Shape;95;p3"/>
          <p:cNvPicPr preferRelativeResize="0"/>
          <p:nvPr/>
        </p:nvPicPr>
        <p:blipFill rotWithShape="1">
          <a:blip r:embed="rId3">
            <a:alphaModFix/>
          </a:blip>
          <a:srcRect b="0" l="0" r="0" t="0"/>
          <a:stretch/>
        </p:blipFill>
        <p:spPr>
          <a:xfrm>
            <a:off x="1215390" y="3276957"/>
            <a:ext cx="306110" cy="306110"/>
          </a:xfrm>
          <a:prstGeom prst="rect">
            <a:avLst/>
          </a:prstGeom>
          <a:noFill/>
          <a:ln>
            <a:noFill/>
          </a:ln>
        </p:spPr>
      </p:pic>
      <p:sp>
        <p:nvSpPr>
          <p:cNvPr id="96" name="Google Shape;96;p3"/>
          <p:cNvSpPr/>
          <p:nvPr/>
        </p:nvSpPr>
        <p:spPr>
          <a:xfrm>
            <a:off x="1028224" y="3997166"/>
            <a:ext cx="3361373"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Performance Measurement</a:t>
            </a:r>
            <a:endParaRPr b="0" i="0" sz="2200" u="none" cap="none" strike="noStrike"/>
          </a:p>
        </p:txBody>
      </p:sp>
      <p:sp>
        <p:nvSpPr>
          <p:cNvPr id="97" name="Google Shape;97;p3"/>
          <p:cNvSpPr/>
          <p:nvPr/>
        </p:nvSpPr>
        <p:spPr>
          <a:xfrm>
            <a:off x="1028224" y="4487585"/>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The systematic process of quantifying how well a machine learning model performs its intended task using objective metrics.</a:t>
            </a:r>
            <a:endParaRPr b="0" i="0" sz="1750" u="none" cap="none" strike="noStrike"/>
          </a:p>
        </p:txBody>
      </p:sp>
      <p:sp>
        <p:nvSpPr>
          <p:cNvPr id="98" name="Google Shape;98;p3"/>
          <p:cNvSpPr/>
          <p:nvPr/>
        </p:nvSpPr>
        <p:spPr>
          <a:xfrm>
            <a:off x="5216962" y="2855476"/>
            <a:ext cx="4196358" cy="3681055"/>
          </a:xfrm>
          <a:prstGeom prst="roundRect">
            <a:avLst>
              <a:gd fmla="val 258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5451396" y="3089910"/>
            <a:ext cx="680442" cy="680442"/>
          </a:xfrm>
          <a:prstGeom prst="roundRect">
            <a:avLst>
              <a:gd fmla="val 13436980"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0" name="Google Shape;100;p3"/>
          <p:cNvPicPr preferRelativeResize="0"/>
          <p:nvPr/>
        </p:nvPicPr>
        <p:blipFill rotWithShape="1">
          <a:blip r:embed="rId3">
            <a:alphaModFix/>
          </a:blip>
          <a:srcRect b="0" l="0" r="0" t="0"/>
          <a:stretch/>
        </p:blipFill>
        <p:spPr>
          <a:xfrm>
            <a:off x="5638562" y="3276957"/>
            <a:ext cx="306110" cy="306110"/>
          </a:xfrm>
          <a:prstGeom prst="rect">
            <a:avLst/>
          </a:prstGeom>
          <a:noFill/>
          <a:ln>
            <a:noFill/>
          </a:ln>
        </p:spPr>
      </p:pic>
      <p:sp>
        <p:nvSpPr>
          <p:cNvPr id="101" name="Google Shape;101;p3"/>
          <p:cNvSpPr/>
          <p:nvPr/>
        </p:nvSpPr>
        <p:spPr>
          <a:xfrm>
            <a:off x="5451396" y="399716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Quality Assessment</a:t>
            </a:r>
            <a:endParaRPr b="0" i="0" sz="2200" u="none" cap="none" strike="noStrike"/>
          </a:p>
        </p:txBody>
      </p:sp>
      <p:sp>
        <p:nvSpPr>
          <p:cNvPr id="102" name="Google Shape;102;p3"/>
          <p:cNvSpPr/>
          <p:nvPr/>
        </p:nvSpPr>
        <p:spPr>
          <a:xfrm>
            <a:off x="5451396" y="4487585"/>
            <a:ext cx="3727490"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Essential for understanding model strengths, identifying weaknesses, and determining readiness for production deployment.</a:t>
            </a:r>
            <a:endParaRPr b="0" i="0" sz="1750" u="none" cap="none" strike="noStrike"/>
          </a:p>
        </p:txBody>
      </p:sp>
      <p:sp>
        <p:nvSpPr>
          <p:cNvPr id="103" name="Google Shape;103;p3"/>
          <p:cNvSpPr/>
          <p:nvPr/>
        </p:nvSpPr>
        <p:spPr>
          <a:xfrm>
            <a:off x="9640133" y="2855476"/>
            <a:ext cx="4196358" cy="3681055"/>
          </a:xfrm>
          <a:prstGeom prst="roundRect">
            <a:avLst>
              <a:gd fmla="val 2588"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3"/>
          <p:cNvSpPr/>
          <p:nvPr/>
        </p:nvSpPr>
        <p:spPr>
          <a:xfrm>
            <a:off x="9874568" y="3089910"/>
            <a:ext cx="680442" cy="680442"/>
          </a:xfrm>
          <a:prstGeom prst="roundRect">
            <a:avLst>
              <a:gd fmla="val 13436980"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05" name="Google Shape;105;p3"/>
          <p:cNvPicPr preferRelativeResize="0"/>
          <p:nvPr/>
        </p:nvPicPr>
        <p:blipFill rotWithShape="1">
          <a:blip r:embed="rId3">
            <a:alphaModFix/>
          </a:blip>
          <a:srcRect b="0" l="0" r="0" t="0"/>
          <a:stretch/>
        </p:blipFill>
        <p:spPr>
          <a:xfrm>
            <a:off x="10061734" y="3276957"/>
            <a:ext cx="306110" cy="306110"/>
          </a:xfrm>
          <a:prstGeom prst="rect">
            <a:avLst/>
          </a:prstGeom>
          <a:noFill/>
          <a:ln>
            <a:noFill/>
          </a:ln>
        </p:spPr>
      </p:pic>
      <p:sp>
        <p:nvSpPr>
          <p:cNvPr id="106" name="Google Shape;106;p3"/>
          <p:cNvSpPr/>
          <p:nvPr/>
        </p:nvSpPr>
        <p:spPr>
          <a:xfrm>
            <a:off x="9874568" y="3997166"/>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Risk Prevention</a:t>
            </a:r>
            <a:endParaRPr b="0" i="0" sz="2200" u="none" cap="none" strike="noStrike"/>
          </a:p>
        </p:txBody>
      </p:sp>
      <p:sp>
        <p:nvSpPr>
          <p:cNvPr id="107" name="Google Shape;107;p3"/>
          <p:cNvSpPr/>
          <p:nvPr/>
        </p:nvSpPr>
        <p:spPr>
          <a:xfrm>
            <a:off x="9874568" y="4487585"/>
            <a:ext cx="3727490"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Helps prevent critical issues like overfitting (memorizing training data) and underfitting (missing key patterns).</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preencoded.png" id="113" name="Google Shape;113;p4"/>
          <p:cNvPicPr preferRelativeResize="0"/>
          <p:nvPr/>
        </p:nvPicPr>
        <p:blipFill rotWithShape="1">
          <a:blip r:embed="rId3">
            <a:alphaModFix/>
          </a:blip>
          <a:srcRect b="0" l="0" r="0" t="0"/>
          <a:stretch/>
        </p:blipFill>
        <p:spPr>
          <a:xfrm>
            <a:off x="0" y="0"/>
            <a:ext cx="14630400" cy="2520196"/>
          </a:xfrm>
          <a:prstGeom prst="rect">
            <a:avLst/>
          </a:prstGeom>
          <a:noFill/>
          <a:ln>
            <a:noFill/>
          </a:ln>
        </p:spPr>
      </p:pic>
      <p:sp>
        <p:nvSpPr>
          <p:cNvPr id="114" name="Google Shape;114;p4"/>
          <p:cNvSpPr/>
          <p:nvPr/>
        </p:nvSpPr>
        <p:spPr>
          <a:xfrm>
            <a:off x="705683" y="3079671"/>
            <a:ext cx="5776913" cy="630079"/>
          </a:xfrm>
          <a:prstGeom prst="rect">
            <a:avLst/>
          </a:prstGeom>
          <a:noFill/>
          <a:ln>
            <a:noFill/>
          </a:ln>
        </p:spPr>
        <p:txBody>
          <a:bodyPr anchorCtr="0" anchor="t" bIns="0" lIns="0" spcFirstLastPara="1" rIns="0" wrap="square" tIns="0">
            <a:noAutofit/>
          </a:bodyPr>
          <a:lstStyle/>
          <a:p>
            <a:pPr indent="0" lvl="0" marL="0" marR="0" rtl="0" algn="l">
              <a:lnSpc>
                <a:spcPct val="125316"/>
              </a:lnSpc>
              <a:spcBef>
                <a:spcPts val="0"/>
              </a:spcBef>
              <a:spcAft>
                <a:spcPts val="0"/>
              </a:spcAft>
              <a:buClr>
                <a:srgbClr val="272D45"/>
              </a:buClr>
              <a:buSzPts val="3950"/>
              <a:buFont typeface="Kanit Light"/>
              <a:buNone/>
            </a:pPr>
            <a:r>
              <a:rPr b="0" i="0" lang="en-US" sz="3950" u="none" cap="none" strike="noStrike">
                <a:solidFill>
                  <a:srgbClr val="272D45"/>
                </a:solidFill>
                <a:latin typeface="Kanit Light"/>
                <a:ea typeface="Kanit Light"/>
                <a:cs typeface="Kanit Light"/>
                <a:sym typeface="Kanit Light"/>
              </a:rPr>
              <a:t>Overfitting vs Underfitting</a:t>
            </a:r>
            <a:endParaRPr b="0" i="0" sz="3950" u="none" cap="none" strike="noStrike"/>
          </a:p>
        </p:txBody>
      </p:sp>
      <p:sp>
        <p:nvSpPr>
          <p:cNvPr id="115" name="Google Shape;115;p4"/>
          <p:cNvSpPr/>
          <p:nvPr/>
        </p:nvSpPr>
        <p:spPr>
          <a:xfrm>
            <a:off x="705683" y="4213741"/>
            <a:ext cx="3024307" cy="378023"/>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000000"/>
              </a:buClr>
              <a:buSzPts val="2350"/>
              <a:buFont typeface="Kanit Light"/>
              <a:buNone/>
            </a:pPr>
            <a:r>
              <a:rPr b="0" i="0" lang="en-US" sz="2350" u="none" cap="none" strike="noStrike">
                <a:solidFill>
                  <a:srgbClr val="272D45"/>
                </a:solidFill>
                <a:latin typeface="Kanit Light"/>
                <a:ea typeface="Kanit Light"/>
                <a:cs typeface="Kanit Light"/>
                <a:sym typeface="Kanit Light"/>
              </a:rPr>
              <a:t>Overfitting</a:t>
            </a:r>
            <a:endParaRPr b="0" i="0" sz="2350" u="none" cap="none" strike="noStrike"/>
          </a:p>
        </p:txBody>
      </p:sp>
      <p:sp>
        <p:nvSpPr>
          <p:cNvPr id="116" name="Google Shape;116;p4"/>
          <p:cNvSpPr/>
          <p:nvPr/>
        </p:nvSpPr>
        <p:spPr>
          <a:xfrm>
            <a:off x="705683" y="4793337"/>
            <a:ext cx="6363653" cy="967264"/>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3249"/>
              </a:buClr>
              <a:buSzPts val="1550"/>
              <a:buFont typeface="Martel Sans"/>
              <a:buNone/>
            </a:pPr>
            <a:r>
              <a:rPr b="0" i="0" lang="en-US" sz="1550" u="none" cap="none" strike="noStrike">
                <a:solidFill>
                  <a:srgbClr val="2C3249"/>
                </a:solidFill>
                <a:latin typeface="Martel Sans"/>
                <a:ea typeface="Martel Sans"/>
                <a:cs typeface="Martel Sans"/>
                <a:sym typeface="Martel Sans"/>
              </a:rPr>
              <a:t>Model memorizes training data including noise and outliers, leading to excellent training performance but poor generalization on new, unseen data.</a:t>
            </a:r>
            <a:endParaRPr b="0" i="0" sz="1550" u="none" cap="none" strike="noStrike"/>
          </a:p>
        </p:txBody>
      </p:sp>
      <p:sp>
        <p:nvSpPr>
          <p:cNvPr id="117" name="Google Shape;117;p4"/>
          <p:cNvSpPr/>
          <p:nvPr/>
        </p:nvSpPr>
        <p:spPr>
          <a:xfrm>
            <a:off x="705683" y="5942052"/>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Too complex for the problem</a:t>
            </a:r>
            <a:endParaRPr b="0" i="0" sz="1550" u="none" cap="none" strike="noStrike"/>
          </a:p>
        </p:txBody>
      </p:sp>
      <p:sp>
        <p:nvSpPr>
          <p:cNvPr id="118" name="Google Shape;118;p4"/>
          <p:cNvSpPr/>
          <p:nvPr/>
        </p:nvSpPr>
        <p:spPr>
          <a:xfrm>
            <a:off x="705683" y="6334958"/>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High variance, low bias</a:t>
            </a:r>
            <a:endParaRPr b="0" i="0" sz="1550" u="none" cap="none" strike="noStrike"/>
          </a:p>
        </p:txBody>
      </p:sp>
      <p:sp>
        <p:nvSpPr>
          <p:cNvPr id="119" name="Google Shape;119;p4"/>
          <p:cNvSpPr/>
          <p:nvPr/>
        </p:nvSpPr>
        <p:spPr>
          <a:xfrm>
            <a:off x="705683" y="6727865"/>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Fails on real-world data</a:t>
            </a:r>
            <a:endParaRPr b="0" i="0" sz="1550" u="none" cap="none" strike="noStrike"/>
          </a:p>
        </p:txBody>
      </p:sp>
      <p:sp>
        <p:nvSpPr>
          <p:cNvPr id="120" name="Google Shape;120;p4"/>
          <p:cNvSpPr/>
          <p:nvPr/>
        </p:nvSpPr>
        <p:spPr>
          <a:xfrm>
            <a:off x="7568684" y="4213741"/>
            <a:ext cx="3024307" cy="378023"/>
          </a:xfrm>
          <a:prstGeom prst="rect">
            <a:avLst/>
          </a:prstGeom>
          <a:noFill/>
          <a:ln>
            <a:noFill/>
          </a:ln>
        </p:spPr>
        <p:txBody>
          <a:bodyPr anchorCtr="0" anchor="t" bIns="0" lIns="0" spcFirstLastPara="1" rIns="0" wrap="square" tIns="0">
            <a:noAutofit/>
          </a:bodyPr>
          <a:lstStyle/>
          <a:p>
            <a:pPr indent="0" lvl="0" marL="0" marR="0" rtl="0" algn="l">
              <a:lnSpc>
                <a:spcPct val="125531"/>
              </a:lnSpc>
              <a:spcBef>
                <a:spcPts val="0"/>
              </a:spcBef>
              <a:spcAft>
                <a:spcPts val="0"/>
              </a:spcAft>
              <a:buClr>
                <a:srgbClr val="000000"/>
              </a:buClr>
              <a:buSzPts val="2350"/>
              <a:buFont typeface="Kanit Light"/>
              <a:buNone/>
            </a:pPr>
            <a:r>
              <a:rPr lang="en-US" sz="2350">
                <a:latin typeface="Kanit Light"/>
                <a:ea typeface="Kanit Light"/>
                <a:cs typeface="Kanit Light"/>
                <a:sym typeface="Kanit Light"/>
              </a:rPr>
              <a:t>Un</a:t>
            </a:r>
            <a:r>
              <a:rPr b="0" i="0" lang="en-US" sz="2350" u="none" cap="none" strike="noStrike">
                <a:solidFill>
                  <a:srgbClr val="272D45"/>
                </a:solidFill>
                <a:latin typeface="Kanit Light"/>
                <a:ea typeface="Kanit Light"/>
                <a:cs typeface="Kanit Light"/>
                <a:sym typeface="Kanit Light"/>
              </a:rPr>
              <a:t>derfitting</a:t>
            </a:r>
            <a:endParaRPr b="0" i="0" sz="2350" u="none" cap="none" strike="noStrike"/>
          </a:p>
        </p:txBody>
      </p:sp>
      <p:sp>
        <p:nvSpPr>
          <p:cNvPr id="121" name="Google Shape;121;p4"/>
          <p:cNvSpPr/>
          <p:nvPr/>
        </p:nvSpPr>
        <p:spPr>
          <a:xfrm>
            <a:off x="7568684" y="4793337"/>
            <a:ext cx="6363653" cy="967264"/>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3249"/>
              </a:buClr>
              <a:buSzPts val="1550"/>
              <a:buFont typeface="Martel Sans"/>
              <a:buNone/>
            </a:pPr>
            <a:r>
              <a:rPr b="0" i="0" lang="en-US" sz="1550" u="none" cap="none" strike="noStrike">
                <a:solidFill>
                  <a:srgbClr val="2C3249"/>
                </a:solidFill>
                <a:latin typeface="Martel Sans"/>
                <a:ea typeface="Martel Sans"/>
                <a:cs typeface="Martel Sans"/>
                <a:sym typeface="Martel Sans"/>
              </a:rPr>
              <a:t>Model is too simple and fails to capture the underlying patterns and relationships present in the data, performing poorly on both training and test sets.</a:t>
            </a:r>
            <a:endParaRPr b="0" i="0" sz="1550" u="none" cap="none" strike="noStrike"/>
          </a:p>
        </p:txBody>
      </p:sp>
      <p:sp>
        <p:nvSpPr>
          <p:cNvPr id="122" name="Google Shape;122;p4"/>
          <p:cNvSpPr/>
          <p:nvPr/>
        </p:nvSpPr>
        <p:spPr>
          <a:xfrm>
            <a:off x="7568684" y="5942052"/>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Too simple for the problem</a:t>
            </a:r>
            <a:endParaRPr b="0" i="0" sz="1550" u="none" cap="none" strike="noStrike"/>
          </a:p>
        </p:txBody>
      </p:sp>
      <p:sp>
        <p:nvSpPr>
          <p:cNvPr id="123" name="Google Shape;123;p4"/>
          <p:cNvSpPr/>
          <p:nvPr/>
        </p:nvSpPr>
        <p:spPr>
          <a:xfrm>
            <a:off x="7568684" y="6334958"/>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High bias, low variance</a:t>
            </a:r>
            <a:endParaRPr b="0" i="0" sz="1550" u="none" cap="none" strike="noStrike"/>
          </a:p>
        </p:txBody>
      </p:sp>
      <p:sp>
        <p:nvSpPr>
          <p:cNvPr id="124" name="Google Shape;124;p4"/>
          <p:cNvSpPr/>
          <p:nvPr/>
        </p:nvSpPr>
        <p:spPr>
          <a:xfrm>
            <a:off x="7568684" y="6727865"/>
            <a:ext cx="6363653" cy="322421"/>
          </a:xfrm>
          <a:prstGeom prst="rect">
            <a:avLst/>
          </a:prstGeom>
          <a:noFill/>
          <a:ln>
            <a:noFill/>
          </a:ln>
        </p:spPr>
        <p:txBody>
          <a:bodyPr anchorCtr="0" anchor="t" bIns="0" lIns="0" spcFirstLastPara="1" rIns="0" wrap="square" tIns="0">
            <a:noAutofit/>
          </a:bodyPr>
          <a:lstStyle/>
          <a:p>
            <a:pPr indent="-342900" lvl="0" marL="342900" marR="0" rtl="0" algn="l">
              <a:lnSpc>
                <a:spcPct val="161290"/>
              </a:lnSpc>
              <a:spcBef>
                <a:spcPts val="0"/>
              </a:spcBef>
              <a:spcAft>
                <a:spcPts val="0"/>
              </a:spcAft>
              <a:buClr>
                <a:srgbClr val="2C3249"/>
              </a:buClr>
              <a:buSzPts val="1550"/>
              <a:buFont typeface="Martel Sans"/>
              <a:buChar char="•"/>
            </a:pPr>
            <a:r>
              <a:rPr b="0" i="0" lang="en-US" sz="1550" u="none" cap="none" strike="noStrike">
                <a:solidFill>
                  <a:srgbClr val="2C3249"/>
                </a:solidFill>
                <a:latin typeface="Martel Sans"/>
                <a:ea typeface="Martel Sans"/>
                <a:cs typeface="Martel Sans"/>
                <a:sym typeface="Martel Sans"/>
              </a:rPr>
              <a:t>Misses key patterns</a:t>
            </a:r>
            <a:endParaRPr b="0" i="0" sz="1550" u="none" cap="none" strike="noStrike"/>
          </a:p>
        </p:txBody>
      </p:sp>
      <p:sp>
        <p:nvSpPr>
          <p:cNvPr id="125" name="Google Shape;125;p4"/>
          <p:cNvSpPr/>
          <p:nvPr/>
        </p:nvSpPr>
        <p:spPr>
          <a:xfrm>
            <a:off x="705683" y="7347585"/>
            <a:ext cx="13219033" cy="322421"/>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2C3249"/>
              </a:buClr>
              <a:buSzPts val="1550"/>
              <a:buFont typeface="Martel Sans"/>
              <a:buNone/>
            </a:pPr>
            <a:r>
              <a:rPr b="1" i="0" lang="en-US" sz="1550" u="none" cap="none" strike="noStrike">
                <a:solidFill>
                  <a:srgbClr val="2C3249"/>
                </a:solidFill>
                <a:latin typeface="Martel Sans"/>
                <a:ea typeface="Martel Sans"/>
                <a:cs typeface="Martel Sans"/>
                <a:sym typeface="Martel Sans"/>
              </a:rPr>
              <a:t>The Goal:</a:t>
            </a:r>
            <a:r>
              <a:rPr b="0" i="0" lang="en-US" sz="1550" u="none" cap="none" strike="noStrike">
                <a:solidFill>
                  <a:srgbClr val="2C3249"/>
                </a:solidFill>
                <a:latin typeface="Martel Sans"/>
                <a:ea typeface="Martel Sans"/>
                <a:cs typeface="Martel Sans"/>
                <a:sym typeface="Martel Sans"/>
              </a:rPr>
              <a:t> Achieve the optimal balance between model complexity and generalization ability for robust performance.</a:t>
            </a:r>
            <a:endParaRPr b="0" i="0" sz="15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p:nvPr/>
        </p:nvSpPr>
        <p:spPr>
          <a:xfrm>
            <a:off x="793790" y="664964"/>
            <a:ext cx="8023265"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Key Evaluation Metrics Overview</a:t>
            </a:r>
            <a:endParaRPr b="0" i="0" sz="4450" u="none" cap="none" strike="noStrike"/>
          </a:p>
        </p:txBody>
      </p:sp>
      <p:sp>
        <p:nvSpPr>
          <p:cNvPr id="132" name="Google Shape;132;p5"/>
          <p:cNvSpPr/>
          <p:nvPr/>
        </p:nvSpPr>
        <p:spPr>
          <a:xfrm>
            <a:off x="793790" y="2167533"/>
            <a:ext cx="4196358" cy="5396984"/>
          </a:xfrm>
          <a:prstGeom prst="roundRect">
            <a:avLst>
              <a:gd fmla="val 348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
          <p:cNvSpPr/>
          <p:nvPr/>
        </p:nvSpPr>
        <p:spPr>
          <a:xfrm>
            <a:off x="793790" y="2137053"/>
            <a:ext cx="4196358" cy="121920"/>
          </a:xfrm>
          <a:prstGeom prst="roundRect">
            <a:avLst>
              <a:gd fmla="val 78139"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p:nvPr/>
        </p:nvSpPr>
        <p:spPr>
          <a:xfrm>
            <a:off x="2551688" y="1827371"/>
            <a:ext cx="680442" cy="680442"/>
          </a:xfrm>
          <a:prstGeom prst="roundRect">
            <a:avLst>
              <a:gd fmla="val 134383"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p:nvPr/>
        </p:nvSpPr>
        <p:spPr>
          <a:xfrm>
            <a:off x="2755761" y="1997512"/>
            <a:ext cx="272177" cy="340162"/>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FFFFFF"/>
              </a:buClr>
              <a:buSzPts val="2100"/>
              <a:buFont typeface="Kanit Light"/>
              <a:buNone/>
            </a:pPr>
            <a:r>
              <a:rPr b="0" i="0" lang="en-US" sz="2100" u="none" cap="none" strike="noStrike">
                <a:solidFill>
                  <a:srgbClr val="FFFFFF"/>
                </a:solidFill>
                <a:latin typeface="Kanit Light"/>
                <a:ea typeface="Kanit Light"/>
                <a:cs typeface="Kanit Light"/>
                <a:sym typeface="Kanit Light"/>
              </a:rPr>
              <a:t>1</a:t>
            </a:r>
            <a:endParaRPr b="0" i="0" sz="2100" u="none" cap="none" strike="noStrike"/>
          </a:p>
        </p:txBody>
      </p:sp>
      <p:sp>
        <p:nvSpPr>
          <p:cNvPr id="136" name="Google Shape;136;p5"/>
          <p:cNvSpPr/>
          <p:nvPr/>
        </p:nvSpPr>
        <p:spPr>
          <a:xfrm>
            <a:off x="1051084" y="273450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Classification Metrics</a:t>
            </a:r>
            <a:endParaRPr b="0" i="0" sz="2200" u="none" cap="none" strike="noStrike"/>
          </a:p>
        </p:txBody>
      </p:sp>
      <p:sp>
        <p:nvSpPr>
          <p:cNvPr id="137" name="Google Shape;137;p5"/>
          <p:cNvSpPr/>
          <p:nvPr/>
        </p:nvSpPr>
        <p:spPr>
          <a:xfrm>
            <a:off x="1051084" y="3224927"/>
            <a:ext cx="368177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For categorical predictions:</a:t>
            </a:r>
            <a:endParaRPr b="0" i="0" sz="1750" u="none" cap="none" strike="noStrike"/>
          </a:p>
        </p:txBody>
      </p:sp>
      <p:sp>
        <p:nvSpPr>
          <p:cNvPr id="138" name="Google Shape;138;p5"/>
          <p:cNvSpPr/>
          <p:nvPr/>
        </p:nvSpPr>
        <p:spPr>
          <a:xfrm>
            <a:off x="1051084" y="3723918"/>
            <a:ext cx="3681770"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Accuracy - overall correctness</a:t>
            </a:r>
            <a:endParaRPr b="0" i="0" sz="1750" u="none" cap="none" strike="noStrike"/>
          </a:p>
        </p:txBody>
      </p:sp>
      <p:sp>
        <p:nvSpPr>
          <p:cNvPr id="139" name="Google Shape;139;p5"/>
          <p:cNvSpPr/>
          <p:nvPr/>
        </p:nvSpPr>
        <p:spPr>
          <a:xfrm>
            <a:off x="1051084" y="4166116"/>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Precision - positive prediction accuracy</a:t>
            </a:r>
            <a:endParaRPr b="0" i="0" sz="1750" u="none" cap="none" strike="noStrike"/>
          </a:p>
        </p:txBody>
      </p:sp>
      <p:sp>
        <p:nvSpPr>
          <p:cNvPr id="140" name="Google Shape;140;p5"/>
          <p:cNvSpPr/>
          <p:nvPr/>
        </p:nvSpPr>
        <p:spPr>
          <a:xfrm>
            <a:off x="1051084" y="4971217"/>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Recall - positive case detection rate</a:t>
            </a:r>
            <a:endParaRPr b="0" i="0" sz="1750" u="none" cap="none" strike="noStrike"/>
          </a:p>
        </p:txBody>
      </p:sp>
      <p:sp>
        <p:nvSpPr>
          <p:cNvPr id="141" name="Google Shape;141;p5"/>
          <p:cNvSpPr/>
          <p:nvPr/>
        </p:nvSpPr>
        <p:spPr>
          <a:xfrm>
            <a:off x="1051084" y="5776317"/>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F1 Score - balanced precision-recall</a:t>
            </a:r>
            <a:endParaRPr b="0" i="0" sz="1750" u="none" cap="none" strike="noStrike"/>
          </a:p>
        </p:txBody>
      </p:sp>
      <p:sp>
        <p:nvSpPr>
          <p:cNvPr id="142" name="Google Shape;142;p5"/>
          <p:cNvSpPr/>
          <p:nvPr/>
        </p:nvSpPr>
        <p:spPr>
          <a:xfrm>
            <a:off x="1051084" y="6581418"/>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AUC-ROC - classification ability</a:t>
            </a:r>
            <a:endParaRPr b="0" i="0" sz="1750" u="none" cap="none" strike="noStrike"/>
          </a:p>
        </p:txBody>
      </p:sp>
      <p:sp>
        <p:nvSpPr>
          <p:cNvPr id="143" name="Google Shape;143;p5"/>
          <p:cNvSpPr/>
          <p:nvPr/>
        </p:nvSpPr>
        <p:spPr>
          <a:xfrm>
            <a:off x="5216962" y="2167533"/>
            <a:ext cx="4196358" cy="5396984"/>
          </a:xfrm>
          <a:prstGeom prst="roundRect">
            <a:avLst>
              <a:gd fmla="val 348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5216962" y="2137053"/>
            <a:ext cx="4196358" cy="121920"/>
          </a:xfrm>
          <a:prstGeom prst="roundRect">
            <a:avLst>
              <a:gd fmla="val 78139"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p:nvPr/>
        </p:nvSpPr>
        <p:spPr>
          <a:xfrm>
            <a:off x="6974860" y="1827371"/>
            <a:ext cx="680442" cy="680442"/>
          </a:xfrm>
          <a:prstGeom prst="roundRect">
            <a:avLst>
              <a:gd fmla="val 134383"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p:nvPr/>
        </p:nvSpPr>
        <p:spPr>
          <a:xfrm>
            <a:off x="7178933" y="1997512"/>
            <a:ext cx="272177" cy="340162"/>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FFFFFF"/>
              </a:buClr>
              <a:buSzPts val="2100"/>
              <a:buFont typeface="Kanit Light"/>
              <a:buNone/>
            </a:pPr>
            <a:r>
              <a:rPr b="0" i="0" lang="en-US" sz="2100" u="none" cap="none" strike="noStrike">
                <a:solidFill>
                  <a:srgbClr val="FFFFFF"/>
                </a:solidFill>
                <a:latin typeface="Kanit Light"/>
                <a:ea typeface="Kanit Light"/>
                <a:cs typeface="Kanit Light"/>
                <a:sym typeface="Kanit Light"/>
              </a:rPr>
              <a:t>2</a:t>
            </a:r>
            <a:endParaRPr b="0" i="0" sz="2100" u="none" cap="none" strike="noStrike"/>
          </a:p>
        </p:txBody>
      </p:sp>
      <p:sp>
        <p:nvSpPr>
          <p:cNvPr id="147" name="Google Shape;147;p5"/>
          <p:cNvSpPr/>
          <p:nvPr/>
        </p:nvSpPr>
        <p:spPr>
          <a:xfrm>
            <a:off x="5474256" y="273450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Regression Metrics</a:t>
            </a:r>
            <a:endParaRPr b="0" i="0" sz="2200" u="none" cap="none" strike="noStrike"/>
          </a:p>
        </p:txBody>
      </p:sp>
      <p:sp>
        <p:nvSpPr>
          <p:cNvPr id="148" name="Google Shape;148;p5"/>
          <p:cNvSpPr/>
          <p:nvPr/>
        </p:nvSpPr>
        <p:spPr>
          <a:xfrm>
            <a:off x="5474256" y="3224927"/>
            <a:ext cx="3681770"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For continuous predictions:</a:t>
            </a:r>
            <a:endParaRPr b="0" i="0" sz="1750" u="none" cap="none" strike="noStrike"/>
          </a:p>
        </p:txBody>
      </p:sp>
      <p:sp>
        <p:nvSpPr>
          <p:cNvPr id="149" name="Google Shape;149;p5"/>
          <p:cNvSpPr/>
          <p:nvPr/>
        </p:nvSpPr>
        <p:spPr>
          <a:xfrm>
            <a:off x="5474256" y="3723918"/>
            <a:ext cx="3681770"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Mean Squared Error (MSE)</a:t>
            </a:r>
            <a:endParaRPr b="0" i="0" sz="1750" u="none" cap="none" strike="noStrike"/>
          </a:p>
        </p:txBody>
      </p:sp>
      <p:sp>
        <p:nvSpPr>
          <p:cNvPr id="150" name="Google Shape;150;p5"/>
          <p:cNvSpPr/>
          <p:nvPr/>
        </p:nvSpPr>
        <p:spPr>
          <a:xfrm>
            <a:off x="5474256" y="4166116"/>
            <a:ext cx="3681770"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Mean Absolute Error (MAE)</a:t>
            </a:r>
            <a:endParaRPr b="0" i="0" sz="1750" u="none" cap="none" strike="noStrike"/>
          </a:p>
        </p:txBody>
      </p:sp>
      <p:sp>
        <p:nvSpPr>
          <p:cNvPr id="151" name="Google Shape;151;p5"/>
          <p:cNvSpPr/>
          <p:nvPr/>
        </p:nvSpPr>
        <p:spPr>
          <a:xfrm>
            <a:off x="5474256" y="4608314"/>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R² (coefficient of determination)</a:t>
            </a:r>
            <a:endParaRPr b="0" i="0" sz="1750" u="none" cap="none" strike="noStrike"/>
          </a:p>
        </p:txBody>
      </p:sp>
      <p:sp>
        <p:nvSpPr>
          <p:cNvPr id="152" name="Google Shape;152;p5"/>
          <p:cNvSpPr/>
          <p:nvPr/>
        </p:nvSpPr>
        <p:spPr>
          <a:xfrm>
            <a:off x="5474256" y="5413415"/>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Root Mean Squared Error (RMSE)</a:t>
            </a:r>
            <a:endParaRPr b="0" i="0" sz="1750" u="none" cap="none" strike="noStrike"/>
          </a:p>
        </p:txBody>
      </p:sp>
      <p:sp>
        <p:nvSpPr>
          <p:cNvPr id="153" name="Google Shape;153;p5"/>
          <p:cNvSpPr/>
          <p:nvPr/>
        </p:nvSpPr>
        <p:spPr>
          <a:xfrm>
            <a:off x="9640133" y="2167533"/>
            <a:ext cx="4196358" cy="5396984"/>
          </a:xfrm>
          <a:prstGeom prst="roundRect">
            <a:avLst>
              <a:gd fmla="val 348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p:nvPr/>
        </p:nvSpPr>
        <p:spPr>
          <a:xfrm>
            <a:off x="9640133" y="2137053"/>
            <a:ext cx="4196358" cy="121920"/>
          </a:xfrm>
          <a:prstGeom prst="roundRect">
            <a:avLst>
              <a:gd fmla="val 78139"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11398032" y="1827371"/>
            <a:ext cx="680442" cy="680442"/>
          </a:xfrm>
          <a:prstGeom prst="roundRect">
            <a:avLst>
              <a:gd fmla="val 134383"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p:nvPr/>
        </p:nvSpPr>
        <p:spPr>
          <a:xfrm>
            <a:off x="11602105" y="1997512"/>
            <a:ext cx="272177" cy="340162"/>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FFFFFF"/>
              </a:buClr>
              <a:buSzPts val="2100"/>
              <a:buFont typeface="Kanit Light"/>
              <a:buNone/>
            </a:pPr>
            <a:r>
              <a:rPr b="0" i="0" lang="en-US" sz="2100" u="none" cap="none" strike="noStrike">
                <a:solidFill>
                  <a:srgbClr val="FFFFFF"/>
                </a:solidFill>
                <a:latin typeface="Kanit Light"/>
                <a:ea typeface="Kanit Light"/>
                <a:cs typeface="Kanit Light"/>
                <a:sym typeface="Kanit Light"/>
              </a:rPr>
              <a:t>3</a:t>
            </a:r>
            <a:endParaRPr b="0" i="0" sz="2100" u="none" cap="none" strike="noStrike"/>
          </a:p>
        </p:txBody>
      </p:sp>
      <p:sp>
        <p:nvSpPr>
          <p:cNvPr id="157" name="Google Shape;157;p5"/>
          <p:cNvSpPr/>
          <p:nvPr/>
        </p:nvSpPr>
        <p:spPr>
          <a:xfrm>
            <a:off x="9897427" y="273450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Selection Strategy</a:t>
            </a:r>
            <a:endParaRPr b="0" i="0" sz="2200" u="none" cap="none" strike="noStrike"/>
          </a:p>
        </p:txBody>
      </p:sp>
      <p:sp>
        <p:nvSpPr>
          <p:cNvPr id="158" name="Google Shape;158;p5"/>
          <p:cNvSpPr/>
          <p:nvPr/>
        </p:nvSpPr>
        <p:spPr>
          <a:xfrm>
            <a:off x="9897427" y="3224927"/>
            <a:ext cx="368177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Choosing the right metrics depends on:</a:t>
            </a:r>
            <a:endParaRPr b="0" i="0" sz="1750" u="none" cap="none" strike="noStrike"/>
          </a:p>
        </p:txBody>
      </p:sp>
      <p:sp>
        <p:nvSpPr>
          <p:cNvPr id="159" name="Google Shape;159;p5"/>
          <p:cNvSpPr/>
          <p:nvPr/>
        </p:nvSpPr>
        <p:spPr>
          <a:xfrm>
            <a:off x="9897427" y="4086820"/>
            <a:ext cx="3681770"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Problem type and domain</a:t>
            </a:r>
            <a:endParaRPr b="0" i="0" sz="1750" u="none" cap="none" strike="noStrike"/>
          </a:p>
        </p:txBody>
      </p:sp>
      <p:sp>
        <p:nvSpPr>
          <p:cNvPr id="160" name="Google Shape;160;p5"/>
          <p:cNvSpPr/>
          <p:nvPr/>
        </p:nvSpPr>
        <p:spPr>
          <a:xfrm>
            <a:off x="9897427" y="4529018"/>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Business objectives and priorities</a:t>
            </a:r>
            <a:endParaRPr b="0" i="0" sz="1750" u="none" cap="none" strike="noStrike"/>
          </a:p>
        </p:txBody>
      </p:sp>
      <p:sp>
        <p:nvSpPr>
          <p:cNvPr id="161" name="Google Shape;161;p5"/>
          <p:cNvSpPr/>
          <p:nvPr/>
        </p:nvSpPr>
        <p:spPr>
          <a:xfrm>
            <a:off x="9897427" y="5334119"/>
            <a:ext cx="3681770" cy="36290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Cost of different error types</a:t>
            </a:r>
            <a:endParaRPr b="0" i="0" sz="1750" u="none" cap="none" strike="noStrike"/>
          </a:p>
        </p:txBody>
      </p:sp>
      <p:sp>
        <p:nvSpPr>
          <p:cNvPr id="162" name="Google Shape;162;p5"/>
          <p:cNvSpPr/>
          <p:nvPr/>
        </p:nvSpPr>
        <p:spPr>
          <a:xfrm>
            <a:off x="9897427" y="5776317"/>
            <a:ext cx="3681770" cy="725805"/>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2C3249"/>
              </a:buClr>
              <a:buSzPts val="1750"/>
              <a:buFont typeface="Martel Sans"/>
              <a:buChar char="•"/>
            </a:pPr>
            <a:r>
              <a:rPr b="0" i="0" lang="en-US" sz="1750" u="none" cap="none" strike="noStrike">
                <a:solidFill>
                  <a:srgbClr val="2C3249"/>
                </a:solidFill>
                <a:latin typeface="Martel Sans"/>
                <a:ea typeface="Martel Sans"/>
                <a:cs typeface="Martel Sans"/>
                <a:sym typeface="Martel Sans"/>
              </a:rPr>
              <a:t>Data distribution characteristics</a:t>
            </a:r>
            <a:endParaRPr b="0" i="0" sz="17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preencoded.png" id="168" name="Google Shape;168;p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69" name="Google Shape;169;p6"/>
          <p:cNvSpPr/>
          <p:nvPr/>
        </p:nvSpPr>
        <p:spPr>
          <a:xfrm>
            <a:off x="6280190" y="1636752"/>
            <a:ext cx="7556421" cy="4253032"/>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272D45"/>
              </a:buClr>
              <a:buSzPts val="8900"/>
              <a:buFont typeface="Kanit Light"/>
              <a:buNone/>
            </a:pPr>
            <a:r>
              <a:rPr b="0" i="0" lang="en-US" sz="8900" u="none" cap="none" strike="noStrike">
                <a:solidFill>
                  <a:srgbClr val="272D45"/>
                </a:solidFill>
                <a:latin typeface="Kanit Light"/>
                <a:ea typeface="Kanit Light"/>
                <a:cs typeface="Kanit Light"/>
                <a:sym typeface="Kanit Light"/>
              </a:rPr>
              <a:t>Deep Dive into Classification Metrics</a:t>
            </a:r>
            <a:endParaRPr b="0" i="0" sz="8900" u="none" cap="none" strike="noStrike"/>
          </a:p>
        </p:txBody>
      </p:sp>
      <p:sp>
        <p:nvSpPr>
          <p:cNvPr id="170" name="Google Shape;170;p6"/>
          <p:cNvSpPr/>
          <p:nvPr/>
        </p:nvSpPr>
        <p:spPr>
          <a:xfrm>
            <a:off x="6280190" y="6229945"/>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Chapter 2</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preencoded.png" id="176" name="Google Shape;176;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77" name="Google Shape;177;p7"/>
          <p:cNvSpPr/>
          <p:nvPr/>
        </p:nvSpPr>
        <p:spPr>
          <a:xfrm>
            <a:off x="762714" y="599361"/>
            <a:ext cx="6742390" cy="681038"/>
          </a:xfrm>
          <a:prstGeom prst="rect">
            <a:avLst/>
          </a:prstGeom>
          <a:noFill/>
          <a:ln>
            <a:noFill/>
          </a:ln>
        </p:spPr>
        <p:txBody>
          <a:bodyPr anchorCtr="0" anchor="t" bIns="0" lIns="0" spcFirstLastPara="1" rIns="0" wrap="square" tIns="0">
            <a:noAutofit/>
          </a:bodyPr>
          <a:lstStyle/>
          <a:p>
            <a:pPr indent="0" lvl="0" marL="0" marR="0" rtl="0" algn="l">
              <a:lnSpc>
                <a:spcPct val="125882"/>
              </a:lnSpc>
              <a:spcBef>
                <a:spcPts val="0"/>
              </a:spcBef>
              <a:spcAft>
                <a:spcPts val="0"/>
              </a:spcAft>
              <a:buClr>
                <a:srgbClr val="272D45"/>
              </a:buClr>
              <a:buSzPts val="4250"/>
              <a:buFont typeface="Kanit Light"/>
              <a:buNone/>
            </a:pPr>
            <a:r>
              <a:rPr b="0" i="0" lang="en-US" sz="4250" u="none" cap="none" strike="noStrike">
                <a:solidFill>
                  <a:srgbClr val="272D45"/>
                </a:solidFill>
                <a:latin typeface="Kanit Light"/>
                <a:ea typeface="Kanit Light"/>
                <a:cs typeface="Kanit Light"/>
                <a:sym typeface="Kanit Light"/>
              </a:rPr>
              <a:t>Accuracy and Its Limitations</a:t>
            </a:r>
            <a:endParaRPr b="0" i="0" sz="4250" u="none" cap="none" strike="noStrike"/>
          </a:p>
        </p:txBody>
      </p:sp>
      <p:sp>
        <p:nvSpPr>
          <p:cNvPr id="178" name="Google Shape;178;p7"/>
          <p:cNvSpPr/>
          <p:nvPr/>
        </p:nvSpPr>
        <p:spPr>
          <a:xfrm>
            <a:off x="762714" y="1716167"/>
            <a:ext cx="7618571" cy="71913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249"/>
              </a:buClr>
              <a:buSzPts val="5650"/>
              <a:buFont typeface="Kanit Light"/>
              <a:buNone/>
            </a:pPr>
            <a:r>
              <a:rPr b="0" i="0" lang="en-US" sz="5650" u="none" cap="none" strike="noStrike">
                <a:solidFill>
                  <a:srgbClr val="2C3249"/>
                </a:solidFill>
                <a:latin typeface="Kanit Light"/>
                <a:ea typeface="Kanit Light"/>
                <a:cs typeface="Kanit Light"/>
                <a:sym typeface="Kanit Light"/>
              </a:rPr>
              <a:t>95%</a:t>
            </a:r>
            <a:endParaRPr b="0" i="0" sz="5650" u="none" cap="none" strike="noStrike"/>
          </a:p>
        </p:txBody>
      </p:sp>
      <p:sp>
        <p:nvSpPr>
          <p:cNvPr id="179" name="Google Shape;179;p7"/>
          <p:cNvSpPr/>
          <p:nvPr/>
        </p:nvSpPr>
        <p:spPr>
          <a:xfrm>
            <a:off x="3209806" y="2707600"/>
            <a:ext cx="2724269" cy="340519"/>
          </a:xfrm>
          <a:prstGeom prst="rect">
            <a:avLst/>
          </a:prstGeom>
          <a:noFill/>
          <a:ln>
            <a:noFill/>
          </a:ln>
        </p:spPr>
        <p:txBody>
          <a:bodyPr anchorCtr="0" anchor="t" bIns="0" lIns="0" spcFirstLastPara="1" rIns="0" wrap="square" tIns="0">
            <a:noAutofit/>
          </a:bodyPr>
          <a:lstStyle/>
          <a:p>
            <a:pPr indent="0" lvl="0" marL="0" marR="0" rtl="0" algn="ctr">
              <a:lnSpc>
                <a:spcPct val="126190"/>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Misleading Accuracy</a:t>
            </a:r>
            <a:endParaRPr b="0" i="0" sz="2100" u="none" cap="none" strike="noStrike"/>
          </a:p>
        </p:txBody>
      </p:sp>
      <p:sp>
        <p:nvSpPr>
          <p:cNvPr id="180" name="Google Shape;180;p7"/>
          <p:cNvSpPr/>
          <p:nvPr/>
        </p:nvSpPr>
        <p:spPr>
          <a:xfrm>
            <a:off x="762714" y="3178850"/>
            <a:ext cx="7618571" cy="697468"/>
          </a:xfrm>
          <a:prstGeom prst="rect">
            <a:avLst/>
          </a:prstGeom>
          <a:noFill/>
          <a:ln>
            <a:noFill/>
          </a:ln>
        </p:spPr>
        <p:txBody>
          <a:bodyPr anchorCtr="0" anchor="t" bIns="0" lIns="0" spcFirstLastPara="1" rIns="0" wrap="square" tIns="0">
            <a:noAutofit/>
          </a:bodyPr>
          <a:lstStyle/>
          <a:p>
            <a:pPr indent="0" lvl="0" marL="0" marR="0" rtl="0" algn="ctr">
              <a:lnSpc>
                <a:spcPct val="158823"/>
              </a:lnSpc>
              <a:spcBef>
                <a:spcPts val="0"/>
              </a:spcBef>
              <a:spcAft>
                <a:spcPts val="0"/>
              </a:spcAft>
              <a:buClr>
                <a:srgbClr val="2C3249"/>
              </a:buClr>
              <a:buSzPts val="1700"/>
              <a:buFont typeface="Martel Sans"/>
              <a:buNone/>
            </a:pPr>
            <a:r>
              <a:rPr b="0" i="0" lang="en-US" sz="1700" u="none" cap="none" strike="noStrike">
                <a:solidFill>
                  <a:srgbClr val="2C3249"/>
                </a:solidFill>
                <a:latin typeface="Martel Sans"/>
                <a:ea typeface="Martel Sans"/>
                <a:cs typeface="Martel Sans"/>
                <a:sym typeface="Martel Sans"/>
              </a:rPr>
              <a:t>Can appear impressive in imbalanced datasets while missing critical patterns</a:t>
            </a:r>
            <a:endParaRPr b="0" i="0" sz="1700" u="none" cap="none" strike="noStrike"/>
          </a:p>
        </p:txBody>
      </p:sp>
      <p:sp>
        <p:nvSpPr>
          <p:cNvPr id="181" name="Google Shape;181;p7"/>
          <p:cNvSpPr/>
          <p:nvPr/>
        </p:nvSpPr>
        <p:spPr>
          <a:xfrm>
            <a:off x="762714" y="4121468"/>
            <a:ext cx="7618571" cy="348734"/>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3249"/>
              </a:buClr>
              <a:buSzPts val="1700"/>
              <a:buFont typeface="Martel Sans"/>
              <a:buNone/>
            </a:pPr>
            <a:r>
              <a:rPr b="1" i="0" lang="en-US" sz="1700" u="none" cap="none" strike="noStrike">
                <a:solidFill>
                  <a:srgbClr val="2C3249"/>
                </a:solidFill>
                <a:latin typeface="Martel Sans"/>
                <a:ea typeface="Martel Sans"/>
                <a:cs typeface="Martel Sans"/>
                <a:sym typeface="Martel Sans"/>
              </a:rPr>
              <a:t>The Formula:</a:t>
            </a:r>
            <a:r>
              <a:rPr b="0" i="0" lang="en-US" sz="1700" u="none" cap="none" strike="noStrike">
                <a:solidFill>
                  <a:srgbClr val="2C3249"/>
                </a:solidFill>
                <a:latin typeface="Martel Sans"/>
                <a:ea typeface="Martel Sans"/>
                <a:cs typeface="Martel Sans"/>
                <a:sym typeface="Martel Sans"/>
              </a:rPr>
              <a:t> Accuracy = (Correct Predictions) / (Total Predictions)</a:t>
            </a:r>
            <a:endParaRPr b="0" i="0" sz="1700" u="none" cap="none" strike="noStrike"/>
          </a:p>
        </p:txBody>
      </p:sp>
      <p:sp>
        <p:nvSpPr>
          <p:cNvPr id="182" name="Google Shape;182;p7"/>
          <p:cNvSpPr/>
          <p:nvPr/>
        </p:nvSpPr>
        <p:spPr>
          <a:xfrm>
            <a:off x="762714" y="4715351"/>
            <a:ext cx="7618571" cy="1972270"/>
          </a:xfrm>
          <a:prstGeom prst="roundRect">
            <a:avLst>
              <a:gd fmla="val 4641" name="adj"/>
            </a:avLst>
          </a:prstGeom>
          <a:solidFill>
            <a:srgbClr val="CFE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3" name="Google Shape;183;p7"/>
          <p:cNvPicPr preferRelativeResize="0"/>
          <p:nvPr/>
        </p:nvPicPr>
        <p:blipFill rotWithShape="1">
          <a:blip r:embed="rId4">
            <a:alphaModFix/>
          </a:blip>
          <a:srcRect b="0" l="0" r="0" t="0"/>
          <a:stretch/>
        </p:blipFill>
        <p:spPr>
          <a:xfrm>
            <a:off x="980599" y="5017889"/>
            <a:ext cx="272415" cy="217884"/>
          </a:xfrm>
          <a:prstGeom prst="rect">
            <a:avLst/>
          </a:prstGeom>
          <a:noFill/>
          <a:ln>
            <a:noFill/>
          </a:ln>
        </p:spPr>
      </p:pic>
      <p:sp>
        <p:nvSpPr>
          <p:cNvPr id="184" name="Google Shape;184;p7"/>
          <p:cNvSpPr/>
          <p:nvPr/>
        </p:nvSpPr>
        <p:spPr>
          <a:xfrm>
            <a:off x="1470898" y="4987647"/>
            <a:ext cx="6692503" cy="139493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000000"/>
              </a:buClr>
              <a:buSzPts val="1700"/>
              <a:buFont typeface="Martel Sans"/>
              <a:buNone/>
            </a:pPr>
            <a:r>
              <a:rPr b="1" i="0" lang="en-US" sz="1700" u="none" cap="none" strike="noStrike">
                <a:solidFill>
                  <a:srgbClr val="000000"/>
                </a:solidFill>
                <a:latin typeface="Martel Sans"/>
                <a:ea typeface="Martel Sans"/>
                <a:cs typeface="Martel Sans"/>
                <a:sym typeface="Martel Sans"/>
              </a:rPr>
              <a:t>Critical Limitation:</a:t>
            </a:r>
            <a:r>
              <a:rPr b="0" i="0" lang="en-US" sz="1700" u="none" cap="none" strike="noStrike">
                <a:solidFill>
                  <a:srgbClr val="000000"/>
                </a:solidFill>
                <a:latin typeface="Martel Sans"/>
                <a:ea typeface="Martel Sans"/>
                <a:cs typeface="Martel Sans"/>
                <a:sym typeface="Martel Sans"/>
              </a:rPr>
              <a:t> In imbalanced datasets (e.g., fraud detection where 99% of transactions are legitimate), a model that always predicts "not fraud" achieves 99% accuracy but provides zero value.</a:t>
            </a:r>
            <a:endParaRPr b="0" i="0" sz="1700" u="none" cap="none" strike="noStrike"/>
          </a:p>
        </p:txBody>
      </p:sp>
      <p:sp>
        <p:nvSpPr>
          <p:cNvPr id="185" name="Google Shape;185;p7"/>
          <p:cNvSpPr/>
          <p:nvPr/>
        </p:nvSpPr>
        <p:spPr>
          <a:xfrm>
            <a:off x="762714" y="6932771"/>
            <a:ext cx="7618571" cy="697468"/>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3249"/>
              </a:buClr>
              <a:buSzPts val="1700"/>
              <a:buFont typeface="Martel Sans"/>
              <a:buNone/>
            </a:pPr>
            <a:r>
              <a:rPr b="0" i="0" lang="en-US" sz="1700" u="none" cap="none" strike="noStrike">
                <a:solidFill>
                  <a:srgbClr val="2C3249"/>
                </a:solidFill>
                <a:latin typeface="Martel Sans"/>
                <a:ea typeface="Martel Sans"/>
                <a:cs typeface="Martel Sans"/>
                <a:sym typeface="Martel Sans"/>
              </a:rPr>
              <a:t>For rare event detection, precision, recall, and F1 score provide much more meaningful evaluation than accuracy alone.</a:t>
            </a:r>
            <a:endParaRPr b="0" i="0" sz="170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p:nvPr/>
        </p:nvSpPr>
        <p:spPr>
          <a:xfrm>
            <a:off x="793790" y="1244798"/>
            <a:ext cx="758392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Precision and Recall Explained</a:t>
            </a:r>
            <a:endParaRPr b="0" i="0" sz="4450" u="none" cap="none" strike="noStrike"/>
          </a:p>
        </p:txBody>
      </p:sp>
      <p:sp>
        <p:nvSpPr>
          <p:cNvPr id="192" name="Google Shape;192;p8"/>
          <p:cNvSpPr/>
          <p:nvPr/>
        </p:nvSpPr>
        <p:spPr>
          <a:xfrm>
            <a:off x="793790" y="2520553"/>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D45"/>
              </a:buClr>
              <a:buSzPts val="2650"/>
              <a:buFont typeface="Kanit Light"/>
              <a:buNone/>
            </a:pPr>
            <a:r>
              <a:rPr b="0" i="0" lang="en-US" sz="2650" u="none" cap="none" strike="noStrike">
                <a:solidFill>
                  <a:srgbClr val="272D45"/>
                </a:solidFill>
                <a:latin typeface="Kanit Light"/>
                <a:ea typeface="Kanit Light"/>
                <a:cs typeface="Kanit Light"/>
                <a:sym typeface="Kanit Light"/>
              </a:rPr>
              <a:t>Precision</a:t>
            </a:r>
            <a:endParaRPr b="0" i="0" sz="2650" u="none" cap="none" strike="noStrike"/>
          </a:p>
        </p:txBody>
      </p:sp>
      <p:sp>
        <p:nvSpPr>
          <p:cNvPr id="193" name="Google Shape;193;p8"/>
          <p:cNvSpPr/>
          <p:nvPr/>
        </p:nvSpPr>
        <p:spPr>
          <a:xfrm>
            <a:off x="793790" y="3172658"/>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Question:</a:t>
            </a:r>
            <a:r>
              <a:rPr b="0" i="0" lang="en-US" sz="1750" u="none" cap="none" strike="noStrike">
                <a:solidFill>
                  <a:srgbClr val="2C3249"/>
                </a:solidFill>
                <a:latin typeface="Martel Sans"/>
                <a:ea typeface="Martel Sans"/>
                <a:cs typeface="Martel Sans"/>
                <a:sym typeface="Martel Sans"/>
              </a:rPr>
              <a:t> Of all predicted positives, how many are actually true positives?</a:t>
            </a:r>
            <a:endParaRPr b="0" i="0" sz="1750" u="none" cap="none" strike="noStrike"/>
          </a:p>
        </p:txBody>
      </p:sp>
      <p:sp>
        <p:nvSpPr>
          <p:cNvPr id="194" name="Google Shape;194;p8"/>
          <p:cNvSpPr/>
          <p:nvPr/>
        </p:nvSpPr>
        <p:spPr>
          <a:xfrm>
            <a:off x="793790" y="4102537"/>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Formula:</a:t>
            </a:r>
            <a:r>
              <a:rPr b="0" i="0" lang="en-US" sz="1750" u="none" cap="none" strike="noStrike">
                <a:solidFill>
                  <a:srgbClr val="2C3249"/>
                </a:solidFill>
                <a:latin typeface="Martel Sans"/>
                <a:ea typeface="Martel Sans"/>
                <a:cs typeface="Martel Sans"/>
                <a:sym typeface="Martel Sans"/>
              </a:rPr>
              <a:t> TP / (TP + FP)</a:t>
            </a:r>
            <a:endParaRPr b="0" i="0" sz="1750" u="none" cap="none" strike="noStrike"/>
          </a:p>
        </p:txBody>
      </p:sp>
      <p:sp>
        <p:nvSpPr>
          <p:cNvPr id="195" name="Google Shape;195;p8"/>
          <p:cNvSpPr/>
          <p:nvPr/>
        </p:nvSpPr>
        <p:spPr>
          <a:xfrm>
            <a:off x="793790" y="4669512"/>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Use when:</a:t>
            </a:r>
            <a:r>
              <a:rPr b="0" i="0" lang="en-US" sz="1750" u="none" cap="none" strike="noStrike">
                <a:solidFill>
                  <a:srgbClr val="2C3249"/>
                </a:solidFill>
                <a:latin typeface="Martel Sans"/>
                <a:ea typeface="Martel Sans"/>
                <a:cs typeface="Martel Sans"/>
                <a:sym typeface="Martel Sans"/>
              </a:rPr>
              <a:t> False positives are costly (e.g., spam filtering, where blocking legitimate emails is problematic)</a:t>
            </a:r>
            <a:endParaRPr b="0" i="0" sz="1750" u="none" cap="none" strike="noStrike"/>
          </a:p>
        </p:txBody>
      </p:sp>
      <p:sp>
        <p:nvSpPr>
          <p:cNvPr id="196" name="Google Shape;196;p8"/>
          <p:cNvSpPr/>
          <p:nvPr/>
        </p:nvSpPr>
        <p:spPr>
          <a:xfrm>
            <a:off x="7599521" y="2520553"/>
            <a:ext cx="3402330" cy="425291"/>
          </a:xfrm>
          <a:prstGeom prst="rect">
            <a:avLst/>
          </a:prstGeom>
          <a:noFill/>
          <a:ln>
            <a:noFill/>
          </a:ln>
        </p:spPr>
        <p:txBody>
          <a:bodyPr anchorCtr="0" anchor="t" bIns="0" lIns="0" spcFirstLastPara="1" rIns="0" wrap="square" tIns="0">
            <a:noAutofit/>
          </a:bodyPr>
          <a:lstStyle/>
          <a:p>
            <a:pPr indent="0" lvl="0" marL="0" marR="0" rtl="0" algn="l">
              <a:lnSpc>
                <a:spcPct val="124528"/>
              </a:lnSpc>
              <a:spcBef>
                <a:spcPts val="0"/>
              </a:spcBef>
              <a:spcAft>
                <a:spcPts val="0"/>
              </a:spcAft>
              <a:buClr>
                <a:srgbClr val="272D45"/>
              </a:buClr>
              <a:buSzPts val="2650"/>
              <a:buFont typeface="Kanit Light"/>
              <a:buNone/>
            </a:pPr>
            <a:r>
              <a:rPr b="0" i="0" lang="en-US" sz="2650" u="none" cap="none" strike="noStrike">
                <a:solidFill>
                  <a:srgbClr val="272D45"/>
                </a:solidFill>
                <a:latin typeface="Kanit Light"/>
                <a:ea typeface="Kanit Light"/>
                <a:cs typeface="Kanit Light"/>
                <a:sym typeface="Kanit Light"/>
              </a:rPr>
              <a:t>Recall</a:t>
            </a:r>
            <a:endParaRPr b="0" i="0" sz="2650" u="none" cap="none" strike="noStrike"/>
          </a:p>
        </p:txBody>
      </p:sp>
      <p:sp>
        <p:nvSpPr>
          <p:cNvPr id="197" name="Google Shape;197;p8"/>
          <p:cNvSpPr/>
          <p:nvPr/>
        </p:nvSpPr>
        <p:spPr>
          <a:xfrm>
            <a:off x="7599521" y="3172658"/>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Question:</a:t>
            </a:r>
            <a:r>
              <a:rPr b="0" i="0" lang="en-US" sz="1750" u="none" cap="none" strike="noStrike">
                <a:solidFill>
                  <a:srgbClr val="2C3249"/>
                </a:solidFill>
                <a:latin typeface="Martel Sans"/>
                <a:ea typeface="Martel Sans"/>
                <a:cs typeface="Martel Sans"/>
                <a:sym typeface="Martel Sans"/>
              </a:rPr>
              <a:t> Of all actual positives, how many did the model successfully identify?</a:t>
            </a:r>
            <a:endParaRPr b="0" i="0" sz="1750" u="none" cap="none" strike="noStrike"/>
          </a:p>
        </p:txBody>
      </p:sp>
      <p:sp>
        <p:nvSpPr>
          <p:cNvPr id="198" name="Google Shape;198;p8"/>
          <p:cNvSpPr/>
          <p:nvPr/>
        </p:nvSpPr>
        <p:spPr>
          <a:xfrm>
            <a:off x="7599521" y="4102537"/>
            <a:ext cx="624470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Formula:</a:t>
            </a:r>
            <a:r>
              <a:rPr b="0" i="0" lang="en-US" sz="1750" u="none" cap="none" strike="noStrike">
                <a:solidFill>
                  <a:srgbClr val="2C3249"/>
                </a:solidFill>
                <a:latin typeface="Martel Sans"/>
                <a:ea typeface="Martel Sans"/>
                <a:cs typeface="Martel Sans"/>
                <a:sym typeface="Martel Sans"/>
              </a:rPr>
              <a:t> TP / (TP + FN)</a:t>
            </a:r>
            <a:endParaRPr b="0" i="0" sz="1750" u="none" cap="none" strike="noStrike"/>
          </a:p>
        </p:txBody>
      </p:sp>
      <p:sp>
        <p:nvSpPr>
          <p:cNvPr id="199" name="Google Shape;199;p8"/>
          <p:cNvSpPr/>
          <p:nvPr/>
        </p:nvSpPr>
        <p:spPr>
          <a:xfrm>
            <a:off x="7599521" y="4669512"/>
            <a:ext cx="6244709"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Use when:</a:t>
            </a:r>
            <a:r>
              <a:rPr b="0" i="0" lang="en-US" sz="1750" u="none" cap="none" strike="noStrike">
                <a:solidFill>
                  <a:srgbClr val="2C3249"/>
                </a:solidFill>
                <a:latin typeface="Martel Sans"/>
                <a:ea typeface="Martel Sans"/>
                <a:cs typeface="Martel Sans"/>
                <a:sym typeface="Martel Sans"/>
              </a:rPr>
              <a:t> False negatives are costly (e.g., disease detection, where missing cases is dangerous)</a:t>
            </a:r>
            <a:endParaRPr b="0" i="0" sz="1750" u="none" cap="none" strike="noStrike"/>
          </a:p>
        </p:txBody>
      </p:sp>
      <p:sp>
        <p:nvSpPr>
          <p:cNvPr id="200" name="Google Shape;200;p8"/>
          <p:cNvSpPr/>
          <p:nvPr/>
        </p:nvSpPr>
        <p:spPr>
          <a:xfrm>
            <a:off x="793790" y="5967922"/>
            <a:ext cx="13042821" cy="35957"/>
          </a:xfrm>
          <a:prstGeom prst="rect">
            <a:avLst/>
          </a:prstGeom>
          <a:solidFill>
            <a:srgbClr val="2C3249">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793790" y="6258997"/>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The Critical Trade-off:</a:t>
            </a:r>
            <a:r>
              <a:rPr b="0" i="0" lang="en-US" sz="1750" u="none" cap="none" strike="noStrike">
                <a:solidFill>
                  <a:srgbClr val="2C3249"/>
                </a:solidFill>
                <a:latin typeface="Martel Sans"/>
                <a:ea typeface="Martel Sans"/>
                <a:cs typeface="Martel Sans"/>
                <a:sym typeface="Martel Sans"/>
              </a:rPr>
              <a:t> Improving precision often reduces recall and vice versa. Adjusting the classification threshold shifts this balance based on business priorities.</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descr="preencoded.png" id="207" name="Google Shape;207;p9"/>
          <p:cNvPicPr preferRelativeResize="0"/>
          <p:nvPr/>
        </p:nvPicPr>
        <p:blipFill rotWithShape="1">
          <a:blip r:embed="rId3">
            <a:alphaModFix/>
          </a:blip>
          <a:srcRect b="0" l="0" r="0" t="0"/>
          <a:stretch/>
        </p:blipFill>
        <p:spPr>
          <a:xfrm>
            <a:off x="0" y="0"/>
            <a:ext cx="5486400" cy="8232934"/>
          </a:xfrm>
          <a:prstGeom prst="rect">
            <a:avLst/>
          </a:prstGeom>
          <a:noFill/>
          <a:ln>
            <a:noFill/>
          </a:ln>
        </p:spPr>
      </p:pic>
      <p:sp>
        <p:nvSpPr>
          <p:cNvPr id="208" name="Google Shape;208;p9"/>
          <p:cNvSpPr/>
          <p:nvPr/>
        </p:nvSpPr>
        <p:spPr>
          <a:xfrm>
            <a:off x="6210062" y="568643"/>
            <a:ext cx="5169575" cy="646152"/>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272D45"/>
              </a:buClr>
              <a:buSzPts val="4050"/>
              <a:buFont typeface="Kanit Light"/>
              <a:buNone/>
            </a:pPr>
            <a:r>
              <a:rPr b="0" i="0" lang="en-US" sz="4050" u="none" cap="none" strike="noStrike">
                <a:solidFill>
                  <a:srgbClr val="272D45"/>
                </a:solidFill>
                <a:latin typeface="Kanit Light"/>
                <a:ea typeface="Kanit Light"/>
                <a:cs typeface="Kanit Light"/>
                <a:sym typeface="Kanit Light"/>
              </a:rPr>
              <a:t>F1 Score and AUC-ROC</a:t>
            </a:r>
            <a:endParaRPr b="0" i="0" sz="4050" u="none" cap="none" strike="noStrike"/>
          </a:p>
        </p:txBody>
      </p:sp>
      <p:sp>
        <p:nvSpPr>
          <p:cNvPr id="209" name="Google Shape;209;p9"/>
          <p:cNvSpPr/>
          <p:nvPr/>
        </p:nvSpPr>
        <p:spPr>
          <a:xfrm>
            <a:off x="6210062" y="1524953"/>
            <a:ext cx="7696676" cy="2353747"/>
          </a:xfrm>
          <a:prstGeom prst="roundRect">
            <a:avLst>
              <a:gd fmla="val 4662" name="adj"/>
            </a:avLst>
          </a:prstGeom>
          <a:solidFill>
            <a:srgbClr val="FFFFFF"/>
          </a:solidFill>
          <a:ln cap="flat" cmpd="sng" w="22850">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187202" y="1524953"/>
            <a:ext cx="91440" cy="2353747"/>
          </a:xfrm>
          <a:prstGeom prst="roundRect">
            <a:avLst>
              <a:gd fmla="val 94980"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6508194" y="1754505"/>
            <a:ext cx="3316129" cy="323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000"/>
              <a:buFont typeface="Kanit Light"/>
              <a:buNone/>
            </a:pPr>
            <a:r>
              <a:rPr b="0" i="0" lang="en-US" sz="2000" u="none" cap="none" strike="noStrike">
                <a:solidFill>
                  <a:srgbClr val="2C3249"/>
                </a:solidFill>
                <a:latin typeface="Kanit Light"/>
                <a:ea typeface="Kanit Light"/>
                <a:cs typeface="Kanit Light"/>
                <a:sym typeface="Kanit Light"/>
              </a:rPr>
              <a:t>F1 Score: The Balanced Metric</a:t>
            </a:r>
            <a:endParaRPr b="0" i="0" sz="2000" u="none" cap="none" strike="noStrike"/>
          </a:p>
        </p:txBody>
      </p:sp>
      <p:sp>
        <p:nvSpPr>
          <p:cNvPr id="212" name="Google Shape;212;p9"/>
          <p:cNvSpPr/>
          <p:nvPr/>
        </p:nvSpPr>
        <p:spPr>
          <a:xfrm>
            <a:off x="6508194" y="2201585"/>
            <a:ext cx="7168991" cy="99262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3249"/>
              </a:buClr>
              <a:buSzPts val="1600"/>
              <a:buFont typeface="Martel Sans"/>
              <a:buNone/>
            </a:pPr>
            <a:r>
              <a:rPr b="0" i="0" lang="en-US" sz="1600" u="none" cap="none" strike="noStrike">
                <a:solidFill>
                  <a:srgbClr val="2C3249"/>
                </a:solidFill>
                <a:latin typeface="Martel Sans"/>
                <a:ea typeface="Martel Sans"/>
                <a:cs typeface="Martel Sans"/>
                <a:sym typeface="Martel Sans"/>
              </a:rPr>
              <a:t>Harmonic mean of precision and recall, providing a single score that balances both metrics. Particularly valuable when you need equal consideration of false positives and false negatives.</a:t>
            </a:r>
            <a:endParaRPr b="0" i="0" sz="1600" u="none" cap="none" strike="noStrike"/>
          </a:p>
        </p:txBody>
      </p:sp>
      <p:sp>
        <p:nvSpPr>
          <p:cNvPr id="213" name="Google Shape;213;p9"/>
          <p:cNvSpPr/>
          <p:nvPr/>
        </p:nvSpPr>
        <p:spPr>
          <a:xfrm>
            <a:off x="6508194" y="3318272"/>
            <a:ext cx="7168991" cy="33087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3249"/>
              </a:buClr>
              <a:buSzPts val="1600"/>
              <a:buFont typeface="Martel Sans"/>
              <a:buNone/>
            </a:pPr>
            <a:r>
              <a:rPr b="1" i="0" lang="en-US" sz="1600" u="none" cap="none" strike="noStrike">
                <a:solidFill>
                  <a:srgbClr val="2C3249"/>
                </a:solidFill>
                <a:latin typeface="Martel Sans"/>
                <a:ea typeface="Martel Sans"/>
                <a:cs typeface="Martel Sans"/>
                <a:sym typeface="Martel Sans"/>
              </a:rPr>
              <a:t>Formula:</a:t>
            </a:r>
            <a:r>
              <a:rPr b="0" i="0" lang="en-US" sz="1600" u="none" cap="none" strike="noStrike">
                <a:solidFill>
                  <a:srgbClr val="2C3249"/>
                </a:solidFill>
                <a:latin typeface="Martel Sans"/>
                <a:ea typeface="Martel Sans"/>
                <a:cs typeface="Martel Sans"/>
                <a:sym typeface="Martel Sans"/>
              </a:rPr>
              <a:t> 2 × (Precision × Recall) / (Precision + Recall)</a:t>
            </a:r>
            <a:endParaRPr b="0" i="0" sz="1600" u="none" cap="none" strike="noStrike"/>
          </a:p>
        </p:txBody>
      </p:sp>
      <p:sp>
        <p:nvSpPr>
          <p:cNvPr id="214" name="Google Shape;214;p9"/>
          <p:cNvSpPr/>
          <p:nvPr/>
        </p:nvSpPr>
        <p:spPr>
          <a:xfrm>
            <a:off x="6210062" y="4085392"/>
            <a:ext cx="7696676" cy="2684621"/>
          </a:xfrm>
          <a:prstGeom prst="roundRect">
            <a:avLst>
              <a:gd fmla="val 4087" name="adj"/>
            </a:avLst>
          </a:prstGeom>
          <a:solidFill>
            <a:srgbClr val="FFFFFF"/>
          </a:solidFill>
          <a:ln cap="flat" cmpd="sng" w="22850">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6187202" y="4085392"/>
            <a:ext cx="91440" cy="2684621"/>
          </a:xfrm>
          <a:prstGeom prst="roundRect">
            <a:avLst>
              <a:gd fmla="val 94980" name="adj"/>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6508194" y="4314944"/>
            <a:ext cx="4002643" cy="3230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000"/>
              <a:buFont typeface="Kanit Light"/>
              <a:buNone/>
            </a:pPr>
            <a:r>
              <a:rPr b="0" i="0" lang="en-US" sz="2000" u="none" cap="none" strike="noStrike">
                <a:solidFill>
                  <a:srgbClr val="2C3249"/>
                </a:solidFill>
                <a:latin typeface="Kanit Light"/>
                <a:ea typeface="Kanit Light"/>
                <a:cs typeface="Kanit Light"/>
                <a:sym typeface="Kanit Light"/>
              </a:rPr>
              <a:t>AUC-ROC: Threshold Independence</a:t>
            </a:r>
            <a:endParaRPr b="0" i="0" sz="2000" u="none" cap="none" strike="noStrike"/>
          </a:p>
        </p:txBody>
      </p:sp>
      <p:sp>
        <p:nvSpPr>
          <p:cNvPr id="217" name="Google Shape;217;p9"/>
          <p:cNvSpPr/>
          <p:nvPr/>
        </p:nvSpPr>
        <p:spPr>
          <a:xfrm>
            <a:off x="6508194" y="4762024"/>
            <a:ext cx="7168991" cy="99262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3249"/>
              </a:buClr>
              <a:buSzPts val="1600"/>
              <a:buFont typeface="Martel Sans"/>
              <a:buNone/>
            </a:pPr>
            <a:r>
              <a:rPr b="0" i="0" lang="en-US" sz="1600" u="none" cap="none" strike="noStrike">
                <a:solidFill>
                  <a:srgbClr val="2C3249"/>
                </a:solidFill>
                <a:latin typeface="Martel Sans"/>
                <a:ea typeface="Martel Sans"/>
                <a:cs typeface="Martel Sans"/>
                <a:sym typeface="Martel Sans"/>
              </a:rPr>
              <a:t>Area Under the Receiver Operating Characteristic Curve measures the model's ability to distinguish between classes across all possible classification thresholds.</a:t>
            </a:r>
            <a:endParaRPr b="0" i="0" sz="1600" u="none" cap="none" strike="noStrike"/>
          </a:p>
        </p:txBody>
      </p:sp>
      <p:sp>
        <p:nvSpPr>
          <p:cNvPr id="218" name="Google Shape;218;p9"/>
          <p:cNvSpPr/>
          <p:nvPr/>
        </p:nvSpPr>
        <p:spPr>
          <a:xfrm>
            <a:off x="6508194" y="5878711"/>
            <a:ext cx="7168991" cy="66174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3249"/>
              </a:buClr>
              <a:buSzPts val="1600"/>
              <a:buFont typeface="Martel Sans"/>
              <a:buNone/>
            </a:pPr>
            <a:r>
              <a:rPr b="1" i="0" lang="en-US" sz="1600" u="none" cap="none" strike="noStrike">
                <a:solidFill>
                  <a:srgbClr val="2C3249"/>
                </a:solidFill>
                <a:latin typeface="Martel Sans"/>
                <a:ea typeface="Martel Sans"/>
                <a:cs typeface="Martel Sans"/>
                <a:sym typeface="Martel Sans"/>
              </a:rPr>
              <a:t>Interpretation:</a:t>
            </a:r>
            <a:r>
              <a:rPr b="0" i="0" lang="en-US" sz="1600" u="none" cap="none" strike="noStrike">
                <a:solidFill>
                  <a:srgbClr val="2C3249"/>
                </a:solidFill>
                <a:latin typeface="Martel Sans"/>
                <a:ea typeface="Martel Sans"/>
                <a:cs typeface="Martel Sans"/>
                <a:sym typeface="Martel Sans"/>
              </a:rPr>
              <a:t> Probability that model ranks random positive higher than random negative</a:t>
            </a:r>
            <a:endParaRPr b="0" i="0" sz="1600" u="none" cap="none" strike="noStrike"/>
          </a:p>
        </p:txBody>
      </p:sp>
      <p:sp>
        <p:nvSpPr>
          <p:cNvPr id="219" name="Google Shape;219;p9"/>
          <p:cNvSpPr/>
          <p:nvPr/>
        </p:nvSpPr>
        <p:spPr>
          <a:xfrm>
            <a:off x="6210062" y="7002542"/>
            <a:ext cx="7696676" cy="66174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2C3249"/>
              </a:buClr>
              <a:buSzPts val="1600"/>
              <a:buFont typeface="Martel Sans"/>
              <a:buNone/>
            </a:pPr>
            <a:r>
              <a:rPr b="0" i="0" lang="en-US" sz="1600" u="none" cap="none" strike="noStrike">
                <a:solidFill>
                  <a:srgbClr val="2C3249"/>
                </a:solidFill>
                <a:latin typeface="Martel Sans"/>
                <a:ea typeface="Martel Sans"/>
                <a:cs typeface="Martel Sans"/>
                <a:sym typeface="Martel Sans"/>
              </a:rPr>
              <a:t>Visual tools like ROC curves aid in threshold tuning, allowing practitioners to select optimal operating points based on specific business requirements.</a:t>
            </a:r>
            <a:endParaRPr b="0" i="0" sz="16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descr="preencoded.png" id="225" name="Google Shape;225;p10"/>
          <p:cNvPicPr preferRelativeResize="0"/>
          <p:nvPr/>
        </p:nvPicPr>
        <p:blipFill rotWithShape="1">
          <a:blip r:embed="rId3">
            <a:alphaModFix/>
          </a:blip>
          <a:srcRect b="0" l="0" r="0" t="0"/>
          <a:stretch/>
        </p:blipFill>
        <p:spPr>
          <a:xfrm>
            <a:off x="0" y="0"/>
            <a:ext cx="14630400" cy="2835235"/>
          </a:xfrm>
          <a:prstGeom prst="rect">
            <a:avLst/>
          </a:prstGeom>
          <a:noFill/>
          <a:ln>
            <a:noFill/>
          </a:ln>
        </p:spPr>
      </p:pic>
      <p:sp>
        <p:nvSpPr>
          <p:cNvPr id="226" name="Google Shape;226;p10"/>
          <p:cNvSpPr/>
          <p:nvPr/>
        </p:nvSpPr>
        <p:spPr>
          <a:xfrm>
            <a:off x="793790" y="3763208"/>
            <a:ext cx="13042821" cy="2835354"/>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272D45"/>
              </a:buClr>
              <a:buSzPts val="8900"/>
              <a:buFont typeface="Kanit Light"/>
              <a:buNone/>
            </a:pPr>
            <a:r>
              <a:rPr b="0" i="0" lang="en-US" sz="8900" u="none" cap="none" strike="noStrike">
                <a:solidFill>
                  <a:srgbClr val="272D45"/>
                </a:solidFill>
                <a:latin typeface="Kanit Light"/>
                <a:ea typeface="Kanit Light"/>
                <a:cs typeface="Kanit Light"/>
                <a:sym typeface="Kanit Light"/>
              </a:rPr>
              <a:t>Model Validation Techniques</a:t>
            </a:r>
            <a:endParaRPr b="0" i="0" sz="8900" u="none" cap="none" strike="noStrike"/>
          </a:p>
        </p:txBody>
      </p:sp>
      <p:sp>
        <p:nvSpPr>
          <p:cNvPr id="227" name="Google Shape;227;p10"/>
          <p:cNvSpPr/>
          <p:nvPr/>
        </p:nvSpPr>
        <p:spPr>
          <a:xfrm>
            <a:off x="793790" y="6938724"/>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Chapter 3</a:t>
            </a:r>
            <a:endParaRPr b="0" i="0" sz="17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pic>
        <p:nvPicPr>
          <p:cNvPr descr="preencoded.png" id="233" name="Google Shape;233;p11"/>
          <p:cNvPicPr preferRelativeResize="0"/>
          <p:nvPr/>
        </p:nvPicPr>
        <p:blipFill rotWithShape="1">
          <a:blip r:embed="rId3">
            <a:alphaModFix/>
          </a:blip>
          <a:srcRect b="0" l="0" r="0" t="0"/>
          <a:stretch/>
        </p:blipFill>
        <p:spPr>
          <a:xfrm>
            <a:off x="0" y="0"/>
            <a:ext cx="14630400" cy="2478881"/>
          </a:xfrm>
          <a:prstGeom prst="rect">
            <a:avLst/>
          </a:prstGeom>
          <a:noFill/>
          <a:ln>
            <a:noFill/>
          </a:ln>
        </p:spPr>
      </p:pic>
      <p:sp>
        <p:nvSpPr>
          <p:cNvPr id="234" name="Google Shape;234;p11"/>
          <p:cNvSpPr/>
          <p:nvPr/>
        </p:nvSpPr>
        <p:spPr>
          <a:xfrm>
            <a:off x="694015" y="3024188"/>
            <a:ext cx="8007787" cy="619720"/>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272D45"/>
              </a:buClr>
              <a:buSzPts val="3900"/>
              <a:buFont typeface="Kanit Light"/>
              <a:buNone/>
            </a:pPr>
            <a:r>
              <a:rPr b="0" i="0" lang="en-US" sz="3900" u="none" cap="none" strike="noStrike">
                <a:solidFill>
                  <a:srgbClr val="272D45"/>
                </a:solidFill>
                <a:latin typeface="Kanit Light"/>
                <a:ea typeface="Kanit Light"/>
                <a:cs typeface="Kanit Light"/>
                <a:sym typeface="Kanit Light"/>
              </a:rPr>
              <a:t>Train-Test Split and Cross-Validation</a:t>
            </a:r>
            <a:endParaRPr b="0" i="0" sz="3900" u="none" cap="none" strike="noStrike"/>
          </a:p>
        </p:txBody>
      </p:sp>
      <p:sp>
        <p:nvSpPr>
          <p:cNvPr id="235" name="Google Shape;235;p11"/>
          <p:cNvSpPr/>
          <p:nvPr/>
        </p:nvSpPr>
        <p:spPr>
          <a:xfrm>
            <a:off x="694015" y="4536162"/>
            <a:ext cx="4281964" cy="198239"/>
          </a:xfrm>
          <a:prstGeom prst="roundRect">
            <a:avLst>
              <a:gd fmla="val 42015"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892254" y="4932640"/>
            <a:ext cx="2478881" cy="30980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3249"/>
              </a:buClr>
              <a:buSzPts val="1950"/>
              <a:buFont typeface="Kanit Light"/>
              <a:buNone/>
            </a:pPr>
            <a:r>
              <a:rPr b="0" i="0" lang="en-US" sz="1950" u="none" cap="none" strike="noStrike">
                <a:solidFill>
                  <a:srgbClr val="2C3249"/>
                </a:solidFill>
                <a:latin typeface="Kanit Light"/>
                <a:ea typeface="Kanit Light"/>
                <a:cs typeface="Kanit Light"/>
                <a:sym typeface="Kanit Light"/>
              </a:rPr>
              <a:t>Train-Test Split</a:t>
            </a:r>
            <a:endParaRPr b="0" i="0" sz="1950" u="none" cap="none" strike="noStrike"/>
          </a:p>
        </p:txBody>
      </p:sp>
      <p:sp>
        <p:nvSpPr>
          <p:cNvPr id="237" name="Google Shape;237;p11"/>
          <p:cNvSpPr/>
          <p:nvPr/>
        </p:nvSpPr>
        <p:spPr>
          <a:xfrm>
            <a:off x="892254" y="5361384"/>
            <a:ext cx="3885486" cy="1586508"/>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2C3249"/>
              </a:buClr>
              <a:buSzPts val="1550"/>
              <a:buFont typeface="Martel Sans"/>
              <a:buNone/>
            </a:pPr>
            <a:r>
              <a:rPr b="0" i="0" lang="en-US" sz="1550" u="none" cap="none" strike="noStrike">
                <a:solidFill>
                  <a:srgbClr val="2C3249"/>
                </a:solidFill>
                <a:latin typeface="Martel Sans"/>
                <a:ea typeface="Martel Sans"/>
                <a:cs typeface="Martel Sans"/>
                <a:sym typeface="Martel Sans"/>
              </a:rPr>
              <a:t>Simple division of data into training (typically 70-80%) and testing (20-30%) sets. Quick and straightforward but provides only single performance estimate.</a:t>
            </a:r>
            <a:endParaRPr b="0" i="0" sz="1550" u="none" cap="none" strike="noStrike"/>
          </a:p>
        </p:txBody>
      </p:sp>
      <p:sp>
        <p:nvSpPr>
          <p:cNvPr id="238" name="Google Shape;238;p11"/>
          <p:cNvSpPr/>
          <p:nvPr/>
        </p:nvSpPr>
        <p:spPr>
          <a:xfrm>
            <a:off x="5174218" y="4238744"/>
            <a:ext cx="4281964" cy="198239"/>
          </a:xfrm>
          <a:prstGeom prst="roundRect">
            <a:avLst>
              <a:gd fmla="val 42015"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5372457" y="4635222"/>
            <a:ext cx="2617232" cy="30980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3249"/>
              </a:buClr>
              <a:buSzPts val="1950"/>
              <a:buFont typeface="Kanit Light"/>
              <a:buNone/>
            </a:pPr>
            <a:r>
              <a:rPr b="0" i="0" lang="en-US" sz="1950" u="none" cap="none" strike="noStrike">
                <a:solidFill>
                  <a:srgbClr val="2C3249"/>
                </a:solidFill>
                <a:latin typeface="Kanit Light"/>
                <a:ea typeface="Kanit Light"/>
                <a:cs typeface="Kanit Light"/>
                <a:sym typeface="Kanit Light"/>
              </a:rPr>
              <a:t>K-Fold Cross</a:t>
            </a:r>
            <a:r>
              <a:rPr lang="en-US" sz="1950">
                <a:solidFill>
                  <a:srgbClr val="2C3249"/>
                </a:solidFill>
                <a:latin typeface="Kanit Light"/>
                <a:ea typeface="Kanit Light"/>
                <a:cs typeface="Kanit Light"/>
                <a:sym typeface="Kanit Light"/>
              </a:rPr>
              <a:t> </a:t>
            </a:r>
            <a:r>
              <a:rPr b="0" i="0" lang="en-US" sz="1950" u="none" cap="none" strike="noStrike">
                <a:solidFill>
                  <a:srgbClr val="2C3249"/>
                </a:solidFill>
                <a:latin typeface="Kanit Light"/>
                <a:ea typeface="Kanit Light"/>
                <a:cs typeface="Kanit Light"/>
                <a:sym typeface="Kanit Light"/>
              </a:rPr>
              <a:t>Validation</a:t>
            </a:r>
            <a:endParaRPr b="0" i="0" sz="1950" u="none" cap="none" strike="noStrike"/>
          </a:p>
        </p:txBody>
      </p:sp>
      <p:sp>
        <p:nvSpPr>
          <p:cNvPr id="240" name="Google Shape;240;p11"/>
          <p:cNvSpPr/>
          <p:nvPr/>
        </p:nvSpPr>
        <p:spPr>
          <a:xfrm>
            <a:off x="5372457" y="5063966"/>
            <a:ext cx="3885486" cy="126920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2C3249"/>
              </a:buClr>
              <a:buSzPts val="1550"/>
              <a:buFont typeface="Martel Sans"/>
              <a:buNone/>
            </a:pPr>
            <a:r>
              <a:rPr b="0" i="0" lang="en-US" sz="1550" u="none" cap="none" strike="noStrike">
                <a:solidFill>
                  <a:srgbClr val="2C3249"/>
                </a:solidFill>
                <a:latin typeface="Martel Sans"/>
                <a:ea typeface="Martel Sans"/>
                <a:cs typeface="Martel Sans"/>
                <a:sym typeface="Martel Sans"/>
              </a:rPr>
              <a:t>Data divided into K equal folds. Model trained K times, each time using different fold as test set. Provides robust average performance estimate.</a:t>
            </a:r>
            <a:endParaRPr b="0" i="0" sz="1550" u="none" cap="none" strike="noStrike"/>
          </a:p>
        </p:txBody>
      </p:sp>
      <p:sp>
        <p:nvSpPr>
          <p:cNvPr id="241" name="Google Shape;241;p11"/>
          <p:cNvSpPr/>
          <p:nvPr/>
        </p:nvSpPr>
        <p:spPr>
          <a:xfrm>
            <a:off x="9654421" y="3941326"/>
            <a:ext cx="4281964" cy="198239"/>
          </a:xfrm>
          <a:prstGeom prst="roundRect">
            <a:avLst>
              <a:gd fmla="val 42015"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9852660" y="4337804"/>
            <a:ext cx="2478881" cy="309801"/>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2C3249"/>
              </a:buClr>
              <a:buSzPts val="1950"/>
              <a:buFont typeface="Kanit Light"/>
              <a:buNone/>
            </a:pPr>
            <a:r>
              <a:rPr b="0" i="0" lang="en-US" sz="1950" u="none" cap="none" strike="noStrike">
                <a:solidFill>
                  <a:srgbClr val="2C3249"/>
                </a:solidFill>
                <a:latin typeface="Kanit Light"/>
                <a:ea typeface="Kanit Light"/>
                <a:cs typeface="Kanit Light"/>
                <a:sym typeface="Kanit Light"/>
              </a:rPr>
              <a:t>Stratified Validation</a:t>
            </a:r>
            <a:endParaRPr b="0" i="0" sz="1950" u="none" cap="none" strike="noStrike"/>
          </a:p>
        </p:txBody>
      </p:sp>
      <p:sp>
        <p:nvSpPr>
          <p:cNvPr id="243" name="Google Shape;243;p11"/>
          <p:cNvSpPr/>
          <p:nvPr/>
        </p:nvSpPr>
        <p:spPr>
          <a:xfrm>
            <a:off x="9852660" y="4766548"/>
            <a:ext cx="3885486" cy="1269206"/>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2C3249"/>
              </a:buClr>
              <a:buSzPts val="1550"/>
              <a:buFont typeface="Martel Sans"/>
              <a:buNone/>
            </a:pPr>
            <a:r>
              <a:rPr b="0" i="0" lang="en-US" sz="1550" u="none" cap="none" strike="noStrike">
                <a:solidFill>
                  <a:srgbClr val="2C3249"/>
                </a:solidFill>
                <a:latin typeface="Martel Sans"/>
                <a:ea typeface="Martel Sans"/>
                <a:cs typeface="Martel Sans"/>
                <a:sym typeface="Martel Sans"/>
              </a:rPr>
              <a:t>Ensures each fold maintains the same class distribution as original dataset. Critical for imbalanced data to prevent biased evaluation.</a:t>
            </a:r>
            <a:endParaRPr b="0" i="0" sz="1550" u="none" cap="none" strike="noStrike"/>
          </a:p>
        </p:txBody>
      </p:sp>
      <p:sp>
        <p:nvSpPr>
          <p:cNvPr id="244" name="Google Shape;244;p11"/>
          <p:cNvSpPr/>
          <p:nvPr/>
        </p:nvSpPr>
        <p:spPr>
          <a:xfrm>
            <a:off x="694015" y="7369135"/>
            <a:ext cx="13242369" cy="317302"/>
          </a:xfrm>
          <a:prstGeom prst="rect">
            <a:avLst/>
          </a:prstGeom>
          <a:noFill/>
          <a:ln>
            <a:noFill/>
          </a:ln>
        </p:spPr>
        <p:txBody>
          <a:bodyPr anchorCtr="0" anchor="t" bIns="0" lIns="0" spcFirstLastPara="1" rIns="0" wrap="square" tIns="0">
            <a:noAutofit/>
          </a:bodyPr>
          <a:lstStyle/>
          <a:p>
            <a:pPr indent="0" lvl="0" marL="0" marR="0" rtl="0" algn="l">
              <a:lnSpc>
                <a:spcPct val="158064"/>
              </a:lnSpc>
              <a:spcBef>
                <a:spcPts val="0"/>
              </a:spcBef>
              <a:spcAft>
                <a:spcPts val="0"/>
              </a:spcAft>
              <a:buClr>
                <a:srgbClr val="2C3249"/>
              </a:buClr>
              <a:buSzPts val="1550"/>
              <a:buFont typeface="Martel Sans"/>
              <a:buNone/>
            </a:pPr>
            <a:r>
              <a:rPr b="1" i="0" lang="en-US" sz="1550" u="none" cap="none" strike="noStrike">
                <a:solidFill>
                  <a:srgbClr val="2C3249"/>
                </a:solidFill>
                <a:latin typeface="Martel Sans"/>
                <a:ea typeface="Martel Sans"/>
                <a:cs typeface="Martel Sans"/>
                <a:sym typeface="Martel Sans"/>
              </a:rPr>
              <a:t>Best Practice:</a:t>
            </a:r>
            <a:r>
              <a:rPr b="0" i="0" lang="en-US" sz="1550" u="none" cap="none" strike="noStrike">
                <a:solidFill>
                  <a:srgbClr val="2C3249"/>
                </a:solidFill>
                <a:latin typeface="Martel Sans"/>
                <a:ea typeface="Martel Sans"/>
                <a:cs typeface="Martel Sans"/>
                <a:sym typeface="Martel Sans"/>
              </a:rPr>
              <a:t> Use cross-validation to ensure robustness and reduce variance in performance estimates, especially with limited data.</a:t>
            </a:r>
            <a:endParaRPr b="0" i="0" sz="155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2"/>
          <p:cNvSpPr/>
          <p:nvPr/>
        </p:nvSpPr>
        <p:spPr>
          <a:xfrm>
            <a:off x="793790" y="760571"/>
            <a:ext cx="936367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Confusion Matrix: The Diagnostic Tool</a:t>
            </a:r>
            <a:endParaRPr b="0" i="0" sz="4450" u="none" cap="none" strike="noStrike"/>
          </a:p>
        </p:txBody>
      </p:sp>
      <p:sp>
        <p:nvSpPr>
          <p:cNvPr id="251" name="Google Shape;251;p12"/>
          <p:cNvSpPr/>
          <p:nvPr/>
        </p:nvSpPr>
        <p:spPr>
          <a:xfrm>
            <a:off x="1857256" y="2552462"/>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True Positives</a:t>
            </a:r>
            <a:endParaRPr b="0" i="0" sz="2200" u="none" cap="none" strike="noStrike"/>
          </a:p>
        </p:txBody>
      </p:sp>
      <p:sp>
        <p:nvSpPr>
          <p:cNvPr id="252" name="Google Shape;252;p12"/>
          <p:cNvSpPr/>
          <p:nvPr/>
        </p:nvSpPr>
        <p:spPr>
          <a:xfrm>
            <a:off x="793790" y="3042880"/>
            <a:ext cx="3898702" cy="362903"/>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Correctly identified positive cases</a:t>
            </a:r>
            <a:endParaRPr b="0" i="0" sz="1750" u="none" cap="none" strike="noStrike"/>
          </a:p>
        </p:txBody>
      </p:sp>
      <p:pic>
        <p:nvPicPr>
          <p:cNvPr descr="preencoded.png" id="253" name="Google Shape;253;p12"/>
          <p:cNvPicPr preferRelativeResize="0"/>
          <p:nvPr/>
        </p:nvPicPr>
        <p:blipFill rotWithShape="1">
          <a:blip r:embed="rId3">
            <a:alphaModFix/>
          </a:blip>
          <a:srcRect b="0" l="0" r="0" t="0"/>
          <a:stretch/>
        </p:blipFill>
        <p:spPr>
          <a:xfrm>
            <a:off x="5032653" y="1922978"/>
            <a:ext cx="4564975" cy="4564975"/>
          </a:xfrm>
          <a:prstGeom prst="rect">
            <a:avLst/>
          </a:prstGeom>
          <a:noFill/>
          <a:ln>
            <a:noFill/>
          </a:ln>
        </p:spPr>
      </p:pic>
      <p:pic>
        <p:nvPicPr>
          <p:cNvPr descr="preencoded.png" id="254" name="Google Shape;254;p12"/>
          <p:cNvPicPr preferRelativeResize="0"/>
          <p:nvPr/>
        </p:nvPicPr>
        <p:blipFill rotWithShape="1">
          <a:blip r:embed="rId4">
            <a:alphaModFix/>
          </a:blip>
          <a:srcRect b="0" l="0" r="0" t="0"/>
          <a:stretch/>
        </p:blipFill>
        <p:spPr>
          <a:xfrm>
            <a:off x="6015633" y="2905839"/>
            <a:ext cx="339328" cy="339328"/>
          </a:xfrm>
          <a:prstGeom prst="rect">
            <a:avLst/>
          </a:prstGeom>
          <a:noFill/>
          <a:ln>
            <a:noFill/>
          </a:ln>
        </p:spPr>
      </p:pic>
      <p:sp>
        <p:nvSpPr>
          <p:cNvPr id="255" name="Google Shape;255;p12"/>
          <p:cNvSpPr/>
          <p:nvPr/>
        </p:nvSpPr>
        <p:spPr>
          <a:xfrm>
            <a:off x="9937790" y="237101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False Positives</a:t>
            </a:r>
            <a:endParaRPr b="0" i="0" sz="2200" u="none" cap="none" strike="noStrike"/>
          </a:p>
        </p:txBody>
      </p:sp>
      <p:sp>
        <p:nvSpPr>
          <p:cNvPr id="256" name="Google Shape;256;p12"/>
          <p:cNvSpPr/>
          <p:nvPr/>
        </p:nvSpPr>
        <p:spPr>
          <a:xfrm>
            <a:off x="9937790" y="2861429"/>
            <a:ext cx="3898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Incorrectly predicted as positive (Type I error)</a:t>
            </a:r>
            <a:endParaRPr b="0" i="0" sz="1750" u="none" cap="none" strike="noStrike"/>
          </a:p>
        </p:txBody>
      </p:sp>
      <p:pic>
        <p:nvPicPr>
          <p:cNvPr descr="preencoded.png" id="257" name="Google Shape;257;p12"/>
          <p:cNvPicPr preferRelativeResize="0"/>
          <p:nvPr/>
        </p:nvPicPr>
        <p:blipFill rotWithShape="1">
          <a:blip r:embed="rId5">
            <a:alphaModFix/>
          </a:blip>
          <a:srcRect b="0" l="0" r="0" t="0"/>
          <a:stretch/>
        </p:blipFill>
        <p:spPr>
          <a:xfrm>
            <a:off x="5032653" y="1922978"/>
            <a:ext cx="4564975" cy="4564975"/>
          </a:xfrm>
          <a:prstGeom prst="rect">
            <a:avLst/>
          </a:prstGeom>
          <a:noFill/>
          <a:ln>
            <a:noFill/>
          </a:ln>
        </p:spPr>
      </p:pic>
      <p:pic>
        <p:nvPicPr>
          <p:cNvPr descr="preencoded.png" id="258" name="Google Shape;258;p12"/>
          <p:cNvPicPr preferRelativeResize="0"/>
          <p:nvPr/>
        </p:nvPicPr>
        <p:blipFill rotWithShape="1">
          <a:blip r:embed="rId4">
            <a:alphaModFix/>
          </a:blip>
          <a:srcRect b="0" l="0" r="0" t="0"/>
          <a:stretch/>
        </p:blipFill>
        <p:spPr>
          <a:xfrm>
            <a:off x="8275201" y="2905839"/>
            <a:ext cx="339328" cy="339328"/>
          </a:xfrm>
          <a:prstGeom prst="rect">
            <a:avLst/>
          </a:prstGeom>
          <a:noFill/>
          <a:ln>
            <a:noFill/>
          </a:ln>
        </p:spPr>
      </p:pic>
      <p:sp>
        <p:nvSpPr>
          <p:cNvPr id="259" name="Google Shape;259;p12"/>
          <p:cNvSpPr/>
          <p:nvPr/>
        </p:nvSpPr>
        <p:spPr>
          <a:xfrm>
            <a:off x="9937790" y="500503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True Negatives</a:t>
            </a:r>
            <a:endParaRPr b="0" i="0" sz="2200" u="none" cap="none" strike="noStrike"/>
          </a:p>
        </p:txBody>
      </p:sp>
      <p:sp>
        <p:nvSpPr>
          <p:cNvPr id="260" name="Google Shape;260;p12"/>
          <p:cNvSpPr/>
          <p:nvPr/>
        </p:nvSpPr>
        <p:spPr>
          <a:xfrm>
            <a:off x="9937790" y="5495449"/>
            <a:ext cx="3898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Correctly identified negative cases</a:t>
            </a:r>
            <a:endParaRPr b="0" i="0" sz="1750" u="none" cap="none" strike="noStrike"/>
          </a:p>
        </p:txBody>
      </p:sp>
      <p:pic>
        <p:nvPicPr>
          <p:cNvPr descr="preencoded.png" id="261" name="Google Shape;261;p12"/>
          <p:cNvPicPr preferRelativeResize="0"/>
          <p:nvPr/>
        </p:nvPicPr>
        <p:blipFill rotWithShape="1">
          <a:blip r:embed="rId6">
            <a:alphaModFix/>
          </a:blip>
          <a:srcRect b="0" l="0" r="0" t="0"/>
          <a:stretch/>
        </p:blipFill>
        <p:spPr>
          <a:xfrm>
            <a:off x="5032653" y="1922978"/>
            <a:ext cx="4564975" cy="4564975"/>
          </a:xfrm>
          <a:prstGeom prst="rect">
            <a:avLst/>
          </a:prstGeom>
          <a:noFill/>
          <a:ln>
            <a:noFill/>
          </a:ln>
        </p:spPr>
      </p:pic>
      <p:pic>
        <p:nvPicPr>
          <p:cNvPr descr="preencoded.png" id="262" name="Google Shape;262;p12"/>
          <p:cNvPicPr preferRelativeResize="0"/>
          <p:nvPr/>
        </p:nvPicPr>
        <p:blipFill rotWithShape="1">
          <a:blip r:embed="rId4">
            <a:alphaModFix/>
          </a:blip>
          <a:srcRect b="0" l="0" r="0" t="0"/>
          <a:stretch/>
        </p:blipFill>
        <p:spPr>
          <a:xfrm>
            <a:off x="8275201" y="5165408"/>
            <a:ext cx="339328" cy="339328"/>
          </a:xfrm>
          <a:prstGeom prst="rect">
            <a:avLst/>
          </a:prstGeom>
          <a:noFill/>
          <a:ln>
            <a:noFill/>
          </a:ln>
        </p:spPr>
      </p:pic>
      <p:sp>
        <p:nvSpPr>
          <p:cNvPr id="263" name="Google Shape;263;p12"/>
          <p:cNvSpPr/>
          <p:nvPr/>
        </p:nvSpPr>
        <p:spPr>
          <a:xfrm>
            <a:off x="1857256" y="4823579"/>
            <a:ext cx="2835235" cy="354330"/>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False Negatives</a:t>
            </a:r>
            <a:endParaRPr b="0" i="0" sz="2200" u="none" cap="none" strike="noStrike"/>
          </a:p>
        </p:txBody>
      </p:sp>
      <p:sp>
        <p:nvSpPr>
          <p:cNvPr id="264" name="Google Shape;264;p12"/>
          <p:cNvSpPr/>
          <p:nvPr/>
        </p:nvSpPr>
        <p:spPr>
          <a:xfrm>
            <a:off x="793790" y="5313998"/>
            <a:ext cx="3898702" cy="725805"/>
          </a:xfrm>
          <a:prstGeom prst="rect">
            <a:avLst/>
          </a:prstGeom>
          <a:noFill/>
          <a:ln>
            <a:noFill/>
          </a:ln>
        </p:spPr>
        <p:txBody>
          <a:bodyPr anchorCtr="0" anchor="t" bIns="0" lIns="0" spcFirstLastPara="1" rIns="0" wrap="square" tIns="0">
            <a:noAutofit/>
          </a:bodyPr>
          <a:lstStyle/>
          <a:p>
            <a:pPr indent="0" lvl="0" marL="0" marR="0" rtl="0" algn="r">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Incorrectly predicted as negative (Type II error)</a:t>
            </a:r>
            <a:endParaRPr b="0" i="0" sz="1750" u="none" cap="none" strike="noStrike"/>
          </a:p>
        </p:txBody>
      </p:sp>
      <p:pic>
        <p:nvPicPr>
          <p:cNvPr descr="preencoded.png" id="265" name="Google Shape;265;p12"/>
          <p:cNvPicPr preferRelativeResize="0"/>
          <p:nvPr/>
        </p:nvPicPr>
        <p:blipFill rotWithShape="1">
          <a:blip r:embed="rId7">
            <a:alphaModFix/>
          </a:blip>
          <a:srcRect b="0" l="0" r="0" t="0"/>
          <a:stretch/>
        </p:blipFill>
        <p:spPr>
          <a:xfrm>
            <a:off x="5032653" y="1922978"/>
            <a:ext cx="4564975" cy="4564975"/>
          </a:xfrm>
          <a:prstGeom prst="rect">
            <a:avLst/>
          </a:prstGeom>
          <a:noFill/>
          <a:ln>
            <a:noFill/>
          </a:ln>
        </p:spPr>
      </p:pic>
      <p:pic>
        <p:nvPicPr>
          <p:cNvPr descr="preencoded.png" id="266" name="Google Shape;266;p12"/>
          <p:cNvPicPr preferRelativeResize="0"/>
          <p:nvPr/>
        </p:nvPicPr>
        <p:blipFill rotWithShape="1">
          <a:blip r:embed="rId4">
            <a:alphaModFix/>
          </a:blip>
          <a:srcRect b="0" l="0" r="0" t="0"/>
          <a:stretch/>
        </p:blipFill>
        <p:spPr>
          <a:xfrm>
            <a:off x="6015633" y="5165408"/>
            <a:ext cx="339328" cy="339328"/>
          </a:xfrm>
          <a:prstGeom prst="rect">
            <a:avLst/>
          </a:prstGeom>
          <a:noFill/>
          <a:ln>
            <a:noFill/>
          </a:ln>
        </p:spPr>
      </p:pic>
      <p:sp>
        <p:nvSpPr>
          <p:cNvPr id="267" name="Google Shape;267;p12"/>
          <p:cNvSpPr/>
          <p:nvPr/>
        </p:nvSpPr>
        <p:spPr>
          <a:xfrm>
            <a:off x="793790" y="6743105"/>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This diagnostic matrix helps identify specific error types, revealing which classes the model confuses and informing targeted improvements.</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pic>
        <p:nvPicPr>
          <p:cNvPr descr="preencoded.png" id="273" name="Google Shape;273;p13"/>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274" name="Google Shape;274;p13"/>
          <p:cNvSpPr/>
          <p:nvPr/>
        </p:nvSpPr>
        <p:spPr>
          <a:xfrm>
            <a:off x="564403" y="921098"/>
            <a:ext cx="7556400" cy="5692800"/>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272D45"/>
              </a:buClr>
              <a:buSzPts val="8900"/>
              <a:buFont typeface="Kanit Light"/>
              <a:buNone/>
            </a:pPr>
            <a:r>
              <a:rPr b="0" i="0" lang="en-US" sz="8900" u="none" cap="none" strike="noStrike">
                <a:solidFill>
                  <a:srgbClr val="272D45"/>
                </a:solidFill>
                <a:latin typeface="Kanit Light"/>
                <a:ea typeface="Kanit Light"/>
                <a:cs typeface="Kanit Light"/>
                <a:sym typeface="Kanit Light"/>
              </a:rPr>
              <a:t>Diagnosing and Addressing Model Issues</a:t>
            </a:r>
            <a:endParaRPr b="0" i="0" sz="8900" u="none" cap="none" strike="noStrike"/>
          </a:p>
        </p:txBody>
      </p:sp>
      <p:sp>
        <p:nvSpPr>
          <p:cNvPr id="275" name="Google Shape;275;p13"/>
          <p:cNvSpPr/>
          <p:nvPr/>
        </p:nvSpPr>
        <p:spPr>
          <a:xfrm>
            <a:off x="564409" y="7359284"/>
            <a:ext cx="7556400" cy="363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Chapter 4</a:t>
            </a:r>
            <a:endParaRPr b="0" i="0" sz="17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preencoded.png" id="281" name="Google Shape;281;p14"/>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282" name="Google Shape;282;p14"/>
          <p:cNvSpPr/>
          <p:nvPr/>
        </p:nvSpPr>
        <p:spPr>
          <a:xfrm>
            <a:off x="6173748" y="1129308"/>
            <a:ext cx="7072313" cy="613767"/>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272D45"/>
              </a:buClr>
              <a:buSzPts val="3850"/>
              <a:buFont typeface="Kanit Light"/>
              <a:buNone/>
            </a:pPr>
            <a:r>
              <a:rPr b="0" i="0" lang="en-US" sz="3850" u="none" cap="none" strike="noStrike">
                <a:solidFill>
                  <a:srgbClr val="272D45"/>
                </a:solidFill>
                <a:latin typeface="Kanit Light"/>
                <a:ea typeface="Kanit Light"/>
                <a:cs typeface="Kanit Light"/>
                <a:sym typeface="Kanit Light"/>
              </a:rPr>
              <a:t>Detecting Data Leakage and Bias</a:t>
            </a:r>
            <a:endParaRPr b="0" i="0" sz="3850" u="none" cap="none" strike="noStrike"/>
          </a:p>
        </p:txBody>
      </p:sp>
      <p:sp>
        <p:nvSpPr>
          <p:cNvPr id="283" name="Google Shape;283;p14"/>
          <p:cNvSpPr/>
          <p:nvPr/>
        </p:nvSpPr>
        <p:spPr>
          <a:xfrm>
            <a:off x="6173748" y="2233970"/>
            <a:ext cx="2945963" cy="368141"/>
          </a:xfrm>
          <a:prstGeom prst="rect">
            <a:avLst/>
          </a:prstGeom>
          <a:noFill/>
          <a:ln>
            <a:noFill/>
          </a:ln>
        </p:spPr>
        <p:txBody>
          <a:bodyPr anchorCtr="0" anchor="t" bIns="0" lIns="0" spcFirstLastPara="1" rIns="0" wrap="square" tIns="0">
            <a:noAutofit/>
          </a:bodyPr>
          <a:lstStyle/>
          <a:p>
            <a:pPr indent="0" lvl="0" marL="0" marR="0" rtl="0" algn="l">
              <a:lnSpc>
                <a:spcPct val="123913"/>
              </a:lnSpc>
              <a:spcBef>
                <a:spcPts val="0"/>
              </a:spcBef>
              <a:spcAft>
                <a:spcPts val="0"/>
              </a:spcAft>
              <a:buClr>
                <a:srgbClr val="272D45"/>
              </a:buClr>
              <a:buSzPts val="2300"/>
              <a:buFont typeface="Kanit Light"/>
              <a:buNone/>
            </a:pPr>
            <a:r>
              <a:rPr b="0" i="0" lang="en-US" sz="2300" u="none" cap="none" strike="noStrike">
                <a:solidFill>
                  <a:srgbClr val="272D45"/>
                </a:solidFill>
                <a:latin typeface="Kanit Light"/>
                <a:ea typeface="Kanit Light"/>
                <a:cs typeface="Kanit Light"/>
                <a:sym typeface="Kanit Light"/>
              </a:rPr>
              <a:t>Data Leakage</a:t>
            </a:r>
            <a:endParaRPr b="0" i="0" sz="2300" u="none" cap="none" strike="noStrike"/>
          </a:p>
        </p:txBody>
      </p:sp>
      <p:sp>
        <p:nvSpPr>
          <p:cNvPr id="284" name="Google Shape;284;p14"/>
          <p:cNvSpPr/>
          <p:nvPr/>
        </p:nvSpPr>
        <p:spPr>
          <a:xfrm>
            <a:off x="6173748" y="2798445"/>
            <a:ext cx="3645098" cy="1257300"/>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Definition:</a:t>
            </a:r>
            <a:r>
              <a:rPr b="0" i="0" lang="en-US" sz="1500" u="none" cap="none" strike="noStrike">
                <a:solidFill>
                  <a:srgbClr val="2C3249"/>
                </a:solidFill>
                <a:latin typeface="Martel Sans"/>
                <a:ea typeface="Martel Sans"/>
                <a:cs typeface="Martel Sans"/>
                <a:sym typeface="Martel Sans"/>
              </a:rPr>
              <a:t> When training data inadvertently contains information that would not be available at prediction time in production.</a:t>
            </a:r>
            <a:endParaRPr b="0" i="0" sz="1500" u="none" cap="none" strike="noStrike"/>
          </a:p>
        </p:txBody>
      </p:sp>
      <p:sp>
        <p:nvSpPr>
          <p:cNvPr id="285" name="Google Shape;285;p14"/>
          <p:cNvSpPr/>
          <p:nvPr/>
        </p:nvSpPr>
        <p:spPr>
          <a:xfrm>
            <a:off x="6173748" y="4232434"/>
            <a:ext cx="3645098" cy="31432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Common causes:</a:t>
            </a:r>
            <a:endParaRPr b="0" i="0" sz="1500" u="none" cap="none" strike="noStrike"/>
          </a:p>
        </p:txBody>
      </p:sp>
      <p:sp>
        <p:nvSpPr>
          <p:cNvPr id="286" name="Google Shape;286;p14"/>
          <p:cNvSpPr/>
          <p:nvPr/>
        </p:nvSpPr>
        <p:spPr>
          <a:xfrm>
            <a:off x="6173748" y="4723448"/>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Including target-derived features</a:t>
            </a:r>
            <a:endParaRPr b="0" i="0" sz="1500" u="none" cap="none" strike="noStrike"/>
          </a:p>
        </p:txBody>
      </p:sp>
      <p:sp>
        <p:nvSpPr>
          <p:cNvPr id="287" name="Google Shape;287;p14"/>
          <p:cNvSpPr/>
          <p:nvPr/>
        </p:nvSpPr>
        <p:spPr>
          <a:xfrm>
            <a:off x="6173748" y="5106472"/>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Temporal leakage (future data)</a:t>
            </a:r>
            <a:endParaRPr b="0" i="0" sz="1500" u="none" cap="none" strike="noStrike"/>
          </a:p>
        </p:txBody>
      </p:sp>
      <p:sp>
        <p:nvSpPr>
          <p:cNvPr id="288" name="Google Shape;288;p14"/>
          <p:cNvSpPr/>
          <p:nvPr/>
        </p:nvSpPr>
        <p:spPr>
          <a:xfrm>
            <a:off x="6173748" y="5489496"/>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Duplicate records across sets</a:t>
            </a:r>
            <a:endParaRPr b="0" i="0" sz="1500" u="none" cap="none" strike="noStrike"/>
          </a:p>
        </p:txBody>
      </p:sp>
      <p:sp>
        <p:nvSpPr>
          <p:cNvPr id="289" name="Google Shape;289;p14"/>
          <p:cNvSpPr/>
          <p:nvPr/>
        </p:nvSpPr>
        <p:spPr>
          <a:xfrm>
            <a:off x="6173748" y="5980509"/>
            <a:ext cx="3645098" cy="9429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Impact:</a:t>
            </a:r>
            <a:r>
              <a:rPr b="0" i="0" lang="en-US" sz="1500" u="none" cap="none" strike="noStrike">
                <a:solidFill>
                  <a:srgbClr val="2C3249"/>
                </a:solidFill>
                <a:latin typeface="Martel Sans"/>
                <a:ea typeface="Martel Sans"/>
                <a:cs typeface="Martel Sans"/>
                <a:sym typeface="Martel Sans"/>
              </a:rPr>
              <a:t> Artificially inflated performance metrics that don't reflect real-world capability.</a:t>
            </a:r>
            <a:endParaRPr b="0" i="0" sz="1500" u="none" cap="none" strike="noStrike"/>
          </a:p>
        </p:txBody>
      </p:sp>
      <p:sp>
        <p:nvSpPr>
          <p:cNvPr id="290" name="Google Shape;290;p14"/>
          <p:cNvSpPr/>
          <p:nvPr/>
        </p:nvSpPr>
        <p:spPr>
          <a:xfrm>
            <a:off x="10305574" y="2233970"/>
            <a:ext cx="2945963" cy="368141"/>
          </a:xfrm>
          <a:prstGeom prst="rect">
            <a:avLst/>
          </a:prstGeom>
          <a:noFill/>
          <a:ln>
            <a:noFill/>
          </a:ln>
        </p:spPr>
        <p:txBody>
          <a:bodyPr anchorCtr="0" anchor="t" bIns="0" lIns="0" spcFirstLastPara="1" rIns="0" wrap="square" tIns="0">
            <a:noAutofit/>
          </a:bodyPr>
          <a:lstStyle/>
          <a:p>
            <a:pPr indent="0" lvl="0" marL="0" marR="0" rtl="0" algn="l">
              <a:lnSpc>
                <a:spcPct val="123913"/>
              </a:lnSpc>
              <a:spcBef>
                <a:spcPts val="0"/>
              </a:spcBef>
              <a:spcAft>
                <a:spcPts val="0"/>
              </a:spcAft>
              <a:buClr>
                <a:srgbClr val="272D45"/>
              </a:buClr>
              <a:buSzPts val="2300"/>
              <a:buFont typeface="Kanit Light"/>
              <a:buNone/>
            </a:pPr>
            <a:r>
              <a:rPr b="0" i="0" lang="en-US" sz="2300" u="none" cap="none" strike="noStrike">
                <a:solidFill>
                  <a:srgbClr val="272D45"/>
                </a:solidFill>
                <a:latin typeface="Kanit Light"/>
                <a:ea typeface="Kanit Light"/>
                <a:cs typeface="Kanit Light"/>
                <a:sym typeface="Kanit Light"/>
              </a:rPr>
              <a:t>Model Bias</a:t>
            </a:r>
            <a:endParaRPr b="0" i="0" sz="2300" u="none" cap="none" strike="noStrike"/>
          </a:p>
        </p:txBody>
      </p:sp>
      <p:sp>
        <p:nvSpPr>
          <p:cNvPr id="291" name="Google Shape;291;p14"/>
          <p:cNvSpPr/>
          <p:nvPr/>
        </p:nvSpPr>
        <p:spPr>
          <a:xfrm>
            <a:off x="10305574" y="2798445"/>
            <a:ext cx="3645098" cy="9429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Definition:</a:t>
            </a:r>
            <a:r>
              <a:rPr b="0" i="0" lang="en-US" sz="1500" u="none" cap="none" strike="noStrike">
                <a:solidFill>
                  <a:srgbClr val="2C3249"/>
                </a:solidFill>
                <a:latin typeface="Martel Sans"/>
                <a:ea typeface="Martel Sans"/>
                <a:cs typeface="Martel Sans"/>
                <a:sym typeface="Martel Sans"/>
              </a:rPr>
              <a:t> Systematic errors caused by skewed data, biased features, or unrepresentative training samples.</a:t>
            </a:r>
            <a:endParaRPr b="0" i="0" sz="1500" u="none" cap="none" strike="noStrike"/>
          </a:p>
        </p:txBody>
      </p:sp>
      <p:sp>
        <p:nvSpPr>
          <p:cNvPr id="292" name="Google Shape;292;p14"/>
          <p:cNvSpPr/>
          <p:nvPr/>
        </p:nvSpPr>
        <p:spPr>
          <a:xfrm>
            <a:off x="10305574" y="3918109"/>
            <a:ext cx="3645098" cy="31432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Common sources:</a:t>
            </a:r>
            <a:endParaRPr b="0" i="0" sz="1500" u="none" cap="none" strike="noStrike"/>
          </a:p>
        </p:txBody>
      </p:sp>
      <p:sp>
        <p:nvSpPr>
          <p:cNvPr id="293" name="Google Shape;293;p14"/>
          <p:cNvSpPr/>
          <p:nvPr/>
        </p:nvSpPr>
        <p:spPr>
          <a:xfrm>
            <a:off x="10305574" y="4409122"/>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Unbalanced training data</a:t>
            </a:r>
            <a:endParaRPr b="0" i="0" sz="1500" u="none" cap="none" strike="noStrike"/>
          </a:p>
        </p:txBody>
      </p:sp>
      <p:sp>
        <p:nvSpPr>
          <p:cNvPr id="294" name="Google Shape;294;p14"/>
          <p:cNvSpPr/>
          <p:nvPr/>
        </p:nvSpPr>
        <p:spPr>
          <a:xfrm>
            <a:off x="10305574" y="4792147"/>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Historical discrimination in data</a:t>
            </a:r>
            <a:endParaRPr b="0" i="0" sz="1500" u="none" cap="none" strike="noStrike"/>
          </a:p>
        </p:txBody>
      </p:sp>
      <p:sp>
        <p:nvSpPr>
          <p:cNvPr id="295" name="Google Shape;295;p14"/>
          <p:cNvSpPr/>
          <p:nvPr/>
        </p:nvSpPr>
        <p:spPr>
          <a:xfrm>
            <a:off x="10305574" y="5175171"/>
            <a:ext cx="3645098" cy="314325"/>
          </a:xfrm>
          <a:prstGeom prst="rect">
            <a:avLst/>
          </a:prstGeom>
          <a:noFill/>
          <a:ln>
            <a:noFill/>
          </a:ln>
        </p:spPr>
        <p:txBody>
          <a:bodyPr anchorCtr="0" anchor="t" bIns="0" lIns="0" spcFirstLastPara="1" rIns="0" wrap="square" tIns="0">
            <a:noAutofit/>
          </a:bodyPr>
          <a:lstStyle/>
          <a:p>
            <a:pPr indent="-342900" lvl="0" marL="342900" marR="0" rtl="0" algn="l">
              <a:lnSpc>
                <a:spcPct val="163333"/>
              </a:lnSpc>
              <a:spcBef>
                <a:spcPts val="0"/>
              </a:spcBef>
              <a:spcAft>
                <a:spcPts val="0"/>
              </a:spcAft>
              <a:buClr>
                <a:srgbClr val="2C3249"/>
              </a:buClr>
              <a:buSzPts val="1500"/>
              <a:buFont typeface="Martel Sans"/>
              <a:buChar char="•"/>
            </a:pPr>
            <a:r>
              <a:rPr b="0" i="0" lang="en-US" sz="1500" u="none" cap="none" strike="noStrike">
                <a:solidFill>
                  <a:srgbClr val="2C3249"/>
                </a:solidFill>
                <a:latin typeface="Martel Sans"/>
                <a:ea typeface="Martel Sans"/>
                <a:cs typeface="Martel Sans"/>
                <a:sym typeface="Martel Sans"/>
              </a:rPr>
              <a:t>Sampling bias</a:t>
            </a:r>
            <a:endParaRPr b="0" i="0" sz="1500" u="none" cap="none" strike="noStrike"/>
          </a:p>
        </p:txBody>
      </p:sp>
      <p:sp>
        <p:nvSpPr>
          <p:cNvPr id="296" name="Google Shape;296;p14"/>
          <p:cNvSpPr/>
          <p:nvPr/>
        </p:nvSpPr>
        <p:spPr>
          <a:xfrm>
            <a:off x="10305574" y="5666184"/>
            <a:ext cx="3645098" cy="9429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3249"/>
              </a:buClr>
              <a:buSzPts val="1500"/>
              <a:buFont typeface="Martel Sans"/>
              <a:buNone/>
            </a:pPr>
            <a:r>
              <a:rPr b="1" i="0" lang="en-US" sz="1500" u="none" cap="none" strike="noStrike">
                <a:solidFill>
                  <a:srgbClr val="2C3249"/>
                </a:solidFill>
                <a:latin typeface="Martel Sans"/>
                <a:ea typeface="Martel Sans"/>
                <a:cs typeface="Martel Sans"/>
                <a:sym typeface="Martel Sans"/>
              </a:rPr>
              <a:t>Impact:</a:t>
            </a:r>
            <a:r>
              <a:rPr b="0" i="0" lang="en-US" sz="1500" u="none" cap="none" strike="noStrike">
                <a:solidFill>
                  <a:srgbClr val="2C3249"/>
                </a:solidFill>
                <a:latin typeface="Martel Sans"/>
                <a:ea typeface="Martel Sans"/>
                <a:cs typeface="Martel Sans"/>
                <a:sym typeface="Martel Sans"/>
              </a:rPr>
              <a:t> Unfair, inaccurate predictions for certain groups, degrading model reliability and trustworthiness.</a:t>
            </a:r>
            <a:endParaRPr b="0" i="0" sz="150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preencoded.png" id="302" name="Google Shape;302;p15"/>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03" name="Google Shape;303;p15"/>
          <p:cNvSpPr/>
          <p:nvPr/>
        </p:nvSpPr>
        <p:spPr>
          <a:xfrm>
            <a:off x="6144701" y="639003"/>
            <a:ext cx="8609700" cy="3462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72D45"/>
              </a:buClr>
              <a:buSzPts val="3700"/>
              <a:buFont typeface="Kanit Light"/>
              <a:buNone/>
            </a:pPr>
            <a:r>
              <a:rPr b="0" i="0" lang="en-US" sz="3700" u="none" cap="none" strike="noStrike">
                <a:solidFill>
                  <a:srgbClr val="272D45"/>
                </a:solidFill>
                <a:latin typeface="Kanit Light"/>
                <a:ea typeface="Kanit Light"/>
                <a:cs typeface="Kanit Light"/>
                <a:sym typeface="Kanit Light"/>
              </a:rPr>
              <a:t>Feature Selection and Engineering</a:t>
            </a:r>
            <a:endParaRPr b="0" i="0" sz="3700" u="none" cap="none" strike="noStrike"/>
          </a:p>
        </p:txBody>
      </p:sp>
      <p:pic>
        <p:nvPicPr>
          <p:cNvPr descr="preencoded.png" id="304" name="Google Shape;304;p15"/>
          <p:cNvPicPr preferRelativeResize="0"/>
          <p:nvPr/>
        </p:nvPicPr>
        <p:blipFill rotWithShape="1">
          <a:blip r:embed="rId4">
            <a:alphaModFix/>
          </a:blip>
          <a:srcRect b="0" l="0" r="0" t="0"/>
          <a:stretch/>
        </p:blipFill>
        <p:spPr>
          <a:xfrm>
            <a:off x="6144697" y="1508760"/>
            <a:ext cx="940356" cy="1384578"/>
          </a:xfrm>
          <a:prstGeom prst="rect">
            <a:avLst/>
          </a:prstGeom>
          <a:noFill/>
          <a:ln>
            <a:noFill/>
          </a:ln>
        </p:spPr>
      </p:pic>
      <p:sp>
        <p:nvSpPr>
          <p:cNvPr id="305" name="Google Shape;305;p15"/>
          <p:cNvSpPr/>
          <p:nvPr/>
        </p:nvSpPr>
        <p:spPr>
          <a:xfrm>
            <a:off x="7273049" y="1696754"/>
            <a:ext cx="4158600" cy="96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C3249"/>
              </a:buClr>
              <a:buSzPts val="1850"/>
              <a:buFont typeface="Kanit Light"/>
              <a:buNone/>
            </a:pPr>
            <a:r>
              <a:rPr b="0" i="0" lang="en-US" sz="1850" u="none" cap="none" strike="noStrike">
                <a:solidFill>
                  <a:srgbClr val="2C3249"/>
                </a:solidFill>
                <a:latin typeface="Kanit Light"/>
                <a:ea typeface="Kanit Light"/>
                <a:cs typeface="Kanit Light"/>
                <a:sym typeface="Kanit Light"/>
              </a:rPr>
              <a:t>Remove Irrelevant Features</a:t>
            </a:r>
            <a:endParaRPr b="0" i="0" sz="1850" u="none" cap="none" strike="noStrike"/>
          </a:p>
        </p:txBody>
      </p:sp>
      <p:sp>
        <p:nvSpPr>
          <p:cNvPr id="306" name="Google Shape;306;p15"/>
          <p:cNvSpPr/>
          <p:nvPr/>
        </p:nvSpPr>
        <p:spPr>
          <a:xfrm>
            <a:off x="7273052" y="2103358"/>
            <a:ext cx="6699052" cy="60198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0" i="0" lang="en-US" sz="1450" u="none" cap="none" strike="noStrike">
                <a:solidFill>
                  <a:srgbClr val="2C3249"/>
                </a:solidFill>
                <a:latin typeface="Martel Sans"/>
                <a:ea typeface="Martel Sans"/>
                <a:cs typeface="Martel Sans"/>
                <a:sym typeface="Martel Sans"/>
              </a:rPr>
              <a:t>Eliminate features with low predictive power that add noise and increase overfitting risk</a:t>
            </a:r>
            <a:endParaRPr b="0" i="0" sz="1450" u="none" cap="none" strike="noStrike"/>
          </a:p>
        </p:txBody>
      </p:sp>
      <p:pic>
        <p:nvPicPr>
          <p:cNvPr descr="preencoded.png" id="307" name="Google Shape;307;p15"/>
          <p:cNvPicPr preferRelativeResize="0"/>
          <p:nvPr/>
        </p:nvPicPr>
        <p:blipFill rotWithShape="1">
          <a:blip r:embed="rId5">
            <a:alphaModFix/>
          </a:blip>
          <a:srcRect b="0" l="0" r="0" t="0"/>
          <a:stretch/>
        </p:blipFill>
        <p:spPr>
          <a:xfrm>
            <a:off x="6144697" y="2893338"/>
            <a:ext cx="940356" cy="1384578"/>
          </a:xfrm>
          <a:prstGeom prst="rect">
            <a:avLst/>
          </a:prstGeom>
          <a:noFill/>
          <a:ln>
            <a:noFill/>
          </a:ln>
        </p:spPr>
      </p:pic>
      <p:sp>
        <p:nvSpPr>
          <p:cNvPr id="308" name="Google Shape;308;p15"/>
          <p:cNvSpPr/>
          <p:nvPr/>
        </p:nvSpPr>
        <p:spPr>
          <a:xfrm>
            <a:off x="7273049" y="3081345"/>
            <a:ext cx="3820500" cy="963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C3249"/>
              </a:buClr>
              <a:buSzPts val="1850"/>
              <a:buFont typeface="Kanit Light"/>
              <a:buNone/>
            </a:pPr>
            <a:r>
              <a:rPr b="0" i="0" lang="en-US" sz="1850" u="none" cap="none" strike="noStrike">
                <a:solidFill>
                  <a:srgbClr val="2C3249"/>
                </a:solidFill>
                <a:latin typeface="Kanit Light"/>
                <a:ea typeface="Kanit Light"/>
                <a:cs typeface="Kanit Light"/>
                <a:sym typeface="Kanit Light"/>
              </a:rPr>
              <a:t>Engineer Better Features</a:t>
            </a:r>
            <a:endParaRPr b="0" i="0" sz="1850" u="none" cap="none" strike="noStrike"/>
          </a:p>
        </p:txBody>
      </p:sp>
      <p:sp>
        <p:nvSpPr>
          <p:cNvPr id="309" name="Google Shape;309;p15"/>
          <p:cNvSpPr/>
          <p:nvPr/>
        </p:nvSpPr>
        <p:spPr>
          <a:xfrm>
            <a:off x="7273052" y="3487936"/>
            <a:ext cx="6699052" cy="60198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0" i="0" lang="en-US" sz="1450" u="none" cap="none" strike="noStrike">
                <a:solidFill>
                  <a:srgbClr val="2C3249"/>
                </a:solidFill>
                <a:latin typeface="Martel Sans"/>
                <a:ea typeface="Martel Sans"/>
                <a:cs typeface="Martel Sans"/>
                <a:sym typeface="Martel Sans"/>
              </a:rPr>
              <a:t>Create new features that better capture underlying patterns and relationships</a:t>
            </a:r>
            <a:endParaRPr b="0" i="0" sz="1450" u="none" cap="none" strike="noStrike"/>
          </a:p>
        </p:txBody>
      </p:sp>
      <p:pic>
        <p:nvPicPr>
          <p:cNvPr descr="preencoded.png" id="310" name="Google Shape;310;p15"/>
          <p:cNvPicPr preferRelativeResize="0"/>
          <p:nvPr/>
        </p:nvPicPr>
        <p:blipFill rotWithShape="1">
          <a:blip r:embed="rId6">
            <a:alphaModFix/>
          </a:blip>
          <a:srcRect b="0" l="0" r="0" t="0"/>
          <a:stretch/>
        </p:blipFill>
        <p:spPr>
          <a:xfrm>
            <a:off x="6144697" y="4277916"/>
            <a:ext cx="940356" cy="1384578"/>
          </a:xfrm>
          <a:prstGeom prst="rect">
            <a:avLst/>
          </a:prstGeom>
          <a:noFill/>
          <a:ln>
            <a:noFill/>
          </a:ln>
        </p:spPr>
      </p:pic>
      <p:sp>
        <p:nvSpPr>
          <p:cNvPr id="311" name="Google Shape;311;p15"/>
          <p:cNvSpPr/>
          <p:nvPr/>
        </p:nvSpPr>
        <p:spPr>
          <a:xfrm>
            <a:off x="7273049" y="4465922"/>
            <a:ext cx="4272900" cy="168600"/>
          </a:xfrm>
          <a:prstGeom prst="rect">
            <a:avLst/>
          </a:prstGeom>
          <a:noFill/>
          <a:ln>
            <a:noFill/>
          </a:ln>
        </p:spPr>
        <p:txBody>
          <a:bodyPr anchorCtr="0" anchor="t" bIns="0" lIns="0" spcFirstLastPara="1" rIns="0" wrap="square" tIns="0">
            <a:noAutofit/>
          </a:bodyPr>
          <a:lstStyle/>
          <a:p>
            <a:pPr indent="0" lvl="0" marL="0" marR="0" rtl="0" algn="l">
              <a:lnSpc>
                <a:spcPct val="124324"/>
              </a:lnSpc>
              <a:spcBef>
                <a:spcPts val="0"/>
              </a:spcBef>
              <a:spcAft>
                <a:spcPts val="0"/>
              </a:spcAft>
              <a:buClr>
                <a:srgbClr val="2C3249"/>
              </a:buClr>
              <a:buSzPts val="1850"/>
              <a:buFont typeface="Kanit Light"/>
              <a:buNone/>
            </a:pPr>
            <a:r>
              <a:rPr b="0" i="0" lang="en-US" sz="1850" u="none" cap="none" strike="noStrike">
                <a:solidFill>
                  <a:srgbClr val="2C3249"/>
                </a:solidFill>
                <a:latin typeface="Kanit Light"/>
                <a:ea typeface="Kanit Light"/>
                <a:cs typeface="Kanit Light"/>
                <a:sym typeface="Kanit Light"/>
              </a:rPr>
              <a:t>Improve Model Performance</a:t>
            </a:r>
            <a:endParaRPr b="0" i="0" sz="1850" u="none" cap="none" strike="noStrike"/>
          </a:p>
        </p:txBody>
      </p:sp>
      <p:sp>
        <p:nvSpPr>
          <p:cNvPr id="312" name="Google Shape;312;p15"/>
          <p:cNvSpPr/>
          <p:nvPr/>
        </p:nvSpPr>
        <p:spPr>
          <a:xfrm>
            <a:off x="7273052" y="4872514"/>
            <a:ext cx="6699052" cy="60198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0" i="0" lang="en-US" sz="1450" u="none" cap="none" strike="noStrike">
                <a:solidFill>
                  <a:srgbClr val="2C3249"/>
                </a:solidFill>
                <a:latin typeface="Martel Sans"/>
                <a:ea typeface="Martel Sans"/>
                <a:cs typeface="Martel Sans"/>
                <a:sym typeface="Martel Sans"/>
              </a:rPr>
              <a:t>Enhanced accuracy, reduced complexity, faster training, better generalization</a:t>
            </a:r>
            <a:endParaRPr b="0" i="0" sz="1450" u="none" cap="none" strike="noStrike"/>
          </a:p>
        </p:txBody>
      </p:sp>
      <p:sp>
        <p:nvSpPr>
          <p:cNvPr id="313" name="Google Shape;313;p15"/>
          <p:cNvSpPr/>
          <p:nvPr/>
        </p:nvSpPr>
        <p:spPr>
          <a:xfrm>
            <a:off x="6144697" y="5874067"/>
            <a:ext cx="7827407" cy="90297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1" i="0" lang="en-US" sz="1450" u="none" cap="none" strike="noStrike">
                <a:solidFill>
                  <a:srgbClr val="2C3249"/>
                </a:solidFill>
                <a:latin typeface="Martel Sans"/>
                <a:ea typeface="Martel Sans"/>
                <a:cs typeface="Martel Sans"/>
                <a:sym typeface="Martel Sans"/>
              </a:rPr>
              <a:t>Key Benefits:</a:t>
            </a:r>
            <a:r>
              <a:rPr b="0" i="0" lang="en-US" sz="1450" u="none" cap="none" strike="noStrike">
                <a:solidFill>
                  <a:srgbClr val="2C3249"/>
                </a:solidFill>
                <a:latin typeface="Martel Sans"/>
                <a:ea typeface="Martel Sans"/>
                <a:cs typeface="Martel Sans"/>
                <a:sym typeface="Martel Sans"/>
              </a:rPr>
              <a:t> Selecting relevant features improves model accuracy while reducing computational complexity. Irrelevant or redundant features can confuse the model, increase training time, and raise overfitting risk.</a:t>
            </a:r>
            <a:endParaRPr b="0" i="0" sz="1450" u="none" cap="none" strike="noStrike"/>
          </a:p>
        </p:txBody>
      </p:sp>
      <p:sp>
        <p:nvSpPr>
          <p:cNvPr id="314" name="Google Shape;314;p15"/>
          <p:cNvSpPr/>
          <p:nvPr/>
        </p:nvSpPr>
        <p:spPr>
          <a:xfrm>
            <a:off x="6144697" y="6988612"/>
            <a:ext cx="7827407" cy="601980"/>
          </a:xfrm>
          <a:prstGeom prst="rect">
            <a:avLst/>
          </a:prstGeom>
          <a:noFill/>
          <a:ln>
            <a:noFill/>
          </a:ln>
        </p:spPr>
        <p:txBody>
          <a:bodyPr anchorCtr="0" anchor="t" bIns="0" lIns="0" spcFirstLastPara="1" rIns="0" wrap="square" tIns="0">
            <a:noAutofit/>
          </a:bodyPr>
          <a:lstStyle/>
          <a:p>
            <a:pPr indent="0" lvl="0" marL="0" marR="0" rtl="0" algn="l">
              <a:lnSpc>
                <a:spcPct val="162068"/>
              </a:lnSpc>
              <a:spcBef>
                <a:spcPts val="0"/>
              </a:spcBef>
              <a:spcAft>
                <a:spcPts val="0"/>
              </a:spcAft>
              <a:buClr>
                <a:srgbClr val="2C3249"/>
              </a:buClr>
              <a:buSzPts val="1450"/>
              <a:buFont typeface="Martel Sans"/>
              <a:buNone/>
            </a:pPr>
            <a:r>
              <a:rPr b="1" i="0" lang="en-US" sz="1450" u="none" cap="none" strike="noStrike">
                <a:solidFill>
                  <a:srgbClr val="2C3249"/>
                </a:solidFill>
                <a:latin typeface="Martel Sans"/>
                <a:ea typeface="Martel Sans"/>
                <a:cs typeface="Martel Sans"/>
                <a:sym typeface="Martel Sans"/>
              </a:rPr>
              <a:t>Techniques:</a:t>
            </a:r>
            <a:r>
              <a:rPr b="0" i="0" lang="en-US" sz="1450" u="none" cap="none" strike="noStrike">
                <a:solidFill>
                  <a:srgbClr val="2C3249"/>
                </a:solidFill>
                <a:latin typeface="Martel Sans"/>
                <a:ea typeface="Martel Sans"/>
                <a:cs typeface="Martel Sans"/>
                <a:sym typeface="Martel Sans"/>
              </a:rPr>
              <a:t> Correlation analysis, mutual information, recursive feature elimination, domain expertise, and dimensionality reduction methods like PCA.</a:t>
            </a:r>
            <a:endParaRPr b="0" i="0" sz="14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descr="preencoded.png" id="320" name="Google Shape;320;p16"/>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321" name="Google Shape;321;p16"/>
          <p:cNvSpPr/>
          <p:nvPr/>
        </p:nvSpPr>
        <p:spPr>
          <a:xfrm>
            <a:off x="6280190" y="1636752"/>
            <a:ext cx="7556421" cy="4253032"/>
          </a:xfrm>
          <a:prstGeom prst="rect">
            <a:avLst/>
          </a:prstGeom>
          <a:noFill/>
          <a:ln>
            <a:noFill/>
          </a:ln>
        </p:spPr>
        <p:txBody>
          <a:bodyPr anchorCtr="0" anchor="t" bIns="0" lIns="0" spcFirstLastPara="1" rIns="0" wrap="square" tIns="0">
            <a:noAutofit/>
          </a:bodyPr>
          <a:lstStyle/>
          <a:p>
            <a:pPr indent="0" lvl="0" marL="0" marR="0" rtl="0" algn="l">
              <a:lnSpc>
                <a:spcPct val="125280"/>
              </a:lnSpc>
              <a:spcBef>
                <a:spcPts val="0"/>
              </a:spcBef>
              <a:spcAft>
                <a:spcPts val="0"/>
              </a:spcAft>
              <a:buClr>
                <a:srgbClr val="272D45"/>
              </a:buClr>
              <a:buSzPts val="8900"/>
              <a:buFont typeface="Kanit Light"/>
              <a:buNone/>
            </a:pPr>
            <a:r>
              <a:rPr b="0" i="0" lang="en-US" sz="8900" u="none" cap="none" strike="noStrike">
                <a:solidFill>
                  <a:srgbClr val="272D45"/>
                </a:solidFill>
                <a:latin typeface="Kanit Light"/>
                <a:ea typeface="Kanit Light"/>
                <a:cs typeface="Kanit Light"/>
                <a:sym typeface="Kanit Light"/>
              </a:rPr>
              <a:t>Optimization Strategies for Better Models</a:t>
            </a:r>
            <a:endParaRPr b="0" i="0" sz="8900" u="none" cap="none" strike="noStrike"/>
          </a:p>
        </p:txBody>
      </p:sp>
      <p:sp>
        <p:nvSpPr>
          <p:cNvPr id="322" name="Google Shape;322;p16"/>
          <p:cNvSpPr/>
          <p:nvPr/>
        </p:nvSpPr>
        <p:spPr>
          <a:xfrm>
            <a:off x="6280190" y="6229945"/>
            <a:ext cx="75564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Chapter 5</a:t>
            </a:r>
            <a:endParaRPr b="0" i="0" sz="17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preencoded.png" id="328" name="Google Shape;328;p17"/>
          <p:cNvPicPr preferRelativeResize="0"/>
          <p:nvPr/>
        </p:nvPicPr>
        <p:blipFill rotWithShape="1">
          <a:blip r:embed="rId3">
            <a:alphaModFix/>
          </a:blip>
          <a:srcRect b="0" l="0" r="0" t="0"/>
          <a:stretch/>
        </p:blipFill>
        <p:spPr>
          <a:xfrm>
            <a:off x="0" y="0"/>
            <a:ext cx="14630400" cy="2252186"/>
          </a:xfrm>
          <a:prstGeom prst="rect">
            <a:avLst/>
          </a:prstGeom>
          <a:noFill/>
          <a:ln>
            <a:noFill/>
          </a:ln>
        </p:spPr>
      </p:pic>
      <p:sp>
        <p:nvSpPr>
          <p:cNvPr id="329" name="Google Shape;329;p17"/>
          <p:cNvSpPr/>
          <p:nvPr/>
        </p:nvSpPr>
        <p:spPr>
          <a:xfrm>
            <a:off x="630555" y="2748320"/>
            <a:ext cx="7048619" cy="562927"/>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272D45"/>
              </a:buClr>
              <a:buSzPts val="3500"/>
              <a:buFont typeface="Kanit Light"/>
              <a:buNone/>
            </a:pPr>
            <a:r>
              <a:rPr b="0" i="0" lang="en-US" sz="3500" u="none" cap="none" strike="noStrike">
                <a:solidFill>
                  <a:srgbClr val="272D45"/>
                </a:solidFill>
                <a:latin typeface="Kanit Light"/>
                <a:ea typeface="Kanit Light"/>
                <a:cs typeface="Kanit Light"/>
                <a:sym typeface="Kanit Light"/>
              </a:rPr>
              <a:t>Hyperparameter Tuning Techniques</a:t>
            </a:r>
            <a:endParaRPr b="0" i="0" sz="3500" u="none" cap="none" strike="noStrike"/>
          </a:p>
        </p:txBody>
      </p:sp>
      <p:sp>
        <p:nvSpPr>
          <p:cNvPr id="330" name="Google Shape;330;p17"/>
          <p:cNvSpPr/>
          <p:nvPr/>
        </p:nvSpPr>
        <p:spPr>
          <a:xfrm>
            <a:off x="630555" y="5267920"/>
            <a:ext cx="13369290" cy="22860"/>
          </a:xfrm>
          <a:prstGeom prst="roundRect">
            <a:avLst>
              <a:gd fmla="val 331039" name="adj"/>
            </a:avLst>
          </a:prstGeom>
          <a:solidFill>
            <a:srgbClr val="C5D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7"/>
          <p:cNvSpPr/>
          <p:nvPr/>
        </p:nvSpPr>
        <p:spPr>
          <a:xfrm>
            <a:off x="3905131" y="4727496"/>
            <a:ext cx="22860" cy="540425"/>
          </a:xfrm>
          <a:prstGeom prst="roundRect">
            <a:avLst>
              <a:gd fmla="val 331039" name="adj"/>
            </a:avLst>
          </a:prstGeom>
          <a:solidFill>
            <a:srgbClr val="C5D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7"/>
          <p:cNvSpPr/>
          <p:nvPr/>
        </p:nvSpPr>
        <p:spPr>
          <a:xfrm>
            <a:off x="3713917" y="5065276"/>
            <a:ext cx="405289" cy="405289"/>
          </a:xfrm>
          <a:prstGeom prst="roundRect">
            <a:avLst>
              <a:gd fmla="val 18672"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7"/>
          <p:cNvSpPr/>
          <p:nvPr/>
        </p:nvSpPr>
        <p:spPr>
          <a:xfrm>
            <a:off x="3781485" y="5099030"/>
            <a:ext cx="270153" cy="3377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1</a:t>
            </a:r>
            <a:endParaRPr b="0" i="0" sz="2100" u="none" cap="none" strike="noStrike"/>
          </a:p>
        </p:txBody>
      </p:sp>
      <p:sp>
        <p:nvSpPr>
          <p:cNvPr id="334" name="Google Shape;334;p17"/>
          <p:cNvSpPr/>
          <p:nvPr/>
        </p:nvSpPr>
        <p:spPr>
          <a:xfrm>
            <a:off x="2790468" y="3581400"/>
            <a:ext cx="2252186" cy="28158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2C3249"/>
              </a:buClr>
              <a:buSzPts val="1750"/>
              <a:buFont typeface="Kanit Light"/>
              <a:buNone/>
            </a:pPr>
            <a:r>
              <a:rPr b="0" i="0" lang="en-US" sz="1750" u="none" cap="none" strike="noStrike">
                <a:solidFill>
                  <a:srgbClr val="2C3249"/>
                </a:solidFill>
                <a:latin typeface="Kanit Light"/>
                <a:ea typeface="Kanit Light"/>
                <a:cs typeface="Kanit Light"/>
                <a:sym typeface="Kanit Light"/>
              </a:rPr>
              <a:t>Grid Search</a:t>
            </a:r>
            <a:endParaRPr b="0" i="0" sz="1750" u="none" cap="none" strike="noStrike"/>
          </a:p>
        </p:txBody>
      </p:sp>
      <p:sp>
        <p:nvSpPr>
          <p:cNvPr id="335" name="Google Shape;335;p17"/>
          <p:cNvSpPr/>
          <p:nvPr/>
        </p:nvSpPr>
        <p:spPr>
          <a:xfrm>
            <a:off x="810697" y="3970973"/>
            <a:ext cx="6211729" cy="576263"/>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Exhaustive search over all possible parameter combinations from predefined grid. Thorough but computationally expensive.</a:t>
            </a:r>
            <a:endParaRPr b="0" i="0" sz="1400" u="none" cap="none" strike="noStrike"/>
          </a:p>
        </p:txBody>
      </p:sp>
      <p:sp>
        <p:nvSpPr>
          <p:cNvPr id="336" name="Google Shape;336;p17"/>
          <p:cNvSpPr/>
          <p:nvPr/>
        </p:nvSpPr>
        <p:spPr>
          <a:xfrm>
            <a:off x="7303651" y="5267920"/>
            <a:ext cx="22860" cy="540425"/>
          </a:xfrm>
          <a:prstGeom prst="roundRect">
            <a:avLst>
              <a:gd fmla="val 331039" name="adj"/>
            </a:avLst>
          </a:prstGeom>
          <a:solidFill>
            <a:srgbClr val="C5D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7"/>
          <p:cNvSpPr/>
          <p:nvPr/>
        </p:nvSpPr>
        <p:spPr>
          <a:xfrm>
            <a:off x="7112437" y="5065276"/>
            <a:ext cx="405289" cy="405289"/>
          </a:xfrm>
          <a:prstGeom prst="roundRect">
            <a:avLst>
              <a:gd fmla="val 18672"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7"/>
          <p:cNvSpPr/>
          <p:nvPr/>
        </p:nvSpPr>
        <p:spPr>
          <a:xfrm>
            <a:off x="7180005" y="5099030"/>
            <a:ext cx="270153" cy="3377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2</a:t>
            </a:r>
            <a:endParaRPr b="0" i="0" sz="2100" u="none" cap="none" strike="noStrike"/>
          </a:p>
        </p:txBody>
      </p:sp>
      <p:sp>
        <p:nvSpPr>
          <p:cNvPr id="339" name="Google Shape;339;p17"/>
          <p:cNvSpPr/>
          <p:nvPr/>
        </p:nvSpPr>
        <p:spPr>
          <a:xfrm>
            <a:off x="6188988" y="5988606"/>
            <a:ext cx="2252186" cy="28158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2C3249"/>
              </a:buClr>
              <a:buSzPts val="1750"/>
              <a:buFont typeface="Kanit Light"/>
              <a:buNone/>
            </a:pPr>
            <a:r>
              <a:rPr b="0" i="0" lang="en-US" sz="1750" u="none" cap="none" strike="noStrike">
                <a:solidFill>
                  <a:srgbClr val="2C3249"/>
                </a:solidFill>
                <a:latin typeface="Kanit Light"/>
                <a:ea typeface="Kanit Light"/>
                <a:cs typeface="Kanit Light"/>
                <a:sym typeface="Kanit Light"/>
              </a:rPr>
              <a:t>Random Search</a:t>
            </a:r>
            <a:endParaRPr b="0" i="0" sz="1750" u="none" cap="none" strike="noStrike"/>
          </a:p>
        </p:txBody>
      </p:sp>
      <p:sp>
        <p:nvSpPr>
          <p:cNvPr id="340" name="Google Shape;340;p17"/>
          <p:cNvSpPr/>
          <p:nvPr/>
        </p:nvSpPr>
        <p:spPr>
          <a:xfrm>
            <a:off x="4209217" y="6378178"/>
            <a:ext cx="6211848" cy="576263"/>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Random sampling of hyperparameter combinations. More efficient than grid search, often finds good solutions faster.</a:t>
            </a:r>
            <a:endParaRPr b="0" i="0" sz="1400" u="none" cap="none" strike="noStrike"/>
          </a:p>
        </p:txBody>
      </p:sp>
      <p:sp>
        <p:nvSpPr>
          <p:cNvPr id="341" name="Google Shape;341;p17"/>
          <p:cNvSpPr/>
          <p:nvPr/>
        </p:nvSpPr>
        <p:spPr>
          <a:xfrm>
            <a:off x="10702290" y="4727496"/>
            <a:ext cx="22860" cy="540425"/>
          </a:xfrm>
          <a:prstGeom prst="roundRect">
            <a:avLst>
              <a:gd fmla="val 331039" name="adj"/>
            </a:avLst>
          </a:prstGeom>
          <a:solidFill>
            <a:srgbClr val="C5D2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7"/>
          <p:cNvSpPr/>
          <p:nvPr/>
        </p:nvSpPr>
        <p:spPr>
          <a:xfrm>
            <a:off x="10511076" y="5065276"/>
            <a:ext cx="405289" cy="405289"/>
          </a:xfrm>
          <a:prstGeom prst="roundRect">
            <a:avLst>
              <a:gd fmla="val 18672" name="adj"/>
            </a:avLst>
          </a:prstGeom>
          <a:solidFill>
            <a:srgbClr val="DFECE9"/>
          </a:solidFill>
          <a:ln cap="flat" cmpd="sng" w="9525">
            <a:solidFill>
              <a:srgbClr val="C5D2C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7"/>
          <p:cNvSpPr/>
          <p:nvPr/>
        </p:nvSpPr>
        <p:spPr>
          <a:xfrm>
            <a:off x="10578644" y="5099030"/>
            <a:ext cx="270153" cy="33778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3249"/>
              </a:buClr>
              <a:buSzPts val="2100"/>
              <a:buFont typeface="Kanit Light"/>
              <a:buNone/>
            </a:pPr>
            <a:r>
              <a:rPr b="0" i="0" lang="en-US" sz="2100" u="none" cap="none" strike="noStrike">
                <a:solidFill>
                  <a:srgbClr val="2C3249"/>
                </a:solidFill>
                <a:latin typeface="Kanit Light"/>
                <a:ea typeface="Kanit Light"/>
                <a:cs typeface="Kanit Light"/>
                <a:sym typeface="Kanit Light"/>
              </a:rPr>
              <a:t>3</a:t>
            </a:r>
            <a:endParaRPr b="0" i="0" sz="2100" u="none" cap="none" strike="noStrike"/>
          </a:p>
        </p:txBody>
      </p:sp>
      <p:sp>
        <p:nvSpPr>
          <p:cNvPr id="344" name="Google Shape;344;p17"/>
          <p:cNvSpPr/>
          <p:nvPr/>
        </p:nvSpPr>
        <p:spPr>
          <a:xfrm>
            <a:off x="9587627" y="3581400"/>
            <a:ext cx="2252186" cy="281583"/>
          </a:xfrm>
          <a:prstGeom prst="rect">
            <a:avLst/>
          </a:prstGeom>
          <a:noFill/>
          <a:ln>
            <a:noFill/>
          </a:ln>
        </p:spPr>
        <p:txBody>
          <a:bodyPr anchorCtr="0" anchor="t" bIns="0" lIns="0" spcFirstLastPara="1" rIns="0" wrap="square" tIns="0">
            <a:noAutofit/>
          </a:bodyPr>
          <a:lstStyle/>
          <a:p>
            <a:pPr indent="0" lvl="0" marL="0" marR="0" rtl="0" algn="ctr">
              <a:lnSpc>
                <a:spcPct val="125714"/>
              </a:lnSpc>
              <a:spcBef>
                <a:spcPts val="0"/>
              </a:spcBef>
              <a:spcAft>
                <a:spcPts val="0"/>
              </a:spcAft>
              <a:buClr>
                <a:srgbClr val="2C3249"/>
              </a:buClr>
              <a:buSzPts val="1750"/>
              <a:buFont typeface="Kanit Light"/>
              <a:buNone/>
            </a:pPr>
            <a:r>
              <a:rPr b="0" i="0" lang="en-US" sz="1750" u="none" cap="none" strike="noStrike">
                <a:solidFill>
                  <a:srgbClr val="2C3249"/>
                </a:solidFill>
                <a:latin typeface="Kanit Light"/>
                <a:ea typeface="Kanit Light"/>
                <a:cs typeface="Kanit Light"/>
                <a:sym typeface="Kanit Light"/>
              </a:rPr>
              <a:t>Bayesian Optimization</a:t>
            </a:r>
            <a:endParaRPr b="0" i="0" sz="1750" u="none" cap="none" strike="noStrike"/>
          </a:p>
        </p:txBody>
      </p:sp>
      <p:sp>
        <p:nvSpPr>
          <p:cNvPr id="345" name="Google Shape;345;p17"/>
          <p:cNvSpPr/>
          <p:nvPr/>
        </p:nvSpPr>
        <p:spPr>
          <a:xfrm>
            <a:off x="7607856" y="3970973"/>
            <a:ext cx="6211848" cy="576263"/>
          </a:xfrm>
          <a:prstGeom prst="rect">
            <a:avLst/>
          </a:prstGeom>
          <a:noFill/>
          <a:ln>
            <a:noFill/>
          </a:ln>
        </p:spPr>
        <p:txBody>
          <a:bodyPr anchorCtr="0" anchor="t" bIns="0" lIns="0" spcFirstLastPara="1" rIns="0" wrap="square" tIns="0">
            <a:noAutofit/>
          </a:bodyPr>
          <a:lstStyle/>
          <a:p>
            <a:pPr indent="0" lvl="0" marL="0" marR="0" rtl="0" algn="ctr">
              <a:lnSpc>
                <a:spcPct val="160714"/>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Intelligent search using probabilistic models to predict promising hyperparameter regions. Most efficient approach.</a:t>
            </a:r>
            <a:endParaRPr b="0" i="0" sz="1400" u="none" cap="none" strike="noStrike"/>
          </a:p>
        </p:txBody>
      </p:sp>
      <p:sp>
        <p:nvSpPr>
          <p:cNvPr id="346" name="Google Shape;346;p17"/>
          <p:cNvSpPr/>
          <p:nvPr/>
        </p:nvSpPr>
        <p:spPr>
          <a:xfrm>
            <a:off x="630555" y="7157085"/>
            <a:ext cx="13369290" cy="576263"/>
          </a:xfrm>
          <a:prstGeom prst="rect">
            <a:avLst/>
          </a:prstGeom>
          <a:noFill/>
          <a:ln>
            <a:noFill/>
          </a:ln>
        </p:spPr>
        <p:txBody>
          <a:bodyPr anchorCtr="0" anchor="t" bIns="0" lIns="0" spcFirstLastPara="1" rIns="0" wrap="square" tIns="0">
            <a:noAutofit/>
          </a:bodyPr>
          <a:lstStyle/>
          <a:p>
            <a:pPr indent="0" lvl="0" marL="0" marR="0" rtl="0" algn="l">
              <a:lnSpc>
                <a:spcPct val="160714"/>
              </a:lnSpc>
              <a:spcBef>
                <a:spcPts val="0"/>
              </a:spcBef>
              <a:spcAft>
                <a:spcPts val="0"/>
              </a:spcAft>
              <a:buClr>
                <a:srgbClr val="2C3249"/>
              </a:buClr>
              <a:buSzPts val="1400"/>
              <a:buFont typeface="Martel Sans"/>
              <a:buNone/>
            </a:pPr>
            <a:r>
              <a:rPr b="1" i="0" lang="en-US" sz="1400" u="none" cap="none" strike="noStrike">
                <a:solidFill>
                  <a:srgbClr val="2C3249"/>
                </a:solidFill>
                <a:latin typeface="Martel Sans"/>
                <a:ea typeface="Martel Sans"/>
                <a:cs typeface="Martel Sans"/>
                <a:sym typeface="Martel Sans"/>
              </a:rPr>
              <a:t>Modern Approaches:</a:t>
            </a:r>
            <a:r>
              <a:rPr b="0" i="0" lang="en-US" sz="1400" u="none" cap="none" strike="noStrike">
                <a:solidFill>
                  <a:srgbClr val="2C3249"/>
                </a:solidFill>
                <a:latin typeface="Martel Sans"/>
                <a:ea typeface="Martel Sans"/>
                <a:cs typeface="Martel Sans"/>
                <a:sym typeface="Martel Sans"/>
              </a:rPr>
              <a:t> Automated machine learning (AutoML) platforms leverage advanced optimization algorithms to systematically explore hyperparameter spaces, dramatically reducing manual tuning effort.</a:t>
            </a:r>
            <a:endParaRPr b="0" i="0" sz="14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8"/>
          <p:cNvSpPr/>
          <p:nvPr/>
        </p:nvSpPr>
        <p:spPr>
          <a:xfrm>
            <a:off x="793790" y="1621036"/>
            <a:ext cx="1067050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72D45"/>
              </a:buClr>
              <a:buSzPts val="4450"/>
              <a:buFont typeface="Kanit Light"/>
              <a:buNone/>
            </a:pPr>
            <a:r>
              <a:rPr b="0" i="0" lang="en-US" sz="4450" u="none" cap="none" strike="noStrike">
                <a:solidFill>
                  <a:srgbClr val="272D45"/>
                </a:solidFill>
                <a:latin typeface="Kanit Light"/>
                <a:ea typeface="Kanit Light"/>
                <a:cs typeface="Kanit Light"/>
                <a:sym typeface="Kanit Light"/>
              </a:rPr>
              <a:t>Ensemble Methods and Model Architecture</a:t>
            </a:r>
            <a:endParaRPr b="0" i="0" sz="4450" u="none" cap="none" strike="noStrike"/>
          </a:p>
        </p:txBody>
      </p:sp>
      <p:pic>
        <p:nvPicPr>
          <p:cNvPr descr="preencoded.png" id="353" name="Google Shape;353;p18"/>
          <p:cNvPicPr preferRelativeResize="0"/>
          <p:nvPr/>
        </p:nvPicPr>
        <p:blipFill rotWithShape="1">
          <a:blip r:embed="rId3">
            <a:alphaModFix/>
          </a:blip>
          <a:srcRect b="0" l="0" r="0" t="0"/>
          <a:stretch/>
        </p:blipFill>
        <p:spPr>
          <a:xfrm>
            <a:off x="793790" y="2783443"/>
            <a:ext cx="566976" cy="566976"/>
          </a:xfrm>
          <a:prstGeom prst="rect">
            <a:avLst/>
          </a:prstGeom>
          <a:noFill/>
          <a:ln>
            <a:noFill/>
          </a:ln>
        </p:spPr>
      </p:pic>
      <p:sp>
        <p:nvSpPr>
          <p:cNvPr id="354" name="Google Shape;354;p18"/>
          <p:cNvSpPr/>
          <p:nvPr/>
        </p:nvSpPr>
        <p:spPr>
          <a:xfrm>
            <a:off x="1644253" y="291810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Random Forest</a:t>
            </a:r>
            <a:endParaRPr b="0" i="0" sz="2200" u="none" cap="none" strike="noStrike"/>
          </a:p>
        </p:txBody>
      </p:sp>
      <p:sp>
        <p:nvSpPr>
          <p:cNvPr id="355" name="Google Shape;355;p18"/>
          <p:cNvSpPr/>
          <p:nvPr/>
        </p:nvSpPr>
        <p:spPr>
          <a:xfrm>
            <a:off x="1644253" y="3408521"/>
            <a:ext cx="330815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Combines multiple decision trees trained on random subsets of data and features. Reduces overfitting through averaging predictions.</a:t>
            </a:r>
            <a:endParaRPr b="0" i="0" sz="1750" u="none" cap="none" strike="noStrike"/>
          </a:p>
        </p:txBody>
      </p:sp>
      <p:pic>
        <p:nvPicPr>
          <p:cNvPr descr="preencoded.png" id="356" name="Google Shape;356;p18"/>
          <p:cNvPicPr preferRelativeResize="0"/>
          <p:nvPr/>
        </p:nvPicPr>
        <p:blipFill rotWithShape="1">
          <a:blip r:embed="rId3">
            <a:alphaModFix/>
          </a:blip>
          <a:srcRect b="0" l="0" r="0" t="0"/>
          <a:stretch/>
        </p:blipFill>
        <p:spPr>
          <a:xfrm>
            <a:off x="5235893" y="2783443"/>
            <a:ext cx="566976" cy="566976"/>
          </a:xfrm>
          <a:prstGeom prst="rect">
            <a:avLst/>
          </a:prstGeom>
          <a:noFill/>
          <a:ln>
            <a:noFill/>
          </a:ln>
        </p:spPr>
      </p:pic>
      <p:sp>
        <p:nvSpPr>
          <p:cNvPr id="357" name="Google Shape;357;p18"/>
          <p:cNvSpPr/>
          <p:nvPr/>
        </p:nvSpPr>
        <p:spPr>
          <a:xfrm>
            <a:off x="6086356" y="291810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Gradient Boosting</a:t>
            </a:r>
            <a:endParaRPr b="0" i="0" sz="2200" u="none" cap="none" strike="noStrike"/>
          </a:p>
        </p:txBody>
      </p:sp>
      <p:sp>
        <p:nvSpPr>
          <p:cNvPr id="358" name="Google Shape;358;p18"/>
          <p:cNvSpPr/>
          <p:nvPr/>
        </p:nvSpPr>
        <p:spPr>
          <a:xfrm>
            <a:off x="6086356" y="3408521"/>
            <a:ext cx="330815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Sequentially builds models that correct errors of previous models. Techniques like XGBoost and LightGBM offer state-of-the-art performance.</a:t>
            </a:r>
            <a:endParaRPr b="0" i="0" sz="1750" u="none" cap="none" strike="noStrike"/>
          </a:p>
        </p:txBody>
      </p:sp>
      <p:pic>
        <p:nvPicPr>
          <p:cNvPr descr="preencoded.png" id="359" name="Google Shape;359;p18"/>
          <p:cNvPicPr preferRelativeResize="0"/>
          <p:nvPr/>
        </p:nvPicPr>
        <p:blipFill rotWithShape="1">
          <a:blip r:embed="rId3">
            <a:alphaModFix/>
          </a:blip>
          <a:srcRect b="0" l="0" r="0" t="0"/>
          <a:stretch/>
        </p:blipFill>
        <p:spPr>
          <a:xfrm>
            <a:off x="9677995" y="2783443"/>
            <a:ext cx="566976" cy="566976"/>
          </a:xfrm>
          <a:prstGeom prst="rect">
            <a:avLst/>
          </a:prstGeom>
          <a:noFill/>
          <a:ln>
            <a:noFill/>
          </a:ln>
        </p:spPr>
      </p:pic>
      <p:sp>
        <p:nvSpPr>
          <p:cNvPr id="360" name="Google Shape;360;p18"/>
          <p:cNvSpPr/>
          <p:nvPr/>
        </p:nvSpPr>
        <p:spPr>
          <a:xfrm>
            <a:off x="10528459" y="291810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2200"/>
              <a:buFont typeface="Kanit Light"/>
              <a:buNone/>
            </a:pPr>
            <a:r>
              <a:rPr b="0" i="0" lang="en-US" sz="2200" u="none" cap="none" strike="noStrike">
                <a:solidFill>
                  <a:srgbClr val="2C3249"/>
                </a:solidFill>
                <a:latin typeface="Kanit Light"/>
                <a:ea typeface="Kanit Light"/>
                <a:cs typeface="Kanit Light"/>
                <a:sym typeface="Kanit Light"/>
              </a:rPr>
              <a:t>Stacking</a:t>
            </a:r>
            <a:endParaRPr b="0" i="0" sz="2200" u="none" cap="none" strike="noStrike"/>
          </a:p>
        </p:txBody>
      </p:sp>
      <p:sp>
        <p:nvSpPr>
          <p:cNvPr id="361" name="Google Shape;361;p18"/>
          <p:cNvSpPr/>
          <p:nvPr/>
        </p:nvSpPr>
        <p:spPr>
          <a:xfrm>
            <a:off x="10528459" y="3408521"/>
            <a:ext cx="330815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0" i="0" lang="en-US" sz="1750" u="none" cap="none" strike="noStrike">
                <a:solidFill>
                  <a:srgbClr val="2C3249"/>
                </a:solidFill>
                <a:latin typeface="Martel Sans"/>
                <a:ea typeface="Martel Sans"/>
                <a:cs typeface="Martel Sans"/>
                <a:sym typeface="Martel Sans"/>
              </a:rPr>
              <a:t>Combines predictions from multiple diverse models using a meta-learner. Leverages different model strengths for superior results.</a:t>
            </a:r>
            <a:endParaRPr b="0" i="0" sz="1750" u="none" cap="none" strike="noStrike"/>
          </a:p>
        </p:txBody>
      </p:sp>
      <p:sp>
        <p:nvSpPr>
          <p:cNvPr id="362" name="Google Shape;362;p18"/>
          <p:cNvSpPr/>
          <p:nvPr/>
        </p:nvSpPr>
        <p:spPr>
          <a:xfrm>
            <a:off x="793790" y="5591565"/>
            <a:ext cx="13042821" cy="35957"/>
          </a:xfrm>
          <a:prstGeom prst="rect">
            <a:avLst/>
          </a:prstGeom>
          <a:solidFill>
            <a:srgbClr val="2C3249">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8"/>
          <p:cNvSpPr/>
          <p:nvPr/>
        </p:nvSpPr>
        <p:spPr>
          <a:xfrm>
            <a:off x="793790" y="5882640"/>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3249"/>
              </a:buClr>
              <a:buSzPts val="1750"/>
              <a:buFont typeface="Martel Sans"/>
              <a:buNone/>
            </a:pPr>
            <a:r>
              <a:rPr b="1" i="0" lang="en-US" sz="1750" u="none" cap="none" strike="noStrike">
                <a:solidFill>
                  <a:srgbClr val="2C3249"/>
                </a:solidFill>
                <a:latin typeface="Martel Sans"/>
                <a:ea typeface="Martel Sans"/>
                <a:cs typeface="Martel Sans"/>
                <a:sym typeface="Martel Sans"/>
              </a:rPr>
              <a:t>Architecture Selection:</a:t>
            </a:r>
            <a:r>
              <a:rPr b="0" i="0" lang="en-US" sz="1750" u="none" cap="none" strike="noStrike">
                <a:solidFill>
                  <a:srgbClr val="2C3249"/>
                </a:solidFill>
                <a:latin typeface="Martel Sans"/>
                <a:ea typeface="Martel Sans"/>
                <a:cs typeface="Martel Sans"/>
                <a:sym typeface="Martel Sans"/>
              </a:rPr>
              <a:t> Choosing and designing model architectures tailored to your specific data characteristics, task requirements, and computational constraints is critical for optimal performance.</a:t>
            </a:r>
            <a:endParaRPr b="0" i="0" sz="1750" u="none" cap="none" strike="noStrike"/>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9"/>
          <p:cNvSpPr/>
          <p:nvPr/>
        </p:nvSpPr>
        <p:spPr>
          <a:xfrm>
            <a:off x="641628" y="504111"/>
            <a:ext cx="9029343" cy="57292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72D45"/>
              </a:buClr>
              <a:buSzPts val="3600"/>
              <a:buFont typeface="Kanit Light"/>
              <a:buNone/>
            </a:pPr>
            <a:r>
              <a:rPr b="0" i="0" lang="en-US" sz="3600" u="none" cap="none" strike="noStrike">
                <a:solidFill>
                  <a:srgbClr val="272D45"/>
                </a:solidFill>
                <a:latin typeface="Kanit Light"/>
                <a:ea typeface="Kanit Light"/>
                <a:cs typeface="Kanit Light"/>
                <a:sym typeface="Kanit Light"/>
              </a:rPr>
              <a:t>Continuous Monitoring and Model Retraining</a:t>
            </a:r>
            <a:endParaRPr b="0" i="0" sz="3600" u="none" cap="none" strike="noStrike"/>
          </a:p>
        </p:txBody>
      </p:sp>
      <p:sp>
        <p:nvSpPr>
          <p:cNvPr id="370" name="Google Shape;370;p19"/>
          <p:cNvSpPr/>
          <p:nvPr/>
        </p:nvSpPr>
        <p:spPr>
          <a:xfrm>
            <a:off x="2412802" y="2197894"/>
            <a:ext cx="2291715" cy="286464"/>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C3249"/>
              </a:buClr>
              <a:buSzPts val="1800"/>
              <a:buFont typeface="Kanit Light"/>
              <a:buNone/>
            </a:pPr>
            <a:r>
              <a:rPr b="0" i="0" lang="en-US" sz="1800" u="none" cap="none" strike="noStrike">
                <a:solidFill>
                  <a:srgbClr val="2C3249"/>
                </a:solidFill>
                <a:latin typeface="Kanit Light"/>
                <a:ea typeface="Kanit Light"/>
                <a:cs typeface="Kanit Light"/>
                <a:sym typeface="Kanit Light"/>
              </a:rPr>
              <a:t>Deploy</a:t>
            </a:r>
            <a:endParaRPr b="0" i="0" sz="1800" u="none" cap="none" strike="noStrike"/>
          </a:p>
        </p:txBody>
      </p:sp>
      <p:sp>
        <p:nvSpPr>
          <p:cNvPr id="371" name="Google Shape;371;p19"/>
          <p:cNvSpPr/>
          <p:nvPr/>
        </p:nvSpPr>
        <p:spPr>
          <a:xfrm>
            <a:off x="641628" y="2594253"/>
            <a:ext cx="4062889" cy="293370"/>
          </a:xfrm>
          <a:prstGeom prst="rect">
            <a:avLst/>
          </a:prstGeom>
          <a:noFill/>
          <a:ln>
            <a:noFill/>
          </a:ln>
        </p:spPr>
        <p:txBody>
          <a:bodyPr anchorCtr="0" anchor="t" bIns="0" lIns="0" spcFirstLastPara="1" rIns="0" wrap="square" tIns="0">
            <a:noAutofit/>
          </a:bodyPr>
          <a:lstStyle/>
          <a:p>
            <a:pPr indent="0" lvl="0" marL="0" marR="0" rtl="0" algn="r">
              <a:lnSpc>
                <a:spcPct val="164285"/>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Launch model to production environment</a:t>
            </a:r>
            <a:endParaRPr b="0" i="0" sz="1400" u="none" cap="none" strike="noStrike"/>
          </a:p>
        </p:txBody>
      </p:sp>
      <p:pic>
        <p:nvPicPr>
          <p:cNvPr descr="preencoded.png" id="372" name="Google Shape;372;p19"/>
          <p:cNvPicPr preferRelativeResize="0"/>
          <p:nvPr/>
        </p:nvPicPr>
        <p:blipFill rotWithShape="1">
          <a:blip r:embed="rId3">
            <a:alphaModFix/>
          </a:blip>
          <a:srcRect b="0" l="0" r="0" t="0"/>
          <a:stretch/>
        </p:blipFill>
        <p:spPr>
          <a:xfrm>
            <a:off x="4979432" y="1443633"/>
            <a:ext cx="4671417" cy="4671417"/>
          </a:xfrm>
          <a:prstGeom prst="rect">
            <a:avLst/>
          </a:prstGeom>
          <a:noFill/>
          <a:ln>
            <a:noFill/>
          </a:ln>
        </p:spPr>
      </p:pic>
      <p:pic>
        <p:nvPicPr>
          <p:cNvPr descr="preencoded.png" id="373" name="Google Shape;373;p19"/>
          <p:cNvPicPr preferRelativeResize="0"/>
          <p:nvPr/>
        </p:nvPicPr>
        <p:blipFill rotWithShape="1">
          <a:blip r:embed="rId4">
            <a:alphaModFix/>
          </a:blip>
          <a:srcRect b="0" l="0" r="0" t="0"/>
          <a:stretch/>
        </p:blipFill>
        <p:spPr>
          <a:xfrm>
            <a:off x="6237744" y="2304395"/>
            <a:ext cx="274320" cy="274320"/>
          </a:xfrm>
          <a:prstGeom prst="rect">
            <a:avLst/>
          </a:prstGeom>
          <a:noFill/>
          <a:ln>
            <a:noFill/>
          </a:ln>
        </p:spPr>
      </p:pic>
      <p:sp>
        <p:nvSpPr>
          <p:cNvPr id="374" name="Google Shape;374;p19"/>
          <p:cNvSpPr/>
          <p:nvPr/>
        </p:nvSpPr>
        <p:spPr>
          <a:xfrm>
            <a:off x="9925764" y="2197894"/>
            <a:ext cx="2291715"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1800"/>
              <a:buFont typeface="Kanit Light"/>
              <a:buNone/>
            </a:pPr>
            <a:r>
              <a:rPr b="0" i="0" lang="en-US" sz="1800" u="none" cap="none" strike="noStrike">
                <a:solidFill>
                  <a:srgbClr val="2C3249"/>
                </a:solidFill>
                <a:latin typeface="Kanit Light"/>
                <a:ea typeface="Kanit Light"/>
                <a:cs typeface="Kanit Light"/>
                <a:sym typeface="Kanit Light"/>
              </a:rPr>
              <a:t>Monitor</a:t>
            </a:r>
            <a:endParaRPr b="0" i="0" sz="1800" u="none" cap="none" strike="noStrike"/>
          </a:p>
        </p:txBody>
      </p:sp>
      <p:sp>
        <p:nvSpPr>
          <p:cNvPr id="375" name="Google Shape;375;p19"/>
          <p:cNvSpPr/>
          <p:nvPr/>
        </p:nvSpPr>
        <p:spPr>
          <a:xfrm>
            <a:off x="9925764" y="2594253"/>
            <a:ext cx="4063008" cy="29337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Track performance metrics continuously</a:t>
            </a:r>
            <a:endParaRPr b="0" i="0" sz="1400" u="none" cap="none" strike="noStrike"/>
          </a:p>
        </p:txBody>
      </p:sp>
      <p:pic>
        <p:nvPicPr>
          <p:cNvPr descr="preencoded.png" id="376" name="Google Shape;376;p19"/>
          <p:cNvPicPr preferRelativeResize="0"/>
          <p:nvPr/>
        </p:nvPicPr>
        <p:blipFill rotWithShape="1">
          <a:blip r:embed="rId5">
            <a:alphaModFix/>
          </a:blip>
          <a:srcRect b="0" l="0" r="0" t="0"/>
          <a:stretch/>
        </p:blipFill>
        <p:spPr>
          <a:xfrm>
            <a:off x="4979432" y="1443633"/>
            <a:ext cx="4671417" cy="4671417"/>
          </a:xfrm>
          <a:prstGeom prst="rect">
            <a:avLst/>
          </a:prstGeom>
          <a:noFill/>
          <a:ln>
            <a:noFill/>
          </a:ln>
        </p:spPr>
      </p:pic>
      <p:pic>
        <p:nvPicPr>
          <p:cNvPr descr="preencoded.png" id="377" name="Google Shape;377;p19"/>
          <p:cNvPicPr preferRelativeResize="0"/>
          <p:nvPr/>
        </p:nvPicPr>
        <p:blipFill rotWithShape="1">
          <a:blip r:embed="rId4">
            <a:alphaModFix/>
          </a:blip>
          <a:srcRect b="0" l="0" r="0" t="0"/>
          <a:stretch/>
        </p:blipFill>
        <p:spPr>
          <a:xfrm>
            <a:off x="8515529" y="2701945"/>
            <a:ext cx="274320" cy="274320"/>
          </a:xfrm>
          <a:prstGeom prst="rect">
            <a:avLst/>
          </a:prstGeom>
          <a:noFill/>
          <a:ln>
            <a:noFill/>
          </a:ln>
        </p:spPr>
      </p:pic>
      <p:sp>
        <p:nvSpPr>
          <p:cNvPr id="378" name="Google Shape;378;p19"/>
          <p:cNvSpPr/>
          <p:nvPr/>
        </p:nvSpPr>
        <p:spPr>
          <a:xfrm>
            <a:off x="9925764" y="4671060"/>
            <a:ext cx="2291715" cy="28646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3249"/>
              </a:buClr>
              <a:buSzPts val="1800"/>
              <a:buFont typeface="Kanit Light"/>
              <a:buNone/>
            </a:pPr>
            <a:r>
              <a:rPr b="0" i="0" lang="en-US" sz="1800" u="none" cap="none" strike="noStrike">
                <a:solidFill>
                  <a:srgbClr val="2C3249"/>
                </a:solidFill>
                <a:latin typeface="Kanit Light"/>
                <a:ea typeface="Kanit Light"/>
                <a:cs typeface="Kanit Light"/>
                <a:sym typeface="Kanit Light"/>
              </a:rPr>
              <a:t>Detect Drift</a:t>
            </a:r>
            <a:endParaRPr b="0" i="0" sz="1800" u="none" cap="none" strike="noStrike"/>
          </a:p>
        </p:txBody>
      </p:sp>
      <p:sp>
        <p:nvSpPr>
          <p:cNvPr id="379" name="Google Shape;379;p19"/>
          <p:cNvSpPr/>
          <p:nvPr/>
        </p:nvSpPr>
        <p:spPr>
          <a:xfrm>
            <a:off x="9925764" y="5067419"/>
            <a:ext cx="4063008" cy="29337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Identify data or concept drift issues</a:t>
            </a:r>
            <a:endParaRPr b="0" i="0" sz="1400" u="none" cap="none" strike="noStrike"/>
          </a:p>
        </p:txBody>
      </p:sp>
      <p:pic>
        <p:nvPicPr>
          <p:cNvPr descr="preencoded.png" id="380" name="Google Shape;380;p19"/>
          <p:cNvPicPr preferRelativeResize="0"/>
          <p:nvPr/>
        </p:nvPicPr>
        <p:blipFill rotWithShape="1">
          <a:blip r:embed="rId6">
            <a:alphaModFix/>
          </a:blip>
          <a:srcRect b="0" l="0" r="0" t="0"/>
          <a:stretch/>
        </p:blipFill>
        <p:spPr>
          <a:xfrm>
            <a:off x="4979432" y="1443633"/>
            <a:ext cx="4671417" cy="4671417"/>
          </a:xfrm>
          <a:prstGeom prst="rect">
            <a:avLst/>
          </a:prstGeom>
          <a:noFill/>
          <a:ln>
            <a:noFill/>
          </a:ln>
        </p:spPr>
      </p:pic>
      <p:pic>
        <p:nvPicPr>
          <p:cNvPr descr="preencoded.png" id="381" name="Google Shape;381;p19"/>
          <p:cNvPicPr preferRelativeResize="0"/>
          <p:nvPr/>
        </p:nvPicPr>
        <p:blipFill rotWithShape="1">
          <a:blip r:embed="rId4">
            <a:alphaModFix/>
          </a:blip>
          <a:srcRect b="0" l="0" r="0" t="0"/>
          <a:stretch/>
        </p:blipFill>
        <p:spPr>
          <a:xfrm>
            <a:off x="8117979" y="4979730"/>
            <a:ext cx="274320" cy="274320"/>
          </a:xfrm>
          <a:prstGeom prst="rect">
            <a:avLst/>
          </a:prstGeom>
          <a:noFill/>
          <a:ln>
            <a:noFill/>
          </a:ln>
        </p:spPr>
      </p:pic>
      <p:sp>
        <p:nvSpPr>
          <p:cNvPr id="382" name="Google Shape;382;p19"/>
          <p:cNvSpPr/>
          <p:nvPr/>
        </p:nvSpPr>
        <p:spPr>
          <a:xfrm>
            <a:off x="2412802" y="4671060"/>
            <a:ext cx="2291715" cy="286464"/>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2C3249"/>
              </a:buClr>
              <a:buSzPts val="1800"/>
              <a:buFont typeface="Kanit Light"/>
              <a:buNone/>
            </a:pPr>
            <a:r>
              <a:rPr b="0" i="0" lang="en-US" sz="1800" u="none" cap="none" strike="noStrike">
                <a:solidFill>
                  <a:srgbClr val="2C3249"/>
                </a:solidFill>
                <a:latin typeface="Kanit Light"/>
                <a:ea typeface="Kanit Light"/>
                <a:cs typeface="Kanit Light"/>
                <a:sym typeface="Kanit Light"/>
              </a:rPr>
              <a:t>Retrain</a:t>
            </a:r>
            <a:endParaRPr b="0" i="0" sz="1800" u="none" cap="none" strike="noStrike"/>
          </a:p>
        </p:txBody>
      </p:sp>
      <p:sp>
        <p:nvSpPr>
          <p:cNvPr id="383" name="Google Shape;383;p19"/>
          <p:cNvSpPr/>
          <p:nvPr/>
        </p:nvSpPr>
        <p:spPr>
          <a:xfrm>
            <a:off x="641628" y="5067419"/>
            <a:ext cx="4062889" cy="293370"/>
          </a:xfrm>
          <a:prstGeom prst="rect">
            <a:avLst/>
          </a:prstGeom>
          <a:noFill/>
          <a:ln>
            <a:noFill/>
          </a:ln>
        </p:spPr>
        <p:txBody>
          <a:bodyPr anchorCtr="0" anchor="t" bIns="0" lIns="0" spcFirstLastPara="1" rIns="0" wrap="square" tIns="0">
            <a:noAutofit/>
          </a:bodyPr>
          <a:lstStyle/>
          <a:p>
            <a:pPr indent="0" lvl="0" marL="0" marR="0" rtl="0" algn="r">
              <a:lnSpc>
                <a:spcPct val="164285"/>
              </a:lnSpc>
              <a:spcBef>
                <a:spcPts val="0"/>
              </a:spcBef>
              <a:spcAft>
                <a:spcPts val="0"/>
              </a:spcAft>
              <a:buClr>
                <a:srgbClr val="2C3249"/>
              </a:buClr>
              <a:buSzPts val="1400"/>
              <a:buFont typeface="Martel Sans"/>
              <a:buNone/>
            </a:pPr>
            <a:r>
              <a:rPr b="0" i="0" lang="en-US" sz="1400" u="none" cap="none" strike="noStrike">
                <a:solidFill>
                  <a:srgbClr val="2C3249"/>
                </a:solidFill>
                <a:latin typeface="Martel Sans"/>
                <a:ea typeface="Martel Sans"/>
                <a:cs typeface="Martel Sans"/>
                <a:sym typeface="Martel Sans"/>
              </a:rPr>
              <a:t>Update model with fresh data</a:t>
            </a:r>
            <a:endParaRPr b="0" i="0" sz="1400" u="none" cap="none" strike="noStrike"/>
          </a:p>
        </p:txBody>
      </p:sp>
      <p:pic>
        <p:nvPicPr>
          <p:cNvPr descr="preencoded.png" id="384" name="Google Shape;384;p19"/>
          <p:cNvPicPr preferRelativeResize="0"/>
          <p:nvPr/>
        </p:nvPicPr>
        <p:blipFill rotWithShape="1">
          <a:blip r:embed="rId7">
            <a:alphaModFix/>
          </a:blip>
          <a:srcRect b="0" l="0" r="0" t="0"/>
          <a:stretch/>
        </p:blipFill>
        <p:spPr>
          <a:xfrm>
            <a:off x="4979432" y="1443633"/>
            <a:ext cx="4671417" cy="4671417"/>
          </a:xfrm>
          <a:prstGeom prst="rect">
            <a:avLst/>
          </a:prstGeom>
          <a:noFill/>
          <a:ln>
            <a:noFill/>
          </a:ln>
        </p:spPr>
      </p:pic>
      <p:pic>
        <p:nvPicPr>
          <p:cNvPr descr="preencoded.png" id="385" name="Google Shape;385;p19"/>
          <p:cNvPicPr preferRelativeResize="0"/>
          <p:nvPr/>
        </p:nvPicPr>
        <p:blipFill rotWithShape="1">
          <a:blip r:embed="rId4">
            <a:alphaModFix/>
          </a:blip>
          <a:srcRect b="0" l="0" r="0" t="0"/>
          <a:stretch/>
        </p:blipFill>
        <p:spPr>
          <a:xfrm>
            <a:off x="5840194" y="4582180"/>
            <a:ext cx="274320" cy="274320"/>
          </a:xfrm>
          <a:prstGeom prst="rect">
            <a:avLst/>
          </a:prstGeom>
          <a:noFill/>
          <a:ln>
            <a:noFill/>
          </a:ln>
        </p:spPr>
      </p:pic>
      <p:sp>
        <p:nvSpPr>
          <p:cNvPr id="386" name="Google Shape;386;p19"/>
          <p:cNvSpPr/>
          <p:nvPr/>
        </p:nvSpPr>
        <p:spPr>
          <a:xfrm>
            <a:off x="641628" y="6321266"/>
            <a:ext cx="13347144"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2C3249"/>
              </a:buClr>
              <a:buSzPts val="1400"/>
              <a:buFont typeface="Martel Sans"/>
              <a:buNone/>
            </a:pPr>
            <a:r>
              <a:rPr b="1" i="0" lang="en-US" sz="1400" u="none" cap="none" strike="noStrike">
                <a:solidFill>
                  <a:srgbClr val="2C3249"/>
                </a:solidFill>
                <a:latin typeface="Martel Sans"/>
                <a:ea typeface="Martel Sans"/>
                <a:cs typeface="Martel Sans"/>
                <a:sym typeface="Martel Sans"/>
              </a:rPr>
              <a:t>Why It Matters:</a:t>
            </a:r>
            <a:r>
              <a:rPr b="0" i="0" lang="en-US" sz="1400" u="none" cap="none" strike="noStrike">
                <a:solidFill>
                  <a:srgbClr val="2C3249"/>
                </a:solidFill>
                <a:latin typeface="Martel Sans"/>
                <a:ea typeface="Martel Sans"/>
                <a:cs typeface="Martel Sans"/>
                <a:sym typeface="Martel Sans"/>
              </a:rPr>
              <a:t> Models degrade over time due to data drift (changing input distributions) and concept drift (changing relationships). Continuous monitoring ensures sustained performance, while periodic retraining with fresh data keeps models relevant and accurate.</a:t>
            </a:r>
            <a:endParaRPr b="0" i="0" sz="1400" u="none" cap="none" strike="noStrike"/>
          </a:p>
        </p:txBody>
      </p:sp>
      <p:sp>
        <p:nvSpPr>
          <p:cNvPr id="387" name="Google Shape;387;p19"/>
          <p:cNvSpPr/>
          <p:nvPr/>
        </p:nvSpPr>
        <p:spPr>
          <a:xfrm>
            <a:off x="641628" y="7114223"/>
            <a:ext cx="13347144" cy="1072158"/>
          </a:xfrm>
          <a:prstGeom prst="roundRect">
            <a:avLst>
              <a:gd fmla="val 7182" name="adj"/>
            </a:avLst>
          </a:prstGeom>
          <a:solidFill>
            <a:srgbClr val="CFE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88" name="Google Shape;388;p19"/>
          <p:cNvPicPr preferRelativeResize="0"/>
          <p:nvPr/>
        </p:nvPicPr>
        <p:blipFill rotWithShape="1">
          <a:blip r:embed="rId8">
            <a:alphaModFix/>
          </a:blip>
          <a:srcRect b="0" l="0" r="0" t="0"/>
          <a:stretch/>
        </p:blipFill>
        <p:spPr>
          <a:xfrm>
            <a:off x="824865" y="7373303"/>
            <a:ext cx="229076" cy="183237"/>
          </a:xfrm>
          <a:prstGeom prst="rect">
            <a:avLst/>
          </a:prstGeom>
          <a:noFill/>
          <a:ln>
            <a:noFill/>
          </a:ln>
        </p:spPr>
      </p:pic>
      <p:sp>
        <p:nvSpPr>
          <p:cNvPr id="389" name="Google Shape;389;p19"/>
          <p:cNvSpPr/>
          <p:nvPr/>
        </p:nvSpPr>
        <p:spPr>
          <a:xfrm>
            <a:off x="1237178" y="7343180"/>
            <a:ext cx="12568357" cy="586740"/>
          </a:xfrm>
          <a:prstGeom prst="rect">
            <a:avLst/>
          </a:prstGeom>
          <a:noFill/>
          <a:ln>
            <a:noFill/>
          </a:ln>
        </p:spPr>
        <p:txBody>
          <a:bodyPr anchorCtr="0" anchor="t" bIns="0" lIns="0" spcFirstLastPara="1" rIns="0" wrap="square" tIns="0">
            <a:noAutofit/>
          </a:bodyPr>
          <a:lstStyle/>
          <a:p>
            <a:pPr indent="0" lvl="0" marL="0" marR="0" rtl="0" algn="l">
              <a:lnSpc>
                <a:spcPct val="164285"/>
              </a:lnSpc>
              <a:spcBef>
                <a:spcPts val="0"/>
              </a:spcBef>
              <a:spcAft>
                <a:spcPts val="0"/>
              </a:spcAft>
              <a:buClr>
                <a:srgbClr val="000000"/>
              </a:buClr>
              <a:buSzPts val="1400"/>
              <a:buFont typeface="Martel Sans"/>
              <a:buNone/>
            </a:pPr>
            <a:r>
              <a:rPr b="1" i="0" lang="en-US" sz="1400" u="none" cap="none" strike="noStrike">
                <a:solidFill>
                  <a:srgbClr val="000000"/>
                </a:solidFill>
                <a:latin typeface="Martel Sans"/>
                <a:ea typeface="Martel Sans"/>
                <a:cs typeface="Martel Sans"/>
                <a:sym typeface="Martel Sans"/>
              </a:rPr>
              <a:t>Best Practice:</a:t>
            </a:r>
            <a:r>
              <a:rPr b="0" i="0" lang="en-US" sz="1400" u="none" cap="none" strike="noStrike">
                <a:solidFill>
                  <a:srgbClr val="000000"/>
                </a:solidFill>
                <a:latin typeface="Martel Sans"/>
                <a:ea typeface="Martel Sans"/>
                <a:cs typeface="Martel Sans"/>
                <a:sym typeface="Martel Sans"/>
              </a:rPr>
              <a:t> Establish automated monitoring pipelines that track key metrics, detect anomalies, and trigger retraining workflows when performance degradation is detected.</a:t>
            </a:r>
            <a:endParaRPr b="0" i="0" sz="1400" u="none" cap="none" strike="noStrike"/>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pic>
        <p:nvPicPr>
          <p:cNvPr descr="preencoded.png" id="395" name="Google Shape;395;p20"/>
          <p:cNvPicPr preferRelativeResize="0"/>
          <p:nvPr/>
        </p:nvPicPr>
        <p:blipFill rotWithShape="1">
          <a:blip r:embed="rId3">
            <a:alphaModFix/>
          </a:blip>
          <a:srcRect b="0" l="0" r="0" t="0"/>
          <a:stretch/>
        </p:blipFill>
        <p:spPr>
          <a:xfrm>
            <a:off x="0" y="0"/>
            <a:ext cx="5486400" cy="8231624"/>
          </a:xfrm>
          <a:prstGeom prst="rect">
            <a:avLst/>
          </a:prstGeom>
          <a:noFill/>
          <a:ln>
            <a:noFill/>
          </a:ln>
        </p:spPr>
      </p:pic>
      <p:sp>
        <p:nvSpPr>
          <p:cNvPr id="396" name="Google Shape;396;p20"/>
          <p:cNvSpPr/>
          <p:nvPr/>
        </p:nvSpPr>
        <p:spPr>
          <a:xfrm>
            <a:off x="6042184" y="436721"/>
            <a:ext cx="8032433" cy="992505"/>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72D45"/>
              </a:buClr>
              <a:buSzPts val="3100"/>
              <a:buFont typeface="Kanit Light"/>
              <a:buNone/>
            </a:pPr>
            <a:r>
              <a:rPr b="0" i="0" lang="en-US" sz="3100" u="none" cap="none" strike="noStrike">
                <a:solidFill>
                  <a:srgbClr val="272D45"/>
                </a:solidFill>
                <a:latin typeface="Kanit Light"/>
                <a:ea typeface="Kanit Light"/>
                <a:cs typeface="Kanit Light"/>
                <a:sym typeface="Kanit Light"/>
              </a:rPr>
              <a:t>The Path to Reliable, High-Performing ML Models</a:t>
            </a:r>
            <a:endParaRPr b="0" i="0" sz="3100" u="none" cap="none" strike="noStrike"/>
          </a:p>
        </p:txBody>
      </p:sp>
      <p:sp>
        <p:nvSpPr>
          <p:cNvPr id="397" name="Google Shape;397;p20"/>
          <p:cNvSpPr/>
          <p:nvPr/>
        </p:nvSpPr>
        <p:spPr>
          <a:xfrm>
            <a:off x="6042184" y="1667351"/>
            <a:ext cx="158710" cy="198477"/>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Kanit Light"/>
              <a:buNone/>
            </a:pPr>
            <a:r>
              <a:rPr b="0" i="0" lang="en-US" sz="1250" u="none" cap="none" strike="noStrike">
                <a:solidFill>
                  <a:srgbClr val="2C3249"/>
                </a:solidFill>
                <a:latin typeface="Kanit Light"/>
                <a:ea typeface="Kanit Light"/>
                <a:cs typeface="Kanit Light"/>
                <a:sym typeface="Kanit Light"/>
              </a:rPr>
              <a:t>01</a:t>
            </a:r>
            <a:endParaRPr b="0" i="0" sz="1250" u="none" cap="none" strike="noStrike"/>
          </a:p>
        </p:txBody>
      </p:sp>
      <p:sp>
        <p:nvSpPr>
          <p:cNvPr id="398" name="Google Shape;398;p20"/>
          <p:cNvSpPr/>
          <p:nvPr/>
        </p:nvSpPr>
        <p:spPr>
          <a:xfrm>
            <a:off x="6042184" y="1914287"/>
            <a:ext cx="8032433" cy="22860"/>
          </a:xfrm>
          <a:prstGeom prst="rect">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p:nvPr/>
        </p:nvSpPr>
        <p:spPr>
          <a:xfrm>
            <a:off x="6042184" y="2039303"/>
            <a:ext cx="1985129"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3249"/>
              </a:buClr>
              <a:buSzPts val="1550"/>
              <a:buFont typeface="Kanit Light"/>
              <a:buNone/>
            </a:pPr>
            <a:r>
              <a:rPr b="0" i="0" lang="en-US" sz="1550" u="none" cap="none" strike="noStrike">
                <a:solidFill>
                  <a:srgbClr val="2C3249"/>
                </a:solidFill>
                <a:latin typeface="Kanit Light"/>
                <a:ea typeface="Kanit Light"/>
                <a:cs typeface="Kanit Light"/>
                <a:sym typeface="Kanit Light"/>
              </a:rPr>
              <a:t>Rigorous Evaluation</a:t>
            </a:r>
            <a:endParaRPr b="0" i="0" sz="1550" u="none" cap="none" strike="noStrike"/>
          </a:p>
        </p:txBody>
      </p:sp>
      <p:sp>
        <p:nvSpPr>
          <p:cNvPr id="400" name="Google Shape;400;p20"/>
          <p:cNvSpPr/>
          <p:nvPr/>
        </p:nvSpPr>
        <p:spPr>
          <a:xfrm>
            <a:off x="6042184" y="2382560"/>
            <a:ext cx="8032433"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Martel Sans"/>
              <a:buNone/>
            </a:pPr>
            <a:r>
              <a:rPr b="0" i="0" lang="en-US" sz="1250" u="none" cap="none" strike="noStrike">
                <a:solidFill>
                  <a:srgbClr val="2C3249"/>
                </a:solidFill>
                <a:latin typeface="Martel Sans"/>
                <a:ea typeface="Martel Sans"/>
                <a:cs typeface="Martel Sans"/>
                <a:sym typeface="Martel Sans"/>
              </a:rPr>
              <a:t>Use appropriate metrics and validation methods matched to your problem</a:t>
            </a:r>
            <a:endParaRPr b="0" i="0" sz="1250" u="none" cap="none" strike="noStrike"/>
          </a:p>
        </p:txBody>
      </p:sp>
      <p:sp>
        <p:nvSpPr>
          <p:cNvPr id="401" name="Google Shape;401;p20"/>
          <p:cNvSpPr/>
          <p:nvPr/>
        </p:nvSpPr>
        <p:spPr>
          <a:xfrm>
            <a:off x="6042130" y="2914402"/>
            <a:ext cx="944700" cy="198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Kanit Light"/>
              <a:buNone/>
            </a:pPr>
            <a:r>
              <a:rPr b="0" i="0" lang="en-US" sz="1250" u="none" cap="none" strike="noStrike">
                <a:solidFill>
                  <a:srgbClr val="2C3249"/>
                </a:solidFill>
                <a:latin typeface="Kanit Light"/>
                <a:ea typeface="Kanit Light"/>
                <a:cs typeface="Kanit Light"/>
                <a:sym typeface="Kanit Light"/>
              </a:rPr>
              <a:t>02</a:t>
            </a:r>
            <a:endParaRPr b="0" i="0" sz="1250" u="none" cap="none" strike="noStrike"/>
          </a:p>
        </p:txBody>
      </p:sp>
      <p:sp>
        <p:nvSpPr>
          <p:cNvPr id="402" name="Google Shape;402;p20"/>
          <p:cNvSpPr/>
          <p:nvPr/>
        </p:nvSpPr>
        <p:spPr>
          <a:xfrm>
            <a:off x="6042184" y="3161348"/>
            <a:ext cx="8032433" cy="22860"/>
          </a:xfrm>
          <a:prstGeom prst="rect">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p:nvPr/>
        </p:nvSpPr>
        <p:spPr>
          <a:xfrm>
            <a:off x="6042184" y="3286363"/>
            <a:ext cx="2143244"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3249"/>
              </a:buClr>
              <a:buSzPts val="1550"/>
              <a:buFont typeface="Kanit Light"/>
              <a:buNone/>
            </a:pPr>
            <a:r>
              <a:rPr b="0" i="0" lang="en-US" sz="1550" u="none" cap="none" strike="noStrike">
                <a:solidFill>
                  <a:srgbClr val="2C3249"/>
                </a:solidFill>
                <a:latin typeface="Kanit Light"/>
                <a:ea typeface="Kanit Light"/>
                <a:cs typeface="Kanit Light"/>
                <a:sym typeface="Kanit Light"/>
              </a:rPr>
              <a:t>Systematic Optimization</a:t>
            </a:r>
            <a:endParaRPr b="0" i="0" sz="1550" u="none" cap="none" strike="noStrike"/>
          </a:p>
        </p:txBody>
      </p:sp>
      <p:sp>
        <p:nvSpPr>
          <p:cNvPr id="404" name="Google Shape;404;p20"/>
          <p:cNvSpPr/>
          <p:nvPr/>
        </p:nvSpPr>
        <p:spPr>
          <a:xfrm>
            <a:off x="6042184" y="3629620"/>
            <a:ext cx="8032433"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Martel Sans"/>
              <a:buNone/>
            </a:pPr>
            <a:r>
              <a:rPr b="0" i="0" lang="en-US" sz="1250" u="none" cap="none" strike="noStrike">
                <a:solidFill>
                  <a:srgbClr val="2C3249"/>
                </a:solidFill>
                <a:latin typeface="Martel Sans"/>
                <a:ea typeface="Martel Sans"/>
                <a:cs typeface="Martel Sans"/>
                <a:sym typeface="Martel Sans"/>
              </a:rPr>
              <a:t>Apply hyperparameter tuning and architecture selection methodically</a:t>
            </a:r>
            <a:endParaRPr b="0" i="0" sz="1250" u="none" cap="none" strike="noStrike"/>
          </a:p>
        </p:txBody>
      </p:sp>
      <p:sp>
        <p:nvSpPr>
          <p:cNvPr id="405" name="Google Shape;405;p20"/>
          <p:cNvSpPr/>
          <p:nvPr/>
        </p:nvSpPr>
        <p:spPr>
          <a:xfrm>
            <a:off x="6042074" y="4160854"/>
            <a:ext cx="1846500" cy="1980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Kanit Light"/>
              <a:buNone/>
            </a:pPr>
            <a:r>
              <a:rPr b="0" i="0" lang="en-US" sz="1250" u="none" cap="none" strike="noStrike">
                <a:solidFill>
                  <a:srgbClr val="2C3249"/>
                </a:solidFill>
                <a:latin typeface="Kanit Light"/>
                <a:ea typeface="Kanit Light"/>
                <a:cs typeface="Kanit Light"/>
                <a:sym typeface="Kanit Light"/>
              </a:rPr>
              <a:t>03</a:t>
            </a:r>
            <a:endParaRPr b="0" i="0" sz="1250" u="none" cap="none" strike="noStrike"/>
          </a:p>
        </p:txBody>
      </p:sp>
      <p:sp>
        <p:nvSpPr>
          <p:cNvPr id="406" name="Google Shape;406;p20"/>
          <p:cNvSpPr/>
          <p:nvPr/>
        </p:nvSpPr>
        <p:spPr>
          <a:xfrm>
            <a:off x="6042184" y="4408408"/>
            <a:ext cx="8032433" cy="22860"/>
          </a:xfrm>
          <a:prstGeom prst="rect">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0"/>
          <p:cNvSpPr/>
          <p:nvPr/>
        </p:nvSpPr>
        <p:spPr>
          <a:xfrm>
            <a:off x="6042184" y="4533424"/>
            <a:ext cx="1985129"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3249"/>
              </a:buClr>
              <a:buSzPts val="1550"/>
              <a:buFont typeface="Kanit Light"/>
              <a:buNone/>
            </a:pPr>
            <a:r>
              <a:rPr b="0" i="0" lang="en-US" sz="1550" u="none" cap="none" strike="noStrike">
                <a:solidFill>
                  <a:srgbClr val="2C3249"/>
                </a:solidFill>
                <a:latin typeface="Kanit Light"/>
                <a:ea typeface="Kanit Light"/>
                <a:cs typeface="Kanit Light"/>
                <a:sym typeface="Kanit Light"/>
              </a:rPr>
              <a:t>Early Diagnosis</a:t>
            </a:r>
            <a:endParaRPr b="0" i="0" sz="1550" u="none" cap="none" strike="noStrike"/>
          </a:p>
        </p:txBody>
      </p:sp>
      <p:sp>
        <p:nvSpPr>
          <p:cNvPr id="408" name="Google Shape;408;p20"/>
          <p:cNvSpPr/>
          <p:nvPr/>
        </p:nvSpPr>
        <p:spPr>
          <a:xfrm>
            <a:off x="6042184" y="4876681"/>
            <a:ext cx="8032433"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Martel Sans"/>
              <a:buNone/>
            </a:pPr>
            <a:r>
              <a:rPr b="0" i="0" lang="en-US" sz="1250" u="none" cap="none" strike="noStrike">
                <a:solidFill>
                  <a:srgbClr val="2C3249"/>
                </a:solidFill>
                <a:latin typeface="Martel Sans"/>
                <a:ea typeface="Martel Sans"/>
                <a:cs typeface="Martel Sans"/>
                <a:sym typeface="Martel Sans"/>
              </a:rPr>
              <a:t>Identify and address issues like overfitting, bias, and leakage proactively</a:t>
            </a:r>
            <a:endParaRPr b="0" i="0" sz="1250" u="none" cap="none" strike="noStrike"/>
          </a:p>
        </p:txBody>
      </p:sp>
      <p:sp>
        <p:nvSpPr>
          <p:cNvPr id="409" name="Google Shape;409;p20"/>
          <p:cNvSpPr/>
          <p:nvPr/>
        </p:nvSpPr>
        <p:spPr>
          <a:xfrm>
            <a:off x="6042127" y="5408526"/>
            <a:ext cx="1005300" cy="198600"/>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Kanit Light"/>
              <a:buNone/>
            </a:pPr>
            <a:r>
              <a:rPr b="0" i="0" lang="en-US" sz="1250" u="none" cap="none" strike="noStrike">
                <a:solidFill>
                  <a:srgbClr val="2C3249"/>
                </a:solidFill>
                <a:latin typeface="Kanit Light"/>
                <a:ea typeface="Kanit Light"/>
                <a:cs typeface="Kanit Light"/>
                <a:sym typeface="Kanit Light"/>
              </a:rPr>
              <a:t>04</a:t>
            </a:r>
            <a:endParaRPr b="0" i="0" sz="1250" u="none" cap="none" strike="noStrike"/>
          </a:p>
        </p:txBody>
      </p:sp>
      <p:sp>
        <p:nvSpPr>
          <p:cNvPr id="410" name="Google Shape;410;p20"/>
          <p:cNvSpPr/>
          <p:nvPr/>
        </p:nvSpPr>
        <p:spPr>
          <a:xfrm>
            <a:off x="6042184" y="5655469"/>
            <a:ext cx="8032433" cy="22860"/>
          </a:xfrm>
          <a:prstGeom prst="rect">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0"/>
          <p:cNvSpPr/>
          <p:nvPr/>
        </p:nvSpPr>
        <p:spPr>
          <a:xfrm>
            <a:off x="6042184" y="5780484"/>
            <a:ext cx="2213729"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2C3249"/>
              </a:buClr>
              <a:buSzPts val="1550"/>
              <a:buFont typeface="Kanit Light"/>
              <a:buNone/>
            </a:pPr>
            <a:r>
              <a:rPr b="0" i="0" lang="en-US" sz="1550" u="none" cap="none" strike="noStrike">
                <a:solidFill>
                  <a:srgbClr val="2C3249"/>
                </a:solidFill>
                <a:latin typeface="Kanit Light"/>
                <a:ea typeface="Kanit Light"/>
                <a:cs typeface="Kanit Light"/>
                <a:sym typeface="Kanit Light"/>
              </a:rPr>
              <a:t>Continuous Improvement</a:t>
            </a:r>
            <a:endParaRPr b="0" i="0" sz="1550" u="none" cap="none" strike="noStrike"/>
          </a:p>
        </p:txBody>
      </p:sp>
      <p:sp>
        <p:nvSpPr>
          <p:cNvPr id="412" name="Google Shape;412;p20"/>
          <p:cNvSpPr/>
          <p:nvPr/>
        </p:nvSpPr>
        <p:spPr>
          <a:xfrm>
            <a:off x="6042184" y="6123742"/>
            <a:ext cx="8032433" cy="25407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Martel Sans"/>
              <a:buNone/>
            </a:pPr>
            <a:r>
              <a:rPr b="0" i="0" lang="en-US" sz="1250" u="none" cap="none" strike="noStrike">
                <a:solidFill>
                  <a:srgbClr val="2C3249"/>
                </a:solidFill>
                <a:latin typeface="Martel Sans"/>
                <a:ea typeface="Martel Sans"/>
                <a:cs typeface="Martel Sans"/>
                <a:sym typeface="Martel Sans"/>
              </a:rPr>
              <a:t>Monitor performance and retrain regularly to maintain model relevance</a:t>
            </a:r>
            <a:endParaRPr b="0" i="0" sz="1250" u="none" cap="none" strike="noStrike"/>
          </a:p>
        </p:txBody>
      </p:sp>
      <p:sp>
        <p:nvSpPr>
          <p:cNvPr id="413" name="Google Shape;413;p20"/>
          <p:cNvSpPr/>
          <p:nvPr/>
        </p:nvSpPr>
        <p:spPr>
          <a:xfrm>
            <a:off x="6280309" y="6854071"/>
            <a:ext cx="7794308"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3249"/>
              </a:buClr>
              <a:buSzPts val="1250"/>
              <a:buFont typeface="Martel Sans"/>
              <a:buNone/>
            </a:pPr>
            <a:r>
              <a:rPr b="1" i="0" lang="en-US" sz="1250" u="none" cap="none" strike="noStrike">
                <a:solidFill>
                  <a:srgbClr val="2C3249"/>
                </a:solidFill>
                <a:latin typeface="Martel Sans"/>
                <a:ea typeface="Martel Sans"/>
                <a:cs typeface="Martel Sans"/>
                <a:sym typeface="Martel Sans"/>
              </a:rPr>
              <a:t>Key Takeaway:</a:t>
            </a:r>
            <a:r>
              <a:rPr b="0" i="0" lang="en-US" sz="1250" u="none" cap="none" strike="noStrike">
                <a:solidFill>
                  <a:srgbClr val="2C3249"/>
                </a:solidFill>
                <a:latin typeface="Martel Sans"/>
                <a:ea typeface="Martel Sans"/>
                <a:cs typeface="Martel Sans"/>
                <a:sym typeface="Martel Sans"/>
              </a:rPr>
              <a:t> Rigorous evaluation and systematic optimization are non-negotiable foundations for machine learning success. Continuous improvement through monitoring and retraining ensures sustained value delivery.</a:t>
            </a:r>
            <a:endParaRPr b="0" i="0" sz="1250" u="none" cap="none" strike="noStrike"/>
          </a:p>
        </p:txBody>
      </p:sp>
      <p:sp>
        <p:nvSpPr>
          <p:cNvPr id="414" name="Google Shape;414;p20"/>
          <p:cNvSpPr/>
          <p:nvPr/>
        </p:nvSpPr>
        <p:spPr>
          <a:xfrm>
            <a:off x="6042184" y="6675477"/>
            <a:ext cx="22860" cy="1119426"/>
          </a:xfrm>
          <a:prstGeom prst="rect">
            <a:avLst/>
          </a:prstGeom>
          <a:solidFill>
            <a:srgbClr val="4370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2025-12-14T16:45:26Z</dcterms:created>
</cp:coreProperties>
</file>