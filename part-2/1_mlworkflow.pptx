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 id="269" r:id="rId14"/>
    <p:sldId id="270" r:id="rId15"/>
    <p:sldId id="271" r:id="rId16"/>
    <p:sldId id="272" r:id="rId17"/>
    <p:sldId id="276" r:id="rId18"/>
    <p:sldId id="273" r:id="rId19"/>
    <p:sldId id="275" r:id="rId20"/>
  </p:sldIdLst>
  <p:sldSz cx="14630400" cy="8229600"/>
  <p:notesSz cx="8229600" cy="14630400"/>
  <p:embeddedFontLst>
    <p:embeddedFont>
      <p:font typeface="Kanit Light" panose="020B0604020202020204" charset="-34"/>
      <p:regular r:id="rId22"/>
    </p:embeddedFont>
    <p:embeddedFont>
      <p:font typeface="Martel Sans" panose="020B0604020202020204" charset="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4293" autoAdjust="0"/>
  </p:normalViewPr>
  <p:slideViewPr>
    <p:cSldViewPr snapToGrid="0" snapToObjects="1">
      <p:cViewPr varScale="1">
        <p:scale>
          <a:sx n="79" d="100"/>
          <a:sy n="79" d="100"/>
        </p:scale>
        <p:origin x="119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413427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Scenario 1: Email Spam Classifier</a:t>
            </a:r>
          </a:p>
          <a:p>
            <a:r>
              <a:rPr lang="en-US" b="1" dirty="0"/>
              <a:t>Precision matters more</a:t>
            </a:r>
            <a:r>
              <a:rPr lang="en-US" dirty="0"/>
              <a:t>: Minimizing false positives is critical to avoid classifying important emails as spam.</a:t>
            </a:r>
          </a:p>
          <a:p>
            <a:r>
              <a:rPr lang="en-US" b="1" dirty="0"/>
              <a:t>Scenario 2: Cancer Detection</a:t>
            </a:r>
          </a:p>
          <a:p>
            <a:r>
              <a:rPr lang="en-US" b="1" dirty="0"/>
              <a:t>Recall matters more</a:t>
            </a:r>
            <a:r>
              <a:rPr lang="en-US" dirty="0"/>
              <a:t>: Minimizing false negatives ensures that no cases of cancer go undetected.</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14.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svg"/><Relationship Id="rId2" Type="http://schemas.openxmlformats.org/officeDocument/2006/relationships/notesSlide" Target="../notesSlides/notesSlide16.xml"/><Relationship Id="rId1" Type="http://schemas.openxmlformats.org/officeDocument/2006/relationships/slideLayout" Target="../slideLayouts/slideLayout18.xml"/><Relationship Id="rId6" Type="http://schemas.openxmlformats.org/officeDocument/2006/relationships/image" Target="../media/image32.png"/><Relationship Id="rId5" Type="http://schemas.openxmlformats.org/officeDocument/2006/relationships/image" Target="../media/image31.svg"/><Relationship Id="rId4" Type="http://schemas.openxmlformats.org/officeDocument/2006/relationships/image" Target="../media/image30.png"/><Relationship Id="rId9" Type="http://schemas.openxmlformats.org/officeDocument/2006/relationships/image" Target="../media/image35.svg"/></Relationships>
</file>

<file path=ppt/slides/_rels/slide17.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0.xml"/></Relationships>
</file>

<file path=ppt/slides/_rels/slide1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7.xml"/><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notesSlide" Target="../notesSlides/notesSlide18.xml"/><Relationship Id="rId1" Type="http://schemas.openxmlformats.org/officeDocument/2006/relationships/slideLayout" Target="../slideLayouts/slideLayout21.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2518648"/>
            <a:ext cx="7556421" cy="2126337"/>
          </a:xfrm>
          <a:prstGeom prst="rect">
            <a:avLst/>
          </a:prstGeom>
          <a:noFill/>
          <a:ln/>
        </p:spPr>
        <p:txBody>
          <a:bodyPr wrap="square" lIns="0" tIns="0" rIns="0" bIns="0" rtlCol="0" anchor="t"/>
          <a:lstStyle/>
          <a:p>
            <a:pPr marL="0" indent="0" algn="l">
              <a:lnSpc>
                <a:spcPts val="5550"/>
              </a:lnSpc>
              <a:buNone/>
            </a:pPr>
            <a:r>
              <a:rPr lang="en-US" sz="4450" dirty="0">
                <a:solidFill>
                  <a:srgbClr val="272D45"/>
                </a:solidFill>
                <a:latin typeface="Kanit Light" pitchFamily="34" charset="0"/>
                <a:ea typeface="Kanit Light" pitchFamily="34" charset="-122"/>
                <a:cs typeface="Kanit Light" pitchFamily="34" charset="-120"/>
              </a:rPr>
              <a:t>Machine Learning Workflow Overview: From Data to Deployment</a:t>
            </a:r>
            <a:endParaRPr lang="en-US" sz="4450" dirty="0"/>
          </a:p>
        </p:txBody>
      </p:sp>
      <p:sp>
        <p:nvSpPr>
          <p:cNvPr id="4" name="Text 1"/>
          <p:cNvSpPr/>
          <p:nvPr/>
        </p:nvSpPr>
        <p:spPr>
          <a:xfrm>
            <a:off x="6280190" y="4985147"/>
            <a:ext cx="7556421" cy="725805"/>
          </a:xfrm>
          <a:prstGeom prst="rect">
            <a:avLst/>
          </a:prstGeom>
          <a:noFill/>
          <a:ln/>
        </p:spPr>
        <p:txBody>
          <a:bodyPr wrap="square" lIns="0" tIns="0" rIns="0" bIns="0" rtlCol="0" anchor="t"/>
          <a:lstStyle/>
          <a:p>
            <a:pPr marL="0" indent="0" algn="l">
              <a:lnSpc>
                <a:spcPts val="2850"/>
              </a:lnSpc>
              <a:buNone/>
            </a:pPr>
            <a:r>
              <a:rPr lang="en-US" sz="1750" dirty="0">
                <a:solidFill>
                  <a:srgbClr val="2C3249"/>
                </a:solidFill>
                <a:latin typeface="Martel Sans" pitchFamily="34" charset="0"/>
                <a:ea typeface="Martel Sans" pitchFamily="34" charset="-122"/>
                <a:cs typeface="Martel Sans" pitchFamily="34" charset="-120"/>
              </a:rPr>
              <a:t>A comprehensive guide to building, deploying, and maintaining production-grade machine learning systems</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578179"/>
          </a:xfrm>
          <a:prstGeom prst="rect">
            <a:avLst/>
          </a:prstGeom>
        </p:spPr>
      </p:pic>
      <p:sp>
        <p:nvSpPr>
          <p:cNvPr id="3" name="Text 0"/>
          <p:cNvSpPr/>
          <p:nvPr/>
        </p:nvSpPr>
        <p:spPr>
          <a:xfrm>
            <a:off x="721876" y="3417808"/>
            <a:ext cx="12336423" cy="644485"/>
          </a:xfrm>
          <a:prstGeom prst="rect">
            <a:avLst/>
          </a:prstGeom>
          <a:noFill/>
          <a:ln/>
        </p:spPr>
        <p:txBody>
          <a:bodyPr wrap="none" lIns="0" tIns="0" rIns="0" bIns="0" rtlCol="0" anchor="t"/>
          <a:lstStyle/>
          <a:p>
            <a:pPr marL="0" indent="0" algn="l">
              <a:lnSpc>
                <a:spcPts val="5050"/>
              </a:lnSpc>
              <a:buNone/>
            </a:pPr>
            <a:r>
              <a:rPr lang="en-US" sz="4050" dirty="0">
                <a:solidFill>
                  <a:srgbClr val="272D45"/>
                </a:solidFill>
                <a:latin typeface="Kanit Light" pitchFamily="34" charset="0"/>
                <a:ea typeface="Kanit Light" pitchFamily="34" charset="-122"/>
                <a:cs typeface="Kanit Light" pitchFamily="34" charset="-120"/>
              </a:rPr>
              <a:t>Chapter 1: Setting the Stage — Why a Workflow Matters</a:t>
            </a:r>
            <a:endParaRPr lang="en-US" sz="4050" dirty="0"/>
          </a:p>
        </p:txBody>
      </p:sp>
      <p:sp>
        <p:nvSpPr>
          <p:cNvPr id="4" name="Shape 1"/>
          <p:cNvSpPr/>
          <p:nvPr/>
        </p:nvSpPr>
        <p:spPr>
          <a:xfrm>
            <a:off x="721876" y="4371618"/>
            <a:ext cx="4258032" cy="3018234"/>
          </a:xfrm>
          <a:prstGeom prst="roundRect">
            <a:avLst>
              <a:gd name="adj" fmla="val 2870"/>
            </a:avLst>
          </a:prstGeom>
          <a:solidFill>
            <a:srgbClr val="DFECE9"/>
          </a:solidFill>
          <a:ln w="7620">
            <a:solidFill>
              <a:srgbClr val="C5D2CF"/>
            </a:solidFill>
            <a:prstDash val="solid"/>
          </a:ln>
        </p:spPr>
        <p:txBody>
          <a:bodyPr/>
          <a:lstStyle/>
          <a:p>
            <a:endParaRPr lang="en-US"/>
          </a:p>
        </p:txBody>
      </p:sp>
      <p:sp>
        <p:nvSpPr>
          <p:cNvPr id="5" name="Shape 2"/>
          <p:cNvSpPr/>
          <p:nvPr/>
        </p:nvSpPr>
        <p:spPr>
          <a:xfrm>
            <a:off x="935712" y="4585454"/>
            <a:ext cx="618768" cy="618768"/>
          </a:xfrm>
          <a:prstGeom prst="roundRect">
            <a:avLst>
              <a:gd name="adj" fmla="val 14776274"/>
            </a:avLst>
          </a:prstGeom>
          <a:solidFill>
            <a:srgbClr val="437066"/>
          </a:solidFill>
          <a:ln/>
        </p:spPr>
        <p:txBody>
          <a:bodyPr/>
          <a:lstStyle/>
          <a:p>
            <a:endParaRPr lang="en-US"/>
          </a:p>
        </p:txBody>
      </p:sp>
      <p:pic>
        <p:nvPicPr>
          <p:cNvPr id="6"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05853" y="4755594"/>
            <a:ext cx="278368" cy="278368"/>
          </a:xfrm>
          <a:prstGeom prst="rect">
            <a:avLst/>
          </a:prstGeom>
        </p:spPr>
      </p:pic>
      <p:sp>
        <p:nvSpPr>
          <p:cNvPr id="7" name="Text 3"/>
          <p:cNvSpPr/>
          <p:nvPr/>
        </p:nvSpPr>
        <p:spPr>
          <a:xfrm>
            <a:off x="935712" y="5410438"/>
            <a:ext cx="2578179" cy="322183"/>
          </a:xfrm>
          <a:prstGeom prst="rect">
            <a:avLst/>
          </a:prstGeom>
          <a:noFill/>
          <a:ln/>
        </p:spPr>
        <p:txBody>
          <a:bodyPr wrap="none" lIns="0" tIns="0" rIns="0" bIns="0" rtlCol="0" anchor="t"/>
          <a:lstStyle/>
          <a:p>
            <a:pPr marL="0" indent="0" algn="l">
              <a:lnSpc>
                <a:spcPts val="2500"/>
              </a:lnSpc>
              <a:buNone/>
            </a:pPr>
            <a:r>
              <a:rPr lang="en-US" sz="2000" dirty="0">
                <a:solidFill>
                  <a:srgbClr val="2C3249"/>
                </a:solidFill>
                <a:latin typeface="Kanit Light" pitchFamily="34" charset="0"/>
                <a:ea typeface="Kanit Light" pitchFamily="34" charset="-122"/>
                <a:cs typeface="Kanit Light" pitchFamily="34" charset="-120"/>
              </a:rPr>
              <a:t>Clarity and Focus</a:t>
            </a:r>
            <a:endParaRPr lang="en-US" sz="2000" dirty="0"/>
          </a:p>
        </p:txBody>
      </p:sp>
      <p:sp>
        <p:nvSpPr>
          <p:cNvPr id="8" name="Text 4"/>
          <p:cNvSpPr/>
          <p:nvPr/>
        </p:nvSpPr>
        <p:spPr>
          <a:xfrm>
            <a:off x="935712" y="5856327"/>
            <a:ext cx="3830360" cy="1319689"/>
          </a:xfrm>
          <a:prstGeom prst="rect">
            <a:avLst/>
          </a:prstGeom>
          <a:noFill/>
          <a:ln/>
        </p:spPr>
        <p:txBody>
          <a:bodyPr wrap="square" lIns="0" tIns="0" rIns="0" bIns="0" rtlCol="0" anchor="t"/>
          <a:lstStyle/>
          <a:p>
            <a:pPr marL="0" indent="0" algn="l">
              <a:lnSpc>
                <a:spcPts val="2550"/>
              </a:lnSpc>
              <a:buNone/>
            </a:pPr>
            <a:r>
              <a:rPr lang="en-US" sz="1600" dirty="0">
                <a:solidFill>
                  <a:srgbClr val="2C3249"/>
                </a:solidFill>
                <a:latin typeface="Martel Sans" pitchFamily="34" charset="0"/>
                <a:ea typeface="Martel Sans" pitchFamily="34" charset="-122"/>
                <a:cs typeface="Martel Sans" pitchFamily="34" charset="-120"/>
              </a:rPr>
              <a:t>Machine learning workflows provide structure that keeps teams aligned on objectives, preventing scope creep and wasted effort.</a:t>
            </a:r>
            <a:endParaRPr lang="en-US" sz="1600" dirty="0"/>
          </a:p>
        </p:txBody>
      </p:sp>
      <p:sp>
        <p:nvSpPr>
          <p:cNvPr id="9" name="Shape 5"/>
          <p:cNvSpPr/>
          <p:nvPr/>
        </p:nvSpPr>
        <p:spPr>
          <a:xfrm>
            <a:off x="5186124" y="4371618"/>
            <a:ext cx="4258032" cy="3018234"/>
          </a:xfrm>
          <a:prstGeom prst="roundRect">
            <a:avLst>
              <a:gd name="adj" fmla="val 2870"/>
            </a:avLst>
          </a:prstGeom>
          <a:solidFill>
            <a:srgbClr val="DFECE9"/>
          </a:solidFill>
          <a:ln w="7620">
            <a:solidFill>
              <a:srgbClr val="C5D2CF"/>
            </a:solidFill>
            <a:prstDash val="solid"/>
          </a:ln>
        </p:spPr>
        <p:txBody>
          <a:bodyPr/>
          <a:lstStyle/>
          <a:p>
            <a:endParaRPr lang="en-US"/>
          </a:p>
        </p:txBody>
      </p:sp>
      <p:sp>
        <p:nvSpPr>
          <p:cNvPr id="10" name="Shape 6"/>
          <p:cNvSpPr/>
          <p:nvPr/>
        </p:nvSpPr>
        <p:spPr>
          <a:xfrm>
            <a:off x="5399961" y="4585454"/>
            <a:ext cx="618768" cy="618768"/>
          </a:xfrm>
          <a:prstGeom prst="roundRect">
            <a:avLst>
              <a:gd name="adj" fmla="val 14776274"/>
            </a:avLst>
          </a:prstGeom>
          <a:solidFill>
            <a:srgbClr val="437066"/>
          </a:solidFill>
          <a:ln/>
        </p:spPr>
        <p:txBody>
          <a:bodyPr/>
          <a:lstStyle/>
          <a:p>
            <a:endParaRPr lang="en-US"/>
          </a:p>
        </p:txBody>
      </p:sp>
      <p:pic>
        <p:nvPicPr>
          <p:cNvPr id="11"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570101" y="4755594"/>
            <a:ext cx="278368" cy="278368"/>
          </a:xfrm>
          <a:prstGeom prst="rect">
            <a:avLst/>
          </a:prstGeom>
        </p:spPr>
      </p:pic>
      <p:sp>
        <p:nvSpPr>
          <p:cNvPr id="12" name="Text 7"/>
          <p:cNvSpPr/>
          <p:nvPr/>
        </p:nvSpPr>
        <p:spPr>
          <a:xfrm>
            <a:off x="5399961" y="5410438"/>
            <a:ext cx="2578179" cy="322183"/>
          </a:xfrm>
          <a:prstGeom prst="rect">
            <a:avLst/>
          </a:prstGeom>
          <a:noFill/>
          <a:ln/>
        </p:spPr>
        <p:txBody>
          <a:bodyPr wrap="none" lIns="0" tIns="0" rIns="0" bIns="0" rtlCol="0" anchor="t"/>
          <a:lstStyle/>
          <a:p>
            <a:pPr marL="0" indent="0" algn="l">
              <a:lnSpc>
                <a:spcPts val="2500"/>
              </a:lnSpc>
              <a:buNone/>
            </a:pPr>
            <a:r>
              <a:rPr lang="en-US" sz="2000" dirty="0">
                <a:solidFill>
                  <a:srgbClr val="2C3249"/>
                </a:solidFill>
                <a:latin typeface="Kanit Light" pitchFamily="34" charset="0"/>
                <a:ea typeface="Kanit Light" pitchFamily="34" charset="-122"/>
                <a:cs typeface="Kanit Light" pitchFamily="34" charset="-120"/>
              </a:rPr>
              <a:t>Repeatability</a:t>
            </a:r>
            <a:endParaRPr lang="en-US" sz="2000" dirty="0"/>
          </a:p>
        </p:txBody>
      </p:sp>
      <p:sp>
        <p:nvSpPr>
          <p:cNvPr id="13" name="Text 8"/>
          <p:cNvSpPr/>
          <p:nvPr/>
        </p:nvSpPr>
        <p:spPr>
          <a:xfrm>
            <a:off x="5399961" y="5856327"/>
            <a:ext cx="3830360" cy="1319689"/>
          </a:xfrm>
          <a:prstGeom prst="rect">
            <a:avLst/>
          </a:prstGeom>
          <a:noFill/>
          <a:ln/>
        </p:spPr>
        <p:txBody>
          <a:bodyPr wrap="square" lIns="0" tIns="0" rIns="0" bIns="0" rtlCol="0" anchor="t"/>
          <a:lstStyle/>
          <a:p>
            <a:pPr marL="0" indent="0" algn="l">
              <a:lnSpc>
                <a:spcPts val="2550"/>
              </a:lnSpc>
              <a:buNone/>
            </a:pPr>
            <a:r>
              <a:rPr lang="en-US" sz="1600" dirty="0">
                <a:solidFill>
                  <a:srgbClr val="2C3249"/>
                </a:solidFill>
                <a:latin typeface="Martel Sans" pitchFamily="34" charset="0"/>
                <a:ea typeface="Martel Sans" pitchFamily="34" charset="-122"/>
                <a:cs typeface="Martel Sans" pitchFamily="34" charset="-120"/>
              </a:rPr>
              <a:t>Standardized processes enable consistent results across projects and make it easier to iterate and improve over time.</a:t>
            </a:r>
            <a:endParaRPr lang="en-US" sz="1600" dirty="0"/>
          </a:p>
        </p:txBody>
      </p:sp>
      <p:sp>
        <p:nvSpPr>
          <p:cNvPr id="14" name="Shape 9"/>
          <p:cNvSpPr/>
          <p:nvPr/>
        </p:nvSpPr>
        <p:spPr>
          <a:xfrm>
            <a:off x="9650373" y="4371618"/>
            <a:ext cx="4258032" cy="3018234"/>
          </a:xfrm>
          <a:prstGeom prst="roundRect">
            <a:avLst>
              <a:gd name="adj" fmla="val 2870"/>
            </a:avLst>
          </a:prstGeom>
          <a:solidFill>
            <a:srgbClr val="DFECE9"/>
          </a:solidFill>
          <a:ln w="7620">
            <a:solidFill>
              <a:srgbClr val="C5D2CF"/>
            </a:solidFill>
            <a:prstDash val="solid"/>
          </a:ln>
        </p:spPr>
        <p:txBody>
          <a:bodyPr/>
          <a:lstStyle/>
          <a:p>
            <a:endParaRPr lang="en-US"/>
          </a:p>
        </p:txBody>
      </p:sp>
      <p:sp>
        <p:nvSpPr>
          <p:cNvPr id="15" name="Shape 10"/>
          <p:cNvSpPr/>
          <p:nvPr/>
        </p:nvSpPr>
        <p:spPr>
          <a:xfrm>
            <a:off x="9864209" y="4585454"/>
            <a:ext cx="618768" cy="618768"/>
          </a:xfrm>
          <a:prstGeom prst="roundRect">
            <a:avLst>
              <a:gd name="adj" fmla="val 14776274"/>
            </a:avLst>
          </a:prstGeom>
          <a:solidFill>
            <a:srgbClr val="437066"/>
          </a:solidFill>
          <a:ln/>
        </p:spPr>
        <p:txBody>
          <a:bodyPr/>
          <a:lstStyle/>
          <a:p>
            <a:endParaRPr lang="en-US"/>
          </a:p>
        </p:txBody>
      </p:sp>
      <p:pic>
        <p:nvPicPr>
          <p:cNvPr id="16"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034349" y="4755594"/>
            <a:ext cx="278368" cy="278368"/>
          </a:xfrm>
          <a:prstGeom prst="rect">
            <a:avLst/>
          </a:prstGeom>
        </p:spPr>
      </p:pic>
      <p:sp>
        <p:nvSpPr>
          <p:cNvPr id="17" name="Text 11"/>
          <p:cNvSpPr/>
          <p:nvPr/>
        </p:nvSpPr>
        <p:spPr>
          <a:xfrm>
            <a:off x="9864209" y="5410438"/>
            <a:ext cx="2578179" cy="322183"/>
          </a:xfrm>
          <a:prstGeom prst="rect">
            <a:avLst/>
          </a:prstGeom>
          <a:noFill/>
          <a:ln/>
        </p:spPr>
        <p:txBody>
          <a:bodyPr wrap="none" lIns="0" tIns="0" rIns="0" bIns="0" rtlCol="0" anchor="t"/>
          <a:lstStyle/>
          <a:p>
            <a:pPr marL="0" indent="0" algn="l">
              <a:lnSpc>
                <a:spcPts val="2500"/>
              </a:lnSpc>
              <a:buNone/>
            </a:pPr>
            <a:r>
              <a:rPr lang="en-US" sz="2000" dirty="0">
                <a:solidFill>
                  <a:srgbClr val="2C3249"/>
                </a:solidFill>
                <a:latin typeface="Kanit Light" pitchFamily="34" charset="0"/>
                <a:ea typeface="Kanit Light" pitchFamily="34" charset="-122"/>
                <a:cs typeface="Kanit Light" pitchFamily="34" charset="-120"/>
              </a:rPr>
              <a:t>Risk Mitigation</a:t>
            </a:r>
            <a:endParaRPr lang="en-US" sz="2000" dirty="0"/>
          </a:p>
        </p:txBody>
      </p:sp>
      <p:sp>
        <p:nvSpPr>
          <p:cNvPr id="18" name="Text 12"/>
          <p:cNvSpPr/>
          <p:nvPr/>
        </p:nvSpPr>
        <p:spPr>
          <a:xfrm>
            <a:off x="9864209" y="5856327"/>
            <a:ext cx="3830360" cy="1319689"/>
          </a:xfrm>
          <a:prstGeom prst="rect">
            <a:avLst/>
          </a:prstGeom>
          <a:noFill/>
          <a:ln/>
        </p:spPr>
        <p:txBody>
          <a:bodyPr wrap="square" lIns="0" tIns="0" rIns="0" bIns="0" rtlCol="0" anchor="t"/>
          <a:lstStyle/>
          <a:p>
            <a:pPr marL="0" indent="0" algn="l">
              <a:lnSpc>
                <a:spcPts val="2550"/>
              </a:lnSpc>
              <a:buNone/>
            </a:pPr>
            <a:r>
              <a:rPr lang="en-US" sz="1600" dirty="0">
                <a:solidFill>
                  <a:srgbClr val="2C3249"/>
                </a:solidFill>
                <a:latin typeface="Martel Sans" pitchFamily="34" charset="0"/>
                <a:ea typeface="Martel Sans" pitchFamily="34" charset="-122"/>
                <a:cs typeface="Martel Sans" pitchFamily="34" charset="-120"/>
              </a:rPr>
              <a:t>Without a workflow, projects risk inefficiency, costly errors, and poor outcomes that fail to deliver business value.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87241" y="620792"/>
            <a:ext cx="9018151" cy="702826"/>
          </a:xfrm>
          <a:prstGeom prst="rect">
            <a:avLst/>
          </a:prstGeom>
          <a:noFill/>
          <a:ln/>
        </p:spPr>
        <p:txBody>
          <a:bodyPr wrap="none" lIns="0" tIns="0" rIns="0" bIns="0" rtlCol="0" anchor="t"/>
          <a:lstStyle/>
          <a:p>
            <a:pPr marL="0" indent="0" algn="l">
              <a:lnSpc>
                <a:spcPts val="5500"/>
              </a:lnSpc>
              <a:buNone/>
            </a:pPr>
            <a:r>
              <a:rPr lang="en-US" sz="4400" dirty="0">
                <a:solidFill>
                  <a:srgbClr val="272D45"/>
                </a:solidFill>
                <a:latin typeface="Kanit Light" pitchFamily="34" charset="0"/>
                <a:ea typeface="Kanit Light" pitchFamily="34" charset="-122"/>
                <a:cs typeface="Kanit Light" pitchFamily="34" charset="-120"/>
              </a:rPr>
              <a:t>Defining the Problem and Objectives</a:t>
            </a:r>
            <a:endParaRPr lang="en-US" sz="4400" dirty="0"/>
          </a:p>
        </p:txBody>
      </p:sp>
      <p:sp>
        <p:nvSpPr>
          <p:cNvPr id="3" name="Text 1"/>
          <p:cNvSpPr/>
          <p:nvPr/>
        </p:nvSpPr>
        <p:spPr>
          <a:xfrm>
            <a:off x="787241" y="1885950"/>
            <a:ext cx="3374231" cy="421719"/>
          </a:xfrm>
          <a:prstGeom prst="rect">
            <a:avLst/>
          </a:prstGeom>
          <a:noFill/>
          <a:ln/>
        </p:spPr>
        <p:txBody>
          <a:bodyPr wrap="none" lIns="0" tIns="0" rIns="0" bIns="0" rtlCol="0" anchor="t"/>
          <a:lstStyle/>
          <a:p>
            <a:pPr marL="0" indent="0" algn="l">
              <a:lnSpc>
                <a:spcPts val="3300"/>
              </a:lnSpc>
              <a:buNone/>
            </a:pPr>
            <a:r>
              <a:rPr lang="en-US" sz="2650" dirty="0">
                <a:solidFill>
                  <a:srgbClr val="272D45"/>
                </a:solidFill>
                <a:latin typeface="Kanit Light" pitchFamily="34" charset="0"/>
                <a:ea typeface="Kanit Light" pitchFamily="34" charset="-122"/>
                <a:cs typeface="Kanit Light" pitchFamily="34" charset="-120"/>
              </a:rPr>
              <a:t>Start with Clarity</a:t>
            </a:r>
            <a:endParaRPr lang="en-US" sz="2650" dirty="0"/>
          </a:p>
        </p:txBody>
      </p:sp>
      <p:sp>
        <p:nvSpPr>
          <p:cNvPr id="4" name="Text 2"/>
          <p:cNvSpPr/>
          <p:nvPr/>
        </p:nvSpPr>
        <p:spPr>
          <a:xfrm>
            <a:off x="787241" y="2532578"/>
            <a:ext cx="4892993" cy="1079421"/>
          </a:xfrm>
          <a:prstGeom prst="rect">
            <a:avLst/>
          </a:prstGeom>
          <a:noFill/>
          <a:ln/>
        </p:spPr>
        <p:txBody>
          <a:bodyPr wrap="square" lIns="0" tIns="0" rIns="0" bIns="0" rtlCol="0" anchor="t"/>
          <a:lstStyle/>
          <a:p>
            <a:pPr marL="0" indent="0" algn="l">
              <a:lnSpc>
                <a:spcPts val="2800"/>
              </a:lnSpc>
              <a:buNone/>
            </a:pPr>
            <a:r>
              <a:rPr lang="en-US" sz="1750" dirty="0">
                <a:solidFill>
                  <a:srgbClr val="2C3249"/>
                </a:solidFill>
                <a:latin typeface="Martel Sans" pitchFamily="34" charset="0"/>
                <a:ea typeface="Martel Sans" pitchFamily="34" charset="-122"/>
                <a:cs typeface="Martel Sans" pitchFamily="34" charset="-120"/>
              </a:rPr>
              <a:t>Every successful ML project begins with a well-defined business or research question that addresses a real need.</a:t>
            </a:r>
            <a:endParaRPr lang="en-US" sz="1750" dirty="0"/>
          </a:p>
        </p:txBody>
      </p:sp>
      <p:sp>
        <p:nvSpPr>
          <p:cNvPr id="5" name="Text 3"/>
          <p:cNvSpPr/>
          <p:nvPr/>
        </p:nvSpPr>
        <p:spPr>
          <a:xfrm>
            <a:off x="787241" y="3814405"/>
            <a:ext cx="4892993" cy="1079421"/>
          </a:xfrm>
          <a:prstGeom prst="rect">
            <a:avLst/>
          </a:prstGeom>
          <a:noFill/>
          <a:ln/>
        </p:spPr>
        <p:txBody>
          <a:bodyPr wrap="square" lIns="0" tIns="0" rIns="0" bIns="0" rtlCol="0" anchor="t"/>
          <a:lstStyle/>
          <a:p>
            <a:pPr marL="0" indent="0" algn="l">
              <a:lnSpc>
                <a:spcPts val="2800"/>
              </a:lnSpc>
              <a:buNone/>
            </a:pPr>
            <a:r>
              <a:rPr lang="en-US" sz="1750" b="1" dirty="0">
                <a:solidFill>
                  <a:srgbClr val="2C3249"/>
                </a:solidFill>
                <a:latin typeface="Martel Sans" pitchFamily="34" charset="0"/>
                <a:ea typeface="Martel Sans" pitchFamily="34" charset="-122"/>
                <a:cs typeface="Martel Sans" pitchFamily="34" charset="-120"/>
              </a:rPr>
              <a:t>Example:</a:t>
            </a:r>
            <a:r>
              <a:rPr lang="en-US" sz="1750" dirty="0">
                <a:solidFill>
                  <a:srgbClr val="2C3249"/>
                </a:solidFill>
                <a:latin typeface="Martel Sans" pitchFamily="34" charset="0"/>
                <a:ea typeface="Martel Sans" pitchFamily="34" charset="-122"/>
                <a:cs typeface="Martel Sans" pitchFamily="34" charset="-120"/>
              </a:rPr>
              <a:t> Predicting customer churn to reduce revenue loss and improve retention strategies.</a:t>
            </a:r>
            <a:endParaRPr lang="en-US" sz="1750" dirty="0"/>
          </a:p>
        </p:txBody>
      </p:sp>
      <p:pic>
        <p:nvPicPr>
          <p:cNvPr id="6" name="Image 0" descr="preencoded.png"/>
          <p:cNvPicPr>
            <a:picLocks noChangeAspect="1"/>
          </p:cNvPicPr>
          <p:nvPr/>
        </p:nvPicPr>
        <p:blipFill>
          <a:blip r:embed="rId3"/>
          <a:stretch>
            <a:fillRect/>
          </a:stretch>
        </p:blipFill>
        <p:spPr>
          <a:xfrm>
            <a:off x="6236732" y="1914049"/>
            <a:ext cx="2286000" cy="2286000"/>
          </a:xfrm>
          <a:prstGeom prst="rect">
            <a:avLst/>
          </a:prstGeom>
        </p:spPr>
      </p:pic>
      <p:sp>
        <p:nvSpPr>
          <p:cNvPr id="7" name="Text 4"/>
          <p:cNvSpPr/>
          <p:nvPr/>
        </p:nvSpPr>
        <p:spPr>
          <a:xfrm>
            <a:off x="787241" y="5349240"/>
            <a:ext cx="224909" cy="281107"/>
          </a:xfrm>
          <a:prstGeom prst="rect">
            <a:avLst/>
          </a:prstGeom>
          <a:noFill/>
          <a:ln/>
        </p:spPr>
        <p:txBody>
          <a:bodyPr wrap="none" lIns="0" tIns="0" rIns="0" bIns="0" rtlCol="0" anchor="t"/>
          <a:lstStyle/>
          <a:p>
            <a:pPr marL="0" indent="0" algn="l">
              <a:lnSpc>
                <a:spcPts val="2800"/>
              </a:lnSpc>
              <a:buNone/>
            </a:pPr>
            <a:r>
              <a:rPr lang="en-US" sz="1750" dirty="0">
                <a:solidFill>
                  <a:srgbClr val="2C3249"/>
                </a:solidFill>
                <a:latin typeface="Kanit Light" pitchFamily="34" charset="0"/>
                <a:ea typeface="Kanit Light" pitchFamily="34" charset="-122"/>
                <a:cs typeface="Kanit Light" pitchFamily="34" charset="-120"/>
              </a:rPr>
              <a:t>01</a:t>
            </a:r>
            <a:endParaRPr lang="en-US" sz="1750" dirty="0"/>
          </a:p>
        </p:txBody>
      </p:sp>
      <p:sp>
        <p:nvSpPr>
          <p:cNvPr id="8" name="Shape 5"/>
          <p:cNvSpPr/>
          <p:nvPr/>
        </p:nvSpPr>
        <p:spPr>
          <a:xfrm>
            <a:off x="787241" y="5700951"/>
            <a:ext cx="4201954" cy="30480"/>
          </a:xfrm>
          <a:prstGeom prst="rect">
            <a:avLst/>
          </a:prstGeom>
          <a:solidFill>
            <a:srgbClr val="437066"/>
          </a:solidFill>
          <a:ln/>
        </p:spPr>
        <p:txBody>
          <a:bodyPr/>
          <a:lstStyle/>
          <a:p>
            <a:endParaRPr lang="en-US"/>
          </a:p>
        </p:txBody>
      </p:sp>
      <p:sp>
        <p:nvSpPr>
          <p:cNvPr id="9" name="Text 6"/>
          <p:cNvSpPr/>
          <p:nvPr/>
        </p:nvSpPr>
        <p:spPr>
          <a:xfrm>
            <a:off x="787241" y="5874306"/>
            <a:ext cx="3681413" cy="351472"/>
          </a:xfrm>
          <a:prstGeom prst="rect">
            <a:avLst/>
          </a:prstGeom>
          <a:noFill/>
          <a:ln/>
        </p:spPr>
        <p:txBody>
          <a:bodyPr wrap="none" lIns="0" tIns="0" rIns="0" bIns="0" rtlCol="0" anchor="t"/>
          <a:lstStyle/>
          <a:p>
            <a:pPr marL="0" indent="0" algn="l">
              <a:lnSpc>
                <a:spcPts val="2750"/>
              </a:lnSpc>
              <a:buNone/>
            </a:pPr>
            <a:r>
              <a:rPr lang="en-US" sz="2200" dirty="0">
                <a:solidFill>
                  <a:srgbClr val="2C3249"/>
                </a:solidFill>
                <a:latin typeface="Kanit Light" pitchFamily="34" charset="0"/>
                <a:ea typeface="Kanit Light" pitchFamily="34" charset="-122"/>
                <a:cs typeface="Kanit Light" pitchFamily="34" charset="-120"/>
              </a:rPr>
              <a:t>Identify the Business Problem</a:t>
            </a:r>
            <a:endParaRPr lang="en-US" sz="2200" dirty="0"/>
          </a:p>
        </p:txBody>
      </p:sp>
      <p:sp>
        <p:nvSpPr>
          <p:cNvPr id="10" name="Text 7"/>
          <p:cNvSpPr/>
          <p:nvPr/>
        </p:nvSpPr>
        <p:spPr>
          <a:xfrm>
            <a:off x="787241" y="6360676"/>
            <a:ext cx="4201954" cy="719614"/>
          </a:xfrm>
          <a:prstGeom prst="rect">
            <a:avLst/>
          </a:prstGeom>
          <a:noFill/>
          <a:ln/>
        </p:spPr>
        <p:txBody>
          <a:bodyPr wrap="square" lIns="0" tIns="0" rIns="0" bIns="0" rtlCol="0" anchor="t"/>
          <a:lstStyle/>
          <a:p>
            <a:pPr marL="0" indent="0" algn="l">
              <a:lnSpc>
                <a:spcPts val="2800"/>
              </a:lnSpc>
              <a:buNone/>
            </a:pPr>
            <a:r>
              <a:rPr lang="en-US" sz="1750" dirty="0">
                <a:solidFill>
                  <a:srgbClr val="2C3249"/>
                </a:solidFill>
                <a:latin typeface="Martel Sans" pitchFamily="34" charset="0"/>
                <a:ea typeface="Martel Sans" pitchFamily="34" charset="-122"/>
                <a:cs typeface="Martel Sans" pitchFamily="34" charset="-120"/>
              </a:rPr>
              <a:t>Frame the challenge in terms of measurable business impact</a:t>
            </a:r>
            <a:endParaRPr lang="en-US" sz="1750" dirty="0"/>
          </a:p>
        </p:txBody>
      </p:sp>
      <p:sp>
        <p:nvSpPr>
          <p:cNvPr id="11" name="Text 8"/>
          <p:cNvSpPr/>
          <p:nvPr/>
        </p:nvSpPr>
        <p:spPr>
          <a:xfrm>
            <a:off x="5214104" y="5349240"/>
            <a:ext cx="224909" cy="281107"/>
          </a:xfrm>
          <a:prstGeom prst="rect">
            <a:avLst/>
          </a:prstGeom>
          <a:noFill/>
          <a:ln/>
        </p:spPr>
        <p:txBody>
          <a:bodyPr wrap="none" lIns="0" tIns="0" rIns="0" bIns="0" rtlCol="0" anchor="t"/>
          <a:lstStyle/>
          <a:p>
            <a:pPr marL="0" indent="0" algn="l">
              <a:lnSpc>
                <a:spcPts val="2800"/>
              </a:lnSpc>
              <a:buNone/>
            </a:pPr>
            <a:r>
              <a:rPr lang="en-US" sz="1750" dirty="0">
                <a:solidFill>
                  <a:srgbClr val="2C3249"/>
                </a:solidFill>
                <a:latin typeface="Kanit Light" pitchFamily="34" charset="0"/>
                <a:ea typeface="Kanit Light" pitchFamily="34" charset="-122"/>
                <a:cs typeface="Kanit Light" pitchFamily="34" charset="-120"/>
              </a:rPr>
              <a:t>02</a:t>
            </a:r>
            <a:endParaRPr lang="en-US" sz="1750" dirty="0"/>
          </a:p>
        </p:txBody>
      </p:sp>
      <p:sp>
        <p:nvSpPr>
          <p:cNvPr id="12" name="Shape 9"/>
          <p:cNvSpPr/>
          <p:nvPr/>
        </p:nvSpPr>
        <p:spPr>
          <a:xfrm>
            <a:off x="5214104" y="5700951"/>
            <a:ext cx="4202073" cy="30480"/>
          </a:xfrm>
          <a:prstGeom prst="rect">
            <a:avLst/>
          </a:prstGeom>
          <a:solidFill>
            <a:srgbClr val="437066"/>
          </a:solidFill>
          <a:ln/>
        </p:spPr>
        <p:txBody>
          <a:bodyPr/>
          <a:lstStyle/>
          <a:p>
            <a:endParaRPr lang="en-US"/>
          </a:p>
        </p:txBody>
      </p:sp>
      <p:sp>
        <p:nvSpPr>
          <p:cNvPr id="13" name="Text 10"/>
          <p:cNvSpPr/>
          <p:nvPr/>
        </p:nvSpPr>
        <p:spPr>
          <a:xfrm>
            <a:off x="5214104" y="5874306"/>
            <a:ext cx="2811899" cy="351472"/>
          </a:xfrm>
          <a:prstGeom prst="rect">
            <a:avLst/>
          </a:prstGeom>
          <a:noFill/>
          <a:ln/>
        </p:spPr>
        <p:txBody>
          <a:bodyPr wrap="none" lIns="0" tIns="0" rIns="0" bIns="0" rtlCol="0" anchor="t"/>
          <a:lstStyle/>
          <a:p>
            <a:pPr marL="0" indent="0" algn="l">
              <a:lnSpc>
                <a:spcPts val="2750"/>
              </a:lnSpc>
              <a:buNone/>
            </a:pPr>
            <a:r>
              <a:rPr lang="en-US" sz="2200" dirty="0">
                <a:solidFill>
                  <a:srgbClr val="2C3249"/>
                </a:solidFill>
                <a:latin typeface="Kanit Light" pitchFamily="34" charset="0"/>
                <a:ea typeface="Kanit Light" pitchFamily="34" charset="-122"/>
                <a:cs typeface="Kanit Light" pitchFamily="34" charset="-120"/>
              </a:rPr>
              <a:t>Define Success Metrics</a:t>
            </a:r>
            <a:endParaRPr lang="en-US" sz="2200" dirty="0"/>
          </a:p>
        </p:txBody>
      </p:sp>
      <p:sp>
        <p:nvSpPr>
          <p:cNvPr id="14" name="Text 11"/>
          <p:cNvSpPr/>
          <p:nvPr/>
        </p:nvSpPr>
        <p:spPr>
          <a:xfrm>
            <a:off x="5214104" y="6360676"/>
            <a:ext cx="4202073" cy="719614"/>
          </a:xfrm>
          <a:prstGeom prst="rect">
            <a:avLst/>
          </a:prstGeom>
          <a:noFill/>
          <a:ln/>
        </p:spPr>
        <p:txBody>
          <a:bodyPr wrap="square" lIns="0" tIns="0" rIns="0" bIns="0" rtlCol="0" anchor="t"/>
          <a:lstStyle/>
          <a:p>
            <a:pPr marL="0" indent="0" algn="l">
              <a:lnSpc>
                <a:spcPts val="2800"/>
              </a:lnSpc>
              <a:buNone/>
            </a:pPr>
            <a:r>
              <a:rPr lang="en-US" sz="1750" dirty="0">
                <a:solidFill>
                  <a:srgbClr val="2C3249"/>
                </a:solidFill>
                <a:latin typeface="Martel Sans" pitchFamily="34" charset="0"/>
                <a:ea typeface="Martel Sans" pitchFamily="34" charset="-122"/>
                <a:cs typeface="Martel Sans" pitchFamily="34" charset="-120"/>
              </a:rPr>
              <a:t>Establish clear KPIs that align ML goals with organizational objectives</a:t>
            </a:r>
            <a:endParaRPr lang="en-US" sz="1750" dirty="0"/>
          </a:p>
        </p:txBody>
      </p:sp>
      <p:sp>
        <p:nvSpPr>
          <p:cNvPr id="15" name="Text 12"/>
          <p:cNvSpPr/>
          <p:nvPr/>
        </p:nvSpPr>
        <p:spPr>
          <a:xfrm>
            <a:off x="9641086" y="5349240"/>
            <a:ext cx="224909" cy="281107"/>
          </a:xfrm>
          <a:prstGeom prst="rect">
            <a:avLst/>
          </a:prstGeom>
          <a:noFill/>
          <a:ln/>
        </p:spPr>
        <p:txBody>
          <a:bodyPr wrap="none" lIns="0" tIns="0" rIns="0" bIns="0" rtlCol="0" anchor="t"/>
          <a:lstStyle/>
          <a:p>
            <a:pPr marL="0" indent="0" algn="l">
              <a:lnSpc>
                <a:spcPts val="2800"/>
              </a:lnSpc>
              <a:buNone/>
            </a:pPr>
            <a:r>
              <a:rPr lang="en-US" sz="1750" dirty="0">
                <a:solidFill>
                  <a:srgbClr val="2C3249"/>
                </a:solidFill>
                <a:latin typeface="Kanit Light" pitchFamily="34" charset="0"/>
                <a:ea typeface="Kanit Light" pitchFamily="34" charset="-122"/>
                <a:cs typeface="Kanit Light" pitchFamily="34" charset="-120"/>
              </a:rPr>
              <a:t>03</a:t>
            </a:r>
            <a:endParaRPr lang="en-US" sz="1750" dirty="0"/>
          </a:p>
        </p:txBody>
      </p:sp>
      <p:sp>
        <p:nvSpPr>
          <p:cNvPr id="16" name="Shape 13"/>
          <p:cNvSpPr/>
          <p:nvPr/>
        </p:nvSpPr>
        <p:spPr>
          <a:xfrm>
            <a:off x="9641086" y="5700951"/>
            <a:ext cx="4201954" cy="30480"/>
          </a:xfrm>
          <a:prstGeom prst="rect">
            <a:avLst/>
          </a:prstGeom>
          <a:solidFill>
            <a:srgbClr val="437066"/>
          </a:solidFill>
          <a:ln/>
        </p:spPr>
        <p:txBody>
          <a:bodyPr/>
          <a:lstStyle/>
          <a:p>
            <a:endParaRPr lang="en-US"/>
          </a:p>
        </p:txBody>
      </p:sp>
      <p:sp>
        <p:nvSpPr>
          <p:cNvPr id="17" name="Text 14"/>
          <p:cNvSpPr/>
          <p:nvPr/>
        </p:nvSpPr>
        <p:spPr>
          <a:xfrm>
            <a:off x="9641086" y="5874306"/>
            <a:ext cx="2811899" cy="351472"/>
          </a:xfrm>
          <a:prstGeom prst="rect">
            <a:avLst/>
          </a:prstGeom>
          <a:noFill/>
          <a:ln/>
        </p:spPr>
        <p:txBody>
          <a:bodyPr wrap="none" lIns="0" tIns="0" rIns="0" bIns="0" rtlCol="0" anchor="t"/>
          <a:lstStyle/>
          <a:p>
            <a:pPr marL="0" indent="0" algn="l">
              <a:lnSpc>
                <a:spcPts val="2750"/>
              </a:lnSpc>
              <a:buNone/>
            </a:pPr>
            <a:r>
              <a:rPr lang="en-US" sz="2200" dirty="0">
                <a:solidFill>
                  <a:srgbClr val="2C3249"/>
                </a:solidFill>
                <a:latin typeface="Kanit Light" pitchFamily="34" charset="0"/>
                <a:ea typeface="Kanit Light" pitchFamily="34" charset="-122"/>
                <a:cs typeface="Kanit Light" pitchFamily="34" charset="-120"/>
              </a:rPr>
              <a:t>Assess Feasibility</a:t>
            </a:r>
            <a:endParaRPr lang="en-US" sz="2200" dirty="0"/>
          </a:p>
        </p:txBody>
      </p:sp>
      <p:sp>
        <p:nvSpPr>
          <p:cNvPr id="18" name="Text 15"/>
          <p:cNvSpPr/>
          <p:nvPr/>
        </p:nvSpPr>
        <p:spPr>
          <a:xfrm>
            <a:off x="9641086" y="6360676"/>
            <a:ext cx="4201954" cy="1079421"/>
          </a:xfrm>
          <a:prstGeom prst="rect">
            <a:avLst/>
          </a:prstGeom>
          <a:noFill/>
          <a:ln/>
        </p:spPr>
        <p:txBody>
          <a:bodyPr wrap="square" lIns="0" tIns="0" rIns="0" bIns="0" rtlCol="0" anchor="t"/>
          <a:lstStyle/>
          <a:p>
            <a:pPr marL="0" indent="0" algn="l">
              <a:lnSpc>
                <a:spcPts val="2800"/>
              </a:lnSpc>
              <a:buNone/>
            </a:pPr>
            <a:r>
              <a:rPr lang="en-US" sz="1750" dirty="0">
                <a:solidFill>
                  <a:srgbClr val="2C3249"/>
                </a:solidFill>
                <a:latin typeface="Martel Sans" pitchFamily="34" charset="0"/>
                <a:ea typeface="Martel Sans" pitchFamily="34" charset="-122"/>
                <a:cs typeface="Martel Sans" pitchFamily="34" charset="-120"/>
              </a:rPr>
              <a:t>Evaluate data availability, technical requirements, and resource constraints</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835235"/>
          </a:xfrm>
          <a:prstGeom prst="rect">
            <a:avLst/>
          </a:prstGeom>
        </p:spPr>
      </p:pic>
      <p:sp>
        <p:nvSpPr>
          <p:cNvPr id="3" name="Text 0"/>
          <p:cNvSpPr/>
          <p:nvPr/>
        </p:nvSpPr>
        <p:spPr>
          <a:xfrm>
            <a:off x="793790" y="3766066"/>
            <a:ext cx="11341298" cy="1417677"/>
          </a:xfrm>
          <a:prstGeom prst="rect">
            <a:avLst/>
          </a:prstGeom>
          <a:noFill/>
          <a:ln/>
        </p:spPr>
        <p:txBody>
          <a:bodyPr wrap="none" lIns="0" tIns="0" rIns="0" bIns="0" rtlCol="0" anchor="t"/>
          <a:lstStyle/>
          <a:p>
            <a:pPr marL="0" indent="0" algn="l">
              <a:lnSpc>
                <a:spcPts val="11150"/>
              </a:lnSpc>
              <a:buNone/>
            </a:pPr>
            <a:r>
              <a:rPr lang="en-US" sz="8900" dirty="0">
                <a:solidFill>
                  <a:srgbClr val="272D45"/>
                </a:solidFill>
                <a:latin typeface="Kanit Light" pitchFamily="34" charset="0"/>
                <a:ea typeface="Kanit Light" pitchFamily="34" charset="-122"/>
                <a:cs typeface="Kanit Light" pitchFamily="34" charset="-120"/>
              </a:rPr>
              <a:t>Chapter 2</a:t>
            </a:r>
            <a:endParaRPr lang="en-US" sz="8900" dirty="0"/>
          </a:p>
        </p:txBody>
      </p:sp>
      <p:sp>
        <p:nvSpPr>
          <p:cNvPr id="4" name="Text 1"/>
          <p:cNvSpPr/>
          <p:nvPr/>
        </p:nvSpPr>
        <p:spPr>
          <a:xfrm>
            <a:off x="793790" y="5523905"/>
            <a:ext cx="10470356" cy="708779"/>
          </a:xfrm>
          <a:prstGeom prst="rect">
            <a:avLst/>
          </a:prstGeom>
          <a:noFill/>
          <a:ln/>
        </p:spPr>
        <p:txBody>
          <a:bodyPr wrap="none" lIns="0" tIns="0" rIns="0" bIns="0" rtlCol="0" anchor="t"/>
          <a:lstStyle/>
          <a:p>
            <a:pPr marL="0" indent="0" algn="l">
              <a:lnSpc>
                <a:spcPts val="5550"/>
              </a:lnSpc>
              <a:buNone/>
            </a:pPr>
            <a:r>
              <a:rPr lang="en-US" sz="4450" dirty="0">
                <a:solidFill>
                  <a:srgbClr val="272D45"/>
                </a:solidFill>
                <a:latin typeface="Kanit Light" pitchFamily="34" charset="0"/>
                <a:ea typeface="Kanit Light" pitchFamily="34" charset="-122"/>
                <a:cs typeface="Kanit Light" pitchFamily="34" charset="-120"/>
              </a:rPr>
              <a:t>Data Engineering — The Foundation of ML</a:t>
            </a:r>
            <a:endParaRPr lang="en-US" sz="4450" dirty="0"/>
          </a:p>
        </p:txBody>
      </p:sp>
      <p:sp>
        <p:nvSpPr>
          <p:cNvPr id="5" name="Text 2"/>
          <p:cNvSpPr/>
          <p:nvPr/>
        </p:nvSpPr>
        <p:spPr>
          <a:xfrm>
            <a:off x="793790" y="6572845"/>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2C3249"/>
                </a:solidFill>
                <a:latin typeface="Martel Sans" pitchFamily="34" charset="0"/>
                <a:ea typeface="Martel Sans" pitchFamily="34" charset="-122"/>
                <a:cs typeface="Martel Sans" pitchFamily="34" charset="-120"/>
              </a:rPr>
              <a:t>High-quality data engineering is the cornerstone of any successful machine learning project. Without solid foundations, even the most sophisticated algorithms will fail to deliver meaningful results.</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839635"/>
            <a:ext cx="10586561" cy="708779"/>
          </a:xfrm>
          <a:prstGeom prst="rect">
            <a:avLst/>
          </a:prstGeom>
          <a:noFill/>
          <a:ln/>
        </p:spPr>
        <p:txBody>
          <a:bodyPr wrap="none" lIns="0" tIns="0" rIns="0" bIns="0" rtlCol="0" anchor="t"/>
          <a:lstStyle/>
          <a:p>
            <a:pPr marL="0" indent="0" algn="l">
              <a:lnSpc>
                <a:spcPts val="5550"/>
              </a:lnSpc>
              <a:buNone/>
            </a:pPr>
            <a:r>
              <a:rPr lang="en-US" sz="4450" dirty="0">
                <a:solidFill>
                  <a:srgbClr val="272D45"/>
                </a:solidFill>
                <a:latin typeface="Kanit Light" pitchFamily="34" charset="0"/>
                <a:ea typeface="Kanit Light" pitchFamily="34" charset="-122"/>
                <a:cs typeface="Kanit Light" pitchFamily="34" charset="-120"/>
              </a:rPr>
              <a:t>Data Collection: Gathering the Right Inputs</a:t>
            </a:r>
            <a:endParaRPr lang="en-US" sz="4450" dirty="0"/>
          </a:p>
        </p:txBody>
      </p:sp>
      <p:sp>
        <p:nvSpPr>
          <p:cNvPr id="3" name="Text 1"/>
          <p:cNvSpPr/>
          <p:nvPr/>
        </p:nvSpPr>
        <p:spPr>
          <a:xfrm>
            <a:off x="793790" y="3228856"/>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C3249"/>
                </a:solidFill>
                <a:latin typeface="Kanit Light" pitchFamily="34" charset="0"/>
                <a:ea typeface="Kanit Light" pitchFamily="34" charset="-122"/>
                <a:cs typeface="Kanit Light" pitchFamily="34" charset="-120"/>
              </a:rPr>
              <a:t>Internal Databases</a:t>
            </a:r>
            <a:endParaRPr lang="en-US" sz="2200" dirty="0"/>
          </a:p>
        </p:txBody>
      </p:sp>
      <p:sp>
        <p:nvSpPr>
          <p:cNvPr id="4" name="Text 2"/>
          <p:cNvSpPr/>
          <p:nvPr/>
        </p:nvSpPr>
        <p:spPr>
          <a:xfrm>
            <a:off x="793790" y="3719274"/>
            <a:ext cx="4158615" cy="1088708"/>
          </a:xfrm>
          <a:prstGeom prst="rect">
            <a:avLst/>
          </a:prstGeom>
          <a:noFill/>
          <a:ln/>
        </p:spPr>
        <p:txBody>
          <a:bodyPr wrap="square" lIns="0" tIns="0" rIns="0" bIns="0" rtlCol="0" anchor="t"/>
          <a:lstStyle/>
          <a:p>
            <a:pPr marL="0" indent="0" algn="l">
              <a:lnSpc>
                <a:spcPts val="2850"/>
              </a:lnSpc>
              <a:buNone/>
            </a:pPr>
            <a:r>
              <a:rPr lang="en-US" sz="1750" dirty="0">
                <a:solidFill>
                  <a:srgbClr val="2C3249"/>
                </a:solidFill>
                <a:latin typeface="Martel Sans" pitchFamily="34" charset="0"/>
                <a:ea typeface="Martel Sans" pitchFamily="34" charset="-122"/>
                <a:cs typeface="Martel Sans" pitchFamily="34" charset="-120"/>
              </a:rPr>
              <a:t>Customer records, transaction logs, and operational data stored in company systems</a:t>
            </a:r>
            <a:endParaRPr lang="en-US" sz="1750" dirty="0"/>
          </a:p>
        </p:txBody>
      </p:sp>
      <p:sp>
        <p:nvSpPr>
          <p:cNvPr id="5" name="Text 3"/>
          <p:cNvSpPr/>
          <p:nvPr/>
        </p:nvSpPr>
        <p:spPr>
          <a:xfrm>
            <a:off x="5235893" y="3228856"/>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C3249"/>
                </a:solidFill>
                <a:latin typeface="Kanit Light" pitchFamily="34" charset="0"/>
                <a:ea typeface="Kanit Light" pitchFamily="34" charset="-122"/>
                <a:cs typeface="Kanit Light" pitchFamily="34" charset="-120"/>
              </a:rPr>
              <a:t>External APIs</a:t>
            </a:r>
            <a:endParaRPr lang="en-US" sz="2200" dirty="0"/>
          </a:p>
        </p:txBody>
      </p:sp>
      <p:sp>
        <p:nvSpPr>
          <p:cNvPr id="6" name="Text 4"/>
          <p:cNvSpPr/>
          <p:nvPr/>
        </p:nvSpPr>
        <p:spPr>
          <a:xfrm>
            <a:off x="5235893" y="3719274"/>
            <a:ext cx="4158615" cy="1088708"/>
          </a:xfrm>
          <a:prstGeom prst="rect">
            <a:avLst/>
          </a:prstGeom>
          <a:noFill/>
          <a:ln/>
        </p:spPr>
        <p:txBody>
          <a:bodyPr wrap="square" lIns="0" tIns="0" rIns="0" bIns="0" rtlCol="0" anchor="t"/>
          <a:lstStyle/>
          <a:p>
            <a:pPr marL="0" indent="0" algn="l">
              <a:lnSpc>
                <a:spcPts val="2850"/>
              </a:lnSpc>
              <a:buNone/>
            </a:pPr>
            <a:r>
              <a:rPr lang="en-US" sz="1750" dirty="0">
                <a:solidFill>
                  <a:srgbClr val="2C3249"/>
                </a:solidFill>
                <a:latin typeface="Martel Sans" pitchFamily="34" charset="0"/>
                <a:ea typeface="Martel Sans" pitchFamily="34" charset="-122"/>
                <a:cs typeface="Martel Sans" pitchFamily="34" charset="-120"/>
              </a:rPr>
              <a:t>Third-party data sources, social media feeds, and real-time streaming services</a:t>
            </a:r>
            <a:endParaRPr lang="en-US" sz="1750" dirty="0"/>
          </a:p>
        </p:txBody>
      </p:sp>
      <p:sp>
        <p:nvSpPr>
          <p:cNvPr id="7" name="Text 5"/>
          <p:cNvSpPr/>
          <p:nvPr/>
        </p:nvSpPr>
        <p:spPr>
          <a:xfrm>
            <a:off x="9677995" y="3228856"/>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C3249"/>
                </a:solidFill>
                <a:latin typeface="Kanit Light" pitchFamily="34" charset="0"/>
                <a:ea typeface="Kanit Light" pitchFamily="34" charset="-122"/>
                <a:cs typeface="Kanit Light" pitchFamily="34" charset="-120"/>
              </a:rPr>
              <a:t>Public Datasets</a:t>
            </a:r>
            <a:endParaRPr lang="en-US" sz="2200" dirty="0"/>
          </a:p>
        </p:txBody>
      </p:sp>
      <p:sp>
        <p:nvSpPr>
          <p:cNvPr id="8" name="Text 6"/>
          <p:cNvSpPr/>
          <p:nvPr/>
        </p:nvSpPr>
        <p:spPr>
          <a:xfrm>
            <a:off x="9677995" y="3719274"/>
            <a:ext cx="4158615" cy="1088708"/>
          </a:xfrm>
          <a:prstGeom prst="rect">
            <a:avLst/>
          </a:prstGeom>
          <a:noFill/>
          <a:ln/>
        </p:spPr>
        <p:txBody>
          <a:bodyPr wrap="square" lIns="0" tIns="0" rIns="0" bIns="0" rtlCol="0" anchor="t"/>
          <a:lstStyle/>
          <a:p>
            <a:pPr marL="0" indent="0" algn="l">
              <a:lnSpc>
                <a:spcPts val="2850"/>
              </a:lnSpc>
              <a:buNone/>
            </a:pPr>
            <a:r>
              <a:rPr lang="en-US" sz="1750" dirty="0">
                <a:solidFill>
                  <a:srgbClr val="2C3249"/>
                </a:solidFill>
                <a:latin typeface="Martel Sans" pitchFamily="34" charset="0"/>
                <a:ea typeface="Martel Sans" pitchFamily="34" charset="-122"/>
                <a:cs typeface="Martel Sans" pitchFamily="34" charset="-120"/>
              </a:rPr>
              <a:t>Government databases, research repositories, and open-source data collections</a:t>
            </a:r>
            <a:endParaRPr lang="en-US" sz="1750" dirty="0"/>
          </a:p>
        </p:txBody>
      </p:sp>
      <p:sp>
        <p:nvSpPr>
          <p:cNvPr id="9" name="Shape 7"/>
          <p:cNvSpPr/>
          <p:nvPr/>
        </p:nvSpPr>
        <p:spPr>
          <a:xfrm>
            <a:off x="793790" y="5063133"/>
            <a:ext cx="13042821" cy="1326713"/>
          </a:xfrm>
          <a:prstGeom prst="roundRect">
            <a:avLst>
              <a:gd name="adj" fmla="val 7181"/>
            </a:avLst>
          </a:prstGeom>
          <a:solidFill>
            <a:srgbClr val="CFE2DE"/>
          </a:solidFill>
          <a:ln/>
        </p:spPr>
        <p:txBody>
          <a:bodyPr/>
          <a:lstStyle/>
          <a:p>
            <a:endParaRPr lang="en-US"/>
          </a:p>
        </p:txBody>
      </p:sp>
      <p:pic>
        <p:nvPicPr>
          <p:cNvPr id="10" name="Image 0" descr="preencoded.png"/>
          <p:cNvPicPr>
            <a:picLocks noChangeAspect="1"/>
          </p:cNvPicPr>
          <p:nvPr/>
        </p:nvPicPr>
        <p:blipFill>
          <a:blip r:embed="rId3"/>
          <a:stretch>
            <a:fillRect/>
          </a:stretch>
        </p:blipFill>
        <p:spPr>
          <a:xfrm>
            <a:off x="1020604" y="5376743"/>
            <a:ext cx="283488" cy="226814"/>
          </a:xfrm>
          <a:prstGeom prst="rect">
            <a:avLst/>
          </a:prstGeom>
        </p:spPr>
      </p:pic>
      <p:sp>
        <p:nvSpPr>
          <p:cNvPr id="11" name="Text 8"/>
          <p:cNvSpPr/>
          <p:nvPr/>
        </p:nvSpPr>
        <p:spPr>
          <a:xfrm>
            <a:off x="1530906" y="5346621"/>
            <a:ext cx="12078891" cy="725805"/>
          </a:xfrm>
          <a:prstGeom prst="rect">
            <a:avLst/>
          </a:prstGeom>
          <a:noFill/>
          <a:ln/>
        </p:spPr>
        <p:txBody>
          <a:bodyPr wrap="square" lIns="0" tIns="0" rIns="0" bIns="0" rtlCol="0" anchor="t"/>
          <a:lstStyle/>
          <a:p>
            <a:pPr marL="0" indent="0" algn="l">
              <a:lnSpc>
                <a:spcPts val="2850"/>
              </a:lnSpc>
              <a:buNone/>
            </a:pPr>
            <a:r>
              <a:rPr lang="en-US" sz="1750" b="1" dirty="0">
                <a:solidFill>
                  <a:srgbClr val="000000"/>
                </a:solidFill>
                <a:latin typeface="Martel Sans" pitchFamily="34" charset="0"/>
                <a:ea typeface="Martel Sans" pitchFamily="34" charset="-122"/>
                <a:cs typeface="Martel Sans" pitchFamily="34" charset="-120"/>
              </a:rPr>
              <a:t>Pro Tip:</a:t>
            </a:r>
            <a:r>
              <a:rPr lang="en-US" sz="1750" dirty="0">
                <a:solidFill>
                  <a:srgbClr val="000000"/>
                </a:solidFill>
                <a:latin typeface="Martel Sans" pitchFamily="34" charset="0"/>
                <a:ea typeface="Martel Sans" pitchFamily="34" charset="-122"/>
                <a:cs typeface="Martel Sans" pitchFamily="34" charset="-120"/>
              </a:rPr>
              <a:t> Using customer transaction logs combined with web activity data provides rich behavioral insights for churn prediction models.</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055846"/>
            <a:ext cx="7933134" cy="708779"/>
          </a:xfrm>
          <a:prstGeom prst="rect">
            <a:avLst/>
          </a:prstGeom>
          <a:noFill/>
          <a:ln/>
        </p:spPr>
        <p:txBody>
          <a:bodyPr wrap="none" lIns="0" tIns="0" rIns="0" bIns="0" rtlCol="0" anchor="t"/>
          <a:lstStyle/>
          <a:p>
            <a:pPr marL="0" indent="0" algn="l">
              <a:lnSpc>
                <a:spcPts val="5550"/>
              </a:lnSpc>
              <a:buNone/>
            </a:pPr>
            <a:r>
              <a:rPr lang="en-US" sz="4450" dirty="0">
                <a:solidFill>
                  <a:srgbClr val="272D45"/>
                </a:solidFill>
                <a:latin typeface="Kanit Light" pitchFamily="34" charset="0"/>
                <a:ea typeface="Kanit Light" pitchFamily="34" charset="-122"/>
                <a:cs typeface="Kanit Light" pitchFamily="34" charset="-120"/>
              </a:rPr>
              <a:t>Data Exploration and Validation</a:t>
            </a:r>
            <a:endParaRPr lang="en-US" sz="4450" dirty="0"/>
          </a:p>
        </p:txBody>
      </p:sp>
      <p:sp>
        <p:nvSpPr>
          <p:cNvPr id="3" name="Text 1"/>
          <p:cNvSpPr/>
          <p:nvPr/>
        </p:nvSpPr>
        <p:spPr>
          <a:xfrm>
            <a:off x="793790" y="2331601"/>
            <a:ext cx="3769400" cy="425291"/>
          </a:xfrm>
          <a:prstGeom prst="rect">
            <a:avLst/>
          </a:prstGeom>
          <a:noFill/>
          <a:ln/>
        </p:spPr>
        <p:txBody>
          <a:bodyPr wrap="none" lIns="0" tIns="0" rIns="0" bIns="0" rtlCol="0" anchor="t"/>
          <a:lstStyle/>
          <a:p>
            <a:pPr marL="0" indent="0" algn="l">
              <a:lnSpc>
                <a:spcPts val="3300"/>
              </a:lnSpc>
              <a:buNone/>
            </a:pPr>
            <a:r>
              <a:rPr lang="en-US" sz="2650" dirty="0">
                <a:solidFill>
                  <a:srgbClr val="272D45"/>
                </a:solidFill>
                <a:latin typeface="Kanit Light" pitchFamily="34" charset="0"/>
                <a:ea typeface="Kanit Light" pitchFamily="34" charset="-122"/>
                <a:cs typeface="Kanit Light" pitchFamily="34" charset="-120"/>
              </a:rPr>
              <a:t>Understanding Your Data</a:t>
            </a:r>
            <a:endParaRPr lang="en-US" sz="2650" dirty="0"/>
          </a:p>
        </p:txBody>
      </p:sp>
      <p:sp>
        <p:nvSpPr>
          <p:cNvPr id="4" name="Text 2"/>
          <p:cNvSpPr/>
          <p:nvPr/>
        </p:nvSpPr>
        <p:spPr>
          <a:xfrm>
            <a:off x="793790" y="2983706"/>
            <a:ext cx="6244709" cy="725805"/>
          </a:xfrm>
          <a:prstGeom prst="rect">
            <a:avLst/>
          </a:prstGeom>
          <a:noFill/>
          <a:ln/>
        </p:spPr>
        <p:txBody>
          <a:bodyPr wrap="square" lIns="0" tIns="0" rIns="0" bIns="0" rtlCol="0" anchor="t"/>
          <a:lstStyle/>
          <a:p>
            <a:pPr marL="0" indent="0" algn="l">
              <a:lnSpc>
                <a:spcPts val="2850"/>
              </a:lnSpc>
              <a:buNone/>
            </a:pPr>
            <a:r>
              <a:rPr lang="en-US" sz="1750" dirty="0">
                <a:solidFill>
                  <a:srgbClr val="2C3249"/>
                </a:solidFill>
                <a:latin typeface="Martel Sans" pitchFamily="34" charset="0"/>
                <a:ea typeface="Martel Sans" pitchFamily="34" charset="-122"/>
                <a:cs typeface="Martel Sans" pitchFamily="34" charset="-120"/>
              </a:rPr>
              <a:t>Profiling data reveals critical insights about distributions, patterns, and potential issues before modeling begins.</a:t>
            </a:r>
            <a:endParaRPr lang="en-US" sz="1750" dirty="0"/>
          </a:p>
        </p:txBody>
      </p:sp>
      <p:sp>
        <p:nvSpPr>
          <p:cNvPr id="5" name="Text 3"/>
          <p:cNvSpPr/>
          <p:nvPr/>
        </p:nvSpPr>
        <p:spPr>
          <a:xfrm>
            <a:off x="793790" y="3913584"/>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C3249"/>
                </a:solidFill>
                <a:latin typeface="Martel Sans" pitchFamily="34" charset="0"/>
                <a:ea typeface="Martel Sans" pitchFamily="34" charset="-122"/>
                <a:cs typeface="Martel Sans" pitchFamily="34" charset="-120"/>
              </a:rPr>
              <a:t>Statistical summaries: min, max, mean, median</a:t>
            </a:r>
            <a:endParaRPr lang="en-US" sz="1750" dirty="0"/>
          </a:p>
        </p:txBody>
      </p:sp>
      <p:sp>
        <p:nvSpPr>
          <p:cNvPr id="6" name="Text 4"/>
          <p:cNvSpPr/>
          <p:nvPr/>
        </p:nvSpPr>
        <p:spPr>
          <a:xfrm>
            <a:off x="793790" y="4355783"/>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C3249"/>
                </a:solidFill>
                <a:latin typeface="Martel Sans" pitchFamily="34" charset="0"/>
                <a:ea typeface="Martel Sans" pitchFamily="34" charset="-122"/>
                <a:cs typeface="Martel Sans" pitchFamily="34" charset="-120"/>
              </a:rPr>
              <a:t>Missing value patterns and frequencies</a:t>
            </a:r>
            <a:endParaRPr lang="en-US" sz="1750" dirty="0"/>
          </a:p>
        </p:txBody>
      </p:sp>
      <p:sp>
        <p:nvSpPr>
          <p:cNvPr id="7" name="Text 5"/>
          <p:cNvSpPr/>
          <p:nvPr/>
        </p:nvSpPr>
        <p:spPr>
          <a:xfrm>
            <a:off x="793790" y="4797981"/>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C3249"/>
                </a:solidFill>
                <a:latin typeface="Martel Sans" pitchFamily="34" charset="0"/>
                <a:ea typeface="Martel Sans" pitchFamily="34" charset="-122"/>
                <a:cs typeface="Martel Sans" pitchFamily="34" charset="-120"/>
              </a:rPr>
              <a:t>Outlier detection and anomaly identification</a:t>
            </a:r>
            <a:endParaRPr lang="en-US" sz="1750" dirty="0"/>
          </a:p>
        </p:txBody>
      </p:sp>
      <p:sp>
        <p:nvSpPr>
          <p:cNvPr id="8" name="Text 6"/>
          <p:cNvSpPr/>
          <p:nvPr/>
        </p:nvSpPr>
        <p:spPr>
          <a:xfrm>
            <a:off x="793790" y="5240179"/>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C3249"/>
                </a:solidFill>
                <a:latin typeface="Martel Sans" pitchFamily="34" charset="0"/>
                <a:ea typeface="Martel Sans" pitchFamily="34" charset="-122"/>
                <a:cs typeface="Martel Sans" pitchFamily="34" charset="-120"/>
              </a:rPr>
              <a:t>Data type validation and schema consistency</a:t>
            </a:r>
            <a:endParaRPr lang="en-US" sz="1750" dirty="0"/>
          </a:p>
        </p:txBody>
      </p:sp>
      <p:pic>
        <p:nvPicPr>
          <p:cNvPr id="9" name="Image 0" descr="preencoded.png"/>
          <p:cNvPicPr>
            <a:picLocks noChangeAspect="1"/>
          </p:cNvPicPr>
          <p:nvPr/>
        </p:nvPicPr>
        <p:blipFill>
          <a:blip r:embed="rId3"/>
          <a:stretch>
            <a:fillRect/>
          </a:stretch>
        </p:blipFill>
        <p:spPr>
          <a:xfrm>
            <a:off x="7599521" y="2359938"/>
            <a:ext cx="2286000" cy="2286000"/>
          </a:xfrm>
          <a:prstGeom prst="rect">
            <a:avLst/>
          </a:prstGeom>
        </p:spPr>
      </p:pic>
      <p:sp>
        <p:nvSpPr>
          <p:cNvPr id="10" name="Text 7"/>
          <p:cNvSpPr/>
          <p:nvPr/>
        </p:nvSpPr>
        <p:spPr>
          <a:xfrm>
            <a:off x="1133951" y="6192679"/>
            <a:ext cx="12702659" cy="725805"/>
          </a:xfrm>
          <a:prstGeom prst="rect">
            <a:avLst/>
          </a:prstGeom>
          <a:noFill/>
          <a:ln/>
        </p:spPr>
        <p:txBody>
          <a:bodyPr wrap="square" lIns="0" tIns="0" rIns="0" bIns="0" rtlCol="0" anchor="t"/>
          <a:lstStyle/>
          <a:p>
            <a:pPr marL="0" indent="0" algn="l">
              <a:lnSpc>
                <a:spcPts val="2850"/>
              </a:lnSpc>
              <a:buNone/>
            </a:pPr>
            <a:r>
              <a:rPr lang="en-US" sz="1750" dirty="0">
                <a:solidFill>
                  <a:srgbClr val="2C3249"/>
                </a:solidFill>
                <a:latin typeface="Martel Sans" pitchFamily="34" charset="0"/>
                <a:ea typeface="Martel Sans" pitchFamily="34" charset="-122"/>
                <a:cs typeface="Martel Sans" pitchFamily="34" charset="-120"/>
              </a:rPr>
              <a:t>Detecting inconsistencies early in the workflow prevents costly errors downstream and saves significant time during model development.</a:t>
            </a:r>
            <a:endParaRPr lang="en-US" sz="1750" dirty="0"/>
          </a:p>
        </p:txBody>
      </p:sp>
      <p:sp>
        <p:nvSpPr>
          <p:cNvPr id="11" name="Shape 8"/>
          <p:cNvSpPr/>
          <p:nvPr/>
        </p:nvSpPr>
        <p:spPr>
          <a:xfrm>
            <a:off x="793790" y="5937528"/>
            <a:ext cx="30480" cy="1236107"/>
          </a:xfrm>
          <a:prstGeom prst="rect">
            <a:avLst/>
          </a:prstGeom>
          <a:solidFill>
            <a:srgbClr val="437066"/>
          </a:solidFill>
          <a:ln/>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158270" y="657463"/>
            <a:ext cx="6095167" cy="599837"/>
          </a:xfrm>
          <a:prstGeom prst="rect">
            <a:avLst/>
          </a:prstGeom>
          <a:noFill/>
          <a:ln/>
        </p:spPr>
        <p:txBody>
          <a:bodyPr wrap="none" lIns="0" tIns="0" rIns="0" bIns="0" rtlCol="0" anchor="t"/>
          <a:lstStyle/>
          <a:p>
            <a:pPr marL="0" indent="0" algn="l">
              <a:lnSpc>
                <a:spcPts val="4700"/>
              </a:lnSpc>
              <a:buNone/>
            </a:pPr>
            <a:r>
              <a:rPr lang="en-US" sz="3750" dirty="0">
                <a:solidFill>
                  <a:srgbClr val="272D45"/>
                </a:solidFill>
                <a:latin typeface="Kanit Light" pitchFamily="34" charset="0"/>
                <a:ea typeface="Kanit Light" pitchFamily="34" charset="-122"/>
                <a:cs typeface="Kanit Light" pitchFamily="34" charset="-120"/>
              </a:rPr>
              <a:t>Data Cleaning and Wrangling</a:t>
            </a:r>
            <a:endParaRPr lang="en-US" sz="3750" dirty="0"/>
          </a:p>
        </p:txBody>
      </p:sp>
      <p:pic>
        <p:nvPicPr>
          <p:cNvPr id="4" name="Image 1" descr="preencoded.png"/>
          <p:cNvPicPr>
            <a:picLocks noChangeAspect="1"/>
          </p:cNvPicPr>
          <p:nvPr/>
        </p:nvPicPr>
        <p:blipFill>
          <a:blip r:embed="rId4"/>
          <a:stretch>
            <a:fillRect/>
          </a:stretch>
        </p:blipFill>
        <p:spPr>
          <a:xfrm>
            <a:off x="6158270" y="1545193"/>
            <a:ext cx="959763" cy="1412915"/>
          </a:xfrm>
          <a:prstGeom prst="rect">
            <a:avLst/>
          </a:prstGeom>
        </p:spPr>
      </p:pic>
      <p:sp>
        <p:nvSpPr>
          <p:cNvPr id="5" name="Text 1"/>
          <p:cNvSpPr/>
          <p:nvPr/>
        </p:nvSpPr>
        <p:spPr>
          <a:xfrm>
            <a:off x="7309961" y="1737122"/>
            <a:ext cx="2399586" cy="299799"/>
          </a:xfrm>
          <a:prstGeom prst="rect">
            <a:avLst/>
          </a:prstGeom>
          <a:noFill/>
          <a:ln/>
        </p:spPr>
        <p:txBody>
          <a:bodyPr wrap="none" lIns="0" tIns="0" rIns="0" bIns="0" rtlCol="0" anchor="t"/>
          <a:lstStyle/>
          <a:p>
            <a:pPr marL="0" indent="0" algn="l">
              <a:lnSpc>
                <a:spcPts val="2350"/>
              </a:lnSpc>
              <a:buNone/>
            </a:pPr>
            <a:r>
              <a:rPr lang="en-US" sz="1850" dirty="0">
                <a:solidFill>
                  <a:srgbClr val="2C3249"/>
                </a:solidFill>
                <a:latin typeface="Kanit Light" pitchFamily="34" charset="0"/>
                <a:ea typeface="Kanit Light" pitchFamily="34" charset="-122"/>
                <a:cs typeface="Kanit Light" pitchFamily="34" charset="-120"/>
              </a:rPr>
              <a:t>Handle Missing Values</a:t>
            </a:r>
            <a:endParaRPr lang="en-US" sz="1850" dirty="0"/>
          </a:p>
        </p:txBody>
      </p:sp>
      <p:sp>
        <p:nvSpPr>
          <p:cNvPr id="6" name="Text 2"/>
          <p:cNvSpPr/>
          <p:nvPr/>
        </p:nvSpPr>
        <p:spPr>
          <a:xfrm>
            <a:off x="7309961" y="2152055"/>
            <a:ext cx="6648569" cy="614124"/>
          </a:xfrm>
          <a:prstGeom prst="rect">
            <a:avLst/>
          </a:prstGeom>
          <a:noFill/>
          <a:ln/>
        </p:spPr>
        <p:txBody>
          <a:bodyPr wrap="square" lIns="0" tIns="0" rIns="0" bIns="0" rtlCol="0" anchor="t"/>
          <a:lstStyle/>
          <a:p>
            <a:pPr marL="0" indent="0" algn="l">
              <a:lnSpc>
                <a:spcPts val="2400"/>
              </a:lnSpc>
              <a:buNone/>
            </a:pPr>
            <a:r>
              <a:rPr lang="en-US" sz="1500" dirty="0">
                <a:solidFill>
                  <a:srgbClr val="2C3249"/>
                </a:solidFill>
                <a:latin typeface="Martel Sans" pitchFamily="34" charset="0"/>
                <a:ea typeface="Martel Sans" pitchFamily="34" charset="-122"/>
                <a:cs typeface="Martel Sans" pitchFamily="34" charset="-120"/>
              </a:rPr>
              <a:t>Imputation strategies, deletion rules, or forward-fill techniques based on data patterns</a:t>
            </a:r>
            <a:endParaRPr lang="en-US" sz="1500" dirty="0"/>
          </a:p>
        </p:txBody>
      </p:sp>
      <p:pic>
        <p:nvPicPr>
          <p:cNvPr id="7" name="Image 2" descr="preencoded.png"/>
          <p:cNvPicPr>
            <a:picLocks noChangeAspect="1"/>
          </p:cNvPicPr>
          <p:nvPr/>
        </p:nvPicPr>
        <p:blipFill>
          <a:blip r:embed="rId5"/>
          <a:stretch>
            <a:fillRect/>
          </a:stretch>
        </p:blipFill>
        <p:spPr>
          <a:xfrm>
            <a:off x="6158270" y="2958108"/>
            <a:ext cx="959763" cy="1151811"/>
          </a:xfrm>
          <a:prstGeom prst="rect">
            <a:avLst/>
          </a:prstGeom>
        </p:spPr>
      </p:pic>
      <p:sp>
        <p:nvSpPr>
          <p:cNvPr id="8" name="Text 3"/>
          <p:cNvSpPr/>
          <p:nvPr/>
        </p:nvSpPr>
        <p:spPr>
          <a:xfrm>
            <a:off x="7309961" y="3150037"/>
            <a:ext cx="2399586" cy="299799"/>
          </a:xfrm>
          <a:prstGeom prst="rect">
            <a:avLst/>
          </a:prstGeom>
          <a:noFill/>
          <a:ln/>
        </p:spPr>
        <p:txBody>
          <a:bodyPr wrap="none" lIns="0" tIns="0" rIns="0" bIns="0" rtlCol="0" anchor="t"/>
          <a:lstStyle/>
          <a:p>
            <a:pPr marL="0" indent="0" algn="l">
              <a:lnSpc>
                <a:spcPts val="2350"/>
              </a:lnSpc>
              <a:buNone/>
            </a:pPr>
            <a:r>
              <a:rPr lang="en-US" sz="1850" dirty="0">
                <a:solidFill>
                  <a:srgbClr val="2C3249"/>
                </a:solidFill>
                <a:latin typeface="Kanit Light" pitchFamily="34" charset="0"/>
                <a:ea typeface="Kanit Light" pitchFamily="34" charset="-122"/>
                <a:cs typeface="Kanit Light" pitchFamily="34" charset="-120"/>
              </a:rPr>
              <a:t>Correct Errors</a:t>
            </a:r>
            <a:endParaRPr lang="en-US" sz="1850" dirty="0"/>
          </a:p>
        </p:txBody>
      </p:sp>
      <p:sp>
        <p:nvSpPr>
          <p:cNvPr id="9" name="Text 4"/>
          <p:cNvSpPr/>
          <p:nvPr/>
        </p:nvSpPr>
        <p:spPr>
          <a:xfrm>
            <a:off x="7309961" y="3564969"/>
            <a:ext cx="6648569" cy="307062"/>
          </a:xfrm>
          <a:prstGeom prst="rect">
            <a:avLst/>
          </a:prstGeom>
          <a:noFill/>
          <a:ln/>
        </p:spPr>
        <p:txBody>
          <a:bodyPr wrap="none" lIns="0" tIns="0" rIns="0" bIns="0" rtlCol="0" anchor="t"/>
          <a:lstStyle/>
          <a:p>
            <a:pPr marL="0" indent="0" algn="l">
              <a:lnSpc>
                <a:spcPts val="2400"/>
              </a:lnSpc>
              <a:buNone/>
            </a:pPr>
            <a:r>
              <a:rPr lang="en-US" sz="1500" dirty="0">
                <a:solidFill>
                  <a:srgbClr val="2C3249"/>
                </a:solidFill>
                <a:latin typeface="Martel Sans" pitchFamily="34" charset="0"/>
                <a:ea typeface="Martel Sans" pitchFamily="34" charset="-122"/>
                <a:cs typeface="Martel Sans" pitchFamily="34" charset="-120"/>
              </a:rPr>
              <a:t>Fix typos, standardize formats, and resolve data entry mistakes</a:t>
            </a:r>
            <a:endParaRPr lang="en-US" sz="1500" dirty="0"/>
          </a:p>
        </p:txBody>
      </p:sp>
      <p:pic>
        <p:nvPicPr>
          <p:cNvPr id="10" name="Image 3" descr="preencoded.png"/>
          <p:cNvPicPr>
            <a:picLocks noChangeAspect="1"/>
          </p:cNvPicPr>
          <p:nvPr/>
        </p:nvPicPr>
        <p:blipFill>
          <a:blip r:embed="rId6"/>
          <a:stretch>
            <a:fillRect/>
          </a:stretch>
        </p:blipFill>
        <p:spPr>
          <a:xfrm>
            <a:off x="6158270" y="4109918"/>
            <a:ext cx="959763" cy="1151811"/>
          </a:xfrm>
          <a:prstGeom prst="rect">
            <a:avLst/>
          </a:prstGeom>
        </p:spPr>
      </p:pic>
      <p:sp>
        <p:nvSpPr>
          <p:cNvPr id="11" name="Text 5"/>
          <p:cNvSpPr/>
          <p:nvPr/>
        </p:nvSpPr>
        <p:spPr>
          <a:xfrm>
            <a:off x="7309961" y="4301847"/>
            <a:ext cx="2399586" cy="299799"/>
          </a:xfrm>
          <a:prstGeom prst="rect">
            <a:avLst/>
          </a:prstGeom>
          <a:noFill/>
          <a:ln/>
        </p:spPr>
        <p:txBody>
          <a:bodyPr wrap="none" lIns="0" tIns="0" rIns="0" bIns="0" rtlCol="0" anchor="t"/>
          <a:lstStyle/>
          <a:p>
            <a:pPr marL="0" indent="0" algn="l">
              <a:lnSpc>
                <a:spcPts val="2350"/>
              </a:lnSpc>
              <a:buNone/>
            </a:pPr>
            <a:r>
              <a:rPr lang="en-US" sz="1850" dirty="0">
                <a:solidFill>
                  <a:srgbClr val="2C3249"/>
                </a:solidFill>
                <a:latin typeface="Kanit Light" pitchFamily="34" charset="0"/>
                <a:ea typeface="Kanit Light" pitchFamily="34" charset="-122"/>
                <a:cs typeface="Kanit Light" pitchFamily="34" charset="-120"/>
              </a:rPr>
              <a:t>Transform Data</a:t>
            </a:r>
            <a:endParaRPr lang="en-US" sz="1850" dirty="0"/>
          </a:p>
        </p:txBody>
      </p:sp>
      <p:sp>
        <p:nvSpPr>
          <p:cNvPr id="12" name="Text 6"/>
          <p:cNvSpPr/>
          <p:nvPr/>
        </p:nvSpPr>
        <p:spPr>
          <a:xfrm>
            <a:off x="7309961" y="4716780"/>
            <a:ext cx="6648569" cy="307062"/>
          </a:xfrm>
          <a:prstGeom prst="rect">
            <a:avLst/>
          </a:prstGeom>
          <a:noFill/>
          <a:ln/>
        </p:spPr>
        <p:txBody>
          <a:bodyPr wrap="none" lIns="0" tIns="0" rIns="0" bIns="0" rtlCol="0" anchor="t"/>
          <a:lstStyle/>
          <a:p>
            <a:pPr marL="0" indent="0" algn="l">
              <a:lnSpc>
                <a:spcPts val="2400"/>
              </a:lnSpc>
              <a:buNone/>
            </a:pPr>
            <a:r>
              <a:rPr lang="en-US" sz="1500" dirty="0">
                <a:solidFill>
                  <a:srgbClr val="2C3249"/>
                </a:solidFill>
                <a:latin typeface="Martel Sans" pitchFamily="34" charset="0"/>
                <a:ea typeface="Martel Sans" pitchFamily="34" charset="-122"/>
                <a:cs typeface="Martel Sans" pitchFamily="34" charset="-120"/>
              </a:rPr>
              <a:t>Normalize, scale, and reformat fields for consistency across the dataset</a:t>
            </a:r>
            <a:endParaRPr lang="en-US" sz="1500" dirty="0"/>
          </a:p>
        </p:txBody>
      </p:sp>
      <p:sp>
        <p:nvSpPr>
          <p:cNvPr id="13" name="Text 7"/>
          <p:cNvSpPr/>
          <p:nvPr/>
        </p:nvSpPr>
        <p:spPr>
          <a:xfrm>
            <a:off x="6158270" y="5477589"/>
            <a:ext cx="7800261" cy="921187"/>
          </a:xfrm>
          <a:prstGeom prst="rect">
            <a:avLst/>
          </a:prstGeom>
          <a:noFill/>
          <a:ln/>
        </p:spPr>
        <p:txBody>
          <a:bodyPr wrap="square" lIns="0" tIns="0" rIns="0" bIns="0" rtlCol="0" anchor="t"/>
          <a:lstStyle/>
          <a:p>
            <a:pPr marL="0" indent="0" algn="l">
              <a:lnSpc>
                <a:spcPts val="2400"/>
              </a:lnSpc>
              <a:buNone/>
            </a:pPr>
            <a:r>
              <a:rPr lang="en-US" sz="1500" b="1" dirty="0">
                <a:solidFill>
                  <a:srgbClr val="2C3249"/>
                </a:solidFill>
                <a:latin typeface="Martel Sans" pitchFamily="34" charset="0"/>
                <a:ea typeface="Martel Sans" pitchFamily="34" charset="-122"/>
                <a:cs typeface="Martel Sans" pitchFamily="34" charset="-120"/>
              </a:rPr>
              <a:t>Real-world example:</a:t>
            </a:r>
            <a:r>
              <a:rPr lang="en-US" sz="1500" dirty="0">
                <a:solidFill>
                  <a:srgbClr val="2C3249"/>
                </a:solidFill>
                <a:latin typeface="Martel Sans" pitchFamily="34" charset="0"/>
                <a:ea typeface="Martel Sans" pitchFamily="34" charset="-122"/>
                <a:cs typeface="Martel Sans" pitchFamily="34" charset="-120"/>
              </a:rPr>
              <a:t> Imputing missing customer ages using median values by segment, or normalizing text fields like product categories to ensure consistent naming conventions.</a:t>
            </a:r>
            <a:endParaRPr lang="en-US" sz="1500" dirty="0"/>
          </a:p>
        </p:txBody>
      </p:sp>
      <p:sp>
        <p:nvSpPr>
          <p:cNvPr id="14" name="Shape 8"/>
          <p:cNvSpPr/>
          <p:nvPr/>
        </p:nvSpPr>
        <p:spPr>
          <a:xfrm>
            <a:off x="6158270" y="6710611"/>
            <a:ext cx="7800261" cy="31552"/>
          </a:xfrm>
          <a:prstGeom prst="rect">
            <a:avLst/>
          </a:prstGeom>
          <a:solidFill>
            <a:srgbClr val="2C3249">
              <a:alpha val="50000"/>
            </a:srgbClr>
          </a:solidFill>
          <a:ln/>
        </p:spPr>
        <p:txBody>
          <a:bodyPr/>
          <a:lstStyle/>
          <a:p>
            <a:endParaRPr lang="en-US"/>
          </a:p>
        </p:txBody>
      </p:sp>
      <p:sp>
        <p:nvSpPr>
          <p:cNvPr id="15" name="Text 9"/>
          <p:cNvSpPr/>
          <p:nvPr/>
        </p:nvSpPr>
        <p:spPr>
          <a:xfrm>
            <a:off x="6158270" y="6958013"/>
            <a:ext cx="7800261" cy="614124"/>
          </a:xfrm>
          <a:prstGeom prst="rect">
            <a:avLst/>
          </a:prstGeom>
          <a:noFill/>
          <a:ln/>
        </p:spPr>
        <p:txBody>
          <a:bodyPr wrap="square" lIns="0" tIns="0" rIns="0" bIns="0" rtlCol="0" anchor="t"/>
          <a:lstStyle/>
          <a:p>
            <a:pPr marL="0" indent="0" algn="l">
              <a:lnSpc>
                <a:spcPts val="2400"/>
              </a:lnSpc>
              <a:buNone/>
            </a:pPr>
            <a:r>
              <a:rPr lang="en-US" sz="1500" dirty="0">
                <a:solidFill>
                  <a:srgbClr val="2C3249"/>
                </a:solidFill>
                <a:latin typeface="Martel Sans" pitchFamily="34" charset="0"/>
                <a:ea typeface="Martel Sans" pitchFamily="34" charset="-122"/>
                <a:cs typeface="Martel Sans" pitchFamily="34" charset="-120"/>
              </a:rPr>
              <a:t>This step is often the most time-consuming in the ML workflow but remains absolutely critical to model success.</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54023" y="593169"/>
            <a:ext cx="6425089" cy="673298"/>
          </a:xfrm>
          <a:prstGeom prst="rect">
            <a:avLst/>
          </a:prstGeom>
          <a:noFill/>
          <a:ln/>
        </p:spPr>
        <p:txBody>
          <a:bodyPr wrap="none" lIns="0" tIns="0" rIns="0" bIns="0" rtlCol="0" anchor="t"/>
          <a:lstStyle/>
          <a:p>
            <a:pPr marL="0" indent="0" algn="l">
              <a:lnSpc>
                <a:spcPts val="5300"/>
              </a:lnSpc>
              <a:buNone/>
            </a:pPr>
            <a:r>
              <a:rPr lang="en-US" sz="4200" dirty="0">
                <a:solidFill>
                  <a:srgbClr val="272D45"/>
                </a:solidFill>
                <a:latin typeface="Kanit Light" pitchFamily="34" charset="0"/>
                <a:ea typeface="Kanit Light" pitchFamily="34" charset="-122"/>
                <a:cs typeface="Kanit Light" pitchFamily="34" charset="-120"/>
              </a:rPr>
              <a:t>Data Labeling and Splitting</a:t>
            </a:r>
            <a:endParaRPr lang="en-US" sz="4200" dirty="0"/>
          </a:p>
        </p:txBody>
      </p:sp>
      <p:sp>
        <p:nvSpPr>
          <p:cNvPr id="4" name="Shape 1"/>
          <p:cNvSpPr/>
          <p:nvPr/>
        </p:nvSpPr>
        <p:spPr>
          <a:xfrm>
            <a:off x="754023" y="1589603"/>
            <a:ext cx="7635954" cy="2915722"/>
          </a:xfrm>
          <a:prstGeom prst="roundRect">
            <a:avLst>
              <a:gd name="adj" fmla="val 3104"/>
            </a:avLst>
          </a:prstGeom>
          <a:solidFill>
            <a:srgbClr val="DFECE9"/>
          </a:solidFill>
          <a:ln w="7620">
            <a:solidFill>
              <a:srgbClr val="C5D2CF"/>
            </a:solidFill>
            <a:prstDash val="solid"/>
          </a:ln>
        </p:spPr>
        <p:txBody>
          <a:bodyPr/>
          <a:lstStyle/>
          <a:p>
            <a:endParaRPr lang="en-US"/>
          </a:p>
        </p:txBody>
      </p:sp>
      <p:sp>
        <p:nvSpPr>
          <p:cNvPr id="5" name="Text 2"/>
          <p:cNvSpPr/>
          <p:nvPr/>
        </p:nvSpPr>
        <p:spPr>
          <a:xfrm>
            <a:off x="977027" y="1812607"/>
            <a:ext cx="2693194" cy="336590"/>
          </a:xfrm>
          <a:prstGeom prst="rect">
            <a:avLst/>
          </a:prstGeom>
          <a:noFill/>
          <a:ln/>
        </p:spPr>
        <p:txBody>
          <a:bodyPr wrap="none" lIns="0" tIns="0" rIns="0" bIns="0" rtlCol="0" anchor="t"/>
          <a:lstStyle/>
          <a:p>
            <a:pPr marL="0" indent="0" algn="l">
              <a:lnSpc>
                <a:spcPts val="2650"/>
              </a:lnSpc>
              <a:buNone/>
            </a:pPr>
            <a:r>
              <a:rPr lang="en-US" sz="2100" dirty="0">
                <a:solidFill>
                  <a:srgbClr val="2C3249"/>
                </a:solidFill>
                <a:latin typeface="Kanit Light" pitchFamily="34" charset="0"/>
                <a:ea typeface="Kanit Light" pitchFamily="34" charset="-122"/>
                <a:cs typeface="Kanit Light" pitchFamily="34" charset="-120"/>
              </a:rPr>
              <a:t>Data Labeling</a:t>
            </a:r>
            <a:endParaRPr lang="en-US" sz="2100" dirty="0"/>
          </a:p>
        </p:txBody>
      </p:sp>
      <p:sp>
        <p:nvSpPr>
          <p:cNvPr id="6" name="Text 3"/>
          <p:cNvSpPr/>
          <p:nvPr/>
        </p:nvSpPr>
        <p:spPr>
          <a:xfrm>
            <a:off x="977027" y="2278380"/>
            <a:ext cx="7189946" cy="689610"/>
          </a:xfrm>
          <a:prstGeom prst="rect">
            <a:avLst/>
          </a:prstGeom>
          <a:noFill/>
          <a:ln/>
        </p:spPr>
        <p:txBody>
          <a:bodyPr wrap="square" lIns="0" tIns="0" rIns="0" bIns="0" rtlCol="0" anchor="t"/>
          <a:lstStyle/>
          <a:p>
            <a:pPr marL="0" indent="0" algn="l">
              <a:lnSpc>
                <a:spcPts val="2700"/>
              </a:lnSpc>
              <a:buNone/>
            </a:pPr>
            <a:r>
              <a:rPr lang="en-US" sz="1650" dirty="0">
                <a:solidFill>
                  <a:srgbClr val="2C3249"/>
                </a:solidFill>
                <a:latin typeface="Martel Sans" pitchFamily="34" charset="0"/>
                <a:ea typeface="Martel Sans" pitchFamily="34" charset="-122"/>
                <a:cs typeface="Martel Sans" pitchFamily="34" charset="-120"/>
              </a:rPr>
              <a:t>Assigning ground truth categories or outcomes to data points for supervised learning tasks.</a:t>
            </a:r>
            <a:endParaRPr lang="en-US" sz="1650" dirty="0"/>
          </a:p>
        </p:txBody>
      </p:sp>
      <p:sp>
        <p:nvSpPr>
          <p:cNvPr id="7" name="Text 4"/>
          <p:cNvSpPr/>
          <p:nvPr/>
        </p:nvSpPr>
        <p:spPr>
          <a:xfrm>
            <a:off x="977027" y="3097173"/>
            <a:ext cx="7189946" cy="344805"/>
          </a:xfrm>
          <a:prstGeom prst="rect">
            <a:avLst/>
          </a:prstGeom>
          <a:noFill/>
          <a:ln/>
        </p:spPr>
        <p:txBody>
          <a:bodyPr wrap="none" lIns="0" tIns="0" rIns="0" bIns="0" rtlCol="0" anchor="t"/>
          <a:lstStyle/>
          <a:p>
            <a:pPr marL="342900" indent="-342900" algn="l">
              <a:lnSpc>
                <a:spcPts val="2700"/>
              </a:lnSpc>
              <a:buSzPct val="100000"/>
              <a:buChar char="•"/>
            </a:pPr>
            <a:r>
              <a:rPr lang="en-US" sz="1650" dirty="0">
                <a:solidFill>
                  <a:srgbClr val="2C3249"/>
                </a:solidFill>
                <a:latin typeface="Martel Sans" pitchFamily="34" charset="0"/>
                <a:ea typeface="Martel Sans" pitchFamily="34" charset="-122"/>
                <a:cs typeface="Martel Sans" pitchFamily="34" charset="-120"/>
              </a:rPr>
              <a:t>Manual annotation by domain experts</a:t>
            </a:r>
            <a:endParaRPr lang="en-US" sz="1650" dirty="0"/>
          </a:p>
        </p:txBody>
      </p:sp>
      <p:sp>
        <p:nvSpPr>
          <p:cNvPr id="8" name="Text 5"/>
          <p:cNvSpPr/>
          <p:nvPr/>
        </p:nvSpPr>
        <p:spPr>
          <a:xfrm>
            <a:off x="977027" y="3517344"/>
            <a:ext cx="7189946" cy="344805"/>
          </a:xfrm>
          <a:prstGeom prst="rect">
            <a:avLst/>
          </a:prstGeom>
          <a:noFill/>
          <a:ln/>
        </p:spPr>
        <p:txBody>
          <a:bodyPr wrap="none" lIns="0" tIns="0" rIns="0" bIns="0" rtlCol="0" anchor="t"/>
          <a:lstStyle/>
          <a:p>
            <a:pPr marL="342900" indent="-342900" algn="l">
              <a:lnSpc>
                <a:spcPts val="2700"/>
              </a:lnSpc>
              <a:buSzPct val="100000"/>
              <a:buChar char="•"/>
            </a:pPr>
            <a:r>
              <a:rPr lang="en-US" sz="1650" dirty="0">
                <a:solidFill>
                  <a:srgbClr val="2C3249"/>
                </a:solidFill>
                <a:latin typeface="Martel Sans" pitchFamily="34" charset="0"/>
                <a:ea typeface="Martel Sans" pitchFamily="34" charset="-122"/>
                <a:cs typeface="Martel Sans" pitchFamily="34" charset="-120"/>
              </a:rPr>
              <a:t>Programmatic labeling using business rules</a:t>
            </a:r>
            <a:endParaRPr lang="en-US" sz="1650" dirty="0"/>
          </a:p>
        </p:txBody>
      </p:sp>
      <p:sp>
        <p:nvSpPr>
          <p:cNvPr id="9" name="Text 6"/>
          <p:cNvSpPr/>
          <p:nvPr/>
        </p:nvSpPr>
        <p:spPr>
          <a:xfrm>
            <a:off x="977027" y="3937516"/>
            <a:ext cx="7189946" cy="344805"/>
          </a:xfrm>
          <a:prstGeom prst="rect">
            <a:avLst/>
          </a:prstGeom>
          <a:noFill/>
          <a:ln/>
        </p:spPr>
        <p:txBody>
          <a:bodyPr wrap="none" lIns="0" tIns="0" rIns="0" bIns="0" rtlCol="0" anchor="t"/>
          <a:lstStyle/>
          <a:p>
            <a:pPr marL="342900" indent="-342900" algn="l">
              <a:lnSpc>
                <a:spcPts val="2700"/>
              </a:lnSpc>
              <a:buSzPct val="100000"/>
              <a:buChar char="•"/>
            </a:pPr>
            <a:r>
              <a:rPr lang="en-US" sz="1650" dirty="0">
                <a:solidFill>
                  <a:srgbClr val="2C3249"/>
                </a:solidFill>
                <a:latin typeface="Martel Sans" pitchFamily="34" charset="0"/>
                <a:ea typeface="Martel Sans" pitchFamily="34" charset="-122"/>
                <a:cs typeface="Martel Sans" pitchFamily="34" charset="-120"/>
              </a:rPr>
              <a:t>Semi-supervised approaches for efficiency</a:t>
            </a:r>
            <a:endParaRPr lang="en-US" sz="1650" dirty="0"/>
          </a:p>
        </p:txBody>
      </p:sp>
      <p:sp>
        <p:nvSpPr>
          <p:cNvPr id="10" name="Shape 7"/>
          <p:cNvSpPr/>
          <p:nvPr/>
        </p:nvSpPr>
        <p:spPr>
          <a:xfrm>
            <a:off x="754023" y="4720709"/>
            <a:ext cx="7635954" cy="2915722"/>
          </a:xfrm>
          <a:prstGeom prst="roundRect">
            <a:avLst>
              <a:gd name="adj" fmla="val 3104"/>
            </a:avLst>
          </a:prstGeom>
          <a:solidFill>
            <a:srgbClr val="DFECE9"/>
          </a:solidFill>
          <a:ln w="7620">
            <a:solidFill>
              <a:srgbClr val="C5D2CF"/>
            </a:solidFill>
            <a:prstDash val="solid"/>
          </a:ln>
        </p:spPr>
        <p:txBody>
          <a:bodyPr/>
          <a:lstStyle/>
          <a:p>
            <a:endParaRPr lang="en-US"/>
          </a:p>
        </p:txBody>
      </p:sp>
      <p:sp>
        <p:nvSpPr>
          <p:cNvPr id="11" name="Text 8"/>
          <p:cNvSpPr/>
          <p:nvPr/>
        </p:nvSpPr>
        <p:spPr>
          <a:xfrm>
            <a:off x="977027" y="4943713"/>
            <a:ext cx="2693194" cy="336590"/>
          </a:xfrm>
          <a:prstGeom prst="rect">
            <a:avLst/>
          </a:prstGeom>
          <a:noFill/>
          <a:ln/>
        </p:spPr>
        <p:txBody>
          <a:bodyPr wrap="none" lIns="0" tIns="0" rIns="0" bIns="0" rtlCol="0" anchor="t"/>
          <a:lstStyle/>
          <a:p>
            <a:pPr marL="0" indent="0" algn="l">
              <a:lnSpc>
                <a:spcPts val="2650"/>
              </a:lnSpc>
              <a:buNone/>
            </a:pPr>
            <a:r>
              <a:rPr lang="en-US" sz="2100" dirty="0">
                <a:solidFill>
                  <a:srgbClr val="2C3249"/>
                </a:solidFill>
                <a:latin typeface="Kanit Light" pitchFamily="34" charset="0"/>
                <a:ea typeface="Kanit Light" pitchFamily="34" charset="-122"/>
                <a:cs typeface="Kanit Light" pitchFamily="34" charset="-120"/>
              </a:rPr>
              <a:t>Dataset Splitting</a:t>
            </a:r>
            <a:endParaRPr lang="en-US" sz="2100" dirty="0"/>
          </a:p>
        </p:txBody>
      </p:sp>
      <p:sp>
        <p:nvSpPr>
          <p:cNvPr id="12" name="Text 9"/>
          <p:cNvSpPr/>
          <p:nvPr/>
        </p:nvSpPr>
        <p:spPr>
          <a:xfrm>
            <a:off x="977027" y="5409486"/>
            <a:ext cx="7189946" cy="689610"/>
          </a:xfrm>
          <a:prstGeom prst="rect">
            <a:avLst/>
          </a:prstGeom>
          <a:noFill/>
          <a:ln/>
        </p:spPr>
        <p:txBody>
          <a:bodyPr wrap="square" lIns="0" tIns="0" rIns="0" bIns="0" rtlCol="0" anchor="t"/>
          <a:lstStyle/>
          <a:p>
            <a:pPr marL="0" indent="0" algn="l">
              <a:lnSpc>
                <a:spcPts val="2700"/>
              </a:lnSpc>
              <a:buNone/>
            </a:pPr>
            <a:r>
              <a:rPr lang="en-US" sz="1650" dirty="0">
                <a:solidFill>
                  <a:srgbClr val="2C3249"/>
                </a:solidFill>
                <a:latin typeface="Martel Sans" pitchFamily="34" charset="0"/>
                <a:ea typeface="Martel Sans" pitchFamily="34" charset="-122"/>
                <a:cs typeface="Martel Sans" pitchFamily="34" charset="-120"/>
              </a:rPr>
              <a:t>Dividing data into distinct sets to ensure robust model evaluation and prevent overfitting.</a:t>
            </a:r>
            <a:endParaRPr lang="en-US" sz="1650" dirty="0"/>
          </a:p>
        </p:txBody>
      </p:sp>
      <p:sp>
        <p:nvSpPr>
          <p:cNvPr id="13" name="Text 10"/>
          <p:cNvSpPr/>
          <p:nvPr/>
        </p:nvSpPr>
        <p:spPr>
          <a:xfrm>
            <a:off x="977027" y="6228278"/>
            <a:ext cx="7189946" cy="344805"/>
          </a:xfrm>
          <a:prstGeom prst="rect">
            <a:avLst/>
          </a:prstGeom>
          <a:noFill/>
          <a:ln/>
        </p:spPr>
        <p:txBody>
          <a:bodyPr wrap="none" lIns="0" tIns="0" rIns="0" bIns="0" rtlCol="0" anchor="t"/>
          <a:lstStyle/>
          <a:p>
            <a:pPr marL="342900" indent="-342900" algn="l">
              <a:lnSpc>
                <a:spcPts val="2700"/>
              </a:lnSpc>
              <a:buSzPct val="100000"/>
              <a:buChar char="•"/>
            </a:pPr>
            <a:r>
              <a:rPr lang="en-US" sz="1650" b="1" dirty="0">
                <a:solidFill>
                  <a:srgbClr val="2C3249"/>
                </a:solidFill>
                <a:latin typeface="Martel Sans" pitchFamily="34" charset="0"/>
                <a:ea typeface="Martel Sans" pitchFamily="34" charset="-122"/>
                <a:cs typeface="Martel Sans" pitchFamily="34" charset="-120"/>
              </a:rPr>
              <a:t>Training set:</a:t>
            </a:r>
            <a:r>
              <a:rPr lang="en-US" sz="1650" dirty="0">
                <a:solidFill>
                  <a:srgbClr val="2C3249"/>
                </a:solidFill>
                <a:latin typeface="Martel Sans" pitchFamily="34" charset="0"/>
                <a:ea typeface="Martel Sans" pitchFamily="34" charset="-122"/>
                <a:cs typeface="Martel Sans" pitchFamily="34" charset="-120"/>
              </a:rPr>
              <a:t> 60-80% for model learning</a:t>
            </a:r>
            <a:endParaRPr lang="en-US" sz="1650" dirty="0"/>
          </a:p>
        </p:txBody>
      </p:sp>
      <p:sp>
        <p:nvSpPr>
          <p:cNvPr id="14" name="Text 11"/>
          <p:cNvSpPr/>
          <p:nvPr/>
        </p:nvSpPr>
        <p:spPr>
          <a:xfrm>
            <a:off x="977027" y="6648450"/>
            <a:ext cx="7189946" cy="344805"/>
          </a:xfrm>
          <a:prstGeom prst="rect">
            <a:avLst/>
          </a:prstGeom>
          <a:noFill/>
          <a:ln/>
        </p:spPr>
        <p:txBody>
          <a:bodyPr wrap="none" lIns="0" tIns="0" rIns="0" bIns="0" rtlCol="0" anchor="t"/>
          <a:lstStyle/>
          <a:p>
            <a:pPr marL="342900" indent="-342900" algn="l">
              <a:lnSpc>
                <a:spcPts val="2700"/>
              </a:lnSpc>
              <a:buSzPct val="100000"/>
              <a:buChar char="•"/>
            </a:pPr>
            <a:r>
              <a:rPr lang="en-US" sz="1650" b="1" dirty="0">
                <a:solidFill>
                  <a:srgbClr val="2C3249"/>
                </a:solidFill>
                <a:latin typeface="Martel Sans" pitchFamily="34" charset="0"/>
                <a:ea typeface="Martel Sans" pitchFamily="34" charset="-122"/>
                <a:cs typeface="Martel Sans" pitchFamily="34" charset="-120"/>
              </a:rPr>
              <a:t>Validation set:</a:t>
            </a:r>
            <a:r>
              <a:rPr lang="en-US" sz="1650" dirty="0">
                <a:solidFill>
                  <a:srgbClr val="2C3249"/>
                </a:solidFill>
                <a:latin typeface="Martel Sans" pitchFamily="34" charset="0"/>
                <a:ea typeface="Martel Sans" pitchFamily="34" charset="-122"/>
                <a:cs typeface="Martel Sans" pitchFamily="34" charset="-120"/>
              </a:rPr>
              <a:t> 10-20% for tuning</a:t>
            </a:r>
            <a:endParaRPr lang="en-US" sz="1650" dirty="0"/>
          </a:p>
        </p:txBody>
      </p:sp>
      <p:sp>
        <p:nvSpPr>
          <p:cNvPr id="15" name="Text 12"/>
          <p:cNvSpPr/>
          <p:nvPr/>
        </p:nvSpPr>
        <p:spPr>
          <a:xfrm>
            <a:off x="977027" y="7068622"/>
            <a:ext cx="7189946" cy="344805"/>
          </a:xfrm>
          <a:prstGeom prst="rect">
            <a:avLst/>
          </a:prstGeom>
          <a:noFill/>
          <a:ln/>
        </p:spPr>
        <p:txBody>
          <a:bodyPr wrap="none" lIns="0" tIns="0" rIns="0" bIns="0" rtlCol="0" anchor="t"/>
          <a:lstStyle/>
          <a:p>
            <a:pPr marL="342900" indent="-342900" algn="l">
              <a:lnSpc>
                <a:spcPts val="2700"/>
              </a:lnSpc>
              <a:buSzPct val="100000"/>
              <a:buChar char="•"/>
            </a:pPr>
            <a:r>
              <a:rPr lang="en-US" sz="1650" b="1" dirty="0">
                <a:solidFill>
                  <a:srgbClr val="2C3249"/>
                </a:solidFill>
                <a:latin typeface="Martel Sans" pitchFamily="34" charset="0"/>
                <a:ea typeface="Martel Sans" pitchFamily="34" charset="-122"/>
                <a:cs typeface="Martel Sans" pitchFamily="34" charset="-120"/>
              </a:rPr>
              <a:t>Test set:</a:t>
            </a:r>
            <a:r>
              <a:rPr lang="en-US" sz="1650" dirty="0">
                <a:solidFill>
                  <a:srgbClr val="2C3249"/>
                </a:solidFill>
                <a:latin typeface="Martel Sans" pitchFamily="34" charset="0"/>
                <a:ea typeface="Martel Sans" pitchFamily="34" charset="-122"/>
                <a:cs typeface="Martel Sans" pitchFamily="34" charset="-120"/>
              </a:rPr>
              <a:t> 10-20% for final evaluation</a:t>
            </a:r>
            <a:endParaRPr lang="en-US" sz="1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812607"/>
            <a:ext cx="7556421" cy="1417677"/>
          </a:xfrm>
          <a:prstGeom prst="rect">
            <a:avLst/>
          </a:prstGeom>
          <a:noFill/>
          <a:ln/>
        </p:spPr>
        <p:txBody>
          <a:bodyPr wrap="none" lIns="0" tIns="0" rIns="0" bIns="0" rtlCol="0" anchor="t"/>
          <a:lstStyle/>
          <a:p>
            <a:pPr marL="0" indent="0" algn="l">
              <a:lnSpc>
                <a:spcPts val="11150"/>
              </a:lnSpc>
              <a:buNone/>
            </a:pPr>
            <a:r>
              <a:rPr lang="en-US" sz="8900" dirty="0">
                <a:solidFill>
                  <a:srgbClr val="272D45"/>
                </a:solidFill>
                <a:latin typeface="Kanit Light" pitchFamily="34" charset="0"/>
                <a:ea typeface="Kanit Light" pitchFamily="34" charset="-122"/>
                <a:cs typeface="Kanit Light" pitchFamily="34" charset="-120"/>
              </a:rPr>
              <a:t>Chapter 3</a:t>
            </a:r>
            <a:endParaRPr lang="en-US" sz="8900" dirty="0"/>
          </a:p>
        </p:txBody>
      </p:sp>
      <p:sp>
        <p:nvSpPr>
          <p:cNvPr id="4" name="Text 1"/>
          <p:cNvSpPr/>
          <p:nvPr/>
        </p:nvSpPr>
        <p:spPr>
          <a:xfrm>
            <a:off x="6280190" y="3570446"/>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272D45"/>
                </a:solidFill>
                <a:latin typeface="Kanit Light" pitchFamily="34" charset="0"/>
                <a:ea typeface="Kanit Light" pitchFamily="34" charset="-122"/>
                <a:cs typeface="Kanit Light" pitchFamily="34" charset="-120"/>
              </a:rPr>
              <a:t>Model Engineering — Building Intelligence</a:t>
            </a:r>
            <a:endParaRPr lang="en-US" sz="4450" dirty="0"/>
          </a:p>
        </p:txBody>
      </p:sp>
      <p:sp>
        <p:nvSpPr>
          <p:cNvPr id="5" name="Text 2"/>
          <p:cNvSpPr/>
          <p:nvPr/>
        </p:nvSpPr>
        <p:spPr>
          <a:xfrm>
            <a:off x="6280190" y="5328166"/>
            <a:ext cx="7556421" cy="1088708"/>
          </a:xfrm>
          <a:prstGeom prst="rect">
            <a:avLst/>
          </a:prstGeom>
          <a:noFill/>
          <a:ln/>
        </p:spPr>
        <p:txBody>
          <a:bodyPr wrap="square" lIns="0" tIns="0" rIns="0" bIns="0" rtlCol="0" anchor="t"/>
          <a:lstStyle/>
          <a:p>
            <a:pPr marL="0" indent="0" algn="l">
              <a:lnSpc>
                <a:spcPts val="2850"/>
              </a:lnSpc>
              <a:buNone/>
            </a:pPr>
            <a:r>
              <a:rPr lang="en-US" sz="1750" dirty="0">
                <a:solidFill>
                  <a:srgbClr val="2C3249"/>
                </a:solidFill>
                <a:latin typeface="Martel Sans" pitchFamily="34" charset="0"/>
                <a:ea typeface="Martel Sans" pitchFamily="34" charset="-122"/>
                <a:cs typeface="Martel Sans" pitchFamily="34" charset="-120"/>
              </a:rPr>
              <a:t>Model engineering transforms prepared data into predictive intelligence through careful feature design, algorithm selection, and iterative refinement.</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14732" y="561499"/>
            <a:ext cx="7675959" cy="638175"/>
          </a:xfrm>
          <a:prstGeom prst="rect">
            <a:avLst/>
          </a:prstGeom>
          <a:noFill/>
          <a:ln/>
        </p:spPr>
        <p:txBody>
          <a:bodyPr wrap="none" lIns="0" tIns="0" rIns="0" bIns="0" rtlCol="0" anchor="t"/>
          <a:lstStyle/>
          <a:p>
            <a:pPr marL="0" indent="0" algn="l">
              <a:lnSpc>
                <a:spcPts val="5000"/>
              </a:lnSpc>
              <a:buNone/>
            </a:pPr>
            <a:r>
              <a:rPr lang="en-US" sz="4000" dirty="0">
                <a:solidFill>
                  <a:srgbClr val="272D45"/>
                </a:solidFill>
                <a:latin typeface="Kanit Light" pitchFamily="34" charset="0"/>
                <a:ea typeface="Kanit Light" pitchFamily="34" charset="-122"/>
                <a:cs typeface="Kanit Light" pitchFamily="34" charset="-120"/>
              </a:rPr>
              <a:t>Feature Engineering and Selection</a:t>
            </a:r>
            <a:endParaRPr lang="en-US" sz="4000" dirty="0"/>
          </a:p>
        </p:txBody>
      </p:sp>
      <p:sp>
        <p:nvSpPr>
          <p:cNvPr id="3" name="Text 1"/>
          <p:cNvSpPr/>
          <p:nvPr/>
        </p:nvSpPr>
        <p:spPr>
          <a:xfrm>
            <a:off x="714732" y="1710095"/>
            <a:ext cx="3567589" cy="382905"/>
          </a:xfrm>
          <a:prstGeom prst="rect">
            <a:avLst/>
          </a:prstGeom>
          <a:noFill/>
          <a:ln/>
        </p:spPr>
        <p:txBody>
          <a:bodyPr wrap="none" lIns="0" tIns="0" rIns="0" bIns="0" rtlCol="0" anchor="t"/>
          <a:lstStyle/>
          <a:p>
            <a:pPr marL="0" indent="0" algn="l">
              <a:lnSpc>
                <a:spcPts val="3000"/>
              </a:lnSpc>
              <a:buNone/>
            </a:pPr>
            <a:r>
              <a:rPr lang="en-US" sz="2400" dirty="0">
                <a:solidFill>
                  <a:srgbClr val="272D45"/>
                </a:solidFill>
                <a:latin typeface="Kanit Light" pitchFamily="34" charset="0"/>
                <a:ea typeface="Kanit Light" pitchFamily="34" charset="-122"/>
                <a:cs typeface="Kanit Light" pitchFamily="34" charset="-120"/>
              </a:rPr>
              <a:t>Crafting Meaningful Inputs</a:t>
            </a:r>
            <a:endParaRPr lang="en-US" sz="2400" dirty="0"/>
          </a:p>
        </p:txBody>
      </p:sp>
      <p:sp>
        <p:nvSpPr>
          <p:cNvPr id="4" name="Text 2"/>
          <p:cNvSpPr/>
          <p:nvPr/>
        </p:nvSpPr>
        <p:spPr>
          <a:xfrm>
            <a:off x="714732" y="2297192"/>
            <a:ext cx="5666423" cy="980123"/>
          </a:xfrm>
          <a:prstGeom prst="rect">
            <a:avLst/>
          </a:prstGeom>
          <a:noFill/>
          <a:ln/>
        </p:spPr>
        <p:txBody>
          <a:bodyPr wrap="square" lIns="0" tIns="0" rIns="0" bIns="0" rtlCol="0" anchor="t"/>
          <a:lstStyle/>
          <a:p>
            <a:pPr marL="0" indent="0" algn="l">
              <a:lnSpc>
                <a:spcPts val="2550"/>
              </a:lnSpc>
              <a:buNone/>
            </a:pPr>
            <a:r>
              <a:rPr lang="en-US" sz="1600" dirty="0">
                <a:solidFill>
                  <a:srgbClr val="2C3249"/>
                </a:solidFill>
                <a:latin typeface="Martel Sans" pitchFamily="34" charset="0"/>
                <a:ea typeface="Martel Sans" pitchFamily="34" charset="-122"/>
                <a:cs typeface="Martel Sans" pitchFamily="34" charset="-120"/>
              </a:rPr>
              <a:t>Feature engineering transforms raw data into variables that machine learning algorithms can effectively learn from.</a:t>
            </a:r>
            <a:endParaRPr lang="en-US" sz="1600" dirty="0"/>
          </a:p>
        </p:txBody>
      </p:sp>
      <p:sp>
        <p:nvSpPr>
          <p:cNvPr id="5" name="Text 3"/>
          <p:cNvSpPr/>
          <p:nvPr/>
        </p:nvSpPr>
        <p:spPr>
          <a:xfrm>
            <a:off x="714732" y="3461028"/>
            <a:ext cx="5666423" cy="326708"/>
          </a:xfrm>
          <a:prstGeom prst="rect">
            <a:avLst/>
          </a:prstGeom>
          <a:noFill/>
          <a:ln/>
        </p:spPr>
        <p:txBody>
          <a:bodyPr wrap="none" lIns="0" tIns="0" rIns="0" bIns="0" rtlCol="0" anchor="t"/>
          <a:lstStyle/>
          <a:p>
            <a:pPr marL="0" indent="0" algn="l">
              <a:lnSpc>
                <a:spcPts val="2550"/>
              </a:lnSpc>
              <a:buNone/>
            </a:pPr>
            <a:r>
              <a:rPr lang="en-US" sz="1600" b="1" dirty="0">
                <a:solidFill>
                  <a:srgbClr val="2C3249"/>
                </a:solidFill>
                <a:latin typeface="Martel Sans" pitchFamily="34" charset="0"/>
                <a:ea typeface="Martel Sans" pitchFamily="34" charset="-122"/>
                <a:cs typeface="Martel Sans" pitchFamily="34" charset="-120"/>
              </a:rPr>
              <a:t>Key techniques:</a:t>
            </a:r>
            <a:endParaRPr lang="en-US" sz="1600" dirty="0"/>
          </a:p>
        </p:txBody>
      </p:sp>
      <p:sp>
        <p:nvSpPr>
          <p:cNvPr id="6" name="Text 4"/>
          <p:cNvSpPr/>
          <p:nvPr/>
        </p:nvSpPr>
        <p:spPr>
          <a:xfrm>
            <a:off x="714732" y="3971449"/>
            <a:ext cx="5666423" cy="326708"/>
          </a:xfrm>
          <a:prstGeom prst="rect">
            <a:avLst/>
          </a:prstGeom>
          <a:noFill/>
          <a:ln/>
        </p:spPr>
        <p:txBody>
          <a:bodyPr wrap="none" lIns="0" tIns="0" rIns="0" bIns="0" rtlCol="0" anchor="t"/>
          <a:lstStyle/>
          <a:p>
            <a:pPr marL="342900" indent="-342900" algn="l">
              <a:lnSpc>
                <a:spcPts val="2550"/>
              </a:lnSpc>
              <a:buSzPct val="100000"/>
              <a:buChar char="•"/>
            </a:pPr>
            <a:r>
              <a:rPr lang="en-US" sz="1600" dirty="0">
                <a:solidFill>
                  <a:srgbClr val="2C3249"/>
                </a:solidFill>
                <a:latin typeface="Martel Sans" pitchFamily="34" charset="0"/>
                <a:ea typeface="Martel Sans" pitchFamily="34" charset="-122"/>
                <a:cs typeface="Martel Sans" pitchFamily="34" charset="-120"/>
              </a:rPr>
              <a:t>Aggregation: Customer lifetime value</a:t>
            </a:r>
            <a:endParaRPr lang="en-US" sz="1600" dirty="0"/>
          </a:p>
        </p:txBody>
      </p:sp>
      <p:sp>
        <p:nvSpPr>
          <p:cNvPr id="7" name="Text 5"/>
          <p:cNvSpPr/>
          <p:nvPr/>
        </p:nvSpPr>
        <p:spPr>
          <a:xfrm>
            <a:off x="714732" y="4369594"/>
            <a:ext cx="5666423" cy="326708"/>
          </a:xfrm>
          <a:prstGeom prst="rect">
            <a:avLst/>
          </a:prstGeom>
          <a:noFill/>
          <a:ln/>
        </p:spPr>
        <p:txBody>
          <a:bodyPr wrap="none" lIns="0" tIns="0" rIns="0" bIns="0" rtlCol="0" anchor="t"/>
          <a:lstStyle/>
          <a:p>
            <a:pPr marL="342900" indent="-342900" algn="l">
              <a:lnSpc>
                <a:spcPts val="2550"/>
              </a:lnSpc>
              <a:buSzPct val="100000"/>
              <a:buChar char="•"/>
            </a:pPr>
            <a:r>
              <a:rPr lang="en-US" sz="1600" dirty="0">
                <a:solidFill>
                  <a:srgbClr val="2C3249"/>
                </a:solidFill>
                <a:latin typeface="Martel Sans" pitchFamily="34" charset="0"/>
                <a:ea typeface="Martel Sans" pitchFamily="34" charset="-122"/>
                <a:cs typeface="Martel Sans" pitchFamily="34" charset="-120"/>
              </a:rPr>
              <a:t>Temporal: Days since last purchase</a:t>
            </a:r>
            <a:endParaRPr lang="en-US" sz="1600" dirty="0"/>
          </a:p>
        </p:txBody>
      </p:sp>
      <p:sp>
        <p:nvSpPr>
          <p:cNvPr id="8" name="Text 6"/>
          <p:cNvSpPr/>
          <p:nvPr/>
        </p:nvSpPr>
        <p:spPr>
          <a:xfrm>
            <a:off x="714732" y="4767739"/>
            <a:ext cx="5666423" cy="326708"/>
          </a:xfrm>
          <a:prstGeom prst="rect">
            <a:avLst/>
          </a:prstGeom>
          <a:noFill/>
          <a:ln/>
        </p:spPr>
        <p:txBody>
          <a:bodyPr wrap="none" lIns="0" tIns="0" rIns="0" bIns="0" rtlCol="0" anchor="t"/>
          <a:lstStyle/>
          <a:p>
            <a:pPr marL="342900" indent="-342900" algn="l">
              <a:lnSpc>
                <a:spcPts val="2550"/>
              </a:lnSpc>
              <a:buSzPct val="100000"/>
              <a:buChar char="•"/>
            </a:pPr>
            <a:r>
              <a:rPr lang="en-US" sz="1600" dirty="0">
                <a:solidFill>
                  <a:srgbClr val="2C3249"/>
                </a:solidFill>
                <a:latin typeface="Martel Sans" pitchFamily="34" charset="0"/>
                <a:ea typeface="Martel Sans" pitchFamily="34" charset="-122"/>
                <a:cs typeface="Martel Sans" pitchFamily="34" charset="-120"/>
              </a:rPr>
              <a:t>Behavioral: Average session duration</a:t>
            </a:r>
            <a:endParaRPr lang="en-US" sz="1600" dirty="0"/>
          </a:p>
        </p:txBody>
      </p:sp>
      <p:sp>
        <p:nvSpPr>
          <p:cNvPr id="9" name="Text 7"/>
          <p:cNvSpPr/>
          <p:nvPr/>
        </p:nvSpPr>
        <p:spPr>
          <a:xfrm>
            <a:off x="714732" y="5165884"/>
            <a:ext cx="5666423" cy="326708"/>
          </a:xfrm>
          <a:prstGeom prst="rect">
            <a:avLst/>
          </a:prstGeom>
          <a:noFill/>
          <a:ln/>
        </p:spPr>
        <p:txBody>
          <a:bodyPr wrap="none" lIns="0" tIns="0" rIns="0" bIns="0" rtlCol="0" anchor="t"/>
          <a:lstStyle/>
          <a:p>
            <a:pPr marL="342900" indent="-342900" algn="l">
              <a:lnSpc>
                <a:spcPts val="2550"/>
              </a:lnSpc>
              <a:buSzPct val="100000"/>
              <a:buChar char="•"/>
            </a:pPr>
            <a:r>
              <a:rPr lang="en-US" sz="1600" dirty="0">
                <a:solidFill>
                  <a:srgbClr val="2C3249"/>
                </a:solidFill>
                <a:latin typeface="Martel Sans" pitchFamily="34" charset="0"/>
                <a:ea typeface="Martel Sans" pitchFamily="34" charset="-122"/>
                <a:cs typeface="Martel Sans" pitchFamily="34" charset="-120"/>
              </a:rPr>
              <a:t>Categorical: One-hot encoding regions</a:t>
            </a:r>
            <a:endParaRPr lang="en-US" sz="1600" dirty="0"/>
          </a:p>
        </p:txBody>
      </p:sp>
      <p:pic>
        <p:nvPicPr>
          <p:cNvPr id="10" name="Image 0" descr="preencoded.png"/>
          <p:cNvPicPr>
            <a:picLocks noChangeAspect="1"/>
          </p:cNvPicPr>
          <p:nvPr/>
        </p:nvPicPr>
        <p:blipFill>
          <a:blip r:embed="rId3"/>
          <a:stretch>
            <a:fillRect/>
          </a:stretch>
        </p:blipFill>
        <p:spPr>
          <a:xfrm>
            <a:off x="6886932" y="1735574"/>
            <a:ext cx="2286000" cy="2286000"/>
          </a:xfrm>
          <a:prstGeom prst="rect">
            <a:avLst/>
          </a:prstGeom>
        </p:spPr>
      </p:pic>
      <p:sp>
        <p:nvSpPr>
          <p:cNvPr id="11" name="Shape 8"/>
          <p:cNvSpPr/>
          <p:nvPr/>
        </p:nvSpPr>
        <p:spPr>
          <a:xfrm>
            <a:off x="714732" y="5793700"/>
            <a:ext cx="6498312" cy="1875830"/>
          </a:xfrm>
          <a:prstGeom prst="roundRect">
            <a:avLst>
              <a:gd name="adj" fmla="val 4572"/>
            </a:avLst>
          </a:prstGeom>
          <a:solidFill>
            <a:srgbClr val="FFFFFF"/>
          </a:solidFill>
          <a:ln w="22860">
            <a:solidFill>
              <a:srgbClr val="C5D2CF"/>
            </a:solidFill>
            <a:prstDash val="solid"/>
          </a:ln>
        </p:spPr>
        <p:txBody>
          <a:bodyPr/>
          <a:lstStyle/>
          <a:p>
            <a:endParaRPr lang="en-US"/>
          </a:p>
        </p:txBody>
      </p:sp>
      <p:sp>
        <p:nvSpPr>
          <p:cNvPr id="12" name="Text 9"/>
          <p:cNvSpPr/>
          <p:nvPr/>
        </p:nvSpPr>
        <p:spPr>
          <a:xfrm>
            <a:off x="941784" y="6020753"/>
            <a:ext cx="2886432" cy="319088"/>
          </a:xfrm>
          <a:prstGeom prst="rect">
            <a:avLst/>
          </a:prstGeom>
          <a:noFill/>
          <a:ln/>
        </p:spPr>
        <p:txBody>
          <a:bodyPr wrap="none" lIns="0" tIns="0" rIns="0" bIns="0" rtlCol="0" anchor="t"/>
          <a:lstStyle/>
          <a:p>
            <a:pPr marL="0" indent="0" algn="l">
              <a:lnSpc>
                <a:spcPts val="2500"/>
              </a:lnSpc>
              <a:buNone/>
            </a:pPr>
            <a:r>
              <a:rPr lang="en-US" sz="2000" dirty="0">
                <a:solidFill>
                  <a:srgbClr val="2C3249"/>
                </a:solidFill>
                <a:latin typeface="Kanit Light" pitchFamily="34" charset="0"/>
                <a:ea typeface="Kanit Light" pitchFamily="34" charset="-122"/>
                <a:cs typeface="Kanit Light" pitchFamily="34" charset="-120"/>
              </a:rPr>
              <a:t>Example: Customer Churn</a:t>
            </a:r>
            <a:endParaRPr lang="en-US" sz="2000" dirty="0"/>
          </a:p>
        </p:txBody>
      </p:sp>
      <p:sp>
        <p:nvSpPr>
          <p:cNvPr id="13" name="Text 10"/>
          <p:cNvSpPr/>
          <p:nvPr/>
        </p:nvSpPr>
        <p:spPr>
          <a:xfrm>
            <a:off x="941784" y="6462355"/>
            <a:ext cx="6044208" cy="980123"/>
          </a:xfrm>
          <a:prstGeom prst="rect">
            <a:avLst/>
          </a:prstGeom>
          <a:noFill/>
          <a:ln/>
        </p:spPr>
        <p:txBody>
          <a:bodyPr wrap="square" lIns="0" tIns="0" rIns="0" bIns="0" rtlCol="0" anchor="t"/>
          <a:lstStyle/>
          <a:p>
            <a:pPr marL="0" indent="0" algn="l">
              <a:lnSpc>
                <a:spcPts val="2550"/>
              </a:lnSpc>
              <a:buNone/>
            </a:pPr>
            <a:r>
              <a:rPr lang="en-US" sz="1600" dirty="0">
                <a:solidFill>
                  <a:srgbClr val="2C3249"/>
                </a:solidFill>
                <a:latin typeface="Martel Sans" pitchFamily="34" charset="0"/>
                <a:ea typeface="Martel Sans" pitchFamily="34" charset="-122"/>
                <a:cs typeface="Martel Sans" pitchFamily="34" charset="-120"/>
              </a:rPr>
              <a:t>Extracting customer tenure in months, average purchase frequency, product diversity score, and support ticket count as predictive features.</a:t>
            </a:r>
            <a:endParaRPr lang="en-US" sz="1600" dirty="0"/>
          </a:p>
        </p:txBody>
      </p:sp>
      <p:sp>
        <p:nvSpPr>
          <p:cNvPr id="14" name="Shape 11"/>
          <p:cNvSpPr/>
          <p:nvPr/>
        </p:nvSpPr>
        <p:spPr>
          <a:xfrm>
            <a:off x="7417237" y="5793700"/>
            <a:ext cx="6498431" cy="1875830"/>
          </a:xfrm>
          <a:prstGeom prst="roundRect">
            <a:avLst>
              <a:gd name="adj" fmla="val 4572"/>
            </a:avLst>
          </a:prstGeom>
          <a:solidFill>
            <a:srgbClr val="FFFFFF"/>
          </a:solidFill>
          <a:ln w="22860">
            <a:solidFill>
              <a:srgbClr val="C5D2CF"/>
            </a:solidFill>
            <a:prstDash val="solid"/>
          </a:ln>
        </p:spPr>
        <p:txBody>
          <a:bodyPr/>
          <a:lstStyle/>
          <a:p>
            <a:endParaRPr lang="en-US"/>
          </a:p>
        </p:txBody>
      </p:sp>
      <p:sp>
        <p:nvSpPr>
          <p:cNvPr id="15" name="Text 12"/>
          <p:cNvSpPr/>
          <p:nvPr/>
        </p:nvSpPr>
        <p:spPr>
          <a:xfrm>
            <a:off x="7644289" y="6020753"/>
            <a:ext cx="2552700" cy="319088"/>
          </a:xfrm>
          <a:prstGeom prst="rect">
            <a:avLst/>
          </a:prstGeom>
          <a:noFill/>
          <a:ln/>
        </p:spPr>
        <p:txBody>
          <a:bodyPr wrap="none" lIns="0" tIns="0" rIns="0" bIns="0" rtlCol="0" anchor="t"/>
          <a:lstStyle/>
          <a:p>
            <a:pPr marL="0" indent="0" algn="l">
              <a:lnSpc>
                <a:spcPts val="2500"/>
              </a:lnSpc>
              <a:buNone/>
            </a:pPr>
            <a:r>
              <a:rPr lang="en-US" sz="2000" dirty="0">
                <a:solidFill>
                  <a:srgbClr val="2C3249"/>
                </a:solidFill>
                <a:latin typeface="Kanit Light" pitchFamily="34" charset="0"/>
                <a:ea typeface="Kanit Light" pitchFamily="34" charset="-122"/>
                <a:cs typeface="Kanit Light" pitchFamily="34" charset="-120"/>
              </a:rPr>
              <a:t>Selection Benefits</a:t>
            </a:r>
            <a:endParaRPr lang="en-US" sz="2000" dirty="0"/>
          </a:p>
        </p:txBody>
      </p:sp>
      <p:sp>
        <p:nvSpPr>
          <p:cNvPr id="16" name="Text 13"/>
          <p:cNvSpPr/>
          <p:nvPr/>
        </p:nvSpPr>
        <p:spPr>
          <a:xfrm>
            <a:off x="7644289" y="6462355"/>
            <a:ext cx="6044327" cy="980123"/>
          </a:xfrm>
          <a:prstGeom prst="rect">
            <a:avLst/>
          </a:prstGeom>
          <a:noFill/>
          <a:ln/>
        </p:spPr>
        <p:txBody>
          <a:bodyPr wrap="square" lIns="0" tIns="0" rIns="0" bIns="0" rtlCol="0" anchor="t"/>
          <a:lstStyle/>
          <a:p>
            <a:pPr marL="0" indent="0" algn="l">
              <a:lnSpc>
                <a:spcPts val="2550"/>
              </a:lnSpc>
              <a:buNone/>
            </a:pPr>
            <a:r>
              <a:rPr lang="en-US" sz="1600" dirty="0">
                <a:solidFill>
                  <a:srgbClr val="2C3249"/>
                </a:solidFill>
                <a:latin typeface="Martel Sans" pitchFamily="34" charset="0"/>
                <a:ea typeface="Martel Sans" pitchFamily="34" charset="-122"/>
                <a:cs typeface="Martel Sans" pitchFamily="34" charset="-120"/>
              </a:rPr>
              <a:t>Choosing the most relevant features improves model accuracy while reducing complexity, training time, and risk of overfitting.</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383786"/>
          </a:xfrm>
          <a:prstGeom prst="rect">
            <a:avLst/>
          </a:prstGeom>
        </p:spPr>
      </p:pic>
      <p:sp>
        <p:nvSpPr>
          <p:cNvPr id="3" name="Text 0"/>
          <p:cNvSpPr/>
          <p:nvPr/>
        </p:nvSpPr>
        <p:spPr>
          <a:xfrm>
            <a:off x="6073973" y="461605"/>
            <a:ext cx="5384721" cy="524589"/>
          </a:xfrm>
          <a:prstGeom prst="rect">
            <a:avLst/>
          </a:prstGeom>
          <a:noFill/>
          <a:ln/>
        </p:spPr>
        <p:txBody>
          <a:bodyPr wrap="none" lIns="0" tIns="0" rIns="0" bIns="0" rtlCol="0" anchor="t"/>
          <a:lstStyle/>
          <a:p>
            <a:pPr marL="0" indent="0" algn="l">
              <a:lnSpc>
                <a:spcPts val="4100"/>
              </a:lnSpc>
              <a:buNone/>
            </a:pPr>
            <a:r>
              <a:rPr lang="en-US" sz="3300" dirty="0">
                <a:solidFill>
                  <a:srgbClr val="272D45"/>
                </a:solidFill>
                <a:latin typeface="Kanit Light" pitchFamily="34" charset="0"/>
                <a:ea typeface="Kanit Light" pitchFamily="34" charset="-122"/>
                <a:cs typeface="Kanit Light" pitchFamily="34" charset="-120"/>
              </a:rPr>
              <a:t>Model Evaluation and Testing</a:t>
            </a:r>
            <a:endParaRPr lang="en-US" sz="3300" dirty="0"/>
          </a:p>
        </p:txBody>
      </p:sp>
      <p:sp>
        <p:nvSpPr>
          <p:cNvPr id="4" name="Text 1"/>
          <p:cNvSpPr/>
          <p:nvPr/>
        </p:nvSpPr>
        <p:spPr>
          <a:xfrm>
            <a:off x="6073973" y="1321951"/>
            <a:ext cx="2516386" cy="553998"/>
          </a:xfrm>
          <a:prstGeom prst="rect">
            <a:avLst/>
          </a:prstGeom>
          <a:noFill/>
          <a:ln/>
        </p:spPr>
        <p:txBody>
          <a:bodyPr wrap="none" lIns="0" tIns="0" rIns="0" bIns="0" rtlCol="0" anchor="t"/>
          <a:lstStyle/>
          <a:p>
            <a:pPr marL="0" indent="0" algn="ctr">
              <a:lnSpc>
                <a:spcPts val="4350"/>
              </a:lnSpc>
              <a:buNone/>
            </a:pPr>
            <a:r>
              <a:rPr lang="en-US" sz="4350" dirty="0">
                <a:solidFill>
                  <a:srgbClr val="2C3249"/>
                </a:solidFill>
                <a:latin typeface="Kanit Light" pitchFamily="34" charset="0"/>
                <a:ea typeface="Kanit Light" pitchFamily="34" charset="-122"/>
                <a:cs typeface="Kanit Light" pitchFamily="34" charset="-120"/>
              </a:rPr>
              <a:t>94%</a:t>
            </a:r>
            <a:endParaRPr lang="en-US" sz="4350" dirty="0"/>
          </a:p>
        </p:txBody>
      </p:sp>
      <p:sp>
        <p:nvSpPr>
          <p:cNvPr id="5" name="Text 2"/>
          <p:cNvSpPr/>
          <p:nvPr/>
        </p:nvSpPr>
        <p:spPr>
          <a:xfrm>
            <a:off x="6282809" y="2085737"/>
            <a:ext cx="2098596" cy="262295"/>
          </a:xfrm>
          <a:prstGeom prst="rect">
            <a:avLst/>
          </a:prstGeom>
          <a:noFill/>
          <a:ln/>
        </p:spPr>
        <p:txBody>
          <a:bodyPr wrap="none" lIns="0" tIns="0" rIns="0" bIns="0" rtlCol="0" anchor="t"/>
          <a:lstStyle/>
          <a:p>
            <a:pPr marL="0" indent="0" algn="ctr">
              <a:lnSpc>
                <a:spcPts val="2050"/>
              </a:lnSpc>
              <a:buNone/>
            </a:pPr>
            <a:r>
              <a:rPr lang="en-US" sz="1650" dirty="0">
                <a:solidFill>
                  <a:srgbClr val="2C3249"/>
                </a:solidFill>
                <a:latin typeface="Kanit Light" pitchFamily="34" charset="0"/>
                <a:ea typeface="Kanit Light" pitchFamily="34" charset="-122"/>
                <a:cs typeface="Kanit Light" pitchFamily="34" charset="-120"/>
              </a:rPr>
              <a:t>Accuracy</a:t>
            </a:r>
            <a:endParaRPr lang="en-US" sz="1650" dirty="0"/>
          </a:p>
        </p:txBody>
      </p:sp>
      <p:sp>
        <p:nvSpPr>
          <p:cNvPr id="6" name="Text 3"/>
          <p:cNvSpPr/>
          <p:nvPr/>
        </p:nvSpPr>
        <p:spPr>
          <a:xfrm>
            <a:off x="6073973" y="2448758"/>
            <a:ext cx="2516386" cy="537210"/>
          </a:xfrm>
          <a:prstGeom prst="rect">
            <a:avLst/>
          </a:prstGeom>
          <a:noFill/>
          <a:ln/>
        </p:spPr>
        <p:txBody>
          <a:bodyPr wrap="square" lIns="0" tIns="0" rIns="0" bIns="0" rtlCol="0" anchor="t"/>
          <a:lstStyle/>
          <a:p>
            <a:pPr marL="0" indent="0" algn="ctr">
              <a:lnSpc>
                <a:spcPts val="2100"/>
              </a:lnSpc>
              <a:buNone/>
            </a:pPr>
            <a:r>
              <a:rPr lang="en-US" sz="1300" dirty="0">
                <a:solidFill>
                  <a:srgbClr val="2C3249"/>
                </a:solidFill>
                <a:latin typeface="Martel Sans" pitchFamily="34" charset="0"/>
                <a:ea typeface="Martel Sans" pitchFamily="34" charset="-122"/>
                <a:cs typeface="Martel Sans" pitchFamily="34" charset="-120"/>
              </a:rPr>
              <a:t>Overall correctness of predictions</a:t>
            </a:r>
            <a:endParaRPr lang="en-US" sz="1300" dirty="0"/>
          </a:p>
        </p:txBody>
      </p:sp>
      <p:sp>
        <p:nvSpPr>
          <p:cNvPr id="7" name="Text 4"/>
          <p:cNvSpPr/>
          <p:nvPr/>
        </p:nvSpPr>
        <p:spPr>
          <a:xfrm>
            <a:off x="8800148" y="1321951"/>
            <a:ext cx="2516386" cy="553998"/>
          </a:xfrm>
          <a:prstGeom prst="rect">
            <a:avLst/>
          </a:prstGeom>
          <a:noFill/>
          <a:ln/>
        </p:spPr>
        <p:txBody>
          <a:bodyPr wrap="none" lIns="0" tIns="0" rIns="0" bIns="0" rtlCol="0" anchor="t"/>
          <a:lstStyle/>
          <a:p>
            <a:pPr marL="0" indent="0" algn="ctr">
              <a:lnSpc>
                <a:spcPts val="4350"/>
              </a:lnSpc>
              <a:buNone/>
            </a:pPr>
            <a:r>
              <a:rPr lang="en-US" sz="4350" dirty="0">
                <a:solidFill>
                  <a:srgbClr val="2C3249"/>
                </a:solidFill>
                <a:latin typeface="Kanit Light" pitchFamily="34" charset="0"/>
                <a:ea typeface="Kanit Light" pitchFamily="34" charset="-122"/>
                <a:cs typeface="Kanit Light" pitchFamily="34" charset="-120"/>
              </a:rPr>
              <a:t>89%</a:t>
            </a:r>
            <a:endParaRPr lang="en-US" sz="4350" dirty="0"/>
          </a:p>
        </p:txBody>
      </p:sp>
      <p:sp>
        <p:nvSpPr>
          <p:cNvPr id="8" name="Text 5"/>
          <p:cNvSpPr/>
          <p:nvPr/>
        </p:nvSpPr>
        <p:spPr>
          <a:xfrm>
            <a:off x="9008983" y="2085737"/>
            <a:ext cx="2098596" cy="262295"/>
          </a:xfrm>
          <a:prstGeom prst="rect">
            <a:avLst/>
          </a:prstGeom>
          <a:noFill/>
          <a:ln/>
        </p:spPr>
        <p:txBody>
          <a:bodyPr wrap="none" lIns="0" tIns="0" rIns="0" bIns="0" rtlCol="0" anchor="t"/>
          <a:lstStyle/>
          <a:p>
            <a:pPr marL="0" indent="0" algn="ctr">
              <a:lnSpc>
                <a:spcPts val="2050"/>
              </a:lnSpc>
              <a:buNone/>
            </a:pPr>
            <a:r>
              <a:rPr lang="en-US" sz="1650" dirty="0">
                <a:solidFill>
                  <a:srgbClr val="2C3249"/>
                </a:solidFill>
                <a:latin typeface="Kanit Light" pitchFamily="34" charset="0"/>
                <a:ea typeface="Kanit Light" pitchFamily="34" charset="-122"/>
                <a:cs typeface="Kanit Light" pitchFamily="34" charset="-120"/>
              </a:rPr>
              <a:t>Precision</a:t>
            </a:r>
            <a:endParaRPr lang="en-US" sz="1650" dirty="0"/>
          </a:p>
        </p:txBody>
      </p:sp>
      <p:sp>
        <p:nvSpPr>
          <p:cNvPr id="9" name="Text 6"/>
          <p:cNvSpPr/>
          <p:nvPr/>
        </p:nvSpPr>
        <p:spPr>
          <a:xfrm>
            <a:off x="8800148" y="2448758"/>
            <a:ext cx="2516386" cy="537210"/>
          </a:xfrm>
          <a:prstGeom prst="rect">
            <a:avLst/>
          </a:prstGeom>
          <a:noFill/>
          <a:ln/>
        </p:spPr>
        <p:txBody>
          <a:bodyPr wrap="square" lIns="0" tIns="0" rIns="0" bIns="0" rtlCol="0" anchor="t"/>
          <a:lstStyle/>
          <a:p>
            <a:pPr marL="0" indent="0" algn="ctr">
              <a:lnSpc>
                <a:spcPts val="2100"/>
              </a:lnSpc>
              <a:buNone/>
            </a:pPr>
            <a:r>
              <a:rPr lang="en-US" sz="1300" dirty="0">
                <a:solidFill>
                  <a:srgbClr val="2C3249"/>
                </a:solidFill>
                <a:latin typeface="Martel Sans" pitchFamily="34" charset="0"/>
                <a:ea typeface="Martel Sans" pitchFamily="34" charset="-122"/>
                <a:cs typeface="Martel Sans" pitchFamily="34" charset="-120"/>
              </a:rPr>
              <a:t>Positive predictions that are correct</a:t>
            </a:r>
            <a:endParaRPr lang="en-US" sz="1300" dirty="0"/>
          </a:p>
        </p:txBody>
      </p:sp>
      <p:sp>
        <p:nvSpPr>
          <p:cNvPr id="10" name="Text 7"/>
          <p:cNvSpPr/>
          <p:nvPr/>
        </p:nvSpPr>
        <p:spPr>
          <a:xfrm>
            <a:off x="11526322" y="1321951"/>
            <a:ext cx="2516386" cy="553998"/>
          </a:xfrm>
          <a:prstGeom prst="rect">
            <a:avLst/>
          </a:prstGeom>
          <a:noFill/>
          <a:ln/>
        </p:spPr>
        <p:txBody>
          <a:bodyPr wrap="none" lIns="0" tIns="0" rIns="0" bIns="0" rtlCol="0" anchor="t"/>
          <a:lstStyle/>
          <a:p>
            <a:pPr marL="0" indent="0" algn="ctr">
              <a:lnSpc>
                <a:spcPts val="4350"/>
              </a:lnSpc>
              <a:buNone/>
            </a:pPr>
            <a:r>
              <a:rPr lang="en-US" sz="4350" dirty="0">
                <a:solidFill>
                  <a:srgbClr val="2C3249"/>
                </a:solidFill>
                <a:latin typeface="Kanit Light" pitchFamily="34" charset="0"/>
                <a:ea typeface="Kanit Light" pitchFamily="34" charset="-122"/>
                <a:cs typeface="Kanit Light" pitchFamily="34" charset="-120"/>
              </a:rPr>
              <a:t>92%</a:t>
            </a:r>
            <a:endParaRPr lang="en-US" sz="4350" dirty="0"/>
          </a:p>
        </p:txBody>
      </p:sp>
      <p:sp>
        <p:nvSpPr>
          <p:cNvPr id="11" name="Text 8"/>
          <p:cNvSpPr/>
          <p:nvPr/>
        </p:nvSpPr>
        <p:spPr>
          <a:xfrm>
            <a:off x="11735157" y="2085737"/>
            <a:ext cx="2098596" cy="262295"/>
          </a:xfrm>
          <a:prstGeom prst="rect">
            <a:avLst/>
          </a:prstGeom>
          <a:noFill/>
          <a:ln/>
        </p:spPr>
        <p:txBody>
          <a:bodyPr wrap="none" lIns="0" tIns="0" rIns="0" bIns="0" rtlCol="0" anchor="t"/>
          <a:lstStyle/>
          <a:p>
            <a:pPr marL="0" indent="0" algn="ctr">
              <a:lnSpc>
                <a:spcPts val="2050"/>
              </a:lnSpc>
              <a:buNone/>
            </a:pPr>
            <a:r>
              <a:rPr lang="en-US" sz="1650" dirty="0">
                <a:solidFill>
                  <a:srgbClr val="2C3249"/>
                </a:solidFill>
                <a:latin typeface="Kanit Light" pitchFamily="34" charset="0"/>
                <a:ea typeface="Kanit Light" pitchFamily="34" charset="-122"/>
                <a:cs typeface="Kanit Light" pitchFamily="34" charset="-120"/>
              </a:rPr>
              <a:t>Recall</a:t>
            </a:r>
            <a:endParaRPr lang="en-US" sz="1650" dirty="0"/>
          </a:p>
        </p:txBody>
      </p:sp>
      <p:sp>
        <p:nvSpPr>
          <p:cNvPr id="12" name="Text 9"/>
          <p:cNvSpPr/>
          <p:nvPr/>
        </p:nvSpPr>
        <p:spPr>
          <a:xfrm>
            <a:off x="11526322" y="2448758"/>
            <a:ext cx="2516386" cy="537210"/>
          </a:xfrm>
          <a:prstGeom prst="rect">
            <a:avLst/>
          </a:prstGeom>
          <a:noFill/>
          <a:ln/>
        </p:spPr>
        <p:txBody>
          <a:bodyPr wrap="square" lIns="0" tIns="0" rIns="0" bIns="0" rtlCol="0" anchor="t"/>
          <a:lstStyle/>
          <a:p>
            <a:pPr marL="0" indent="0" algn="ctr">
              <a:lnSpc>
                <a:spcPts val="2100"/>
              </a:lnSpc>
              <a:buNone/>
            </a:pPr>
            <a:r>
              <a:rPr lang="en-US" sz="1300" dirty="0">
                <a:solidFill>
                  <a:srgbClr val="2C3249"/>
                </a:solidFill>
                <a:latin typeface="Martel Sans" pitchFamily="34" charset="0"/>
                <a:ea typeface="Martel Sans" pitchFamily="34" charset="-122"/>
                <a:cs typeface="Martel Sans" pitchFamily="34" charset="-120"/>
              </a:rPr>
              <a:t>Actual positives correctly identified</a:t>
            </a:r>
            <a:endParaRPr lang="en-US" sz="1300" dirty="0"/>
          </a:p>
        </p:txBody>
      </p:sp>
      <p:sp>
        <p:nvSpPr>
          <p:cNvPr id="13" name="Text 10"/>
          <p:cNvSpPr/>
          <p:nvPr/>
        </p:nvSpPr>
        <p:spPr>
          <a:xfrm>
            <a:off x="8800148" y="3405664"/>
            <a:ext cx="2516386" cy="553998"/>
          </a:xfrm>
          <a:prstGeom prst="rect">
            <a:avLst/>
          </a:prstGeom>
          <a:noFill/>
          <a:ln/>
        </p:spPr>
        <p:txBody>
          <a:bodyPr wrap="none" lIns="0" tIns="0" rIns="0" bIns="0" rtlCol="0" anchor="t"/>
          <a:lstStyle/>
          <a:p>
            <a:pPr marL="0" indent="0" algn="ctr">
              <a:lnSpc>
                <a:spcPts val="4350"/>
              </a:lnSpc>
              <a:buNone/>
            </a:pPr>
            <a:r>
              <a:rPr lang="en-US" sz="4350" dirty="0">
                <a:solidFill>
                  <a:srgbClr val="2C3249"/>
                </a:solidFill>
                <a:latin typeface="Kanit Light" pitchFamily="34" charset="0"/>
                <a:ea typeface="Kanit Light" pitchFamily="34" charset="-122"/>
                <a:cs typeface="Kanit Light" pitchFamily="34" charset="-120"/>
              </a:rPr>
              <a:t>0.91</a:t>
            </a:r>
            <a:endParaRPr lang="en-US" sz="4350" dirty="0"/>
          </a:p>
        </p:txBody>
      </p:sp>
      <p:sp>
        <p:nvSpPr>
          <p:cNvPr id="14" name="Text 11"/>
          <p:cNvSpPr/>
          <p:nvPr/>
        </p:nvSpPr>
        <p:spPr>
          <a:xfrm>
            <a:off x="9008983" y="4169450"/>
            <a:ext cx="2098596" cy="262295"/>
          </a:xfrm>
          <a:prstGeom prst="rect">
            <a:avLst/>
          </a:prstGeom>
          <a:noFill/>
          <a:ln/>
        </p:spPr>
        <p:txBody>
          <a:bodyPr wrap="none" lIns="0" tIns="0" rIns="0" bIns="0" rtlCol="0" anchor="t"/>
          <a:lstStyle/>
          <a:p>
            <a:pPr marL="0" indent="0" algn="ctr">
              <a:lnSpc>
                <a:spcPts val="2050"/>
              </a:lnSpc>
              <a:buNone/>
            </a:pPr>
            <a:r>
              <a:rPr lang="en-US" sz="1650" dirty="0">
                <a:solidFill>
                  <a:srgbClr val="2C3249"/>
                </a:solidFill>
                <a:latin typeface="Kanit Light" pitchFamily="34" charset="0"/>
                <a:ea typeface="Kanit Light" pitchFamily="34" charset="-122"/>
                <a:cs typeface="Kanit Light" pitchFamily="34" charset="-120"/>
              </a:rPr>
              <a:t>F1 Score</a:t>
            </a:r>
            <a:endParaRPr lang="en-US" sz="1650" dirty="0"/>
          </a:p>
        </p:txBody>
      </p:sp>
      <p:sp>
        <p:nvSpPr>
          <p:cNvPr id="15" name="Text 12"/>
          <p:cNvSpPr/>
          <p:nvPr/>
        </p:nvSpPr>
        <p:spPr>
          <a:xfrm>
            <a:off x="8800148" y="4532471"/>
            <a:ext cx="2516386" cy="537210"/>
          </a:xfrm>
          <a:prstGeom prst="rect">
            <a:avLst/>
          </a:prstGeom>
          <a:noFill/>
          <a:ln/>
        </p:spPr>
        <p:txBody>
          <a:bodyPr wrap="square" lIns="0" tIns="0" rIns="0" bIns="0" rtlCol="0" anchor="t"/>
          <a:lstStyle/>
          <a:p>
            <a:pPr marL="0" indent="0" algn="ctr">
              <a:lnSpc>
                <a:spcPts val="2100"/>
              </a:lnSpc>
              <a:buNone/>
            </a:pPr>
            <a:r>
              <a:rPr lang="en-US" sz="1300" dirty="0">
                <a:solidFill>
                  <a:srgbClr val="2C3249"/>
                </a:solidFill>
                <a:latin typeface="Martel Sans" pitchFamily="34" charset="0"/>
                <a:ea typeface="Martel Sans" pitchFamily="34" charset="-122"/>
                <a:cs typeface="Martel Sans" pitchFamily="34" charset="-120"/>
              </a:rPr>
              <a:t>Harmonic mean of precision and recall</a:t>
            </a:r>
            <a:endParaRPr lang="en-US" sz="1300" dirty="0"/>
          </a:p>
        </p:txBody>
      </p:sp>
      <p:sp>
        <p:nvSpPr>
          <p:cNvPr id="16" name="Text 13"/>
          <p:cNvSpPr/>
          <p:nvPr/>
        </p:nvSpPr>
        <p:spPr>
          <a:xfrm>
            <a:off x="6073973" y="5426393"/>
            <a:ext cx="2098596" cy="262295"/>
          </a:xfrm>
          <a:prstGeom prst="rect">
            <a:avLst/>
          </a:prstGeom>
          <a:noFill/>
          <a:ln/>
        </p:spPr>
        <p:txBody>
          <a:bodyPr wrap="none" lIns="0" tIns="0" rIns="0" bIns="0" rtlCol="0" anchor="t"/>
          <a:lstStyle/>
          <a:p>
            <a:pPr marL="0" indent="0" algn="l">
              <a:lnSpc>
                <a:spcPts val="2050"/>
              </a:lnSpc>
              <a:buNone/>
            </a:pPr>
            <a:r>
              <a:rPr lang="en-US" sz="1650" dirty="0">
                <a:solidFill>
                  <a:srgbClr val="272D45"/>
                </a:solidFill>
                <a:latin typeface="Kanit Light" pitchFamily="34" charset="0"/>
                <a:ea typeface="Kanit Light" pitchFamily="34" charset="-122"/>
                <a:cs typeface="Kanit Light" pitchFamily="34" charset="-120"/>
              </a:rPr>
              <a:t>Unbiased Assessment</a:t>
            </a:r>
            <a:endParaRPr lang="en-US" sz="1650" dirty="0"/>
          </a:p>
        </p:txBody>
      </p:sp>
      <p:sp>
        <p:nvSpPr>
          <p:cNvPr id="17" name="Text 14"/>
          <p:cNvSpPr/>
          <p:nvPr/>
        </p:nvSpPr>
        <p:spPr>
          <a:xfrm>
            <a:off x="6073973" y="5856565"/>
            <a:ext cx="4617482" cy="805815"/>
          </a:xfrm>
          <a:prstGeom prst="rect">
            <a:avLst/>
          </a:prstGeom>
          <a:noFill/>
          <a:ln/>
        </p:spPr>
        <p:txBody>
          <a:bodyPr wrap="square" lIns="0" tIns="0" rIns="0" bIns="0" rtlCol="0" anchor="t"/>
          <a:lstStyle/>
          <a:p>
            <a:pPr marL="0" indent="0" algn="l">
              <a:lnSpc>
                <a:spcPts val="2100"/>
              </a:lnSpc>
              <a:buNone/>
            </a:pPr>
            <a:r>
              <a:rPr lang="en-US" sz="1300" dirty="0">
                <a:solidFill>
                  <a:srgbClr val="2C3249"/>
                </a:solidFill>
                <a:latin typeface="Martel Sans" pitchFamily="34" charset="0"/>
                <a:ea typeface="Martel Sans" pitchFamily="34" charset="-122"/>
                <a:cs typeface="Martel Sans" pitchFamily="34" charset="-120"/>
              </a:rPr>
              <a:t>Using holdout test sets that the model has never seen ensures performance metrics reflect real-world generalization ability.</a:t>
            </a:r>
            <a:endParaRPr lang="en-US" sz="1300" dirty="0"/>
          </a:p>
        </p:txBody>
      </p:sp>
      <p:sp>
        <p:nvSpPr>
          <p:cNvPr id="18" name="Text 15"/>
          <p:cNvSpPr/>
          <p:nvPr/>
        </p:nvSpPr>
        <p:spPr>
          <a:xfrm>
            <a:off x="6073973" y="6813471"/>
            <a:ext cx="4617482" cy="805815"/>
          </a:xfrm>
          <a:prstGeom prst="rect">
            <a:avLst/>
          </a:prstGeom>
          <a:noFill/>
          <a:ln/>
        </p:spPr>
        <p:txBody>
          <a:bodyPr wrap="square" lIns="0" tIns="0" rIns="0" bIns="0" rtlCol="0" anchor="t"/>
          <a:lstStyle/>
          <a:p>
            <a:pPr marL="0" indent="0" algn="l">
              <a:lnSpc>
                <a:spcPts val="2100"/>
              </a:lnSpc>
              <a:buNone/>
            </a:pPr>
            <a:r>
              <a:rPr lang="en-US" sz="1300" b="1" dirty="0">
                <a:solidFill>
                  <a:srgbClr val="2C3249"/>
                </a:solidFill>
                <a:latin typeface="Martel Sans" pitchFamily="34" charset="0"/>
                <a:ea typeface="Martel Sans" pitchFamily="34" charset="-122"/>
                <a:cs typeface="Martel Sans" pitchFamily="34" charset="-120"/>
              </a:rPr>
              <a:t>Example:</a:t>
            </a:r>
            <a:r>
              <a:rPr lang="en-US" sz="1300" dirty="0">
                <a:solidFill>
                  <a:srgbClr val="2C3249"/>
                </a:solidFill>
                <a:latin typeface="Martel Sans" pitchFamily="34" charset="0"/>
                <a:ea typeface="Martel Sans" pitchFamily="34" charset="-122"/>
                <a:cs typeface="Martel Sans" pitchFamily="34" charset="-120"/>
              </a:rPr>
              <a:t> Analyzing confusion matrices for classification tasks reveals where the model excels and where it struggles, guiding further refinement.</a:t>
            </a:r>
            <a:endParaRPr lang="en-US" sz="1300" dirty="0"/>
          </a:p>
        </p:txBody>
      </p:sp>
      <p:pic>
        <p:nvPicPr>
          <p:cNvPr id="19" name="Image 1" descr="preencoded.png"/>
          <p:cNvPicPr>
            <a:picLocks noChangeAspect="1"/>
          </p:cNvPicPr>
          <p:nvPr/>
        </p:nvPicPr>
        <p:blipFill>
          <a:blip r:embed="rId4"/>
          <a:stretch>
            <a:fillRect/>
          </a:stretch>
        </p:blipFill>
        <p:spPr>
          <a:xfrm>
            <a:off x="11108650" y="5447348"/>
            <a:ext cx="2286000" cy="2286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0"/>
          <p:cNvSpPr/>
          <p:nvPr/>
        </p:nvSpPr>
        <p:spPr>
          <a:xfrm>
            <a:off x="639366" y="525542"/>
            <a:ext cx="5661184" cy="570905"/>
          </a:xfrm>
          <a:prstGeom prst="rect">
            <a:avLst/>
          </a:prstGeom>
          <a:noFill/>
          <a:ln/>
        </p:spPr>
        <p:txBody>
          <a:bodyPr wrap="none" lIns="0" tIns="0" rIns="0" bIns="0" rtlCol="0" anchor="t"/>
          <a:lstStyle/>
          <a:p>
            <a:pPr marL="0" indent="0" algn="l">
              <a:lnSpc>
                <a:spcPts val="4450"/>
              </a:lnSpc>
              <a:buNone/>
            </a:pPr>
            <a:r>
              <a:rPr lang="en-US" sz="3550" dirty="0">
                <a:solidFill>
                  <a:srgbClr val="272D45"/>
                </a:solidFill>
                <a:latin typeface="Kanit Light" pitchFamily="34" charset="0"/>
                <a:cs typeface="Kanit Light" pitchFamily="34" charset="-120"/>
              </a:rPr>
              <a:t>Evaluation Metrics Formula</a:t>
            </a:r>
            <a:endParaRPr lang="en-US" sz="3550" dirty="0"/>
          </a:p>
        </p:txBody>
      </p:sp>
      <p:pic>
        <p:nvPicPr>
          <p:cNvPr id="22" name="Picture 21">
            <a:extLst>
              <a:ext uri="{FF2B5EF4-FFF2-40B4-BE49-F238E27FC236}">
                <a16:creationId xmlns:a16="http://schemas.microsoft.com/office/drawing/2014/main" id="{3C36C320-F670-F685-0CE9-A09F0DCB4247}"/>
              </a:ext>
            </a:extLst>
          </p:cNvPr>
          <p:cNvPicPr>
            <a:picLocks noChangeAspect="1"/>
          </p:cNvPicPr>
          <p:nvPr/>
        </p:nvPicPr>
        <p:blipFill>
          <a:blip r:embed="rId3"/>
          <a:stretch>
            <a:fillRect/>
          </a:stretch>
        </p:blipFill>
        <p:spPr>
          <a:xfrm>
            <a:off x="2774096" y="3103002"/>
            <a:ext cx="7851781" cy="1114104"/>
          </a:xfrm>
          <a:prstGeom prst="rect">
            <a:avLst/>
          </a:prstGeom>
        </p:spPr>
      </p:pic>
      <p:pic>
        <p:nvPicPr>
          <p:cNvPr id="24" name="Picture 23">
            <a:extLst>
              <a:ext uri="{FF2B5EF4-FFF2-40B4-BE49-F238E27FC236}">
                <a16:creationId xmlns:a16="http://schemas.microsoft.com/office/drawing/2014/main" id="{A8D17999-E6D8-9F2D-D50E-F03B8E942AE9}"/>
              </a:ext>
            </a:extLst>
          </p:cNvPr>
          <p:cNvPicPr>
            <a:picLocks noChangeAspect="1"/>
          </p:cNvPicPr>
          <p:nvPr/>
        </p:nvPicPr>
        <p:blipFill>
          <a:blip r:embed="rId4"/>
          <a:stretch>
            <a:fillRect/>
          </a:stretch>
        </p:blipFill>
        <p:spPr>
          <a:xfrm>
            <a:off x="3040867" y="4370736"/>
            <a:ext cx="7340975" cy="955979"/>
          </a:xfrm>
          <a:prstGeom prst="rect">
            <a:avLst/>
          </a:prstGeom>
        </p:spPr>
      </p:pic>
      <p:pic>
        <p:nvPicPr>
          <p:cNvPr id="26" name="Picture 25">
            <a:extLst>
              <a:ext uri="{FF2B5EF4-FFF2-40B4-BE49-F238E27FC236}">
                <a16:creationId xmlns:a16="http://schemas.microsoft.com/office/drawing/2014/main" id="{A21E553D-34CA-59B5-E6D3-2DD347BA9F4B}"/>
              </a:ext>
            </a:extLst>
          </p:cNvPr>
          <p:cNvPicPr>
            <a:picLocks noChangeAspect="1"/>
          </p:cNvPicPr>
          <p:nvPr/>
        </p:nvPicPr>
        <p:blipFill>
          <a:blip r:embed="rId5"/>
          <a:stretch>
            <a:fillRect/>
          </a:stretch>
        </p:blipFill>
        <p:spPr>
          <a:xfrm>
            <a:off x="3040867" y="5480345"/>
            <a:ext cx="7756420" cy="1114104"/>
          </a:xfrm>
          <a:prstGeom prst="rect">
            <a:avLst/>
          </a:prstGeom>
        </p:spPr>
      </p:pic>
      <p:pic>
        <p:nvPicPr>
          <p:cNvPr id="28" name="Picture 27">
            <a:extLst>
              <a:ext uri="{FF2B5EF4-FFF2-40B4-BE49-F238E27FC236}">
                <a16:creationId xmlns:a16="http://schemas.microsoft.com/office/drawing/2014/main" id="{8F0E59B6-E664-86B6-F13F-994887093BD3}"/>
              </a:ext>
            </a:extLst>
          </p:cNvPr>
          <p:cNvPicPr>
            <a:picLocks noChangeAspect="1"/>
          </p:cNvPicPr>
          <p:nvPr/>
        </p:nvPicPr>
        <p:blipFill>
          <a:blip r:embed="rId6"/>
          <a:stretch>
            <a:fillRect/>
          </a:stretch>
        </p:blipFill>
        <p:spPr>
          <a:xfrm>
            <a:off x="3040866" y="6748079"/>
            <a:ext cx="7847589" cy="955979"/>
          </a:xfrm>
          <a:prstGeom prst="rect">
            <a:avLst/>
          </a:prstGeom>
        </p:spPr>
      </p:pic>
      <p:pic>
        <p:nvPicPr>
          <p:cNvPr id="2050" name="Picture 2">
            <a:extLst>
              <a:ext uri="{FF2B5EF4-FFF2-40B4-BE49-F238E27FC236}">
                <a16:creationId xmlns:a16="http://schemas.microsoft.com/office/drawing/2014/main" id="{D950CBFE-B334-0541-6734-C4F4B699D0B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38330" y="1421763"/>
            <a:ext cx="8325367" cy="135592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804160"/>
          </a:xfrm>
          <a:prstGeom prst="rect">
            <a:avLst/>
          </a:prstGeom>
        </p:spPr>
      </p:pic>
      <p:sp>
        <p:nvSpPr>
          <p:cNvPr id="3" name="Text 0"/>
          <p:cNvSpPr/>
          <p:nvPr/>
        </p:nvSpPr>
        <p:spPr>
          <a:xfrm>
            <a:off x="785098" y="3421023"/>
            <a:ext cx="11216759" cy="1402080"/>
          </a:xfrm>
          <a:prstGeom prst="rect">
            <a:avLst/>
          </a:prstGeom>
          <a:noFill/>
          <a:ln/>
        </p:spPr>
        <p:txBody>
          <a:bodyPr wrap="none" lIns="0" tIns="0" rIns="0" bIns="0" rtlCol="0" anchor="t"/>
          <a:lstStyle/>
          <a:p>
            <a:pPr marL="0" indent="0" algn="l">
              <a:lnSpc>
                <a:spcPts val="11000"/>
              </a:lnSpc>
              <a:buNone/>
            </a:pPr>
            <a:r>
              <a:rPr lang="en-US" sz="8800" dirty="0">
                <a:solidFill>
                  <a:srgbClr val="272D45"/>
                </a:solidFill>
                <a:latin typeface="Kanit Light" pitchFamily="34" charset="0"/>
                <a:ea typeface="Kanit Light" pitchFamily="34" charset="-122"/>
                <a:cs typeface="Kanit Light" pitchFamily="34" charset="-120"/>
              </a:rPr>
              <a:t>Chapter 4</a:t>
            </a:r>
            <a:endParaRPr lang="en-US" sz="8800" dirty="0"/>
          </a:p>
        </p:txBody>
      </p:sp>
      <p:sp>
        <p:nvSpPr>
          <p:cNvPr id="4" name="Text 1"/>
          <p:cNvSpPr/>
          <p:nvPr/>
        </p:nvSpPr>
        <p:spPr>
          <a:xfrm>
            <a:off x="785098" y="5159573"/>
            <a:ext cx="13060204" cy="1401842"/>
          </a:xfrm>
          <a:prstGeom prst="rect">
            <a:avLst/>
          </a:prstGeom>
          <a:noFill/>
          <a:ln/>
        </p:spPr>
        <p:txBody>
          <a:bodyPr wrap="square" lIns="0" tIns="0" rIns="0" bIns="0" rtlCol="0" anchor="t"/>
          <a:lstStyle/>
          <a:p>
            <a:pPr marL="0" indent="0" algn="l">
              <a:lnSpc>
                <a:spcPts val="5500"/>
              </a:lnSpc>
              <a:buNone/>
            </a:pPr>
            <a:r>
              <a:rPr lang="en-US" sz="4400" dirty="0">
                <a:solidFill>
                  <a:srgbClr val="272D45"/>
                </a:solidFill>
                <a:latin typeface="Kanit Light" pitchFamily="34" charset="0"/>
                <a:ea typeface="Kanit Light" pitchFamily="34" charset="-122"/>
                <a:cs typeface="Kanit Light" pitchFamily="34" charset="-120"/>
              </a:rPr>
              <a:t>Deployment and Monitoring — From Lab to Real World</a:t>
            </a:r>
            <a:endParaRPr lang="en-US" sz="4400" dirty="0"/>
          </a:p>
        </p:txBody>
      </p:sp>
      <p:sp>
        <p:nvSpPr>
          <p:cNvPr id="5" name="Text 2"/>
          <p:cNvSpPr/>
          <p:nvPr/>
        </p:nvSpPr>
        <p:spPr>
          <a:xfrm>
            <a:off x="785098" y="6897886"/>
            <a:ext cx="13060204" cy="717709"/>
          </a:xfrm>
          <a:prstGeom prst="rect">
            <a:avLst/>
          </a:prstGeom>
          <a:noFill/>
          <a:ln/>
        </p:spPr>
        <p:txBody>
          <a:bodyPr wrap="square" lIns="0" tIns="0" rIns="0" bIns="0" rtlCol="0" anchor="t"/>
          <a:lstStyle/>
          <a:p>
            <a:pPr marL="0" indent="0" algn="l">
              <a:lnSpc>
                <a:spcPts val="2800"/>
              </a:lnSpc>
              <a:buNone/>
            </a:pPr>
            <a:r>
              <a:rPr lang="en-US" sz="1750" dirty="0">
                <a:solidFill>
                  <a:srgbClr val="2C3249"/>
                </a:solidFill>
                <a:latin typeface="Martel Sans" pitchFamily="34" charset="0"/>
                <a:ea typeface="Martel Sans" pitchFamily="34" charset="-122"/>
                <a:cs typeface="Martel Sans" pitchFamily="34" charset="-120"/>
              </a:rPr>
              <a:t>Successful deployment bridges the gap between experimental models and production systems that deliver continuous business value.</a:t>
            </a:r>
            <a:endParaRPr lang="en-US" sz="1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93790" y="1050131"/>
            <a:ext cx="7341275" cy="708779"/>
          </a:xfrm>
          <a:prstGeom prst="rect">
            <a:avLst/>
          </a:prstGeom>
          <a:noFill/>
          <a:ln/>
        </p:spPr>
        <p:txBody>
          <a:bodyPr wrap="none" lIns="0" tIns="0" rIns="0" bIns="0" rtlCol="0" anchor="t"/>
          <a:lstStyle/>
          <a:p>
            <a:pPr marL="0" indent="0" algn="l">
              <a:lnSpc>
                <a:spcPts val="5550"/>
              </a:lnSpc>
              <a:buNone/>
            </a:pPr>
            <a:r>
              <a:rPr lang="en-US" sz="4450" dirty="0">
                <a:solidFill>
                  <a:srgbClr val="272D45"/>
                </a:solidFill>
                <a:latin typeface="Kanit Light" pitchFamily="34" charset="0"/>
                <a:ea typeface="Kanit Light" pitchFamily="34" charset="-122"/>
                <a:cs typeface="Kanit Light" pitchFamily="34" charset="-120"/>
              </a:rPr>
              <a:t>Model Deployment Strategies</a:t>
            </a:r>
            <a:endParaRPr lang="en-US" sz="4450" dirty="0"/>
          </a:p>
        </p:txBody>
      </p:sp>
      <p:sp>
        <p:nvSpPr>
          <p:cNvPr id="3" name="Text 1"/>
          <p:cNvSpPr/>
          <p:nvPr/>
        </p:nvSpPr>
        <p:spPr>
          <a:xfrm>
            <a:off x="2522458" y="2212538"/>
            <a:ext cx="2429947" cy="708660"/>
          </a:xfrm>
          <a:prstGeom prst="rect">
            <a:avLst/>
          </a:prstGeom>
          <a:noFill/>
          <a:ln/>
        </p:spPr>
        <p:txBody>
          <a:bodyPr wrap="square" lIns="0" tIns="0" rIns="0" bIns="0" rtlCol="0" anchor="t"/>
          <a:lstStyle/>
          <a:p>
            <a:pPr marL="0" indent="0" algn="l">
              <a:lnSpc>
                <a:spcPts val="2750"/>
              </a:lnSpc>
              <a:buNone/>
            </a:pPr>
            <a:r>
              <a:rPr lang="en-US" sz="2200" dirty="0">
                <a:solidFill>
                  <a:srgbClr val="2C3249"/>
                </a:solidFill>
                <a:latin typeface="Kanit Light" pitchFamily="34" charset="0"/>
                <a:ea typeface="Kanit Light" pitchFamily="34" charset="-122"/>
                <a:cs typeface="Kanit Light" pitchFamily="34" charset="-120"/>
              </a:rPr>
              <a:t>Web Services &amp; APIs</a:t>
            </a:r>
            <a:endParaRPr lang="en-US" sz="2200" dirty="0"/>
          </a:p>
        </p:txBody>
      </p:sp>
      <p:sp>
        <p:nvSpPr>
          <p:cNvPr id="4" name="Text 2"/>
          <p:cNvSpPr/>
          <p:nvPr/>
        </p:nvSpPr>
        <p:spPr>
          <a:xfrm>
            <a:off x="2522458" y="3057287"/>
            <a:ext cx="2429947" cy="1451610"/>
          </a:xfrm>
          <a:prstGeom prst="rect">
            <a:avLst/>
          </a:prstGeom>
          <a:noFill/>
          <a:ln/>
        </p:spPr>
        <p:txBody>
          <a:bodyPr wrap="square" lIns="0" tIns="0" rIns="0" bIns="0" rtlCol="0" anchor="t"/>
          <a:lstStyle/>
          <a:p>
            <a:pPr marL="0" indent="0" algn="l">
              <a:lnSpc>
                <a:spcPts val="2850"/>
              </a:lnSpc>
              <a:buNone/>
            </a:pPr>
            <a:r>
              <a:rPr lang="en-US" sz="1750" dirty="0">
                <a:solidFill>
                  <a:srgbClr val="2C3249"/>
                </a:solidFill>
                <a:latin typeface="Martel Sans" pitchFamily="34" charset="0"/>
                <a:ea typeface="Martel Sans" pitchFamily="34" charset="-122"/>
                <a:cs typeface="Martel Sans" pitchFamily="34" charset="-120"/>
              </a:rPr>
              <a:t>RESTful endpoints for real-time predictions accessible from any application</a:t>
            </a:r>
            <a:endParaRPr lang="en-US" sz="1750" dirty="0"/>
          </a:p>
        </p:txBody>
      </p:sp>
      <p:sp>
        <p:nvSpPr>
          <p:cNvPr id="5" name="Text 3"/>
          <p:cNvSpPr/>
          <p:nvPr/>
        </p:nvSpPr>
        <p:spPr>
          <a:xfrm>
            <a:off x="6964561" y="2212538"/>
            <a:ext cx="2429947" cy="708660"/>
          </a:xfrm>
          <a:prstGeom prst="rect">
            <a:avLst/>
          </a:prstGeom>
          <a:noFill/>
          <a:ln/>
        </p:spPr>
        <p:txBody>
          <a:bodyPr wrap="square" lIns="0" tIns="0" rIns="0" bIns="0" rtlCol="0" anchor="t"/>
          <a:lstStyle/>
          <a:p>
            <a:pPr marL="0" indent="0" algn="l">
              <a:lnSpc>
                <a:spcPts val="2750"/>
              </a:lnSpc>
              <a:buNone/>
            </a:pPr>
            <a:r>
              <a:rPr lang="en-US" sz="2200" dirty="0">
                <a:solidFill>
                  <a:srgbClr val="2C3249"/>
                </a:solidFill>
                <a:latin typeface="Kanit Light" pitchFamily="34" charset="0"/>
                <a:ea typeface="Kanit Light" pitchFamily="34" charset="-122"/>
                <a:cs typeface="Kanit Light" pitchFamily="34" charset="-120"/>
              </a:rPr>
              <a:t>Serverless Functions</a:t>
            </a:r>
            <a:endParaRPr lang="en-US" sz="2200" dirty="0"/>
          </a:p>
        </p:txBody>
      </p:sp>
      <p:sp>
        <p:nvSpPr>
          <p:cNvPr id="6" name="Text 4"/>
          <p:cNvSpPr/>
          <p:nvPr/>
        </p:nvSpPr>
        <p:spPr>
          <a:xfrm>
            <a:off x="6964561" y="3057287"/>
            <a:ext cx="2429947" cy="2177415"/>
          </a:xfrm>
          <a:prstGeom prst="rect">
            <a:avLst/>
          </a:prstGeom>
          <a:noFill/>
          <a:ln/>
        </p:spPr>
        <p:txBody>
          <a:bodyPr wrap="square" lIns="0" tIns="0" rIns="0" bIns="0" rtlCol="0" anchor="t"/>
          <a:lstStyle/>
          <a:p>
            <a:pPr marL="0" indent="0" algn="l">
              <a:lnSpc>
                <a:spcPts val="2850"/>
              </a:lnSpc>
              <a:buNone/>
            </a:pPr>
            <a:r>
              <a:rPr lang="en-US" sz="1750" dirty="0">
                <a:solidFill>
                  <a:srgbClr val="2C3249"/>
                </a:solidFill>
                <a:latin typeface="Martel Sans" pitchFamily="34" charset="0"/>
                <a:ea typeface="Martel Sans" pitchFamily="34" charset="-122"/>
                <a:cs typeface="Martel Sans" pitchFamily="34" charset="-120"/>
              </a:rPr>
              <a:t>Event-driven deployments with automatic scaling and minimal infrastructure overhead</a:t>
            </a:r>
            <a:endParaRPr lang="en-US" sz="1750" dirty="0"/>
          </a:p>
        </p:txBody>
      </p:sp>
      <p:sp>
        <p:nvSpPr>
          <p:cNvPr id="7" name="Text 5"/>
          <p:cNvSpPr/>
          <p:nvPr/>
        </p:nvSpPr>
        <p:spPr>
          <a:xfrm>
            <a:off x="11406664" y="2212538"/>
            <a:ext cx="2429947" cy="708660"/>
          </a:xfrm>
          <a:prstGeom prst="rect">
            <a:avLst/>
          </a:prstGeom>
          <a:noFill/>
          <a:ln/>
        </p:spPr>
        <p:txBody>
          <a:bodyPr wrap="square" lIns="0" tIns="0" rIns="0" bIns="0" rtlCol="0" anchor="t"/>
          <a:lstStyle/>
          <a:p>
            <a:pPr marL="0" indent="0" algn="l">
              <a:lnSpc>
                <a:spcPts val="2750"/>
              </a:lnSpc>
              <a:buNone/>
            </a:pPr>
            <a:r>
              <a:rPr lang="en-US" sz="2200" dirty="0">
                <a:solidFill>
                  <a:srgbClr val="2C3249"/>
                </a:solidFill>
                <a:latin typeface="Kanit Light" pitchFamily="34" charset="0"/>
                <a:ea typeface="Kanit Light" pitchFamily="34" charset="-122"/>
                <a:cs typeface="Kanit Light" pitchFamily="34" charset="-120"/>
              </a:rPr>
              <a:t>Embedded Systems</a:t>
            </a:r>
            <a:endParaRPr lang="en-US" sz="2200" dirty="0"/>
          </a:p>
        </p:txBody>
      </p:sp>
      <p:sp>
        <p:nvSpPr>
          <p:cNvPr id="8" name="Text 6"/>
          <p:cNvSpPr/>
          <p:nvPr/>
        </p:nvSpPr>
        <p:spPr>
          <a:xfrm>
            <a:off x="11406664" y="3057287"/>
            <a:ext cx="2429947" cy="1814513"/>
          </a:xfrm>
          <a:prstGeom prst="rect">
            <a:avLst/>
          </a:prstGeom>
          <a:noFill/>
          <a:ln/>
        </p:spPr>
        <p:txBody>
          <a:bodyPr wrap="square" lIns="0" tIns="0" rIns="0" bIns="0" rtlCol="0" anchor="t"/>
          <a:lstStyle/>
          <a:p>
            <a:pPr marL="0" indent="0" algn="l">
              <a:lnSpc>
                <a:spcPts val="2850"/>
              </a:lnSpc>
              <a:buNone/>
            </a:pPr>
            <a:r>
              <a:rPr lang="en-US" sz="1750" dirty="0">
                <a:solidFill>
                  <a:srgbClr val="2C3249"/>
                </a:solidFill>
                <a:latin typeface="Martel Sans" pitchFamily="34" charset="0"/>
                <a:ea typeface="Martel Sans" pitchFamily="34" charset="-122"/>
                <a:cs typeface="Martel Sans" pitchFamily="34" charset="-120"/>
              </a:rPr>
              <a:t>On-device inference for low-latency applications in IoT and mobile environments</a:t>
            </a:r>
            <a:endParaRPr lang="en-US" sz="1750" dirty="0"/>
          </a:p>
        </p:txBody>
      </p:sp>
      <p:sp>
        <p:nvSpPr>
          <p:cNvPr id="9" name="Shape 7"/>
          <p:cNvSpPr/>
          <p:nvPr/>
        </p:nvSpPr>
        <p:spPr>
          <a:xfrm>
            <a:off x="793790" y="5489853"/>
            <a:ext cx="13042821" cy="1689616"/>
          </a:xfrm>
          <a:prstGeom prst="roundRect">
            <a:avLst>
              <a:gd name="adj" fmla="val 5638"/>
            </a:avLst>
          </a:prstGeom>
          <a:solidFill>
            <a:srgbClr val="CFE2DE"/>
          </a:solidFill>
          <a:ln/>
        </p:spPr>
        <p:txBody>
          <a:bodyPr/>
          <a:lstStyle/>
          <a:p>
            <a:endParaRPr lang="en-US"/>
          </a:p>
        </p:txBody>
      </p:sp>
      <p:pic>
        <p:nvPicPr>
          <p:cNvPr id="10" name="Image 0" descr="preencoded.png"/>
          <p:cNvPicPr>
            <a:picLocks noChangeAspect="1"/>
          </p:cNvPicPr>
          <p:nvPr/>
        </p:nvPicPr>
        <p:blipFill>
          <a:blip r:embed="rId3"/>
          <a:stretch>
            <a:fillRect/>
          </a:stretch>
        </p:blipFill>
        <p:spPr>
          <a:xfrm>
            <a:off x="1020604" y="5803463"/>
            <a:ext cx="283488" cy="226814"/>
          </a:xfrm>
          <a:prstGeom prst="rect">
            <a:avLst/>
          </a:prstGeom>
        </p:spPr>
      </p:pic>
      <p:sp>
        <p:nvSpPr>
          <p:cNvPr id="11" name="Text 8"/>
          <p:cNvSpPr/>
          <p:nvPr/>
        </p:nvSpPr>
        <p:spPr>
          <a:xfrm>
            <a:off x="1530906" y="5773341"/>
            <a:ext cx="12078891" cy="1088708"/>
          </a:xfrm>
          <a:prstGeom prst="rect">
            <a:avLst/>
          </a:prstGeom>
          <a:noFill/>
          <a:ln/>
        </p:spPr>
        <p:txBody>
          <a:bodyPr wrap="square" lIns="0" tIns="0" rIns="0" bIns="0" rtlCol="0" anchor="t"/>
          <a:lstStyle/>
          <a:p>
            <a:pPr marL="0" indent="0" algn="l">
              <a:lnSpc>
                <a:spcPts val="2850"/>
              </a:lnSpc>
              <a:buNone/>
            </a:pPr>
            <a:r>
              <a:rPr lang="en-US" sz="1750" b="1" dirty="0">
                <a:solidFill>
                  <a:srgbClr val="000000"/>
                </a:solidFill>
                <a:latin typeface="Martel Sans" pitchFamily="34" charset="0"/>
                <a:ea typeface="Martel Sans" pitchFamily="34" charset="-122"/>
                <a:cs typeface="Martel Sans" pitchFamily="34" charset="-120"/>
              </a:rPr>
              <a:t>Real-world example:</a:t>
            </a:r>
            <a:r>
              <a:rPr lang="en-US" sz="1750" dirty="0">
                <a:solidFill>
                  <a:srgbClr val="000000"/>
                </a:solidFill>
                <a:latin typeface="Martel Sans" pitchFamily="34" charset="0"/>
                <a:ea typeface="Martel Sans" pitchFamily="34" charset="-122"/>
                <a:cs typeface="Martel Sans" pitchFamily="34" charset="-120"/>
              </a:rPr>
              <a:t> Deploying a fraud detection model as an API endpoint that processes transactions in milliseconds, considering latency requirements, scalability for peak loads, and security protocols for sensitive financial data.</a:t>
            </a:r>
            <a:endParaRPr lang="en-US" sz="1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22089" y="727353"/>
            <a:ext cx="6681430" cy="466130"/>
          </a:xfrm>
          <a:prstGeom prst="rect">
            <a:avLst/>
          </a:prstGeom>
          <a:noFill/>
          <a:ln/>
        </p:spPr>
        <p:txBody>
          <a:bodyPr wrap="none" lIns="0" tIns="0" rIns="0" bIns="0" rtlCol="0" anchor="t"/>
          <a:lstStyle/>
          <a:p>
            <a:pPr marL="0" indent="0" algn="l">
              <a:lnSpc>
                <a:spcPts val="3650"/>
              </a:lnSpc>
              <a:buNone/>
            </a:pPr>
            <a:r>
              <a:rPr lang="en-US" sz="2900" dirty="0">
                <a:solidFill>
                  <a:srgbClr val="272D45"/>
                </a:solidFill>
                <a:latin typeface="Kanit Light" pitchFamily="34" charset="0"/>
                <a:ea typeface="Kanit Light" pitchFamily="34" charset="-122"/>
                <a:cs typeface="Kanit Light" pitchFamily="34" charset="-120"/>
              </a:rPr>
              <a:t>Continuous Monitoring and Maintenance</a:t>
            </a:r>
            <a:endParaRPr lang="en-US" sz="2900" dirty="0"/>
          </a:p>
        </p:txBody>
      </p:sp>
      <p:pic>
        <p:nvPicPr>
          <p:cNvPr id="3" name="Image 0" descr="preencoded.png"/>
          <p:cNvPicPr>
            <a:picLocks noChangeAspect="1"/>
          </p:cNvPicPr>
          <p:nvPr/>
        </p:nvPicPr>
        <p:blipFill>
          <a:blip r:embed="rId3"/>
          <a:stretch>
            <a:fillRect/>
          </a:stretch>
        </p:blipFill>
        <p:spPr>
          <a:xfrm>
            <a:off x="522089" y="1584960"/>
            <a:ext cx="2286000" cy="2286000"/>
          </a:xfrm>
          <a:prstGeom prst="rect">
            <a:avLst/>
          </a:prstGeom>
        </p:spPr>
      </p:pic>
      <p:sp>
        <p:nvSpPr>
          <p:cNvPr id="4" name="Text 1"/>
          <p:cNvSpPr/>
          <p:nvPr/>
        </p:nvSpPr>
        <p:spPr>
          <a:xfrm>
            <a:off x="7504748" y="1566267"/>
            <a:ext cx="2278618" cy="279559"/>
          </a:xfrm>
          <a:prstGeom prst="rect">
            <a:avLst/>
          </a:prstGeom>
          <a:noFill/>
          <a:ln/>
        </p:spPr>
        <p:txBody>
          <a:bodyPr wrap="none" lIns="0" tIns="0" rIns="0" bIns="0" rtlCol="0" anchor="t"/>
          <a:lstStyle/>
          <a:p>
            <a:pPr marL="0" indent="0" algn="l">
              <a:lnSpc>
                <a:spcPts val="2200"/>
              </a:lnSpc>
              <a:buNone/>
            </a:pPr>
            <a:r>
              <a:rPr lang="en-US" sz="1750" dirty="0">
                <a:solidFill>
                  <a:srgbClr val="272D45"/>
                </a:solidFill>
                <a:latin typeface="Kanit Light" pitchFamily="34" charset="0"/>
                <a:ea typeface="Kanit Light" pitchFamily="34" charset="-122"/>
                <a:cs typeface="Kanit Light" pitchFamily="34" charset="-120"/>
              </a:rPr>
              <a:t>Vigilance in Production</a:t>
            </a:r>
            <a:endParaRPr lang="en-US" sz="1750" dirty="0"/>
          </a:p>
        </p:txBody>
      </p:sp>
      <p:sp>
        <p:nvSpPr>
          <p:cNvPr id="5" name="Text 2"/>
          <p:cNvSpPr/>
          <p:nvPr/>
        </p:nvSpPr>
        <p:spPr>
          <a:xfrm>
            <a:off x="7504748" y="1994892"/>
            <a:ext cx="6611183" cy="238601"/>
          </a:xfrm>
          <a:prstGeom prst="rect">
            <a:avLst/>
          </a:prstGeom>
          <a:noFill/>
          <a:ln/>
        </p:spPr>
        <p:txBody>
          <a:bodyPr wrap="none" lIns="0" tIns="0" rIns="0" bIns="0" rtlCol="0" anchor="t"/>
          <a:lstStyle/>
          <a:p>
            <a:pPr marL="0" indent="0" algn="l">
              <a:lnSpc>
                <a:spcPts val="1850"/>
              </a:lnSpc>
              <a:buNone/>
            </a:pPr>
            <a:r>
              <a:rPr lang="en-US" sz="1150" dirty="0">
                <a:solidFill>
                  <a:srgbClr val="2C3249"/>
                </a:solidFill>
                <a:latin typeface="Martel Sans" pitchFamily="34" charset="0"/>
                <a:ea typeface="Martel Sans" pitchFamily="34" charset="-122"/>
                <a:cs typeface="Martel Sans" pitchFamily="34" charset="-120"/>
              </a:rPr>
              <a:t>Models degrade over time as data distributions shift and patterns evolve in the real world.</a:t>
            </a:r>
            <a:endParaRPr lang="en-US" sz="1150" dirty="0"/>
          </a:p>
        </p:txBody>
      </p:sp>
      <p:sp>
        <p:nvSpPr>
          <p:cNvPr id="6" name="Text 3"/>
          <p:cNvSpPr/>
          <p:nvPr/>
        </p:nvSpPr>
        <p:spPr>
          <a:xfrm>
            <a:off x="7504748" y="2367677"/>
            <a:ext cx="6611183" cy="238601"/>
          </a:xfrm>
          <a:prstGeom prst="rect">
            <a:avLst/>
          </a:prstGeom>
          <a:noFill/>
          <a:ln/>
        </p:spPr>
        <p:txBody>
          <a:bodyPr wrap="none" lIns="0" tIns="0" rIns="0" bIns="0" rtlCol="0" anchor="t"/>
          <a:lstStyle/>
          <a:p>
            <a:pPr marL="342900" indent="-342900" algn="l">
              <a:lnSpc>
                <a:spcPts val="1850"/>
              </a:lnSpc>
              <a:buSzPct val="100000"/>
              <a:buChar char="•"/>
            </a:pPr>
            <a:r>
              <a:rPr lang="en-US" sz="1150" b="1" dirty="0">
                <a:solidFill>
                  <a:srgbClr val="2C3249"/>
                </a:solidFill>
                <a:latin typeface="Martel Sans" pitchFamily="34" charset="0"/>
                <a:ea typeface="Martel Sans" pitchFamily="34" charset="-122"/>
                <a:cs typeface="Martel Sans" pitchFamily="34" charset="-120"/>
              </a:rPr>
              <a:t>Performance tracking:</a:t>
            </a:r>
            <a:r>
              <a:rPr lang="en-US" sz="1150" dirty="0">
                <a:solidFill>
                  <a:srgbClr val="2C3249"/>
                </a:solidFill>
                <a:latin typeface="Martel Sans" pitchFamily="34" charset="0"/>
                <a:ea typeface="Martel Sans" pitchFamily="34" charset="-122"/>
                <a:cs typeface="Martel Sans" pitchFamily="34" charset="-120"/>
              </a:rPr>
              <a:t> Monitor accuracy, latency, and error rates continuously</a:t>
            </a:r>
            <a:endParaRPr lang="en-US" sz="1150" dirty="0"/>
          </a:p>
        </p:txBody>
      </p:sp>
      <p:sp>
        <p:nvSpPr>
          <p:cNvPr id="7" name="Text 4"/>
          <p:cNvSpPr/>
          <p:nvPr/>
        </p:nvSpPr>
        <p:spPr>
          <a:xfrm>
            <a:off x="7504748" y="2658428"/>
            <a:ext cx="6611183" cy="477202"/>
          </a:xfrm>
          <a:prstGeom prst="rect">
            <a:avLst/>
          </a:prstGeom>
          <a:noFill/>
          <a:ln/>
        </p:spPr>
        <p:txBody>
          <a:bodyPr wrap="square" lIns="0" tIns="0" rIns="0" bIns="0" rtlCol="0" anchor="t"/>
          <a:lstStyle/>
          <a:p>
            <a:pPr marL="342900" indent="-342900" algn="l">
              <a:lnSpc>
                <a:spcPts val="1850"/>
              </a:lnSpc>
              <a:buSzPct val="100000"/>
              <a:buChar char="•"/>
            </a:pPr>
            <a:r>
              <a:rPr lang="en-US" sz="1150" b="1" dirty="0">
                <a:solidFill>
                  <a:srgbClr val="2C3249"/>
                </a:solidFill>
                <a:latin typeface="Martel Sans" pitchFamily="34" charset="0"/>
                <a:ea typeface="Martel Sans" pitchFamily="34" charset="-122"/>
                <a:cs typeface="Martel Sans" pitchFamily="34" charset="-120"/>
              </a:rPr>
              <a:t>Drift detection:</a:t>
            </a:r>
            <a:r>
              <a:rPr lang="en-US" sz="1150" dirty="0">
                <a:solidFill>
                  <a:srgbClr val="2C3249"/>
                </a:solidFill>
                <a:latin typeface="Martel Sans" pitchFamily="34" charset="0"/>
                <a:ea typeface="Martel Sans" pitchFamily="34" charset="-122"/>
                <a:cs typeface="Martel Sans" pitchFamily="34" charset="-120"/>
              </a:rPr>
              <a:t> Identify when input data or model predictions diverge from expected patterns</a:t>
            </a:r>
            <a:endParaRPr lang="en-US" sz="1150" dirty="0"/>
          </a:p>
        </p:txBody>
      </p:sp>
      <p:sp>
        <p:nvSpPr>
          <p:cNvPr id="8" name="Text 5"/>
          <p:cNvSpPr/>
          <p:nvPr/>
        </p:nvSpPr>
        <p:spPr>
          <a:xfrm>
            <a:off x="7504748" y="3187779"/>
            <a:ext cx="6611183" cy="238601"/>
          </a:xfrm>
          <a:prstGeom prst="rect">
            <a:avLst/>
          </a:prstGeom>
          <a:noFill/>
          <a:ln/>
        </p:spPr>
        <p:txBody>
          <a:bodyPr wrap="none" lIns="0" tIns="0" rIns="0" bIns="0" rtlCol="0" anchor="t"/>
          <a:lstStyle/>
          <a:p>
            <a:pPr marL="342900" indent="-342900" algn="l">
              <a:lnSpc>
                <a:spcPts val="1850"/>
              </a:lnSpc>
              <a:buSzPct val="100000"/>
              <a:buChar char="•"/>
            </a:pPr>
            <a:r>
              <a:rPr lang="en-US" sz="1150" b="1" dirty="0">
                <a:solidFill>
                  <a:srgbClr val="2C3249"/>
                </a:solidFill>
                <a:latin typeface="Martel Sans" pitchFamily="34" charset="0"/>
                <a:ea typeface="Martel Sans" pitchFamily="34" charset="-122"/>
                <a:cs typeface="Martel Sans" pitchFamily="34" charset="-120"/>
              </a:rPr>
              <a:t>Retraining cycles:</a:t>
            </a:r>
            <a:r>
              <a:rPr lang="en-US" sz="1150" dirty="0">
                <a:solidFill>
                  <a:srgbClr val="2C3249"/>
                </a:solidFill>
                <a:latin typeface="Martel Sans" pitchFamily="34" charset="0"/>
                <a:ea typeface="Martel Sans" pitchFamily="34" charset="-122"/>
                <a:cs typeface="Martel Sans" pitchFamily="34" charset="-120"/>
              </a:rPr>
              <a:t> Update models with fresh data to maintain predictive power</a:t>
            </a:r>
            <a:endParaRPr lang="en-US" sz="1150" dirty="0"/>
          </a:p>
        </p:txBody>
      </p:sp>
      <p:sp>
        <p:nvSpPr>
          <p:cNvPr id="9" name="Shape 6"/>
          <p:cNvSpPr/>
          <p:nvPr/>
        </p:nvSpPr>
        <p:spPr>
          <a:xfrm>
            <a:off x="522089" y="5602724"/>
            <a:ext cx="13586222" cy="15240"/>
          </a:xfrm>
          <a:prstGeom prst="roundRect">
            <a:avLst>
              <a:gd name="adj" fmla="val 411122"/>
            </a:avLst>
          </a:prstGeom>
          <a:solidFill>
            <a:srgbClr val="C5D2CF"/>
          </a:solidFill>
          <a:ln/>
        </p:spPr>
        <p:txBody>
          <a:bodyPr/>
          <a:lstStyle/>
          <a:p>
            <a:endParaRPr lang="en-US"/>
          </a:p>
        </p:txBody>
      </p:sp>
      <p:sp>
        <p:nvSpPr>
          <p:cNvPr id="10" name="Shape 7"/>
          <p:cNvSpPr/>
          <p:nvPr/>
        </p:nvSpPr>
        <p:spPr>
          <a:xfrm>
            <a:off x="3175635" y="5155347"/>
            <a:ext cx="15240" cy="447437"/>
          </a:xfrm>
          <a:prstGeom prst="roundRect">
            <a:avLst>
              <a:gd name="adj" fmla="val 411122"/>
            </a:avLst>
          </a:prstGeom>
          <a:solidFill>
            <a:srgbClr val="C5D2CF"/>
          </a:solidFill>
          <a:ln/>
        </p:spPr>
        <p:txBody>
          <a:bodyPr/>
          <a:lstStyle/>
          <a:p>
            <a:endParaRPr lang="en-US"/>
          </a:p>
        </p:txBody>
      </p:sp>
      <p:sp>
        <p:nvSpPr>
          <p:cNvPr id="11" name="Shape 8"/>
          <p:cNvSpPr/>
          <p:nvPr/>
        </p:nvSpPr>
        <p:spPr>
          <a:xfrm>
            <a:off x="3015496" y="5434905"/>
            <a:ext cx="335637" cy="335637"/>
          </a:xfrm>
          <a:prstGeom prst="roundRect">
            <a:avLst>
              <a:gd name="adj" fmla="val 18668"/>
            </a:avLst>
          </a:prstGeom>
          <a:solidFill>
            <a:srgbClr val="DFECE9"/>
          </a:solidFill>
          <a:ln w="7620">
            <a:solidFill>
              <a:srgbClr val="C5D2CF"/>
            </a:solidFill>
            <a:prstDash val="solid"/>
          </a:ln>
        </p:spPr>
        <p:txBody>
          <a:bodyPr/>
          <a:lstStyle/>
          <a:p>
            <a:endParaRPr lang="en-US"/>
          </a:p>
        </p:txBody>
      </p:sp>
      <p:sp>
        <p:nvSpPr>
          <p:cNvPr id="12" name="Text 9"/>
          <p:cNvSpPr/>
          <p:nvPr/>
        </p:nvSpPr>
        <p:spPr>
          <a:xfrm>
            <a:off x="3071396" y="5462826"/>
            <a:ext cx="223718" cy="279678"/>
          </a:xfrm>
          <a:prstGeom prst="rect">
            <a:avLst/>
          </a:prstGeom>
          <a:noFill/>
          <a:ln/>
        </p:spPr>
        <p:txBody>
          <a:bodyPr wrap="none" lIns="0" tIns="0" rIns="0" bIns="0" rtlCol="0" anchor="t"/>
          <a:lstStyle/>
          <a:p>
            <a:pPr marL="0" indent="0" algn="ctr">
              <a:lnSpc>
                <a:spcPts val="1750"/>
              </a:lnSpc>
              <a:buNone/>
            </a:pPr>
            <a:r>
              <a:rPr lang="en-US" sz="1750" dirty="0">
                <a:solidFill>
                  <a:srgbClr val="2C3249"/>
                </a:solidFill>
                <a:latin typeface="Kanit Light" pitchFamily="34" charset="0"/>
                <a:ea typeface="Kanit Light" pitchFamily="34" charset="-122"/>
                <a:cs typeface="Kanit Light" pitchFamily="34" charset="-120"/>
              </a:rPr>
              <a:t>1</a:t>
            </a:r>
            <a:endParaRPr lang="en-US" sz="1750" dirty="0"/>
          </a:p>
        </p:txBody>
      </p:sp>
      <p:sp>
        <p:nvSpPr>
          <p:cNvPr id="13" name="Text 10"/>
          <p:cNvSpPr/>
          <p:nvPr/>
        </p:nvSpPr>
        <p:spPr>
          <a:xfrm>
            <a:off x="2250996" y="4206478"/>
            <a:ext cx="1864638" cy="233005"/>
          </a:xfrm>
          <a:prstGeom prst="rect">
            <a:avLst/>
          </a:prstGeom>
          <a:noFill/>
          <a:ln/>
        </p:spPr>
        <p:txBody>
          <a:bodyPr wrap="none" lIns="0" tIns="0" rIns="0" bIns="0" rtlCol="0" anchor="t"/>
          <a:lstStyle/>
          <a:p>
            <a:pPr marL="0" indent="0" algn="ctr">
              <a:lnSpc>
                <a:spcPts val="1800"/>
              </a:lnSpc>
              <a:buNone/>
            </a:pPr>
            <a:r>
              <a:rPr lang="en-US" sz="1450" dirty="0">
                <a:solidFill>
                  <a:srgbClr val="2C3249"/>
                </a:solidFill>
                <a:latin typeface="Kanit Light" pitchFamily="34" charset="0"/>
                <a:ea typeface="Kanit Light" pitchFamily="34" charset="-122"/>
                <a:cs typeface="Kanit Light" pitchFamily="34" charset="-120"/>
              </a:rPr>
              <a:t>Initial Deployment</a:t>
            </a:r>
            <a:endParaRPr lang="en-US" sz="1450" dirty="0"/>
          </a:p>
        </p:txBody>
      </p:sp>
      <p:sp>
        <p:nvSpPr>
          <p:cNvPr id="14" name="Text 11"/>
          <p:cNvSpPr/>
          <p:nvPr/>
        </p:nvSpPr>
        <p:spPr>
          <a:xfrm>
            <a:off x="671155" y="4528899"/>
            <a:ext cx="5024437" cy="238601"/>
          </a:xfrm>
          <a:prstGeom prst="rect">
            <a:avLst/>
          </a:prstGeom>
          <a:noFill/>
          <a:ln/>
        </p:spPr>
        <p:txBody>
          <a:bodyPr wrap="none" lIns="0" tIns="0" rIns="0" bIns="0" rtlCol="0" anchor="t"/>
          <a:lstStyle/>
          <a:p>
            <a:pPr marL="0" indent="0" algn="ctr">
              <a:lnSpc>
                <a:spcPts val="1850"/>
              </a:lnSpc>
              <a:buNone/>
            </a:pPr>
            <a:r>
              <a:rPr lang="en-US" sz="1150" dirty="0">
                <a:solidFill>
                  <a:srgbClr val="2C3249"/>
                </a:solidFill>
                <a:latin typeface="Martel Sans" pitchFamily="34" charset="0"/>
                <a:ea typeface="Martel Sans" pitchFamily="34" charset="-122"/>
                <a:cs typeface="Martel Sans" pitchFamily="34" charset="-120"/>
              </a:rPr>
              <a:t>Model launches with baseline performance metrics established</a:t>
            </a:r>
            <a:endParaRPr lang="en-US" sz="1150" dirty="0"/>
          </a:p>
        </p:txBody>
      </p:sp>
      <p:sp>
        <p:nvSpPr>
          <p:cNvPr id="15" name="Shape 12"/>
          <p:cNvSpPr/>
          <p:nvPr/>
        </p:nvSpPr>
        <p:spPr>
          <a:xfrm>
            <a:off x="5930146" y="5602665"/>
            <a:ext cx="15240" cy="447437"/>
          </a:xfrm>
          <a:prstGeom prst="roundRect">
            <a:avLst>
              <a:gd name="adj" fmla="val 411122"/>
            </a:avLst>
          </a:prstGeom>
          <a:solidFill>
            <a:srgbClr val="C5D2CF"/>
          </a:solidFill>
          <a:ln/>
        </p:spPr>
        <p:txBody>
          <a:bodyPr/>
          <a:lstStyle/>
          <a:p>
            <a:endParaRPr lang="en-US"/>
          </a:p>
        </p:txBody>
      </p:sp>
      <p:sp>
        <p:nvSpPr>
          <p:cNvPr id="16" name="Shape 13"/>
          <p:cNvSpPr/>
          <p:nvPr/>
        </p:nvSpPr>
        <p:spPr>
          <a:xfrm>
            <a:off x="5770007" y="5434905"/>
            <a:ext cx="335637" cy="335637"/>
          </a:xfrm>
          <a:prstGeom prst="roundRect">
            <a:avLst>
              <a:gd name="adj" fmla="val 18668"/>
            </a:avLst>
          </a:prstGeom>
          <a:solidFill>
            <a:srgbClr val="DFECE9"/>
          </a:solidFill>
          <a:ln w="7620">
            <a:solidFill>
              <a:srgbClr val="C5D2CF"/>
            </a:solidFill>
            <a:prstDash val="solid"/>
          </a:ln>
        </p:spPr>
        <p:txBody>
          <a:bodyPr/>
          <a:lstStyle/>
          <a:p>
            <a:endParaRPr lang="en-US"/>
          </a:p>
        </p:txBody>
      </p:sp>
      <p:sp>
        <p:nvSpPr>
          <p:cNvPr id="17" name="Text 14"/>
          <p:cNvSpPr/>
          <p:nvPr/>
        </p:nvSpPr>
        <p:spPr>
          <a:xfrm>
            <a:off x="5825907" y="5462826"/>
            <a:ext cx="223718" cy="279678"/>
          </a:xfrm>
          <a:prstGeom prst="rect">
            <a:avLst/>
          </a:prstGeom>
          <a:noFill/>
          <a:ln/>
        </p:spPr>
        <p:txBody>
          <a:bodyPr wrap="none" lIns="0" tIns="0" rIns="0" bIns="0" rtlCol="0" anchor="t"/>
          <a:lstStyle/>
          <a:p>
            <a:pPr marL="0" indent="0" algn="ctr">
              <a:lnSpc>
                <a:spcPts val="1750"/>
              </a:lnSpc>
              <a:buNone/>
            </a:pPr>
            <a:r>
              <a:rPr lang="en-US" sz="1750" dirty="0">
                <a:solidFill>
                  <a:srgbClr val="2C3249"/>
                </a:solidFill>
                <a:latin typeface="Kanit Light" pitchFamily="34" charset="0"/>
                <a:ea typeface="Kanit Light" pitchFamily="34" charset="-122"/>
                <a:cs typeface="Kanit Light" pitchFamily="34" charset="-120"/>
              </a:rPr>
              <a:t>2</a:t>
            </a:r>
            <a:endParaRPr lang="en-US" sz="1750" dirty="0"/>
          </a:p>
        </p:txBody>
      </p:sp>
      <p:sp>
        <p:nvSpPr>
          <p:cNvPr id="18" name="Text 15"/>
          <p:cNvSpPr/>
          <p:nvPr/>
        </p:nvSpPr>
        <p:spPr>
          <a:xfrm>
            <a:off x="5005507" y="6199346"/>
            <a:ext cx="1864638" cy="233005"/>
          </a:xfrm>
          <a:prstGeom prst="rect">
            <a:avLst/>
          </a:prstGeom>
          <a:noFill/>
          <a:ln/>
        </p:spPr>
        <p:txBody>
          <a:bodyPr wrap="none" lIns="0" tIns="0" rIns="0" bIns="0" rtlCol="0" anchor="t"/>
          <a:lstStyle/>
          <a:p>
            <a:pPr marL="0" indent="0" algn="ctr">
              <a:lnSpc>
                <a:spcPts val="1800"/>
              </a:lnSpc>
              <a:buNone/>
            </a:pPr>
            <a:r>
              <a:rPr lang="en-US" sz="1450" dirty="0">
                <a:solidFill>
                  <a:srgbClr val="2C3249"/>
                </a:solidFill>
                <a:latin typeface="Kanit Light" pitchFamily="34" charset="0"/>
                <a:ea typeface="Kanit Light" pitchFamily="34" charset="-122"/>
                <a:cs typeface="Kanit Light" pitchFamily="34" charset="-120"/>
              </a:rPr>
              <a:t>Monitor Performance</a:t>
            </a:r>
            <a:endParaRPr lang="en-US" sz="1450" dirty="0"/>
          </a:p>
        </p:txBody>
      </p:sp>
      <p:sp>
        <p:nvSpPr>
          <p:cNvPr id="19" name="Text 16"/>
          <p:cNvSpPr/>
          <p:nvPr/>
        </p:nvSpPr>
        <p:spPr>
          <a:xfrm>
            <a:off x="3425666" y="6521768"/>
            <a:ext cx="5024437" cy="238601"/>
          </a:xfrm>
          <a:prstGeom prst="rect">
            <a:avLst/>
          </a:prstGeom>
          <a:noFill/>
          <a:ln/>
        </p:spPr>
        <p:txBody>
          <a:bodyPr wrap="none" lIns="0" tIns="0" rIns="0" bIns="0" rtlCol="0" anchor="t"/>
          <a:lstStyle/>
          <a:p>
            <a:pPr marL="0" indent="0" algn="ctr">
              <a:lnSpc>
                <a:spcPts val="1850"/>
              </a:lnSpc>
              <a:buNone/>
            </a:pPr>
            <a:r>
              <a:rPr lang="en-US" sz="1150" dirty="0">
                <a:solidFill>
                  <a:srgbClr val="2C3249"/>
                </a:solidFill>
                <a:latin typeface="Martel Sans" pitchFamily="34" charset="0"/>
                <a:ea typeface="Martel Sans" pitchFamily="34" charset="-122"/>
                <a:cs typeface="Martel Sans" pitchFamily="34" charset="-120"/>
              </a:rPr>
              <a:t>Track key metrics and detect anomalies or degradation signals</a:t>
            </a:r>
            <a:endParaRPr lang="en-US" sz="1150" dirty="0"/>
          </a:p>
        </p:txBody>
      </p:sp>
      <p:sp>
        <p:nvSpPr>
          <p:cNvPr id="20" name="Shape 17"/>
          <p:cNvSpPr/>
          <p:nvPr/>
        </p:nvSpPr>
        <p:spPr>
          <a:xfrm>
            <a:off x="8684657" y="5155347"/>
            <a:ext cx="15240" cy="447437"/>
          </a:xfrm>
          <a:prstGeom prst="roundRect">
            <a:avLst>
              <a:gd name="adj" fmla="val 411122"/>
            </a:avLst>
          </a:prstGeom>
          <a:solidFill>
            <a:srgbClr val="C5D2CF"/>
          </a:solidFill>
          <a:ln/>
        </p:spPr>
        <p:txBody>
          <a:bodyPr/>
          <a:lstStyle/>
          <a:p>
            <a:endParaRPr lang="en-US"/>
          </a:p>
        </p:txBody>
      </p:sp>
      <p:sp>
        <p:nvSpPr>
          <p:cNvPr id="21" name="Shape 18"/>
          <p:cNvSpPr/>
          <p:nvPr/>
        </p:nvSpPr>
        <p:spPr>
          <a:xfrm>
            <a:off x="8524518" y="5434905"/>
            <a:ext cx="335637" cy="335637"/>
          </a:xfrm>
          <a:prstGeom prst="roundRect">
            <a:avLst>
              <a:gd name="adj" fmla="val 18668"/>
            </a:avLst>
          </a:prstGeom>
          <a:solidFill>
            <a:srgbClr val="DFECE9"/>
          </a:solidFill>
          <a:ln w="7620">
            <a:solidFill>
              <a:srgbClr val="C5D2CF"/>
            </a:solidFill>
            <a:prstDash val="solid"/>
          </a:ln>
        </p:spPr>
        <p:txBody>
          <a:bodyPr/>
          <a:lstStyle/>
          <a:p>
            <a:endParaRPr lang="en-US"/>
          </a:p>
        </p:txBody>
      </p:sp>
      <p:sp>
        <p:nvSpPr>
          <p:cNvPr id="22" name="Text 19"/>
          <p:cNvSpPr/>
          <p:nvPr/>
        </p:nvSpPr>
        <p:spPr>
          <a:xfrm>
            <a:off x="8580418" y="5462826"/>
            <a:ext cx="223718" cy="279678"/>
          </a:xfrm>
          <a:prstGeom prst="rect">
            <a:avLst/>
          </a:prstGeom>
          <a:noFill/>
          <a:ln/>
        </p:spPr>
        <p:txBody>
          <a:bodyPr wrap="none" lIns="0" tIns="0" rIns="0" bIns="0" rtlCol="0" anchor="t"/>
          <a:lstStyle/>
          <a:p>
            <a:pPr marL="0" indent="0" algn="ctr">
              <a:lnSpc>
                <a:spcPts val="1750"/>
              </a:lnSpc>
              <a:buNone/>
            </a:pPr>
            <a:r>
              <a:rPr lang="en-US" sz="1750" dirty="0">
                <a:solidFill>
                  <a:srgbClr val="2C3249"/>
                </a:solidFill>
                <a:latin typeface="Kanit Light" pitchFamily="34" charset="0"/>
                <a:ea typeface="Kanit Light" pitchFamily="34" charset="-122"/>
                <a:cs typeface="Kanit Light" pitchFamily="34" charset="-120"/>
              </a:rPr>
              <a:t>3</a:t>
            </a:r>
            <a:endParaRPr lang="en-US" sz="1750" dirty="0"/>
          </a:p>
        </p:txBody>
      </p:sp>
      <p:sp>
        <p:nvSpPr>
          <p:cNvPr id="23" name="Text 20"/>
          <p:cNvSpPr/>
          <p:nvPr/>
        </p:nvSpPr>
        <p:spPr>
          <a:xfrm>
            <a:off x="7760018" y="4206478"/>
            <a:ext cx="1864638" cy="233005"/>
          </a:xfrm>
          <a:prstGeom prst="rect">
            <a:avLst/>
          </a:prstGeom>
          <a:noFill/>
          <a:ln/>
        </p:spPr>
        <p:txBody>
          <a:bodyPr wrap="none" lIns="0" tIns="0" rIns="0" bIns="0" rtlCol="0" anchor="t"/>
          <a:lstStyle/>
          <a:p>
            <a:pPr marL="0" indent="0" algn="ctr">
              <a:lnSpc>
                <a:spcPts val="1800"/>
              </a:lnSpc>
              <a:buNone/>
            </a:pPr>
            <a:r>
              <a:rPr lang="en-US" sz="1450" dirty="0">
                <a:solidFill>
                  <a:srgbClr val="2C3249"/>
                </a:solidFill>
                <a:latin typeface="Kanit Light" pitchFamily="34" charset="0"/>
                <a:ea typeface="Kanit Light" pitchFamily="34" charset="-122"/>
                <a:cs typeface="Kanit Light" pitchFamily="34" charset="-120"/>
              </a:rPr>
              <a:t>Trigger Retraining</a:t>
            </a:r>
            <a:endParaRPr lang="en-US" sz="1450" dirty="0"/>
          </a:p>
        </p:txBody>
      </p:sp>
      <p:sp>
        <p:nvSpPr>
          <p:cNvPr id="24" name="Text 21"/>
          <p:cNvSpPr/>
          <p:nvPr/>
        </p:nvSpPr>
        <p:spPr>
          <a:xfrm>
            <a:off x="6180177" y="4528899"/>
            <a:ext cx="5024437" cy="477202"/>
          </a:xfrm>
          <a:prstGeom prst="rect">
            <a:avLst/>
          </a:prstGeom>
          <a:noFill/>
          <a:ln/>
        </p:spPr>
        <p:txBody>
          <a:bodyPr wrap="square" lIns="0" tIns="0" rIns="0" bIns="0" rtlCol="0" anchor="t"/>
          <a:lstStyle/>
          <a:p>
            <a:pPr marL="0" indent="0" algn="ctr">
              <a:lnSpc>
                <a:spcPts val="1850"/>
              </a:lnSpc>
              <a:buNone/>
            </a:pPr>
            <a:r>
              <a:rPr lang="en-US" sz="1150" dirty="0">
                <a:solidFill>
                  <a:srgbClr val="2C3249"/>
                </a:solidFill>
                <a:latin typeface="Martel Sans" pitchFamily="34" charset="0"/>
                <a:ea typeface="Martel Sans" pitchFamily="34" charset="-122"/>
                <a:cs typeface="Martel Sans" pitchFamily="34" charset="-120"/>
              </a:rPr>
              <a:t>Automatically collect new data and initiate model updates when thresholds are exceeded</a:t>
            </a:r>
            <a:endParaRPr lang="en-US" sz="1150" dirty="0"/>
          </a:p>
        </p:txBody>
      </p:sp>
      <p:sp>
        <p:nvSpPr>
          <p:cNvPr id="25" name="Shape 22"/>
          <p:cNvSpPr/>
          <p:nvPr/>
        </p:nvSpPr>
        <p:spPr>
          <a:xfrm>
            <a:off x="11439168" y="5602665"/>
            <a:ext cx="15240" cy="447437"/>
          </a:xfrm>
          <a:prstGeom prst="roundRect">
            <a:avLst>
              <a:gd name="adj" fmla="val 411122"/>
            </a:avLst>
          </a:prstGeom>
          <a:solidFill>
            <a:srgbClr val="C5D2CF"/>
          </a:solidFill>
          <a:ln/>
        </p:spPr>
        <p:txBody>
          <a:bodyPr/>
          <a:lstStyle/>
          <a:p>
            <a:endParaRPr lang="en-US"/>
          </a:p>
        </p:txBody>
      </p:sp>
      <p:sp>
        <p:nvSpPr>
          <p:cNvPr id="26" name="Shape 23"/>
          <p:cNvSpPr/>
          <p:nvPr/>
        </p:nvSpPr>
        <p:spPr>
          <a:xfrm>
            <a:off x="11279029" y="5434905"/>
            <a:ext cx="335637" cy="335637"/>
          </a:xfrm>
          <a:prstGeom prst="roundRect">
            <a:avLst>
              <a:gd name="adj" fmla="val 18668"/>
            </a:avLst>
          </a:prstGeom>
          <a:solidFill>
            <a:srgbClr val="DFECE9"/>
          </a:solidFill>
          <a:ln w="7620">
            <a:solidFill>
              <a:srgbClr val="C5D2CF"/>
            </a:solidFill>
            <a:prstDash val="solid"/>
          </a:ln>
        </p:spPr>
        <p:txBody>
          <a:bodyPr/>
          <a:lstStyle/>
          <a:p>
            <a:endParaRPr lang="en-US"/>
          </a:p>
        </p:txBody>
      </p:sp>
      <p:sp>
        <p:nvSpPr>
          <p:cNvPr id="27" name="Text 24"/>
          <p:cNvSpPr/>
          <p:nvPr/>
        </p:nvSpPr>
        <p:spPr>
          <a:xfrm>
            <a:off x="11334929" y="5462826"/>
            <a:ext cx="223718" cy="279678"/>
          </a:xfrm>
          <a:prstGeom prst="rect">
            <a:avLst/>
          </a:prstGeom>
          <a:noFill/>
          <a:ln/>
        </p:spPr>
        <p:txBody>
          <a:bodyPr wrap="none" lIns="0" tIns="0" rIns="0" bIns="0" rtlCol="0" anchor="t"/>
          <a:lstStyle/>
          <a:p>
            <a:pPr marL="0" indent="0" algn="ctr">
              <a:lnSpc>
                <a:spcPts val="1750"/>
              </a:lnSpc>
              <a:buNone/>
            </a:pPr>
            <a:r>
              <a:rPr lang="en-US" sz="1750" dirty="0">
                <a:solidFill>
                  <a:srgbClr val="2C3249"/>
                </a:solidFill>
                <a:latin typeface="Kanit Light" pitchFamily="34" charset="0"/>
                <a:ea typeface="Kanit Light" pitchFamily="34" charset="-122"/>
                <a:cs typeface="Kanit Light" pitchFamily="34" charset="-120"/>
              </a:rPr>
              <a:t>4</a:t>
            </a:r>
            <a:endParaRPr lang="en-US" sz="1750" dirty="0"/>
          </a:p>
        </p:txBody>
      </p:sp>
      <p:sp>
        <p:nvSpPr>
          <p:cNvPr id="28" name="Text 25"/>
          <p:cNvSpPr/>
          <p:nvPr/>
        </p:nvSpPr>
        <p:spPr>
          <a:xfrm>
            <a:off x="10514528" y="6199346"/>
            <a:ext cx="1864638" cy="233005"/>
          </a:xfrm>
          <a:prstGeom prst="rect">
            <a:avLst/>
          </a:prstGeom>
          <a:noFill/>
          <a:ln/>
        </p:spPr>
        <p:txBody>
          <a:bodyPr wrap="none" lIns="0" tIns="0" rIns="0" bIns="0" rtlCol="0" anchor="t"/>
          <a:lstStyle/>
          <a:p>
            <a:pPr marL="0" indent="0" algn="ctr">
              <a:lnSpc>
                <a:spcPts val="1800"/>
              </a:lnSpc>
              <a:buNone/>
            </a:pPr>
            <a:r>
              <a:rPr lang="en-US" sz="1450" dirty="0">
                <a:solidFill>
                  <a:srgbClr val="2C3249"/>
                </a:solidFill>
                <a:latin typeface="Kanit Light" pitchFamily="34" charset="0"/>
                <a:ea typeface="Kanit Light" pitchFamily="34" charset="-122"/>
                <a:cs typeface="Kanit Light" pitchFamily="34" charset="-120"/>
              </a:rPr>
              <a:t>Validate &amp; Deploy</a:t>
            </a:r>
            <a:endParaRPr lang="en-US" sz="1450" dirty="0"/>
          </a:p>
        </p:txBody>
      </p:sp>
      <p:sp>
        <p:nvSpPr>
          <p:cNvPr id="29" name="Text 26"/>
          <p:cNvSpPr/>
          <p:nvPr/>
        </p:nvSpPr>
        <p:spPr>
          <a:xfrm>
            <a:off x="8934688" y="6521768"/>
            <a:ext cx="5024437" cy="238601"/>
          </a:xfrm>
          <a:prstGeom prst="rect">
            <a:avLst/>
          </a:prstGeom>
          <a:noFill/>
          <a:ln/>
        </p:spPr>
        <p:txBody>
          <a:bodyPr wrap="none" lIns="0" tIns="0" rIns="0" bIns="0" rtlCol="0" anchor="t"/>
          <a:lstStyle/>
          <a:p>
            <a:pPr marL="0" indent="0" algn="ctr">
              <a:lnSpc>
                <a:spcPts val="1850"/>
              </a:lnSpc>
              <a:buNone/>
            </a:pPr>
            <a:r>
              <a:rPr lang="en-US" sz="1150" dirty="0">
                <a:solidFill>
                  <a:srgbClr val="2C3249"/>
                </a:solidFill>
                <a:latin typeface="Martel Sans" pitchFamily="34" charset="0"/>
                <a:ea typeface="Martel Sans" pitchFamily="34" charset="-122"/>
                <a:cs typeface="Martel Sans" pitchFamily="34" charset="-120"/>
              </a:rPr>
              <a:t>Test updated model and seamlessly swap into production</a:t>
            </a:r>
            <a:endParaRPr lang="en-US" sz="1150" dirty="0"/>
          </a:p>
        </p:txBody>
      </p:sp>
      <p:sp>
        <p:nvSpPr>
          <p:cNvPr id="30" name="Text 27"/>
          <p:cNvSpPr/>
          <p:nvPr/>
        </p:nvSpPr>
        <p:spPr>
          <a:xfrm>
            <a:off x="745808" y="7095887"/>
            <a:ext cx="13362503" cy="238601"/>
          </a:xfrm>
          <a:prstGeom prst="rect">
            <a:avLst/>
          </a:prstGeom>
          <a:noFill/>
          <a:ln/>
        </p:spPr>
        <p:txBody>
          <a:bodyPr wrap="none" lIns="0" tIns="0" rIns="0" bIns="0" rtlCol="0" anchor="t"/>
          <a:lstStyle/>
          <a:p>
            <a:pPr marL="0" indent="0" algn="l">
              <a:lnSpc>
                <a:spcPts val="1850"/>
              </a:lnSpc>
              <a:buNone/>
            </a:pPr>
            <a:r>
              <a:rPr lang="en-US" sz="1150" dirty="0">
                <a:solidFill>
                  <a:srgbClr val="2C3249"/>
                </a:solidFill>
                <a:latin typeface="Martel Sans" pitchFamily="34" charset="0"/>
                <a:ea typeface="Martel Sans" pitchFamily="34" charset="-122"/>
                <a:cs typeface="Martel Sans" pitchFamily="34" charset="-120"/>
              </a:rPr>
              <a:t>Governance and compliance are essential—maintain audit trails, ensure model explainability, and adhere to regulatory requirements throughout the model lifecycle.</a:t>
            </a:r>
            <a:endParaRPr lang="en-US" sz="1150" dirty="0"/>
          </a:p>
        </p:txBody>
      </p:sp>
      <p:sp>
        <p:nvSpPr>
          <p:cNvPr id="31" name="Shape 28"/>
          <p:cNvSpPr/>
          <p:nvPr/>
        </p:nvSpPr>
        <p:spPr>
          <a:xfrm>
            <a:off x="522089" y="6928128"/>
            <a:ext cx="15240" cy="574119"/>
          </a:xfrm>
          <a:prstGeom prst="rect">
            <a:avLst/>
          </a:prstGeom>
          <a:solidFill>
            <a:srgbClr val="437066"/>
          </a:solidFill>
          <a:ln/>
        </p:spPr>
        <p:txBody>
          <a:bodyPr/>
          <a:lstStyle/>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137053"/>
          </a:xfrm>
          <a:prstGeom prst="rect">
            <a:avLst/>
          </a:prstGeom>
        </p:spPr>
      </p:pic>
      <p:sp>
        <p:nvSpPr>
          <p:cNvPr id="3" name="Text 0"/>
          <p:cNvSpPr/>
          <p:nvPr/>
        </p:nvSpPr>
        <p:spPr>
          <a:xfrm>
            <a:off x="598289" y="2607112"/>
            <a:ext cx="6580227" cy="534233"/>
          </a:xfrm>
          <a:prstGeom prst="rect">
            <a:avLst/>
          </a:prstGeom>
          <a:noFill/>
          <a:ln/>
        </p:spPr>
        <p:txBody>
          <a:bodyPr wrap="none" lIns="0" tIns="0" rIns="0" bIns="0" rtlCol="0" anchor="t"/>
          <a:lstStyle/>
          <a:p>
            <a:pPr marL="0" indent="0" algn="l">
              <a:lnSpc>
                <a:spcPts val="4200"/>
              </a:lnSpc>
              <a:buNone/>
            </a:pPr>
            <a:r>
              <a:rPr lang="en-US" sz="3350" dirty="0">
                <a:solidFill>
                  <a:srgbClr val="272D45"/>
                </a:solidFill>
                <a:latin typeface="Kanit Light" pitchFamily="34" charset="0"/>
                <a:ea typeface="Kanit Light" pitchFamily="34" charset="-122"/>
                <a:cs typeface="Kanit Light" pitchFamily="34" charset="-120"/>
              </a:rPr>
              <a:t>Automation and MLOps Integration</a:t>
            </a:r>
            <a:endParaRPr lang="en-US" sz="3350" dirty="0"/>
          </a:p>
        </p:txBody>
      </p:sp>
      <p:sp>
        <p:nvSpPr>
          <p:cNvPr id="4" name="Shape 1"/>
          <p:cNvSpPr/>
          <p:nvPr/>
        </p:nvSpPr>
        <p:spPr>
          <a:xfrm>
            <a:off x="598289" y="3397687"/>
            <a:ext cx="4363998" cy="2230636"/>
          </a:xfrm>
          <a:prstGeom prst="roundRect">
            <a:avLst>
              <a:gd name="adj" fmla="val 3219"/>
            </a:avLst>
          </a:prstGeom>
          <a:solidFill>
            <a:srgbClr val="DFECE9"/>
          </a:solidFill>
          <a:ln w="7620">
            <a:solidFill>
              <a:srgbClr val="C5D2CF"/>
            </a:solidFill>
            <a:prstDash val="solid"/>
          </a:ln>
        </p:spPr>
        <p:txBody>
          <a:bodyPr/>
          <a:lstStyle/>
          <a:p>
            <a:endParaRPr lang="en-US"/>
          </a:p>
        </p:txBody>
      </p:sp>
      <p:sp>
        <p:nvSpPr>
          <p:cNvPr id="5" name="Shape 2"/>
          <p:cNvSpPr/>
          <p:nvPr/>
        </p:nvSpPr>
        <p:spPr>
          <a:xfrm>
            <a:off x="776764" y="3576161"/>
            <a:ext cx="512802" cy="512802"/>
          </a:xfrm>
          <a:prstGeom prst="roundRect">
            <a:avLst>
              <a:gd name="adj" fmla="val 17829661"/>
            </a:avLst>
          </a:prstGeom>
          <a:solidFill>
            <a:srgbClr val="437066"/>
          </a:solidFill>
          <a:ln/>
        </p:spPr>
        <p:txBody>
          <a:bodyPr/>
          <a:lstStyle/>
          <a:p>
            <a:endParaRPr lang="en-US"/>
          </a:p>
        </p:txBody>
      </p:sp>
      <p:pic>
        <p:nvPicPr>
          <p:cNvPr id="6"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17734" y="3717131"/>
            <a:ext cx="230743" cy="230743"/>
          </a:xfrm>
          <a:prstGeom prst="rect">
            <a:avLst/>
          </a:prstGeom>
        </p:spPr>
      </p:pic>
      <p:sp>
        <p:nvSpPr>
          <p:cNvPr id="7" name="Text 3"/>
          <p:cNvSpPr/>
          <p:nvPr/>
        </p:nvSpPr>
        <p:spPr>
          <a:xfrm>
            <a:off x="776764" y="4259818"/>
            <a:ext cx="2137053" cy="267057"/>
          </a:xfrm>
          <a:prstGeom prst="rect">
            <a:avLst/>
          </a:prstGeom>
          <a:noFill/>
          <a:ln/>
        </p:spPr>
        <p:txBody>
          <a:bodyPr wrap="none" lIns="0" tIns="0" rIns="0" bIns="0" rtlCol="0" anchor="t"/>
          <a:lstStyle/>
          <a:p>
            <a:pPr marL="0" indent="0" algn="l">
              <a:lnSpc>
                <a:spcPts val="2100"/>
              </a:lnSpc>
              <a:buNone/>
            </a:pPr>
            <a:r>
              <a:rPr lang="en-US" sz="1650" dirty="0">
                <a:solidFill>
                  <a:srgbClr val="2C3249"/>
                </a:solidFill>
                <a:latin typeface="Kanit Light" pitchFamily="34" charset="0"/>
                <a:ea typeface="Kanit Light" pitchFamily="34" charset="-122"/>
                <a:cs typeface="Kanit Light" pitchFamily="34" charset="-120"/>
              </a:rPr>
              <a:t>Automated Pipelines</a:t>
            </a:r>
            <a:endParaRPr lang="en-US" sz="1650" dirty="0"/>
          </a:p>
        </p:txBody>
      </p:sp>
      <p:sp>
        <p:nvSpPr>
          <p:cNvPr id="8" name="Text 4"/>
          <p:cNvSpPr/>
          <p:nvPr/>
        </p:nvSpPr>
        <p:spPr>
          <a:xfrm>
            <a:off x="776764" y="4629388"/>
            <a:ext cx="4007048" cy="820460"/>
          </a:xfrm>
          <a:prstGeom prst="rect">
            <a:avLst/>
          </a:prstGeom>
          <a:noFill/>
          <a:ln/>
        </p:spPr>
        <p:txBody>
          <a:bodyPr wrap="square" lIns="0" tIns="0" rIns="0" bIns="0" rtlCol="0" anchor="t"/>
          <a:lstStyle/>
          <a:p>
            <a:pPr marL="0" indent="0" algn="l">
              <a:lnSpc>
                <a:spcPts val="2150"/>
              </a:lnSpc>
              <a:buNone/>
            </a:pPr>
            <a:r>
              <a:rPr lang="en-US" sz="1300" dirty="0">
                <a:solidFill>
                  <a:srgbClr val="2C3249"/>
                </a:solidFill>
                <a:latin typeface="Martel Sans" pitchFamily="34" charset="0"/>
                <a:ea typeface="Martel Sans" pitchFamily="34" charset="-122"/>
                <a:cs typeface="Martel Sans" pitchFamily="34" charset="-120"/>
              </a:rPr>
              <a:t>End-to-end workflows that handle data ingestion, preprocessing, training, and deployment without manual intervention</a:t>
            </a:r>
            <a:endParaRPr lang="en-US" sz="1300" dirty="0"/>
          </a:p>
        </p:txBody>
      </p:sp>
      <p:sp>
        <p:nvSpPr>
          <p:cNvPr id="9" name="Shape 5"/>
          <p:cNvSpPr/>
          <p:nvPr/>
        </p:nvSpPr>
        <p:spPr>
          <a:xfrm>
            <a:off x="5133142" y="3397687"/>
            <a:ext cx="4363998" cy="2230636"/>
          </a:xfrm>
          <a:prstGeom prst="roundRect">
            <a:avLst>
              <a:gd name="adj" fmla="val 3219"/>
            </a:avLst>
          </a:prstGeom>
          <a:solidFill>
            <a:srgbClr val="DFECE9"/>
          </a:solidFill>
          <a:ln w="7620">
            <a:solidFill>
              <a:srgbClr val="C5D2CF"/>
            </a:solidFill>
            <a:prstDash val="solid"/>
          </a:ln>
        </p:spPr>
        <p:txBody>
          <a:bodyPr/>
          <a:lstStyle/>
          <a:p>
            <a:endParaRPr lang="en-US"/>
          </a:p>
        </p:txBody>
      </p:sp>
      <p:sp>
        <p:nvSpPr>
          <p:cNvPr id="10" name="Shape 6"/>
          <p:cNvSpPr/>
          <p:nvPr/>
        </p:nvSpPr>
        <p:spPr>
          <a:xfrm>
            <a:off x="5311616" y="3576161"/>
            <a:ext cx="512802" cy="512802"/>
          </a:xfrm>
          <a:prstGeom prst="roundRect">
            <a:avLst>
              <a:gd name="adj" fmla="val 17829661"/>
            </a:avLst>
          </a:prstGeom>
          <a:solidFill>
            <a:srgbClr val="437066"/>
          </a:solidFill>
          <a:ln/>
        </p:spPr>
        <p:txBody>
          <a:bodyPr/>
          <a:lstStyle/>
          <a:p>
            <a:endParaRPr lang="en-US"/>
          </a:p>
        </p:txBody>
      </p:sp>
      <p:pic>
        <p:nvPicPr>
          <p:cNvPr id="11"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452586" y="3717131"/>
            <a:ext cx="230743" cy="230743"/>
          </a:xfrm>
          <a:prstGeom prst="rect">
            <a:avLst/>
          </a:prstGeom>
        </p:spPr>
      </p:pic>
      <p:sp>
        <p:nvSpPr>
          <p:cNvPr id="12" name="Text 7"/>
          <p:cNvSpPr/>
          <p:nvPr/>
        </p:nvSpPr>
        <p:spPr>
          <a:xfrm>
            <a:off x="5311616" y="4259818"/>
            <a:ext cx="2137053" cy="267057"/>
          </a:xfrm>
          <a:prstGeom prst="rect">
            <a:avLst/>
          </a:prstGeom>
          <a:noFill/>
          <a:ln/>
        </p:spPr>
        <p:txBody>
          <a:bodyPr wrap="none" lIns="0" tIns="0" rIns="0" bIns="0" rtlCol="0" anchor="t"/>
          <a:lstStyle/>
          <a:p>
            <a:pPr marL="0" indent="0" algn="l">
              <a:lnSpc>
                <a:spcPts val="2100"/>
              </a:lnSpc>
              <a:buNone/>
            </a:pPr>
            <a:r>
              <a:rPr lang="en-US" sz="1650" dirty="0">
                <a:solidFill>
                  <a:srgbClr val="2C3249"/>
                </a:solidFill>
                <a:latin typeface="Kanit Light" pitchFamily="34" charset="0"/>
                <a:ea typeface="Kanit Light" pitchFamily="34" charset="-122"/>
                <a:cs typeface="Kanit Light" pitchFamily="34" charset="-120"/>
              </a:rPr>
              <a:t>Faster Iteration</a:t>
            </a:r>
            <a:endParaRPr lang="en-US" sz="1650" dirty="0"/>
          </a:p>
        </p:txBody>
      </p:sp>
      <p:sp>
        <p:nvSpPr>
          <p:cNvPr id="13" name="Text 8"/>
          <p:cNvSpPr/>
          <p:nvPr/>
        </p:nvSpPr>
        <p:spPr>
          <a:xfrm>
            <a:off x="5311616" y="4629388"/>
            <a:ext cx="4007048" cy="820460"/>
          </a:xfrm>
          <a:prstGeom prst="rect">
            <a:avLst/>
          </a:prstGeom>
          <a:noFill/>
          <a:ln/>
        </p:spPr>
        <p:txBody>
          <a:bodyPr wrap="square" lIns="0" tIns="0" rIns="0" bIns="0" rtlCol="0" anchor="t"/>
          <a:lstStyle/>
          <a:p>
            <a:pPr marL="0" indent="0" algn="l">
              <a:lnSpc>
                <a:spcPts val="2150"/>
              </a:lnSpc>
              <a:buNone/>
            </a:pPr>
            <a:r>
              <a:rPr lang="en-US" sz="1300" dirty="0">
                <a:solidFill>
                  <a:srgbClr val="2C3249"/>
                </a:solidFill>
                <a:latin typeface="Martel Sans" pitchFamily="34" charset="0"/>
                <a:ea typeface="Martel Sans" pitchFamily="34" charset="-122"/>
                <a:cs typeface="Martel Sans" pitchFamily="34" charset="-120"/>
              </a:rPr>
              <a:t>Reduce cycle time from idea to production, enabling rapid experimentation and continuous improvement</a:t>
            </a:r>
            <a:endParaRPr lang="en-US" sz="1300" dirty="0"/>
          </a:p>
        </p:txBody>
      </p:sp>
      <p:sp>
        <p:nvSpPr>
          <p:cNvPr id="14" name="Shape 9"/>
          <p:cNvSpPr/>
          <p:nvPr/>
        </p:nvSpPr>
        <p:spPr>
          <a:xfrm>
            <a:off x="9667994" y="3397687"/>
            <a:ext cx="4364117" cy="2230636"/>
          </a:xfrm>
          <a:prstGeom prst="roundRect">
            <a:avLst>
              <a:gd name="adj" fmla="val 3219"/>
            </a:avLst>
          </a:prstGeom>
          <a:solidFill>
            <a:srgbClr val="DFECE9"/>
          </a:solidFill>
          <a:ln w="7620">
            <a:solidFill>
              <a:srgbClr val="C5D2CF"/>
            </a:solidFill>
            <a:prstDash val="solid"/>
          </a:ln>
        </p:spPr>
        <p:txBody>
          <a:bodyPr/>
          <a:lstStyle/>
          <a:p>
            <a:endParaRPr lang="en-US"/>
          </a:p>
        </p:txBody>
      </p:sp>
      <p:sp>
        <p:nvSpPr>
          <p:cNvPr id="15" name="Shape 10"/>
          <p:cNvSpPr/>
          <p:nvPr/>
        </p:nvSpPr>
        <p:spPr>
          <a:xfrm>
            <a:off x="9846469" y="3576161"/>
            <a:ext cx="512802" cy="512802"/>
          </a:xfrm>
          <a:prstGeom prst="roundRect">
            <a:avLst>
              <a:gd name="adj" fmla="val 17829661"/>
            </a:avLst>
          </a:prstGeom>
          <a:solidFill>
            <a:srgbClr val="437066"/>
          </a:solidFill>
          <a:ln/>
        </p:spPr>
        <p:txBody>
          <a:bodyPr/>
          <a:lstStyle/>
          <a:p>
            <a:endParaRPr lang="en-US"/>
          </a:p>
        </p:txBody>
      </p:sp>
      <p:pic>
        <p:nvPicPr>
          <p:cNvPr id="16"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987439" y="3717131"/>
            <a:ext cx="230743" cy="230743"/>
          </a:xfrm>
          <a:prstGeom prst="rect">
            <a:avLst/>
          </a:prstGeom>
        </p:spPr>
      </p:pic>
      <p:sp>
        <p:nvSpPr>
          <p:cNvPr id="17" name="Text 11"/>
          <p:cNvSpPr/>
          <p:nvPr/>
        </p:nvSpPr>
        <p:spPr>
          <a:xfrm>
            <a:off x="9846469" y="4259818"/>
            <a:ext cx="2137053" cy="267057"/>
          </a:xfrm>
          <a:prstGeom prst="rect">
            <a:avLst/>
          </a:prstGeom>
          <a:noFill/>
          <a:ln/>
        </p:spPr>
        <p:txBody>
          <a:bodyPr wrap="none" lIns="0" tIns="0" rIns="0" bIns="0" rtlCol="0" anchor="t"/>
          <a:lstStyle/>
          <a:p>
            <a:pPr marL="0" indent="0" algn="l">
              <a:lnSpc>
                <a:spcPts val="2100"/>
              </a:lnSpc>
              <a:buNone/>
            </a:pPr>
            <a:r>
              <a:rPr lang="en-US" sz="1650" dirty="0">
                <a:solidFill>
                  <a:srgbClr val="2C3249"/>
                </a:solidFill>
                <a:latin typeface="Kanit Light" pitchFamily="34" charset="0"/>
                <a:ea typeface="Kanit Light" pitchFamily="34" charset="-122"/>
                <a:cs typeface="Kanit Light" pitchFamily="34" charset="-120"/>
              </a:rPr>
              <a:t>Reproducibility</a:t>
            </a:r>
            <a:endParaRPr lang="en-US" sz="1650" dirty="0"/>
          </a:p>
        </p:txBody>
      </p:sp>
      <p:sp>
        <p:nvSpPr>
          <p:cNvPr id="18" name="Text 12"/>
          <p:cNvSpPr/>
          <p:nvPr/>
        </p:nvSpPr>
        <p:spPr>
          <a:xfrm>
            <a:off x="9846469" y="4629388"/>
            <a:ext cx="4007168" cy="820460"/>
          </a:xfrm>
          <a:prstGeom prst="rect">
            <a:avLst/>
          </a:prstGeom>
          <a:noFill/>
          <a:ln/>
        </p:spPr>
        <p:txBody>
          <a:bodyPr wrap="square" lIns="0" tIns="0" rIns="0" bIns="0" rtlCol="0" anchor="t"/>
          <a:lstStyle/>
          <a:p>
            <a:pPr marL="0" indent="0" algn="l">
              <a:lnSpc>
                <a:spcPts val="2150"/>
              </a:lnSpc>
              <a:buNone/>
            </a:pPr>
            <a:r>
              <a:rPr lang="en-US" sz="1300" dirty="0">
                <a:solidFill>
                  <a:srgbClr val="2C3249"/>
                </a:solidFill>
                <a:latin typeface="Martel Sans" pitchFamily="34" charset="0"/>
                <a:ea typeface="Martel Sans" pitchFamily="34" charset="-122"/>
                <a:cs typeface="Martel Sans" pitchFamily="34" charset="-120"/>
              </a:rPr>
              <a:t>Version control for data, code, and models ensures consistent results and easy rollback capabilities</a:t>
            </a:r>
            <a:endParaRPr lang="en-US" sz="1300" dirty="0"/>
          </a:p>
        </p:txBody>
      </p:sp>
      <p:sp>
        <p:nvSpPr>
          <p:cNvPr id="19" name="Text 13"/>
          <p:cNvSpPr/>
          <p:nvPr/>
        </p:nvSpPr>
        <p:spPr>
          <a:xfrm>
            <a:off x="598289" y="5991463"/>
            <a:ext cx="2137053" cy="267057"/>
          </a:xfrm>
          <a:prstGeom prst="rect">
            <a:avLst/>
          </a:prstGeom>
          <a:noFill/>
          <a:ln/>
        </p:spPr>
        <p:txBody>
          <a:bodyPr wrap="none" lIns="0" tIns="0" rIns="0" bIns="0" rtlCol="0" anchor="t"/>
          <a:lstStyle/>
          <a:p>
            <a:pPr marL="0" indent="0" algn="l">
              <a:lnSpc>
                <a:spcPts val="2100"/>
              </a:lnSpc>
              <a:buNone/>
            </a:pPr>
            <a:r>
              <a:rPr lang="en-US" sz="1650" dirty="0">
                <a:solidFill>
                  <a:srgbClr val="272D45"/>
                </a:solidFill>
                <a:latin typeface="Kanit Light" pitchFamily="34" charset="0"/>
                <a:ea typeface="Kanit Light" pitchFamily="34" charset="-122"/>
                <a:cs typeface="Kanit Light" pitchFamily="34" charset="-120"/>
              </a:rPr>
              <a:t>Leading Platforms</a:t>
            </a:r>
            <a:endParaRPr lang="en-US" sz="1650" dirty="0"/>
          </a:p>
        </p:txBody>
      </p:sp>
      <p:sp>
        <p:nvSpPr>
          <p:cNvPr id="20" name="Text 14"/>
          <p:cNvSpPr/>
          <p:nvPr/>
        </p:nvSpPr>
        <p:spPr>
          <a:xfrm>
            <a:off x="598289" y="6429375"/>
            <a:ext cx="5123259" cy="273487"/>
          </a:xfrm>
          <a:prstGeom prst="rect">
            <a:avLst/>
          </a:prstGeom>
          <a:noFill/>
          <a:ln/>
        </p:spPr>
        <p:txBody>
          <a:bodyPr wrap="none" lIns="0" tIns="0" rIns="0" bIns="0" rtlCol="0" anchor="t"/>
          <a:lstStyle/>
          <a:p>
            <a:pPr marL="342900" indent="-342900" algn="l">
              <a:lnSpc>
                <a:spcPts val="2150"/>
              </a:lnSpc>
              <a:buSzPct val="100000"/>
              <a:buChar char="•"/>
            </a:pPr>
            <a:r>
              <a:rPr lang="en-US" sz="1300" b="1" dirty="0">
                <a:solidFill>
                  <a:srgbClr val="2C3249"/>
                </a:solidFill>
                <a:latin typeface="Martel Sans" pitchFamily="34" charset="0"/>
                <a:ea typeface="Martel Sans" pitchFamily="34" charset="-122"/>
                <a:cs typeface="Martel Sans" pitchFamily="34" charset="-120"/>
              </a:rPr>
              <a:t>Kubeflow:</a:t>
            </a:r>
            <a:r>
              <a:rPr lang="en-US" sz="1300" dirty="0">
                <a:solidFill>
                  <a:srgbClr val="2C3249"/>
                </a:solidFill>
                <a:latin typeface="Martel Sans" pitchFamily="34" charset="0"/>
                <a:ea typeface="Martel Sans" pitchFamily="34" charset="-122"/>
                <a:cs typeface="Martel Sans" pitchFamily="34" charset="-120"/>
              </a:rPr>
              <a:t> Kubernetes-native ML workflows</a:t>
            </a:r>
            <a:endParaRPr lang="en-US" sz="1300" dirty="0"/>
          </a:p>
        </p:txBody>
      </p:sp>
      <p:sp>
        <p:nvSpPr>
          <p:cNvPr id="21" name="Text 15"/>
          <p:cNvSpPr/>
          <p:nvPr/>
        </p:nvSpPr>
        <p:spPr>
          <a:xfrm>
            <a:off x="598289" y="6762631"/>
            <a:ext cx="5123259" cy="273487"/>
          </a:xfrm>
          <a:prstGeom prst="rect">
            <a:avLst/>
          </a:prstGeom>
          <a:noFill/>
          <a:ln/>
        </p:spPr>
        <p:txBody>
          <a:bodyPr wrap="none" lIns="0" tIns="0" rIns="0" bIns="0" rtlCol="0" anchor="t"/>
          <a:lstStyle/>
          <a:p>
            <a:pPr marL="342900" indent="-342900" algn="l">
              <a:lnSpc>
                <a:spcPts val="2150"/>
              </a:lnSpc>
              <a:buSzPct val="100000"/>
              <a:buChar char="•"/>
            </a:pPr>
            <a:r>
              <a:rPr lang="en-US" sz="1300" b="1" dirty="0">
                <a:solidFill>
                  <a:srgbClr val="2C3249"/>
                </a:solidFill>
                <a:latin typeface="Martel Sans" pitchFamily="34" charset="0"/>
                <a:ea typeface="Martel Sans" pitchFamily="34" charset="-122"/>
                <a:cs typeface="Martel Sans" pitchFamily="34" charset="-120"/>
              </a:rPr>
              <a:t>MLflow:</a:t>
            </a:r>
            <a:r>
              <a:rPr lang="en-US" sz="1300" dirty="0">
                <a:solidFill>
                  <a:srgbClr val="2C3249"/>
                </a:solidFill>
                <a:latin typeface="Martel Sans" pitchFamily="34" charset="0"/>
                <a:ea typeface="Martel Sans" pitchFamily="34" charset="-122"/>
                <a:cs typeface="Martel Sans" pitchFamily="34" charset="-120"/>
              </a:rPr>
              <a:t> Experiment tracking and model registry</a:t>
            </a:r>
            <a:endParaRPr lang="en-US" sz="1300" dirty="0"/>
          </a:p>
        </p:txBody>
      </p:sp>
      <p:sp>
        <p:nvSpPr>
          <p:cNvPr id="22" name="Text 16"/>
          <p:cNvSpPr/>
          <p:nvPr/>
        </p:nvSpPr>
        <p:spPr>
          <a:xfrm>
            <a:off x="598289" y="7095887"/>
            <a:ext cx="5123259" cy="273487"/>
          </a:xfrm>
          <a:prstGeom prst="rect">
            <a:avLst/>
          </a:prstGeom>
          <a:noFill/>
          <a:ln/>
        </p:spPr>
        <p:txBody>
          <a:bodyPr wrap="none" lIns="0" tIns="0" rIns="0" bIns="0" rtlCol="0" anchor="t"/>
          <a:lstStyle/>
          <a:p>
            <a:pPr marL="342900" indent="-342900" algn="l">
              <a:lnSpc>
                <a:spcPts val="2150"/>
              </a:lnSpc>
              <a:buSzPct val="100000"/>
              <a:buChar char="•"/>
            </a:pPr>
            <a:r>
              <a:rPr lang="en-US" sz="1300" b="1" dirty="0">
                <a:solidFill>
                  <a:srgbClr val="2C3249"/>
                </a:solidFill>
                <a:latin typeface="Martel Sans" pitchFamily="34" charset="0"/>
                <a:ea typeface="Martel Sans" pitchFamily="34" charset="-122"/>
                <a:cs typeface="Martel Sans" pitchFamily="34" charset="-120"/>
              </a:rPr>
              <a:t>Vertex AI:</a:t>
            </a:r>
            <a:r>
              <a:rPr lang="en-US" sz="1300" dirty="0">
                <a:solidFill>
                  <a:srgbClr val="2C3249"/>
                </a:solidFill>
                <a:latin typeface="Martel Sans" pitchFamily="34" charset="0"/>
                <a:ea typeface="Martel Sans" pitchFamily="34" charset="-122"/>
                <a:cs typeface="Martel Sans" pitchFamily="34" charset="-120"/>
              </a:rPr>
              <a:t> Managed end-to-end ML platform</a:t>
            </a:r>
            <a:endParaRPr lang="en-US" sz="1300" dirty="0"/>
          </a:p>
        </p:txBody>
      </p:sp>
      <p:sp>
        <p:nvSpPr>
          <p:cNvPr id="23" name="Text 17"/>
          <p:cNvSpPr/>
          <p:nvPr/>
        </p:nvSpPr>
        <p:spPr>
          <a:xfrm>
            <a:off x="598289" y="7429143"/>
            <a:ext cx="5123259" cy="273487"/>
          </a:xfrm>
          <a:prstGeom prst="rect">
            <a:avLst/>
          </a:prstGeom>
          <a:noFill/>
          <a:ln/>
        </p:spPr>
        <p:txBody>
          <a:bodyPr wrap="none" lIns="0" tIns="0" rIns="0" bIns="0" rtlCol="0" anchor="t"/>
          <a:lstStyle/>
          <a:p>
            <a:pPr marL="342900" indent="-342900" algn="l">
              <a:lnSpc>
                <a:spcPts val="2150"/>
              </a:lnSpc>
              <a:buSzPct val="100000"/>
              <a:buChar char="•"/>
            </a:pPr>
            <a:r>
              <a:rPr lang="en-US" sz="1300" b="1" dirty="0">
                <a:solidFill>
                  <a:srgbClr val="2C3249"/>
                </a:solidFill>
                <a:latin typeface="Martel Sans" pitchFamily="34" charset="0"/>
                <a:ea typeface="Martel Sans" pitchFamily="34" charset="-122"/>
                <a:cs typeface="Martel Sans" pitchFamily="34" charset="-120"/>
              </a:rPr>
              <a:t>Azure ML:</a:t>
            </a:r>
            <a:r>
              <a:rPr lang="en-US" sz="1300" dirty="0">
                <a:solidFill>
                  <a:srgbClr val="2C3249"/>
                </a:solidFill>
                <a:latin typeface="Martel Sans" pitchFamily="34" charset="0"/>
                <a:ea typeface="Martel Sans" pitchFamily="34" charset="-122"/>
                <a:cs typeface="Martel Sans" pitchFamily="34" charset="-120"/>
              </a:rPr>
              <a:t> Enterprise MLOps with governance</a:t>
            </a:r>
            <a:endParaRPr lang="en-US" sz="1300" dirty="0"/>
          </a:p>
        </p:txBody>
      </p:sp>
      <p:sp>
        <p:nvSpPr>
          <p:cNvPr id="24" name="Text 18"/>
          <p:cNvSpPr/>
          <p:nvPr/>
        </p:nvSpPr>
        <p:spPr>
          <a:xfrm>
            <a:off x="6146125" y="5974437"/>
            <a:ext cx="7893487" cy="546973"/>
          </a:xfrm>
          <a:prstGeom prst="rect">
            <a:avLst/>
          </a:prstGeom>
          <a:noFill/>
          <a:ln/>
        </p:spPr>
        <p:txBody>
          <a:bodyPr wrap="square" lIns="0" tIns="0" rIns="0" bIns="0" rtlCol="0" anchor="t"/>
          <a:lstStyle/>
          <a:p>
            <a:pPr marL="0" indent="0" algn="l">
              <a:lnSpc>
                <a:spcPts val="2150"/>
              </a:lnSpc>
              <a:buNone/>
            </a:pPr>
            <a:r>
              <a:rPr lang="en-US" sz="1300" dirty="0">
                <a:solidFill>
                  <a:srgbClr val="2C3249"/>
                </a:solidFill>
                <a:latin typeface="Martel Sans" pitchFamily="34" charset="0"/>
                <a:ea typeface="Martel Sans" pitchFamily="34" charset="-122"/>
                <a:cs typeface="Martel Sans" pitchFamily="34" charset="-120"/>
              </a:rPr>
              <a:t>MLOps integration reduces manual errors, improves collaboration between data science and engineering teams, and accelerates time-to-value for machine learning initiatives.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Machine Learning Engineering">
            <a:extLst>
              <a:ext uri="{FF2B5EF4-FFF2-40B4-BE49-F238E27FC236}">
                <a16:creationId xmlns:a16="http://schemas.microsoft.com/office/drawing/2014/main" id="{D66E5042-8D86-1524-70E8-514E6204BC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50204" y="150052"/>
            <a:ext cx="10119189" cy="7576743"/>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82C030E8-D30F-DC71-580A-BEDE564BF876}"/>
              </a:ext>
            </a:extLst>
          </p:cNvPr>
          <p:cNvSpPr txBox="1"/>
          <p:nvPr/>
        </p:nvSpPr>
        <p:spPr>
          <a:xfrm>
            <a:off x="441789" y="7726795"/>
            <a:ext cx="11116638" cy="276999"/>
          </a:xfrm>
          <a:prstGeom prst="rect">
            <a:avLst/>
          </a:prstGeom>
          <a:noFill/>
        </p:spPr>
        <p:txBody>
          <a:bodyPr wrap="square" rtlCol="0">
            <a:spAutoFit/>
          </a:bodyPr>
          <a:lstStyle/>
          <a:p>
            <a:r>
              <a:rPr lang="en-US" sz="1200" dirty="0"/>
              <a:t>Reference: End-to-end Machine Learning Workflow. </a:t>
            </a:r>
            <a:r>
              <a:rPr lang="en-US" sz="1200" i="1" dirty="0"/>
              <a:t>https://ml-ops.org/content/end-to-end-ml-workflow</a:t>
            </a:r>
          </a:p>
        </p:txBody>
      </p:sp>
    </p:spTree>
    <p:extLst>
      <p:ext uri="{BB962C8B-B14F-4D97-AF65-F5344CB8AC3E}">
        <p14:creationId xmlns:p14="http://schemas.microsoft.com/office/powerpoint/2010/main" val="15164005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585311" y="653534"/>
            <a:ext cx="7406283" cy="522684"/>
          </a:xfrm>
          <a:prstGeom prst="rect">
            <a:avLst/>
          </a:prstGeom>
          <a:noFill/>
          <a:ln/>
        </p:spPr>
        <p:txBody>
          <a:bodyPr wrap="none" lIns="0" tIns="0" rIns="0" bIns="0" rtlCol="0" anchor="t"/>
          <a:lstStyle/>
          <a:p>
            <a:pPr marL="0" indent="0" algn="l">
              <a:lnSpc>
                <a:spcPts val="4100"/>
              </a:lnSpc>
              <a:buNone/>
            </a:pPr>
            <a:r>
              <a:rPr lang="en-US" sz="3250" dirty="0">
                <a:solidFill>
                  <a:srgbClr val="272D45"/>
                </a:solidFill>
                <a:latin typeface="Kanit Light" pitchFamily="34" charset="0"/>
                <a:ea typeface="Kanit Light" pitchFamily="34" charset="-122"/>
                <a:cs typeface="Kanit Light" pitchFamily="34" charset="-120"/>
              </a:rPr>
              <a:t>Chapter 5: Challenges and Best Practices</a:t>
            </a:r>
            <a:endParaRPr lang="en-US" sz="3250" dirty="0"/>
          </a:p>
        </p:txBody>
      </p:sp>
      <p:sp>
        <p:nvSpPr>
          <p:cNvPr id="4" name="Shape 1"/>
          <p:cNvSpPr/>
          <p:nvPr/>
        </p:nvSpPr>
        <p:spPr>
          <a:xfrm>
            <a:off x="585311" y="1427083"/>
            <a:ext cx="3903107" cy="1812250"/>
          </a:xfrm>
          <a:prstGeom prst="roundRect">
            <a:avLst>
              <a:gd name="adj" fmla="val 6055"/>
            </a:avLst>
          </a:prstGeom>
          <a:solidFill>
            <a:srgbClr val="FFFFFF"/>
          </a:solidFill>
          <a:ln w="22860">
            <a:solidFill>
              <a:srgbClr val="C5D2CF"/>
            </a:solidFill>
            <a:prstDash val="solid"/>
          </a:ln>
        </p:spPr>
        <p:txBody>
          <a:bodyPr/>
          <a:lstStyle/>
          <a:p>
            <a:endParaRPr lang="en-US"/>
          </a:p>
        </p:txBody>
      </p:sp>
      <p:sp>
        <p:nvSpPr>
          <p:cNvPr id="5" name="Shape 2"/>
          <p:cNvSpPr/>
          <p:nvPr/>
        </p:nvSpPr>
        <p:spPr>
          <a:xfrm>
            <a:off x="562451" y="1427083"/>
            <a:ext cx="91440" cy="1812250"/>
          </a:xfrm>
          <a:prstGeom prst="roundRect">
            <a:avLst>
              <a:gd name="adj" fmla="val 76824"/>
            </a:avLst>
          </a:prstGeom>
          <a:solidFill>
            <a:srgbClr val="437066"/>
          </a:solidFill>
          <a:ln/>
        </p:spPr>
        <p:txBody>
          <a:bodyPr/>
          <a:lstStyle/>
          <a:p>
            <a:endParaRPr lang="en-US"/>
          </a:p>
        </p:txBody>
      </p:sp>
      <p:sp>
        <p:nvSpPr>
          <p:cNvPr id="6" name="Text 3"/>
          <p:cNvSpPr/>
          <p:nvPr/>
        </p:nvSpPr>
        <p:spPr>
          <a:xfrm>
            <a:off x="843915" y="1617107"/>
            <a:ext cx="2090618" cy="261342"/>
          </a:xfrm>
          <a:prstGeom prst="rect">
            <a:avLst/>
          </a:prstGeom>
          <a:noFill/>
          <a:ln/>
        </p:spPr>
        <p:txBody>
          <a:bodyPr wrap="none" lIns="0" tIns="0" rIns="0" bIns="0" rtlCol="0" anchor="t"/>
          <a:lstStyle/>
          <a:p>
            <a:pPr marL="0" indent="0" algn="l">
              <a:lnSpc>
                <a:spcPts val="2050"/>
              </a:lnSpc>
              <a:buNone/>
            </a:pPr>
            <a:r>
              <a:rPr lang="en-US" sz="1600" dirty="0">
                <a:solidFill>
                  <a:srgbClr val="2C3249"/>
                </a:solidFill>
                <a:latin typeface="Kanit Light" pitchFamily="34" charset="0"/>
                <a:ea typeface="Kanit Light" pitchFamily="34" charset="-122"/>
                <a:cs typeface="Kanit Light" pitchFamily="34" charset="-120"/>
              </a:rPr>
              <a:t>Data Bias</a:t>
            </a:r>
            <a:endParaRPr lang="en-US" sz="1600" dirty="0"/>
          </a:p>
        </p:txBody>
      </p:sp>
      <p:sp>
        <p:nvSpPr>
          <p:cNvPr id="7" name="Text 4"/>
          <p:cNvSpPr/>
          <p:nvPr/>
        </p:nvSpPr>
        <p:spPr>
          <a:xfrm>
            <a:off x="843915" y="1978700"/>
            <a:ext cx="3454479" cy="1070610"/>
          </a:xfrm>
          <a:prstGeom prst="rect">
            <a:avLst/>
          </a:prstGeom>
          <a:noFill/>
          <a:ln/>
        </p:spPr>
        <p:txBody>
          <a:bodyPr wrap="square" lIns="0" tIns="0" rIns="0" bIns="0" rtlCol="0" anchor="t"/>
          <a:lstStyle/>
          <a:p>
            <a:pPr marL="0" indent="0" algn="l">
              <a:lnSpc>
                <a:spcPts val="2100"/>
              </a:lnSpc>
              <a:buNone/>
            </a:pPr>
            <a:r>
              <a:rPr lang="en-US" sz="1300" dirty="0">
                <a:solidFill>
                  <a:srgbClr val="2C3249"/>
                </a:solidFill>
                <a:latin typeface="Martel Sans" pitchFamily="34" charset="0"/>
                <a:ea typeface="Martel Sans" pitchFamily="34" charset="-122"/>
                <a:cs typeface="Martel Sans" pitchFamily="34" charset="-120"/>
              </a:rPr>
              <a:t>Historical biases in training data can perpetuate unfair outcomes. Regular audits and diverse data sources help mitigate this risk.</a:t>
            </a:r>
            <a:endParaRPr lang="en-US" sz="1300" dirty="0"/>
          </a:p>
        </p:txBody>
      </p:sp>
      <p:sp>
        <p:nvSpPr>
          <p:cNvPr id="8" name="Shape 5"/>
          <p:cNvSpPr/>
          <p:nvPr/>
        </p:nvSpPr>
        <p:spPr>
          <a:xfrm>
            <a:off x="4655582" y="1427083"/>
            <a:ext cx="3903107" cy="1812250"/>
          </a:xfrm>
          <a:prstGeom prst="roundRect">
            <a:avLst>
              <a:gd name="adj" fmla="val 6055"/>
            </a:avLst>
          </a:prstGeom>
          <a:solidFill>
            <a:srgbClr val="FFFFFF"/>
          </a:solidFill>
          <a:ln w="22860">
            <a:solidFill>
              <a:srgbClr val="C5D2CF"/>
            </a:solidFill>
            <a:prstDash val="solid"/>
          </a:ln>
        </p:spPr>
        <p:txBody>
          <a:bodyPr/>
          <a:lstStyle/>
          <a:p>
            <a:endParaRPr lang="en-US"/>
          </a:p>
        </p:txBody>
      </p:sp>
      <p:sp>
        <p:nvSpPr>
          <p:cNvPr id="9" name="Shape 6"/>
          <p:cNvSpPr/>
          <p:nvPr/>
        </p:nvSpPr>
        <p:spPr>
          <a:xfrm>
            <a:off x="4632722" y="1427083"/>
            <a:ext cx="91440" cy="1812250"/>
          </a:xfrm>
          <a:prstGeom prst="roundRect">
            <a:avLst>
              <a:gd name="adj" fmla="val 76824"/>
            </a:avLst>
          </a:prstGeom>
          <a:solidFill>
            <a:srgbClr val="437066"/>
          </a:solidFill>
          <a:ln/>
        </p:spPr>
        <p:txBody>
          <a:bodyPr/>
          <a:lstStyle/>
          <a:p>
            <a:endParaRPr lang="en-US"/>
          </a:p>
        </p:txBody>
      </p:sp>
      <p:sp>
        <p:nvSpPr>
          <p:cNvPr id="10" name="Text 7"/>
          <p:cNvSpPr/>
          <p:nvPr/>
        </p:nvSpPr>
        <p:spPr>
          <a:xfrm>
            <a:off x="4914186" y="1617107"/>
            <a:ext cx="2090618" cy="261342"/>
          </a:xfrm>
          <a:prstGeom prst="rect">
            <a:avLst/>
          </a:prstGeom>
          <a:noFill/>
          <a:ln/>
        </p:spPr>
        <p:txBody>
          <a:bodyPr wrap="none" lIns="0" tIns="0" rIns="0" bIns="0" rtlCol="0" anchor="t"/>
          <a:lstStyle/>
          <a:p>
            <a:pPr marL="0" indent="0" algn="l">
              <a:lnSpc>
                <a:spcPts val="2050"/>
              </a:lnSpc>
              <a:buNone/>
            </a:pPr>
            <a:r>
              <a:rPr lang="en-US" sz="1600" dirty="0">
                <a:solidFill>
                  <a:srgbClr val="2C3249"/>
                </a:solidFill>
                <a:latin typeface="Kanit Light" pitchFamily="34" charset="0"/>
                <a:ea typeface="Kanit Light" pitchFamily="34" charset="-122"/>
                <a:cs typeface="Kanit Light" pitchFamily="34" charset="-120"/>
              </a:rPr>
              <a:t>Overfitting</a:t>
            </a:r>
            <a:endParaRPr lang="en-US" sz="1600" dirty="0"/>
          </a:p>
        </p:txBody>
      </p:sp>
      <p:sp>
        <p:nvSpPr>
          <p:cNvPr id="11" name="Text 8"/>
          <p:cNvSpPr/>
          <p:nvPr/>
        </p:nvSpPr>
        <p:spPr>
          <a:xfrm>
            <a:off x="4914186" y="1978700"/>
            <a:ext cx="3454479" cy="1070610"/>
          </a:xfrm>
          <a:prstGeom prst="rect">
            <a:avLst/>
          </a:prstGeom>
          <a:noFill/>
          <a:ln/>
        </p:spPr>
        <p:txBody>
          <a:bodyPr wrap="square" lIns="0" tIns="0" rIns="0" bIns="0" rtlCol="0" anchor="t"/>
          <a:lstStyle/>
          <a:p>
            <a:pPr marL="0" indent="0" algn="l">
              <a:lnSpc>
                <a:spcPts val="2100"/>
              </a:lnSpc>
              <a:buNone/>
            </a:pPr>
            <a:r>
              <a:rPr lang="en-US" sz="1300" dirty="0">
                <a:solidFill>
                  <a:srgbClr val="2C3249"/>
                </a:solidFill>
                <a:latin typeface="Martel Sans" pitchFamily="34" charset="0"/>
                <a:ea typeface="Martel Sans" pitchFamily="34" charset="-122"/>
                <a:cs typeface="Martel Sans" pitchFamily="34" charset="-120"/>
              </a:rPr>
              <a:t>Models that memorize training data fail to generalize. Use regularization, cross-validation, and appropriate model complexity.</a:t>
            </a:r>
            <a:endParaRPr lang="en-US" sz="1300" dirty="0"/>
          </a:p>
        </p:txBody>
      </p:sp>
      <p:sp>
        <p:nvSpPr>
          <p:cNvPr id="12" name="Shape 9"/>
          <p:cNvSpPr/>
          <p:nvPr/>
        </p:nvSpPr>
        <p:spPr>
          <a:xfrm>
            <a:off x="585311" y="3406497"/>
            <a:ext cx="3903107" cy="1812250"/>
          </a:xfrm>
          <a:prstGeom prst="roundRect">
            <a:avLst>
              <a:gd name="adj" fmla="val 6055"/>
            </a:avLst>
          </a:prstGeom>
          <a:solidFill>
            <a:srgbClr val="FFFFFF"/>
          </a:solidFill>
          <a:ln w="22860">
            <a:solidFill>
              <a:srgbClr val="C5D2CF"/>
            </a:solidFill>
            <a:prstDash val="solid"/>
          </a:ln>
        </p:spPr>
        <p:txBody>
          <a:bodyPr/>
          <a:lstStyle/>
          <a:p>
            <a:endParaRPr lang="en-US"/>
          </a:p>
        </p:txBody>
      </p:sp>
      <p:sp>
        <p:nvSpPr>
          <p:cNvPr id="13" name="Shape 10"/>
          <p:cNvSpPr/>
          <p:nvPr/>
        </p:nvSpPr>
        <p:spPr>
          <a:xfrm>
            <a:off x="562451" y="3406497"/>
            <a:ext cx="91440" cy="1812250"/>
          </a:xfrm>
          <a:prstGeom prst="roundRect">
            <a:avLst>
              <a:gd name="adj" fmla="val 76824"/>
            </a:avLst>
          </a:prstGeom>
          <a:solidFill>
            <a:srgbClr val="437066"/>
          </a:solidFill>
          <a:ln/>
        </p:spPr>
        <p:txBody>
          <a:bodyPr/>
          <a:lstStyle/>
          <a:p>
            <a:endParaRPr lang="en-US"/>
          </a:p>
        </p:txBody>
      </p:sp>
      <p:sp>
        <p:nvSpPr>
          <p:cNvPr id="14" name="Text 11"/>
          <p:cNvSpPr/>
          <p:nvPr/>
        </p:nvSpPr>
        <p:spPr>
          <a:xfrm>
            <a:off x="843915" y="3596521"/>
            <a:ext cx="2091690" cy="261342"/>
          </a:xfrm>
          <a:prstGeom prst="rect">
            <a:avLst/>
          </a:prstGeom>
          <a:noFill/>
          <a:ln/>
        </p:spPr>
        <p:txBody>
          <a:bodyPr wrap="none" lIns="0" tIns="0" rIns="0" bIns="0" rtlCol="0" anchor="t"/>
          <a:lstStyle/>
          <a:p>
            <a:pPr marL="0" indent="0" algn="l">
              <a:lnSpc>
                <a:spcPts val="2050"/>
              </a:lnSpc>
              <a:buNone/>
            </a:pPr>
            <a:r>
              <a:rPr lang="en-US" sz="1600" dirty="0">
                <a:solidFill>
                  <a:srgbClr val="2C3249"/>
                </a:solidFill>
                <a:latin typeface="Kanit Light" pitchFamily="34" charset="0"/>
                <a:ea typeface="Kanit Light" pitchFamily="34" charset="-122"/>
                <a:cs typeface="Kanit Light" pitchFamily="34" charset="-120"/>
              </a:rPr>
              <a:t>Lack of Interpretability</a:t>
            </a:r>
            <a:endParaRPr lang="en-US" sz="1600" dirty="0"/>
          </a:p>
        </p:txBody>
      </p:sp>
      <p:sp>
        <p:nvSpPr>
          <p:cNvPr id="15" name="Text 12"/>
          <p:cNvSpPr/>
          <p:nvPr/>
        </p:nvSpPr>
        <p:spPr>
          <a:xfrm>
            <a:off x="843915" y="3958114"/>
            <a:ext cx="3454479" cy="1070610"/>
          </a:xfrm>
          <a:prstGeom prst="rect">
            <a:avLst/>
          </a:prstGeom>
          <a:noFill/>
          <a:ln/>
        </p:spPr>
        <p:txBody>
          <a:bodyPr wrap="square" lIns="0" tIns="0" rIns="0" bIns="0" rtlCol="0" anchor="t"/>
          <a:lstStyle/>
          <a:p>
            <a:pPr marL="0" indent="0" algn="l">
              <a:lnSpc>
                <a:spcPts val="2100"/>
              </a:lnSpc>
              <a:buNone/>
            </a:pPr>
            <a:r>
              <a:rPr lang="en-US" sz="1300" dirty="0">
                <a:solidFill>
                  <a:srgbClr val="2C3249"/>
                </a:solidFill>
                <a:latin typeface="Martel Sans" pitchFamily="34" charset="0"/>
                <a:ea typeface="Martel Sans" pitchFamily="34" charset="-122"/>
                <a:cs typeface="Martel Sans" pitchFamily="34" charset="-120"/>
              </a:rPr>
              <a:t>Black-box models create trust issues. Employ explainable AI techniques and document model decisions for stakeholders.</a:t>
            </a:r>
            <a:endParaRPr lang="en-US" sz="1300" dirty="0"/>
          </a:p>
        </p:txBody>
      </p:sp>
      <p:sp>
        <p:nvSpPr>
          <p:cNvPr id="16" name="Shape 13"/>
          <p:cNvSpPr/>
          <p:nvPr/>
        </p:nvSpPr>
        <p:spPr>
          <a:xfrm>
            <a:off x="585311" y="5490471"/>
            <a:ext cx="7973377" cy="28456"/>
          </a:xfrm>
          <a:prstGeom prst="rect">
            <a:avLst/>
          </a:prstGeom>
          <a:solidFill>
            <a:srgbClr val="2C3249">
              <a:alpha val="50000"/>
            </a:srgbClr>
          </a:solidFill>
          <a:ln/>
        </p:spPr>
        <p:txBody>
          <a:bodyPr/>
          <a:lstStyle/>
          <a:p>
            <a:endParaRPr lang="en-US"/>
          </a:p>
        </p:txBody>
      </p:sp>
      <p:sp>
        <p:nvSpPr>
          <p:cNvPr id="17" name="Text 14"/>
          <p:cNvSpPr/>
          <p:nvPr/>
        </p:nvSpPr>
        <p:spPr>
          <a:xfrm>
            <a:off x="585311" y="5874187"/>
            <a:ext cx="3430548" cy="313492"/>
          </a:xfrm>
          <a:prstGeom prst="rect">
            <a:avLst/>
          </a:prstGeom>
          <a:noFill/>
          <a:ln/>
        </p:spPr>
        <p:txBody>
          <a:bodyPr wrap="none" lIns="0" tIns="0" rIns="0" bIns="0" rtlCol="0" anchor="t"/>
          <a:lstStyle/>
          <a:p>
            <a:pPr marL="0" indent="0" algn="l">
              <a:lnSpc>
                <a:spcPts val="2450"/>
              </a:lnSpc>
              <a:buNone/>
            </a:pPr>
            <a:r>
              <a:rPr lang="en-US" sz="1950" dirty="0">
                <a:solidFill>
                  <a:srgbClr val="272D45"/>
                </a:solidFill>
                <a:latin typeface="Kanit Light" pitchFamily="34" charset="0"/>
                <a:ea typeface="Kanit Light" pitchFamily="34" charset="-122"/>
                <a:cs typeface="Kanit Light" pitchFamily="34" charset="-120"/>
              </a:rPr>
              <a:t>Cross-Functional Collaboration</a:t>
            </a:r>
            <a:endParaRPr lang="en-US" sz="1950" dirty="0"/>
          </a:p>
        </p:txBody>
      </p:sp>
      <p:sp>
        <p:nvSpPr>
          <p:cNvPr id="18" name="Text 15"/>
          <p:cNvSpPr/>
          <p:nvPr/>
        </p:nvSpPr>
        <p:spPr>
          <a:xfrm>
            <a:off x="585311" y="6354842"/>
            <a:ext cx="3782735" cy="1070610"/>
          </a:xfrm>
          <a:prstGeom prst="rect">
            <a:avLst/>
          </a:prstGeom>
          <a:noFill/>
          <a:ln/>
        </p:spPr>
        <p:txBody>
          <a:bodyPr wrap="square" lIns="0" tIns="0" rIns="0" bIns="0" rtlCol="0" anchor="t"/>
          <a:lstStyle/>
          <a:p>
            <a:pPr marL="0" indent="0" algn="l">
              <a:lnSpc>
                <a:spcPts val="2100"/>
              </a:lnSpc>
              <a:buNone/>
            </a:pPr>
            <a:r>
              <a:rPr lang="en-US" sz="1300" dirty="0">
                <a:solidFill>
                  <a:srgbClr val="2C3249"/>
                </a:solidFill>
                <a:latin typeface="Martel Sans" pitchFamily="34" charset="0"/>
                <a:ea typeface="Martel Sans" pitchFamily="34" charset="-122"/>
                <a:cs typeface="Martel Sans" pitchFamily="34" charset="-120"/>
              </a:rPr>
              <a:t>Success requires seamless teamwork between data scientists, ML engineers, domain experts, and business stakeholders throughout the entire workflow.</a:t>
            </a:r>
            <a:endParaRPr lang="en-US" sz="1300" dirty="0"/>
          </a:p>
        </p:txBody>
      </p:sp>
      <p:sp>
        <p:nvSpPr>
          <p:cNvPr id="19" name="Text 16"/>
          <p:cNvSpPr/>
          <p:nvPr/>
        </p:nvSpPr>
        <p:spPr>
          <a:xfrm>
            <a:off x="4783574" y="5874187"/>
            <a:ext cx="2508766" cy="313492"/>
          </a:xfrm>
          <a:prstGeom prst="rect">
            <a:avLst/>
          </a:prstGeom>
          <a:noFill/>
          <a:ln/>
        </p:spPr>
        <p:txBody>
          <a:bodyPr wrap="none" lIns="0" tIns="0" rIns="0" bIns="0" rtlCol="0" anchor="t"/>
          <a:lstStyle/>
          <a:p>
            <a:pPr marL="0" indent="0" algn="l">
              <a:lnSpc>
                <a:spcPts val="2450"/>
              </a:lnSpc>
              <a:buNone/>
            </a:pPr>
            <a:r>
              <a:rPr lang="en-US" sz="1950" dirty="0">
                <a:solidFill>
                  <a:srgbClr val="272D45"/>
                </a:solidFill>
                <a:latin typeface="Kanit Light" pitchFamily="34" charset="0"/>
                <a:ea typeface="Kanit Light" pitchFamily="34" charset="-122"/>
                <a:cs typeface="Kanit Light" pitchFamily="34" charset="-120"/>
              </a:rPr>
              <a:t>Ethical Considerations</a:t>
            </a:r>
            <a:endParaRPr lang="en-US" sz="1950" dirty="0"/>
          </a:p>
        </p:txBody>
      </p:sp>
      <p:sp>
        <p:nvSpPr>
          <p:cNvPr id="20" name="Text 17"/>
          <p:cNvSpPr/>
          <p:nvPr/>
        </p:nvSpPr>
        <p:spPr>
          <a:xfrm>
            <a:off x="4783574" y="6354842"/>
            <a:ext cx="3782735" cy="802958"/>
          </a:xfrm>
          <a:prstGeom prst="rect">
            <a:avLst/>
          </a:prstGeom>
          <a:noFill/>
          <a:ln/>
        </p:spPr>
        <p:txBody>
          <a:bodyPr wrap="square" lIns="0" tIns="0" rIns="0" bIns="0" rtlCol="0" anchor="t"/>
          <a:lstStyle/>
          <a:p>
            <a:pPr marL="0" indent="0" algn="l">
              <a:lnSpc>
                <a:spcPts val="2100"/>
              </a:lnSpc>
              <a:buNone/>
            </a:pPr>
            <a:r>
              <a:rPr lang="en-US" sz="1300" dirty="0">
                <a:solidFill>
                  <a:srgbClr val="2C3249"/>
                </a:solidFill>
                <a:latin typeface="Martel Sans" pitchFamily="34" charset="0"/>
                <a:ea typeface="Martel Sans" pitchFamily="34" charset="-122"/>
                <a:cs typeface="Martel Sans" pitchFamily="34" charset="-120"/>
              </a:rPr>
              <a:t>Transparency, fairness, privacy protection, and accountability must be embedded in every stage of the ML workflow.</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1939766"/>
          </a:xfrm>
          <a:prstGeom prst="rect">
            <a:avLst/>
          </a:prstGeom>
        </p:spPr>
      </p:pic>
      <p:sp>
        <p:nvSpPr>
          <p:cNvPr id="3" name="Text 0"/>
          <p:cNvSpPr/>
          <p:nvPr/>
        </p:nvSpPr>
        <p:spPr>
          <a:xfrm>
            <a:off x="543044" y="2489954"/>
            <a:ext cx="9126260" cy="484823"/>
          </a:xfrm>
          <a:prstGeom prst="rect">
            <a:avLst/>
          </a:prstGeom>
          <a:noFill/>
          <a:ln/>
        </p:spPr>
        <p:txBody>
          <a:bodyPr wrap="none" lIns="0" tIns="0" rIns="0" bIns="0" rtlCol="0" anchor="t"/>
          <a:lstStyle/>
          <a:p>
            <a:pPr marL="0" indent="0" algn="l">
              <a:lnSpc>
                <a:spcPts val="3800"/>
              </a:lnSpc>
              <a:buNone/>
            </a:pPr>
            <a:r>
              <a:rPr lang="en-US" sz="3050" dirty="0">
                <a:solidFill>
                  <a:srgbClr val="272D45"/>
                </a:solidFill>
                <a:latin typeface="Kanit Light" pitchFamily="34" charset="0"/>
                <a:ea typeface="Kanit Light" pitchFamily="34" charset="-122"/>
                <a:cs typeface="Kanit Light" pitchFamily="34" charset="-120"/>
              </a:rPr>
              <a:t>Conclusion: Mastering the Machine Learning Workflow</a:t>
            </a:r>
            <a:endParaRPr lang="en-US" sz="3050" dirty="0"/>
          </a:p>
        </p:txBody>
      </p:sp>
      <p:pic>
        <p:nvPicPr>
          <p:cNvPr id="4" name="Image 1" descr="preencoded.png"/>
          <p:cNvPicPr>
            <a:picLocks noChangeAspect="1"/>
          </p:cNvPicPr>
          <p:nvPr/>
        </p:nvPicPr>
        <p:blipFill>
          <a:blip r:embed="rId4"/>
          <a:stretch>
            <a:fillRect/>
          </a:stretch>
        </p:blipFill>
        <p:spPr>
          <a:xfrm>
            <a:off x="543044" y="3207544"/>
            <a:ext cx="6772156" cy="620673"/>
          </a:xfrm>
          <a:prstGeom prst="rect">
            <a:avLst/>
          </a:prstGeom>
        </p:spPr>
      </p:pic>
      <p:sp>
        <p:nvSpPr>
          <p:cNvPr id="5" name="Text 1"/>
          <p:cNvSpPr/>
          <p:nvPr/>
        </p:nvSpPr>
        <p:spPr>
          <a:xfrm>
            <a:off x="698183" y="3983355"/>
            <a:ext cx="1939766" cy="242411"/>
          </a:xfrm>
          <a:prstGeom prst="rect">
            <a:avLst/>
          </a:prstGeom>
          <a:noFill/>
          <a:ln/>
        </p:spPr>
        <p:txBody>
          <a:bodyPr wrap="none" lIns="0" tIns="0" rIns="0" bIns="0" rtlCol="0" anchor="t"/>
          <a:lstStyle/>
          <a:p>
            <a:pPr marL="0" indent="0" algn="l">
              <a:lnSpc>
                <a:spcPts val="1900"/>
              </a:lnSpc>
              <a:buNone/>
            </a:pPr>
            <a:r>
              <a:rPr lang="en-US" sz="1500" dirty="0">
                <a:solidFill>
                  <a:srgbClr val="2C3249"/>
                </a:solidFill>
                <a:latin typeface="Kanit Light" pitchFamily="34" charset="0"/>
                <a:ea typeface="Kanit Light" pitchFamily="34" charset="-122"/>
                <a:cs typeface="Kanit Light" pitchFamily="34" charset="-120"/>
              </a:rPr>
              <a:t>Clear Goals</a:t>
            </a:r>
            <a:endParaRPr lang="en-US" sz="1500" dirty="0"/>
          </a:p>
        </p:txBody>
      </p:sp>
      <p:sp>
        <p:nvSpPr>
          <p:cNvPr id="6" name="Text 2"/>
          <p:cNvSpPr/>
          <p:nvPr/>
        </p:nvSpPr>
        <p:spPr>
          <a:xfrm>
            <a:off x="698183" y="4318873"/>
            <a:ext cx="6461879" cy="248126"/>
          </a:xfrm>
          <a:prstGeom prst="rect">
            <a:avLst/>
          </a:prstGeom>
          <a:noFill/>
          <a:ln/>
        </p:spPr>
        <p:txBody>
          <a:bodyPr wrap="none" lIns="0" tIns="0" rIns="0" bIns="0" rtlCol="0" anchor="t"/>
          <a:lstStyle/>
          <a:p>
            <a:pPr marL="0" indent="0" algn="l">
              <a:lnSpc>
                <a:spcPts val="1950"/>
              </a:lnSpc>
              <a:buNone/>
            </a:pPr>
            <a:r>
              <a:rPr lang="en-US" sz="1200" dirty="0">
                <a:solidFill>
                  <a:srgbClr val="2C3249"/>
                </a:solidFill>
                <a:latin typeface="Martel Sans" pitchFamily="34" charset="0"/>
                <a:ea typeface="Martel Sans" pitchFamily="34" charset="-122"/>
                <a:cs typeface="Martel Sans" pitchFamily="34" charset="-120"/>
              </a:rPr>
              <a:t>Well-defined objectives aligned with business value</a:t>
            </a:r>
            <a:endParaRPr lang="en-US" sz="1200" dirty="0"/>
          </a:p>
        </p:txBody>
      </p:sp>
      <p:pic>
        <p:nvPicPr>
          <p:cNvPr id="7" name="Image 2" descr="preencoded.png"/>
          <p:cNvPicPr>
            <a:picLocks noChangeAspect="1"/>
          </p:cNvPicPr>
          <p:nvPr/>
        </p:nvPicPr>
        <p:blipFill>
          <a:blip r:embed="rId5"/>
          <a:stretch>
            <a:fillRect/>
          </a:stretch>
        </p:blipFill>
        <p:spPr>
          <a:xfrm>
            <a:off x="7315200" y="3207544"/>
            <a:ext cx="6772156" cy="620673"/>
          </a:xfrm>
          <a:prstGeom prst="rect">
            <a:avLst/>
          </a:prstGeom>
        </p:spPr>
      </p:pic>
      <p:sp>
        <p:nvSpPr>
          <p:cNvPr id="8" name="Text 3"/>
          <p:cNvSpPr/>
          <p:nvPr/>
        </p:nvSpPr>
        <p:spPr>
          <a:xfrm>
            <a:off x="7470338" y="3983355"/>
            <a:ext cx="1939766" cy="242411"/>
          </a:xfrm>
          <a:prstGeom prst="rect">
            <a:avLst/>
          </a:prstGeom>
          <a:noFill/>
          <a:ln/>
        </p:spPr>
        <p:txBody>
          <a:bodyPr wrap="none" lIns="0" tIns="0" rIns="0" bIns="0" rtlCol="0" anchor="t"/>
          <a:lstStyle/>
          <a:p>
            <a:pPr marL="0" indent="0" algn="l">
              <a:lnSpc>
                <a:spcPts val="1900"/>
              </a:lnSpc>
              <a:buNone/>
            </a:pPr>
            <a:r>
              <a:rPr lang="en-US" sz="1500" dirty="0">
                <a:solidFill>
                  <a:srgbClr val="2C3249"/>
                </a:solidFill>
                <a:latin typeface="Kanit Light" pitchFamily="34" charset="0"/>
                <a:ea typeface="Kanit Light" pitchFamily="34" charset="-122"/>
                <a:cs typeface="Kanit Light" pitchFamily="34" charset="-120"/>
              </a:rPr>
              <a:t>Quality Data</a:t>
            </a:r>
            <a:endParaRPr lang="en-US" sz="1500" dirty="0"/>
          </a:p>
        </p:txBody>
      </p:sp>
      <p:sp>
        <p:nvSpPr>
          <p:cNvPr id="9" name="Text 4"/>
          <p:cNvSpPr/>
          <p:nvPr/>
        </p:nvSpPr>
        <p:spPr>
          <a:xfrm>
            <a:off x="7470338" y="4318873"/>
            <a:ext cx="6461879" cy="248126"/>
          </a:xfrm>
          <a:prstGeom prst="rect">
            <a:avLst/>
          </a:prstGeom>
          <a:noFill/>
          <a:ln/>
        </p:spPr>
        <p:txBody>
          <a:bodyPr wrap="none" lIns="0" tIns="0" rIns="0" bIns="0" rtlCol="0" anchor="t"/>
          <a:lstStyle/>
          <a:p>
            <a:pPr marL="0" indent="0" algn="l">
              <a:lnSpc>
                <a:spcPts val="1950"/>
              </a:lnSpc>
              <a:buNone/>
            </a:pPr>
            <a:r>
              <a:rPr lang="en-US" sz="1200" dirty="0">
                <a:solidFill>
                  <a:srgbClr val="2C3249"/>
                </a:solidFill>
                <a:latin typeface="Martel Sans" pitchFamily="34" charset="0"/>
                <a:ea typeface="Martel Sans" pitchFamily="34" charset="-122"/>
                <a:cs typeface="Martel Sans" pitchFamily="34" charset="-120"/>
              </a:rPr>
              <a:t>Clean, relevant, and properly prepared datasets</a:t>
            </a:r>
            <a:endParaRPr lang="en-US" sz="1200" dirty="0"/>
          </a:p>
        </p:txBody>
      </p:sp>
      <p:pic>
        <p:nvPicPr>
          <p:cNvPr id="10" name="Image 3" descr="preencoded.png"/>
          <p:cNvPicPr>
            <a:picLocks noChangeAspect="1"/>
          </p:cNvPicPr>
          <p:nvPr/>
        </p:nvPicPr>
        <p:blipFill>
          <a:blip r:embed="rId6"/>
          <a:stretch>
            <a:fillRect/>
          </a:stretch>
        </p:blipFill>
        <p:spPr>
          <a:xfrm>
            <a:off x="543044" y="4722138"/>
            <a:ext cx="6772156" cy="620673"/>
          </a:xfrm>
          <a:prstGeom prst="rect">
            <a:avLst/>
          </a:prstGeom>
        </p:spPr>
      </p:pic>
      <p:sp>
        <p:nvSpPr>
          <p:cNvPr id="11" name="Text 5"/>
          <p:cNvSpPr/>
          <p:nvPr/>
        </p:nvSpPr>
        <p:spPr>
          <a:xfrm>
            <a:off x="698183" y="5497949"/>
            <a:ext cx="1939766" cy="242411"/>
          </a:xfrm>
          <a:prstGeom prst="rect">
            <a:avLst/>
          </a:prstGeom>
          <a:noFill/>
          <a:ln/>
        </p:spPr>
        <p:txBody>
          <a:bodyPr wrap="none" lIns="0" tIns="0" rIns="0" bIns="0" rtlCol="0" anchor="t"/>
          <a:lstStyle/>
          <a:p>
            <a:pPr marL="0" indent="0" algn="l">
              <a:lnSpc>
                <a:spcPts val="1900"/>
              </a:lnSpc>
              <a:buNone/>
            </a:pPr>
            <a:r>
              <a:rPr lang="en-US" sz="1500" dirty="0">
                <a:solidFill>
                  <a:srgbClr val="2C3249"/>
                </a:solidFill>
                <a:latin typeface="Kanit Light" pitchFamily="34" charset="0"/>
                <a:ea typeface="Kanit Light" pitchFamily="34" charset="-122"/>
                <a:cs typeface="Kanit Light" pitchFamily="34" charset="-120"/>
              </a:rPr>
              <a:t>Rigorous Testing</a:t>
            </a:r>
            <a:endParaRPr lang="en-US" sz="1500" dirty="0"/>
          </a:p>
        </p:txBody>
      </p:sp>
      <p:sp>
        <p:nvSpPr>
          <p:cNvPr id="12" name="Text 6"/>
          <p:cNvSpPr/>
          <p:nvPr/>
        </p:nvSpPr>
        <p:spPr>
          <a:xfrm>
            <a:off x="698183" y="5833467"/>
            <a:ext cx="6461879" cy="248126"/>
          </a:xfrm>
          <a:prstGeom prst="rect">
            <a:avLst/>
          </a:prstGeom>
          <a:noFill/>
          <a:ln/>
        </p:spPr>
        <p:txBody>
          <a:bodyPr wrap="none" lIns="0" tIns="0" rIns="0" bIns="0" rtlCol="0" anchor="t"/>
          <a:lstStyle/>
          <a:p>
            <a:pPr marL="0" indent="0" algn="l">
              <a:lnSpc>
                <a:spcPts val="1950"/>
              </a:lnSpc>
              <a:buNone/>
            </a:pPr>
            <a:r>
              <a:rPr lang="en-US" sz="1200" dirty="0">
                <a:solidFill>
                  <a:srgbClr val="2C3249"/>
                </a:solidFill>
                <a:latin typeface="Martel Sans" pitchFamily="34" charset="0"/>
                <a:ea typeface="Martel Sans" pitchFamily="34" charset="-122"/>
                <a:cs typeface="Martel Sans" pitchFamily="34" charset="-120"/>
              </a:rPr>
              <a:t>Comprehensive evaluation and validation processes</a:t>
            </a:r>
            <a:endParaRPr lang="en-US" sz="1200" dirty="0"/>
          </a:p>
        </p:txBody>
      </p:sp>
      <p:pic>
        <p:nvPicPr>
          <p:cNvPr id="13" name="Image 4" descr="preencoded.png"/>
          <p:cNvPicPr>
            <a:picLocks noChangeAspect="1"/>
          </p:cNvPicPr>
          <p:nvPr/>
        </p:nvPicPr>
        <p:blipFill>
          <a:blip r:embed="rId7"/>
          <a:stretch>
            <a:fillRect/>
          </a:stretch>
        </p:blipFill>
        <p:spPr>
          <a:xfrm>
            <a:off x="7315200" y="4722138"/>
            <a:ext cx="6772156" cy="620673"/>
          </a:xfrm>
          <a:prstGeom prst="rect">
            <a:avLst/>
          </a:prstGeom>
        </p:spPr>
      </p:pic>
      <p:sp>
        <p:nvSpPr>
          <p:cNvPr id="14" name="Text 7"/>
          <p:cNvSpPr/>
          <p:nvPr/>
        </p:nvSpPr>
        <p:spPr>
          <a:xfrm>
            <a:off x="7470338" y="5497949"/>
            <a:ext cx="1939766" cy="242411"/>
          </a:xfrm>
          <a:prstGeom prst="rect">
            <a:avLst/>
          </a:prstGeom>
          <a:noFill/>
          <a:ln/>
        </p:spPr>
        <p:txBody>
          <a:bodyPr wrap="none" lIns="0" tIns="0" rIns="0" bIns="0" rtlCol="0" anchor="t"/>
          <a:lstStyle/>
          <a:p>
            <a:pPr marL="0" indent="0" algn="l">
              <a:lnSpc>
                <a:spcPts val="1900"/>
              </a:lnSpc>
              <a:buNone/>
            </a:pPr>
            <a:r>
              <a:rPr lang="en-US" sz="1500" dirty="0">
                <a:solidFill>
                  <a:srgbClr val="2C3249"/>
                </a:solidFill>
                <a:latin typeface="Kanit Light" pitchFamily="34" charset="0"/>
                <a:ea typeface="Kanit Light" pitchFamily="34" charset="-122"/>
                <a:cs typeface="Kanit Light" pitchFamily="34" charset="-120"/>
              </a:rPr>
              <a:t>Ongoing Care</a:t>
            </a:r>
            <a:endParaRPr lang="en-US" sz="1500" dirty="0"/>
          </a:p>
        </p:txBody>
      </p:sp>
      <p:sp>
        <p:nvSpPr>
          <p:cNvPr id="15" name="Text 8"/>
          <p:cNvSpPr/>
          <p:nvPr/>
        </p:nvSpPr>
        <p:spPr>
          <a:xfrm>
            <a:off x="7470338" y="5833467"/>
            <a:ext cx="6461879" cy="248126"/>
          </a:xfrm>
          <a:prstGeom prst="rect">
            <a:avLst/>
          </a:prstGeom>
          <a:noFill/>
          <a:ln/>
        </p:spPr>
        <p:txBody>
          <a:bodyPr wrap="none" lIns="0" tIns="0" rIns="0" bIns="0" rtlCol="0" anchor="t"/>
          <a:lstStyle/>
          <a:p>
            <a:pPr marL="0" indent="0" algn="l">
              <a:lnSpc>
                <a:spcPts val="1950"/>
              </a:lnSpc>
              <a:buNone/>
            </a:pPr>
            <a:r>
              <a:rPr lang="en-US" sz="1200" dirty="0">
                <a:solidFill>
                  <a:srgbClr val="2C3249"/>
                </a:solidFill>
                <a:latin typeface="Martel Sans" pitchFamily="34" charset="0"/>
                <a:ea typeface="Martel Sans" pitchFamily="34" charset="-122"/>
                <a:cs typeface="Martel Sans" pitchFamily="34" charset="-120"/>
              </a:rPr>
              <a:t>Continuous monitoring and model maintenance</a:t>
            </a:r>
            <a:endParaRPr lang="en-US" sz="1200" dirty="0"/>
          </a:p>
        </p:txBody>
      </p:sp>
      <p:sp>
        <p:nvSpPr>
          <p:cNvPr id="16" name="Text 9"/>
          <p:cNvSpPr/>
          <p:nvPr/>
        </p:nvSpPr>
        <p:spPr>
          <a:xfrm>
            <a:off x="775811" y="6585823"/>
            <a:ext cx="13311545" cy="248126"/>
          </a:xfrm>
          <a:prstGeom prst="rect">
            <a:avLst/>
          </a:prstGeom>
          <a:noFill/>
          <a:ln/>
        </p:spPr>
        <p:txBody>
          <a:bodyPr wrap="none" lIns="0" tIns="0" rIns="0" bIns="0" rtlCol="0" anchor="t"/>
          <a:lstStyle/>
          <a:p>
            <a:pPr marL="0" indent="0" algn="l">
              <a:lnSpc>
                <a:spcPts val="1950"/>
              </a:lnSpc>
              <a:buNone/>
            </a:pPr>
            <a:r>
              <a:rPr lang="en-US" sz="1200" dirty="0">
                <a:solidFill>
                  <a:srgbClr val="2C3249"/>
                </a:solidFill>
                <a:latin typeface="Martel Sans" pitchFamily="34" charset="0"/>
                <a:ea typeface="Martel Sans" pitchFamily="34" charset="-122"/>
                <a:cs typeface="Martel Sans" pitchFamily="34" charset="-120"/>
              </a:rPr>
              <a:t>A disciplined, well-structured workflow transforms raw data into impactful solutions that deliver measurable business value and drive innovation.</a:t>
            </a:r>
            <a:endParaRPr lang="en-US" sz="1200" dirty="0"/>
          </a:p>
        </p:txBody>
      </p:sp>
      <p:sp>
        <p:nvSpPr>
          <p:cNvPr id="17" name="Shape 10"/>
          <p:cNvSpPr/>
          <p:nvPr/>
        </p:nvSpPr>
        <p:spPr>
          <a:xfrm>
            <a:off x="543044" y="6411278"/>
            <a:ext cx="22860" cy="597218"/>
          </a:xfrm>
          <a:prstGeom prst="rect">
            <a:avLst/>
          </a:prstGeom>
          <a:solidFill>
            <a:srgbClr val="437066"/>
          </a:solidFill>
          <a:ln/>
        </p:spPr>
        <p:txBody>
          <a:bodyPr/>
          <a:lstStyle/>
          <a:p>
            <a:endParaRPr lang="en-US"/>
          </a:p>
        </p:txBody>
      </p:sp>
      <p:sp>
        <p:nvSpPr>
          <p:cNvPr id="18" name="Text 11"/>
          <p:cNvSpPr/>
          <p:nvPr/>
        </p:nvSpPr>
        <p:spPr>
          <a:xfrm>
            <a:off x="543044" y="7183041"/>
            <a:ext cx="13544312" cy="496253"/>
          </a:xfrm>
          <a:prstGeom prst="rect">
            <a:avLst/>
          </a:prstGeom>
          <a:noFill/>
          <a:ln/>
        </p:spPr>
        <p:txBody>
          <a:bodyPr wrap="square" lIns="0" tIns="0" rIns="0" bIns="0" rtlCol="0" anchor="t"/>
          <a:lstStyle/>
          <a:p>
            <a:pPr marL="0" indent="0" algn="l">
              <a:lnSpc>
                <a:spcPts val="1950"/>
              </a:lnSpc>
              <a:buNone/>
            </a:pPr>
            <a:r>
              <a:rPr lang="en-US" sz="1200" dirty="0">
                <a:solidFill>
                  <a:srgbClr val="2C3249"/>
                </a:solidFill>
                <a:latin typeface="Martel Sans" pitchFamily="34" charset="0"/>
                <a:ea typeface="Martel Sans" pitchFamily="34" charset="-122"/>
                <a:cs typeface="Martel Sans" pitchFamily="34" charset="-120"/>
              </a:rPr>
              <a:t>Embrace these workflows, invest in the right tools and practices, and foster collaboration across teams to unlock the full potential of machine learning in your organization. The journey from data to deployment is complex, but with the right approach, it becomes a repeatable process for creating intelligent systems that make a real difference.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TotalTime>
  <Words>1375</Words>
  <Application>Microsoft Office PowerPoint</Application>
  <PresentationFormat>Custom</PresentationFormat>
  <Paragraphs>181</Paragraphs>
  <Slides>19</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Kanit Light</vt:lpstr>
      <vt:lpstr>Martel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J</cp:lastModifiedBy>
  <cp:revision>8</cp:revision>
  <dcterms:created xsi:type="dcterms:W3CDTF">2025-12-14T12:08:46Z</dcterms:created>
  <dcterms:modified xsi:type="dcterms:W3CDTF">2025-12-14T14:00:56Z</dcterms:modified>
</cp:coreProperties>
</file>