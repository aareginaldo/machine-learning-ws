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8229600" cx="14630400"/>
  <p:notesSz cx="8229600" cy="14630400"/>
  <p:embeddedFontLst>
    <p:embeddedFont>
      <p:font typeface="Kanit Light"/>
      <p:regular r:id="rId17"/>
      <p:bold r:id="rId18"/>
      <p:italic r:id="rId19"/>
      <p:boldItalic r:id="rId20"/>
    </p:embeddedFont>
    <p:embeddedFont>
      <p:font typeface="Martel Sans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v2jsOLZk4jbioKXFhBxcSK9Cy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KanitLight-boldItalic.fntdata"/><Relationship Id="rId11" Type="http://schemas.openxmlformats.org/officeDocument/2006/relationships/slide" Target="slides/slide7.xml"/><Relationship Id="rId22" Type="http://schemas.openxmlformats.org/officeDocument/2006/relationships/font" Target="fonts/MartelSans-bold.fntdata"/><Relationship Id="rId10" Type="http://schemas.openxmlformats.org/officeDocument/2006/relationships/slide" Target="slides/slide6.xml"/><Relationship Id="rId21" Type="http://schemas.openxmlformats.org/officeDocument/2006/relationships/font" Target="fonts/MartelSans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KanitLight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KanitLight-italic.fntdata"/><Relationship Id="rId6" Type="http://schemas.openxmlformats.org/officeDocument/2006/relationships/slide" Target="slides/slide2.xml"/><Relationship Id="rId18" Type="http://schemas.openxmlformats.org/officeDocument/2006/relationships/font" Target="fonts/KanitL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6280190" y="2337197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Understanding Machine Learning Accuracy: Confusion Matrix &amp; Cross-Validation</a:t>
            </a:r>
            <a:endParaRPr b="0" i="0" sz="4450" u="none" cap="none" strike="noStrike"/>
          </a:p>
        </p:txBody>
      </p:sp>
      <p:sp>
        <p:nvSpPr>
          <p:cNvPr id="54" name="Google Shape;54;p1"/>
          <p:cNvSpPr/>
          <p:nvPr/>
        </p:nvSpPr>
        <p:spPr>
          <a:xfrm>
            <a:off x="6280190" y="4803696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Evaluating machine learning models goes far beyond simple accuracy scores. Discover powerful techniques that reveal the true performance of your models and help build more reliable AI systems.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/>
          <p:nvPr/>
        </p:nvSpPr>
        <p:spPr>
          <a:xfrm>
            <a:off x="793790" y="2078593"/>
            <a:ext cx="980932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Why Accuracy Alone Can Be Misleading</a:t>
            </a:r>
            <a:endParaRPr b="0" i="0" sz="4450" u="none" cap="none" strike="noStrike"/>
          </a:p>
        </p:txBody>
      </p:sp>
      <p:sp>
        <p:nvSpPr>
          <p:cNvPr id="61" name="Google Shape;61;p2"/>
          <p:cNvSpPr/>
          <p:nvPr/>
        </p:nvSpPr>
        <p:spPr>
          <a:xfrm>
            <a:off x="793790" y="3241000"/>
            <a:ext cx="4196358" cy="2909888"/>
          </a:xfrm>
          <a:prstGeom prst="roundRect">
            <a:avLst>
              <a:gd fmla="val 3274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1028224" y="34754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The Accuracy Formula</a:t>
            </a:r>
            <a:endParaRPr b="0" i="0" sz="2200" u="none" cap="none" strike="noStrike"/>
          </a:p>
        </p:txBody>
      </p:sp>
      <p:sp>
        <p:nvSpPr>
          <p:cNvPr id="63" name="Google Shape;63;p2"/>
          <p:cNvSpPr/>
          <p:nvPr/>
        </p:nvSpPr>
        <p:spPr>
          <a:xfrm>
            <a:off x="1028224" y="3965853"/>
            <a:ext cx="3727490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Accuracy = (Correct Predictions) / (Total Predictions)</a:t>
            </a:r>
            <a:endParaRPr b="0" i="0" sz="175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1028224" y="4827746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Simple to calculate, but dangerously incomplete for imbalanced datasets</a:t>
            </a:r>
            <a:endParaRPr b="0" i="0" sz="1750" u="none" cap="none" strike="noStrike"/>
          </a:p>
        </p:txBody>
      </p:sp>
      <p:sp>
        <p:nvSpPr>
          <p:cNvPr id="65" name="Google Shape;65;p2"/>
          <p:cNvSpPr/>
          <p:nvPr/>
        </p:nvSpPr>
        <p:spPr>
          <a:xfrm>
            <a:off x="5216962" y="3241000"/>
            <a:ext cx="4196358" cy="2909888"/>
          </a:xfrm>
          <a:prstGeom prst="roundRect">
            <a:avLst>
              <a:gd fmla="val 3274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5451396" y="34754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The Hidden Problem</a:t>
            </a:r>
            <a:endParaRPr b="0" i="0" sz="2200" u="none" cap="none" strike="noStrike"/>
          </a:p>
        </p:txBody>
      </p:sp>
      <p:sp>
        <p:nvSpPr>
          <p:cNvPr id="67" name="Google Shape;67;p2"/>
          <p:cNvSpPr/>
          <p:nvPr/>
        </p:nvSpPr>
        <p:spPr>
          <a:xfrm>
            <a:off x="5451396" y="3965853"/>
            <a:ext cx="372749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High accuracy can mask poor performance on minority classes, creating a false sense of security</a:t>
            </a:r>
            <a:endParaRPr b="0" i="0" sz="1750" u="none" cap="none" strike="noStrike"/>
          </a:p>
        </p:txBody>
      </p:sp>
      <p:sp>
        <p:nvSpPr>
          <p:cNvPr id="68" name="Google Shape;68;p2"/>
          <p:cNvSpPr/>
          <p:nvPr/>
        </p:nvSpPr>
        <p:spPr>
          <a:xfrm>
            <a:off x="9640133" y="3241000"/>
            <a:ext cx="4196358" cy="2909888"/>
          </a:xfrm>
          <a:prstGeom prst="roundRect">
            <a:avLst>
              <a:gd fmla="val 3274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9874568" y="34754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Classic Example</a:t>
            </a:r>
            <a:endParaRPr b="0" i="0" sz="220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9874568" y="3965853"/>
            <a:ext cx="3727490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 model predicting "no disease" 99% of the time achieves 99% accuracy but catastrophically misses all sick patients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793790" y="1340763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Introducing the Confusion Matrix: The Model's Report Card</a:t>
            </a:r>
            <a:endParaRPr b="0" i="0" sz="4450" u="none" cap="none" strike="noStrike"/>
          </a:p>
        </p:txBody>
      </p:sp>
      <p:sp>
        <p:nvSpPr>
          <p:cNvPr id="77" name="Google Shape;77;p3"/>
          <p:cNvSpPr/>
          <p:nvPr/>
        </p:nvSpPr>
        <p:spPr>
          <a:xfrm>
            <a:off x="793790" y="332529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What It Reveals</a:t>
            </a:r>
            <a:endParaRPr b="0" i="0" sz="2200" u="none" cap="none" strike="noStrike"/>
          </a:p>
        </p:txBody>
      </p:sp>
      <p:sp>
        <p:nvSpPr>
          <p:cNvPr id="78" name="Google Shape;78;p3"/>
          <p:cNvSpPr/>
          <p:nvPr/>
        </p:nvSpPr>
        <p:spPr>
          <a:xfrm>
            <a:off x="793790" y="3906441"/>
            <a:ext cx="7604284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The confusion matrix is a powerful diagnostic tool that breaks down your model's predictions into four critical categories, revealing exactly where it succeeds and fails.</a:t>
            </a:r>
            <a:endParaRPr b="0" i="0" sz="1750" u="none" cap="none" strike="noStrike"/>
          </a:p>
        </p:txBody>
      </p:sp>
      <p:sp>
        <p:nvSpPr>
          <p:cNvPr id="79" name="Google Shape;79;p3"/>
          <p:cNvSpPr/>
          <p:nvPr/>
        </p:nvSpPr>
        <p:spPr>
          <a:xfrm>
            <a:off x="793790" y="5199221"/>
            <a:ext cx="760428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Visualizes True Positives (TP), False Positives (FP), True Negatives (TN), False Negatives (FN)</a:t>
            </a:r>
            <a:endParaRPr b="0" i="0" sz="1750" u="none" cap="none" strike="noStrike"/>
          </a:p>
        </p:txBody>
      </p:sp>
      <p:sp>
        <p:nvSpPr>
          <p:cNvPr id="80" name="Google Shape;80;p3"/>
          <p:cNvSpPr/>
          <p:nvPr/>
        </p:nvSpPr>
        <p:spPr>
          <a:xfrm>
            <a:off x="793790" y="6004322"/>
            <a:ext cx="760428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Shows precise error patterns beyond simple accuracy</a:t>
            </a:r>
            <a:endParaRPr b="0" i="0" sz="1750" u="none" cap="none" strike="noStrike"/>
          </a:p>
        </p:txBody>
      </p:sp>
      <p:sp>
        <p:nvSpPr>
          <p:cNvPr id="81" name="Google Shape;81;p3"/>
          <p:cNvSpPr/>
          <p:nvPr/>
        </p:nvSpPr>
        <p:spPr>
          <a:xfrm>
            <a:off x="793790" y="6446520"/>
            <a:ext cx="760428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Essential for understanding classification performance in depth</a:t>
            </a:r>
            <a:endParaRPr b="0" i="0" sz="1750" u="none" cap="none" strike="noStrike"/>
          </a:p>
        </p:txBody>
      </p:sp>
      <p:pic>
        <p:nvPicPr>
          <p:cNvPr descr="preencoded.png" id="82" name="Google Shape;8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59096" y="3353633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793790" y="827484"/>
            <a:ext cx="7828836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Anatomy of a Confusion Matrix</a:t>
            </a:r>
            <a:endParaRPr b="0" i="0" sz="4450" u="none" cap="none" strike="noStrike"/>
          </a:p>
        </p:txBody>
      </p:sp>
      <p:sp>
        <p:nvSpPr>
          <p:cNvPr id="89" name="Google Shape;89;p4"/>
          <p:cNvSpPr/>
          <p:nvPr/>
        </p:nvSpPr>
        <p:spPr>
          <a:xfrm>
            <a:off x="793790" y="1989892"/>
            <a:ext cx="6407944" cy="2411254"/>
          </a:xfrm>
          <a:prstGeom prst="roundRect">
            <a:avLst>
              <a:gd fmla="val 3951" name="adj"/>
            </a:avLst>
          </a:prstGeom>
          <a:solidFill>
            <a:srgbClr val="FFFFFF"/>
          </a:solidFill>
          <a:ln cap="flat" cmpd="sng" w="304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824270" y="2020372"/>
            <a:ext cx="6346984" cy="680442"/>
          </a:xfrm>
          <a:prstGeom prst="roundRect">
            <a:avLst>
              <a:gd fmla="val 8626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3827621" y="214407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650"/>
              <a:buFont typeface="Kanit Light"/>
              <a:buNone/>
            </a:pPr>
            <a:r>
              <a:rPr b="0" i="0" lang="en-US" sz="26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1</a:t>
            </a:r>
            <a:endParaRPr b="0" i="0" sz="2650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1051084" y="292762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True Positives (TP)</a:t>
            </a:r>
            <a:endParaRPr b="0" i="0" sz="2200" u="none" cap="none" strike="noStrike"/>
          </a:p>
        </p:txBody>
      </p:sp>
      <p:sp>
        <p:nvSpPr>
          <p:cNvPr id="93" name="Google Shape;93;p4"/>
          <p:cNvSpPr/>
          <p:nvPr/>
        </p:nvSpPr>
        <p:spPr>
          <a:xfrm>
            <a:off x="1051084" y="3418046"/>
            <a:ext cx="589335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Correct positive predictions — for example, sick patients correctly diagnosed with the disease</a:t>
            </a:r>
            <a:endParaRPr b="0" i="0" sz="1750" u="none" cap="none" strike="noStrike"/>
          </a:p>
        </p:txBody>
      </p:sp>
      <p:sp>
        <p:nvSpPr>
          <p:cNvPr id="94" name="Google Shape;94;p4"/>
          <p:cNvSpPr/>
          <p:nvPr/>
        </p:nvSpPr>
        <p:spPr>
          <a:xfrm>
            <a:off x="7428548" y="1989892"/>
            <a:ext cx="6408063" cy="2411254"/>
          </a:xfrm>
          <a:prstGeom prst="roundRect">
            <a:avLst>
              <a:gd fmla="val 3951" name="adj"/>
            </a:avLst>
          </a:prstGeom>
          <a:solidFill>
            <a:srgbClr val="FFFFFF"/>
          </a:solidFill>
          <a:ln cap="flat" cmpd="sng" w="304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7459027" y="2020372"/>
            <a:ext cx="6347103" cy="680442"/>
          </a:xfrm>
          <a:prstGeom prst="roundRect">
            <a:avLst>
              <a:gd fmla="val 8626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10462498" y="214407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650"/>
              <a:buFont typeface="Kanit Light"/>
              <a:buNone/>
            </a:pPr>
            <a:r>
              <a:rPr b="0" i="0" lang="en-US" sz="26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2</a:t>
            </a:r>
            <a:endParaRPr b="0" i="0" sz="2650" u="none" cap="none" strike="noStrike"/>
          </a:p>
        </p:txBody>
      </p:sp>
      <p:sp>
        <p:nvSpPr>
          <p:cNvPr id="97" name="Google Shape;97;p4"/>
          <p:cNvSpPr/>
          <p:nvPr/>
        </p:nvSpPr>
        <p:spPr>
          <a:xfrm>
            <a:off x="7685842" y="292762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False Positives (FP)</a:t>
            </a:r>
            <a:endParaRPr b="0" i="0" sz="2200" u="none" cap="none" strike="noStrike"/>
          </a:p>
        </p:txBody>
      </p:sp>
      <p:sp>
        <p:nvSpPr>
          <p:cNvPr id="98" name="Google Shape;98;p4"/>
          <p:cNvSpPr/>
          <p:nvPr/>
        </p:nvSpPr>
        <p:spPr>
          <a:xfrm>
            <a:off x="7685842" y="3418046"/>
            <a:ext cx="589347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Incorrect positive predictions — healthy patients wrongly diagnosed as sick (Type I error)</a:t>
            </a:r>
            <a:endParaRPr b="0" i="0" sz="175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793790" y="4627959"/>
            <a:ext cx="6407944" cy="2774156"/>
          </a:xfrm>
          <a:prstGeom prst="roundRect">
            <a:avLst>
              <a:gd fmla="val 3434" name="adj"/>
            </a:avLst>
          </a:prstGeom>
          <a:solidFill>
            <a:srgbClr val="FFFFFF"/>
          </a:solidFill>
          <a:ln cap="flat" cmpd="sng" w="304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824270" y="4658439"/>
            <a:ext cx="6346984" cy="680442"/>
          </a:xfrm>
          <a:prstGeom prst="roundRect">
            <a:avLst>
              <a:gd fmla="val 8626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827621" y="478214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650"/>
              <a:buFont typeface="Kanit Light"/>
              <a:buNone/>
            </a:pPr>
            <a:r>
              <a:rPr b="0" i="0" lang="en-US" sz="26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3</a:t>
            </a:r>
            <a:endParaRPr b="0" i="0" sz="2650" u="none" cap="none" strike="noStrike"/>
          </a:p>
        </p:txBody>
      </p:sp>
      <p:sp>
        <p:nvSpPr>
          <p:cNvPr id="102" name="Google Shape;102;p4"/>
          <p:cNvSpPr/>
          <p:nvPr/>
        </p:nvSpPr>
        <p:spPr>
          <a:xfrm>
            <a:off x="1051084" y="556569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True Negatives (TN)</a:t>
            </a:r>
            <a:endParaRPr b="0" i="0" sz="2200" u="none" cap="none" strike="noStrike"/>
          </a:p>
        </p:txBody>
      </p:sp>
      <p:sp>
        <p:nvSpPr>
          <p:cNvPr id="103" name="Google Shape;103;p4"/>
          <p:cNvSpPr/>
          <p:nvPr/>
        </p:nvSpPr>
        <p:spPr>
          <a:xfrm>
            <a:off x="1051084" y="6056114"/>
            <a:ext cx="589335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Correct negative predictions — healthy patients correctly identified as disease-free</a:t>
            </a:r>
            <a:endParaRPr b="0" i="0" sz="175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7428548" y="4627959"/>
            <a:ext cx="6408063" cy="2774156"/>
          </a:xfrm>
          <a:prstGeom prst="roundRect">
            <a:avLst>
              <a:gd fmla="val 3434" name="adj"/>
            </a:avLst>
          </a:prstGeom>
          <a:solidFill>
            <a:srgbClr val="FFFFFF"/>
          </a:solidFill>
          <a:ln cap="flat" cmpd="sng" w="3047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7459027" y="4658439"/>
            <a:ext cx="6347103" cy="680442"/>
          </a:xfrm>
          <a:prstGeom prst="roundRect">
            <a:avLst>
              <a:gd fmla="val 8626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462498" y="4782145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650"/>
              <a:buFont typeface="Kanit Light"/>
              <a:buNone/>
            </a:pPr>
            <a:r>
              <a:rPr b="0" i="0" lang="en-US" sz="26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4</a:t>
            </a:r>
            <a:endParaRPr b="0" i="0" sz="265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7685842" y="556569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False Negatives (FN)</a:t>
            </a:r>
            <a:endParaRPr b="0" i="0" sz="2200" u="none" cap="none" strike="noStrike"/>
          </a:p>
        </p:txBody>
      </p:sp>
      <p:sp>
        <p:nvSpPr>
          <p:cNvPr id="108" name="Google Shape;108;p4"/>
          <p:cNvSpPr/>
          <p:nvPr/>
        </p:nvSpPr>
        <p:spPr>
          <a:xfrm>
            <a:off x="7685842" y="6056114"/>
            <a:ext cx="5893475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Missed positive cases — sick patients incorrectly labeled as healthy (Type II error, often most dangerous)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6280190" y="2004060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Confusion Matrix Visualization</a:t>
            </a:r>
            <a:endParaRPr b="0" i="0" sz="4450" u="none" cap="none" strike="noStrike"/>
          </a:p>
        </p:txBody>
      </p:sp>
      <p:sp>
        <p:nvSpPr>
          <p:cNvPr id="116" name="Google Shape;116;p5"/>
          <p:cNvSpPr/>
          <p:nvPr/>
        </p:nvSpPr>
        <p:spPr>
          <a:xfrm>
            <a:off x="6280190" y="3988594"/>
            <a:ext cx="314408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Clear Visual Performance</a:t>
            </a:r>
            <a:endParaRPr b="0" i="0" sz="2200" u="none" cap="none" strike="noStrike"/>
          </a:p>
        </p:txBody>
      </p:sp>
      <p:sp>
        <p:nvSpPr>
          <p:cNvPr id="117" name="Google Shape;117;p5"/>
          <p:cNvSpPr/>
          <p:nvPr/>
        </p:nvSpPr>
        <p:spPr>
          <a:xfrm>
            <a:off x="6280190" y="4569738"/>
            <a:ext cx="350150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Heatmaps make patterns instantly recognizable, with darker colors indicating higher prediction frequencies</a:t>
            </a:r>
            <a:endParaRPr b="0" i="0" sz="1750" u="none" cap="none" strike="noStrike"/>
          </a:p>
        </p:txBody>
      </p:sp>
      <p:sp>
        <p:nvSpPr>
          <p:cNvPr id="118" name="Google Shape;118;p5"/>
          <p:cNvSpPr/>
          <p:nvPr/>
        </p:nvSpPr>
        <p:spPr>
          <a:xfrm>
            <a:off x="10342721" y="398859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Identifying Confusion</a:t>
            </a:r>
            <a:endParaRPr b="0" i="0" sz="2200" u="none" cap="none" strike="noStrike"/>
          </a:p>
        </p:txBody>
      </p:sp>
      <p:sp>
        <p:nvSpPr>
          <p:cNvPr id="119" name="Google Shape;119;p5"/>
          <p:cNvSpPr/>
          <p:nvPr/>
        </p:nvSpPr>
        <p:spPr>
          <a:xfrm>
            <a:off x="10342721" y="4569738"/>
            <a:ext cx="350150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Off-diagonal cells reveal which classes your model confuses with each other, guiding improvements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/>
          <p:nvPr/>
        </p:nvSpPr>
        <p:spPr>
          <a:xfrm>
            <a:off x="637580" y="501015"/>
            <a:ext cx="8510826" cy="569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3550"/>
              <a:buFont typeface="Kanit Light"/>
              <a:buNone/>
            </a:pPr>
            <a:r>
              <a:rPr b="0" i="0" lang="en-US" sz="35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Key Metrics Derived from Confusion Matrix</a:t>
            </a:r>
            <a:endParaRPr b="0" i="0" sz="3550" u="none" cap="none" strike="noStrike"/>
          </a:p>
        </p:txBody>
      </p:sp>
      <p:sp>
        <p:nvSpPr>
          <p:cNvPr id="126" name="Google Shape;126;p6"/>
          <p:cNvSpPr/>
          <p:nvPr/>
        </p:nvSpPr>
        <p:spPr>
          <a:xfrm>
            <a:off x="637580" y="1525667"/>
            <a:ext cx="13355241" cy="6011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4700"/>
              <a:buFont typeface="Kanit Light"/>
              <a:buNone/>
            </a:pPr>
            <a:r>
              <a:rPr b="0" i="0" lang="en-US" sz="47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4</a:t>
            </a:r>
            <a:endParaRPr b="0" i="0" sz="4700" u="none" cap="none" strike="noStrike"/>
          </a:p>
        </p:txBody>
      </p:sp>
      <p:sp>
        <p:nvSpPr>
          <p:cNvPr id="127" name="Google Shape;127;p6"/>
          <p:cNvSpPr/>
          <p:nvPr/>
        </p:nvSpPr>
        <p:spPr>
          <a:xfrm>
            <a:off x="6176486" y="2354461"/>
            <a:ext cx="2277308" cy="28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 Light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Essential Metrics</a:t>
            </a:r>
            <a:endParaRPr b="0" i="0" sz="1750" u="none" cap="none" strike="noStrike"/>
          </a:p>
        </p:txBody>
      </p:sp>
      <p:sp>
        <p:nvSpPr>
          <p:cNvPr id="128" name="Google Shape;128;p6"/>
          <p:cNvSpPr/>
          <p:nvPr/>
        </p:nvSpPr>
        <p:spPr>
          <a:xfrm>
            <a:off x="637580" y="2748439"/>
            <a:ext cx="13355241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Four powerful measures derived from the matrix</a:t>
            </a:r>
            <a:endParaRPr b="0" i="0" sz="1400" u="none" cap="none" strike="noStrike"/>
          </a:p>
        </p:txBody>
      </p:sp>
      <p:pic>
        <p:nvPicPr>
          <p:cNvPr descr="preencoded.png"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580" y="3244810"/>
            <a:ext cx="455414" cy="45541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/>
          <p:nvPr/>
        </p:nvSpPr>
        <p:spPr>
          <a:xfrm>
            <a:off x="637580" y="3927872"/>
            <a:ext cx="2277308" cy="28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 Light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Precision</a:t>
            </a:r>
            <a:endParaRPr b="0" i="0" sz="1750" u="none" cap="none" strike="noStrike"/>
          </a:p>
        </p:txBody>
      </p:sp>
      <p:sp>
        <p:nvSpPr>
          <p:cNvPr id="131" name="Google Shape;131;p6"/>
          <p:cNvSpPr/>
          <p:nvPr/>
        </p:nvSpPr>
        <p:spPr>
          <a:xfrm>
            <a:off x="637580" y="4321850"/>
            <a:ext cx="6563797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1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TP / (TP + FP)</a:t>
            </a:r>
            <a:endParaRPr b="0" i="0" sz="1400" u="none" cap="none" strike="noStrike"/>
          </a:p>
        </p:txBody>
      </p:sp>
      <p:sp>
        <p:nvSpPr>
          <p:cNvPr id="132" name="Google Shape;132;p6"/>
          <p:cNvSpPr/>
          <p:nvPr/>
        </p:nvSpPr>
        <p:spPr>
          <a:xfrm>
            <a:off x="637580" y="4722614"/>
            <a:ext cx="6563797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How reliable are positive predictions? Critical when false alarms are costly.</a:t>
            </a:r>
            <a:endParaRPr b="0" i="0" sz="1400" u="none" cap="none" strike="noStrike"/>
          </a:p>
        </p:txBody>
      </p:sp>
      <p:pic>
        <p:nvPicPr>
          <p:cNvPr descr="preencoded.pn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9024" y="3244810"/>
            <a:ext cx="455414" cy="45541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7429024" y="3927872"/>
            <a:ext cx="2277308" cy="28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 Light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Recall (Sensitivity)</a:t>
            </a:r>
            <a:endParaRPr b="0" i="0" sz="1750" u="none" cap="none" strike="noStrike"/>
          </a:p>
        </p:txBody>
      </p:sp>
      <p:sp>
        <p:nvSpPr>
          <p:cNvPr id="135" name="Google Shape;135;p6"/>
          <p:cNvSpPr/>
          <p:nvPr/>
        </p:nvSpPr>
        <p:spPr>
          <a:xfrm>
            <a:off x="7429024" y="4321850"/>
            <a:ext cx="6563797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1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TP / (TP + FN)</a:t>
            </a:r>
            <a:endParaRPr b="0" i="0" sz="1400" u="none" cap="none" strike="noStrike"/>
          </a:p>
        </p:txBody>
      </p:sp>
      <p:sp>
        <p:nvSpPr>
          <p:cNvPr id="136" name="Google Shape;136;p6"/>
          <p:cNvSpPr/>
          <p:nvPr/>
        </p:nvSpPr>
        <p:spPr>
          <a:xfrm>
            <a:off x="7429024" y="4722614"/>
            <a:ext cx="6563797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How many actual positives are detected? Vital when missing cases is dangerous.</a:t>
            </a:r>
            <a:endParaRPr b="0" i="0" sz="1400" u="none" cap="none" strike="noStrike"/>
          </a:p>
        </p:txBody>
      </p:sp>
      <p:pic>
        <p:nvPicPr>
          <p:cNvPr descr="preencoded.png"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580" y="5669875"/>
            <a:ext cx="455414" cy="45541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/>
          <p:nvPr/>
        </p:nvSpPr>
        <p:spPr>
          <a:xfrm>
            <a:off x="637580" y="6352937"/>
            <a:ext cx="2277308" cy="28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 Light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F1 Score</a:t>
            </a:r>
            <a:endParaRPr b="0" i="0" sz="1750" u="none" cap="none" strike="noStrike"/>
          </a:p>
        </p:txBody>
      </p:sp>
      <p:sp>
        <p:nvSpPr>
          <p:cNvPr id="139" name="Google Shape;139;p6"/>
          <p:cNvSpPr/>
          <p:nvPr/>
        </p:nvSpPr>
        <p:spPr>
          <a:xfrm>
            <a:off x="637580" y="6746915"/>
            <a:ext cx="6563797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1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Harmonic Mean</a:t>
            </a:r>
            <a:endParaRPr b="0" i="0" sz="1400" u="none" cap="none" strike="noStrike"/>
          </a:p>
        </p:txBody>
      </p:sp>
      <p:sp>
        <p:nvSpPr>
          <p:cNvPr id="140" name="Google Shape;140;p6"/>
          <p:cNvSpPr/>
          <p:nvPr/>
        </p:nvSpPr>
        <p:spPr>
          <a:xfrm>
            <a:off x="637580" y="7147679"/>
            <a:ext cx="6563797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Balances precision and recall into a single score for overall performance assessment.</a:t>
            </a:r>
            <a:endParaRPr b="0" i="0" sz="1400" u="none" cap="none" strike="noStrike"/>
          </a:p>
        </p:txBody>
      </p:sp>
      <p:pic>
        <p:nvPicPr>
          <p:cNvPr descr="preencoded.png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9024" y="5669875"/>
            <a:ext cx="455414" cy="45541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7429024" y="6352937"/>
            <a:ext cx="2277308" cy="284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 Light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Accuracy</a:t>
            </a:r>
            <a:endParaRPr b="0" i="0" sz="1750" u="none" cap="none" strike="noStrike"/>
          </a:p>
        </p:txBody>
      </p:sp>
      <p:sp>
        <p:nvSpPr>
          <p:cNvPr id="143" name="Google Shape;143;p6"/>
          <p:cNvSpPr/>
          <p:nvPr/>
        </p:nvSpPr>
        <p:spPr>
          <a:xfrm>
            <a:off x="7429024" y="6746915"/>
            <a:ext cx="6563797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1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(TP + TN) / Total</a:t>
            </a:r>
            <a:endParaRPr b="0" i="0" sz="1400" u="none" cap="none" strike="noStrike"/>
          </a:p>
        </p:txBody>
      </p:sp>
      <p:sp>
        <p:nvSpPr>
          <p:cNvPr id="144" name="Google Shape;144;p6"/>
          <p:cNvSpPr/>
          <p:nvPr/>
        </p:nvSpPr>
        <p:spPr>
          <a:xfrm>
            <a:off x="7429024" y="7147679"/>
            <a:ext cx="6563797" cy="29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400"/>
              <a:buFont typeface="Martel Sans"/>
              <a:buNone/>
            </a:pPr>
            <a:r>
              <a:rPr b="0" i="0" lang="en-US" sz="14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Overall correctness, useful when classes are balanced.</a:t>
            </a:r>
            <a:endParaRPr b="0" i="0" sz="14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6188631" y="594479"/>
            <a:ext cx="7739539" cy="1253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3900"/>
              <a:buFont typeface="Kanit Light"/>
              <a:buNone/>
            </a:pPr>
            <a:r>
              <a:rPr b="0" i="0" lang="en-US" sz="39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Real-World Impact: Medical Diagnosis Example</a:t>
            </a:r>
            <a:endParaRPr b="0" i="0" sz="3900" u="none" cap="none" strike="noStrike"/>
          </a:p>
        </p:txBody>
      </p:sp>
      <p:sp>
        <p:nvSpPr>
          <p:cNvPr id="152" name="Google Shape;152;p7"/>
          <p:cNvSpPr/>
          <p:nvPr/>
        </p:nvSpPr>
        <p:spPr>
          <a:xfrm>
            <a:off x="6188631" y="2149316"/>
            <a:ext cx="3769400" cy="2799278"/>
          </a:xfrm>
          <a:prstGeom prst="roundRect">
            <a:avLst>
              <a:gd fmla="val 3920" name="adj"/>
            </a:avLst>
          </a:prstGeom>
          <a:solidFill>
            <a:srgbClr val="FFFFFF"/>
          </a:solidFill>
          <a:ln cap="flat" cmpd="sng" w="22850">
            <a:solidFill>
              <a:srgbClr val="437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6165771" y="2149316"/>
            <a:ext cx="91440" cy="2799278"/>
          </a:xfrm>
          <a:prstGeom prst="roundRect">
            <a:avLst>
              <a:gd fmla="val 92167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480691" y="2372797"/>
            <a:ext cx="3253859" cy="626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50"/>
              <a:buFont typeface="Kanit Light"/>
              <a:buNone/>
            </a:pPr>
            <a:r>
              <a:rPr b="0" i="0" lang="en-US" sz="19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False Negatives: Critical Misses</a:t>
            </a:r>
            <a:endParaRPr b="0" i="0" sz="1950" u="none" cap="none" strike="noStrike"/>
          </a:p>
        </p:txBody>
      </p:sp>
      <p:sp>
        <p:nvSpPr>
          <p:cNvPr id="155" name="Google Shape;155;p7"/>
          <p:cNvSpPr/>
          <p:nvPr/>
        </p:nvSpPr>
        <p:spPr>
          <a:xfrm>
            <a:off x="6480691" y="3120152"/>
            <a:ext cx="3253859" cy="160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50"/>
              <a:buFont typeface="Martel Sans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Missing a sick patient (FN) can mean delayed treatment, disease progression, or worse. In cancer screening, this is the most dangerous error type.</a:t>
            </a:r>
            <a:endParaRPr b="0" i="0" sz="1550" u="none" cap="none" strike="noStrike"/>
          </a:p>
        </p:txBody>
      </p:sp>
      <p:sp>
        <p:nvSpPr>
          <p:cNvPr id="156" name="Google Shape;156;p7"/>
          <p:cNvSpPr/>
          <p:nvPr/>
        </p:nvSpPr>
        <p:spPr>
          <a:xfrm>
            <a:off x="10158651" y="2149316"/>
            <a:ext cx="3769519" cy="2799278"/>
          </a:xfrm>
          <a:prstGeom prst="roundRect">
            <a:avLst>
              <a:gd fmla="val 3920" name="adj"/>
            </a:avLst>
          </a:prstGeom>
          <a:solidFill>
            <a:srgbClr val="FFFFFF"/>
          </a:solidFill>
          <a:ln cap="flat" cmpd="sng" w="22850">
            <a:solidFill>
              <a:srgbClr val="437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10135791" y="2149316"/>
            <a:ext cx="91440" cy="2799278"/>
          </a:xfrm>
          <a:prstGeom prst="roundRect">
            <a:avLst>
              <a:gd fmla="val 92167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10450711" y="2372797"/>
            <a:ext cx="3253978" cy="6269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50"/>
              <a:buFont typeface="Kanit Light"/>
              <a:buNone/>
            </a:pPr>
            <a:r>
              <a:rPr b="0" i="0" lang="en-US" sz="19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False Positives: Unnecessary Burden</a:t>
            </a:r>
            <a:endParaRPr b="0" i="0" sz="1950" u="none" cap="none" strike="noStrike"/>
          </a:p>
        </p:txBody>
      </p:sp>
      <p:sp>
        <p:nvSpPr>
          <p:cNvPr id="159" name="Google Shape;159;p7"/>
          <p:cNvSpPr/>
          <p:nvPr/>
        </p:nvSpPr>
        <p:spPr>
          <a:xfrm>
            <a:off x="10450711" y="3120152"/>
            <a:ext cx="3253978" cy="1283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50"/>
              <a:buFont typeface="Martel Sans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Incorrectly diagnosing a healthy patient (FP) causes unnecessary anxiety, follow-up tests, and healthcare costs.</a:t>
            </a:r>
            <a:endParaRPr b="0" i="0" sz="1550" u="none" cap="none" strike="noStrike"/>
          </a:p>
        </p:txBody>
      </p:sp>
      <p:sp>
        <p:nvSpPr>
          <p:cNvPr id="160" name="Google Shape;160;p7"/>
          <p:cNvSpPr/>
          <p:nvPr/>
        </p:nvSpPr>
        <p:spPr>
          <a:xfrm>
            <a:off x="6188631" y="5149215"/>
            <a:ext cx="3769400" cy="2485787"/>
          </a:xfrm>
          <a:prstGeom prst="roundRect">
            <a:avLst>
              <a:gd fmla="val 4414" name="adj"/>
            </a:avLst>
          </a:prstGeom>
          <a:solidFill>
            <a:srgbClr val="FFFFFF"/>
          </a:solidFill>
          <a:ln cap="flat" cmpd="sng" w="22850">
            <a:solidFill>
              <a:srgbClr val="437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6165771" y="5149215"/>
            <a:ext cx="91440" cy="2485787"/>
          </a:xfrm>
          <a:prstGeom prst="roundRect">
            <a:avLst>
              <a:gd fmla="val 92167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6480691" y="5372695"/>
            <a:ext cx="2513052" cy="313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950"/>
              <a:buFont typeface="Kanit Light"/>
              <a:buNone/>
            </a:pPr>
            <a:r>
              <a:rPr b="0" i="0" lang="en-US" sz="19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Strategic Model Tuning</a:t>
            </a:r>
            <a:endParaRPr b="0" i="0" sz="1950" u="none" cap="none" strike="noStrike"/>
          </a:p>
        </p:txBody>
      </p:sp>
      <p:sp>
        <p:nvSpPr>
          <p:cNvPr id="163" name="Google Shape;163;p7"/>
          <p:cNvSpPr/>
          <p:nvPr/>
        </p:nvSpPr>
        <p:spPr>
          <a:xfrm>
            <a:off x="6480691" y="5806559"/>
            <a:ext cx="3253859" cy="1604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550"/>
              <a:buFont typeface="Martel Sans"/>
              <a:buNone/>
            </a:pPr>
            <a:r>
              <a:rPr b="0" i="0" lang="en-US" sz="15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The confusion matrix guides threshold adjustments to minimize whichever error type is most costly for your specific application.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793790" y="1292662"/>
            <a:ext cx="10224254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The Problem with Single Train-Test Splits</a:t>
            </a:r>
            <a:endParaRPr b="0" i="0" sz="4450" u="none" cap="none" strike="noStrike"/>
          </a:p>
        </p:txBody>
      </p:sp>
      <p:sp>
        <p:nvSpPr>
          <p:cNvPr id="170" name="Google Shape;170;p8"/>
          <p:cNvSpPr/>
          <p:nvPr/>
        </p:nvSpPr>
        <p:spPr>
          <a:xfrm>
            <a:off x="793790" y="256841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Unreliable Estimates</a:t>
            </a:r>
            <a:endParaRPr b="0" i="0" sz="2200" u="none" cap="none" strike="noStrike"/>
          </a:p>
        </p:txBody>
      </p:sp>
      <p:sp>
        <p:nvSpPr>
          <p:cNvPr id="171" name="Google Shape;171;p8"/>
          <p:cNvSpPr/>
          <p:nvPr/>
        </p:nvSpPr>
        <p:spPr>
          <a:xfrm>
            <a:off x="793790" y="3149560"/>
            <a:ext cx="6924437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 single train-test split can give you a misleadingly lucky or unlucky estimate of model performance, depending entirely on how the data happens to be divided.</a:t>
            </a:r>
            <a:endParaRPr b="0" i="0" sz="1750" u="none" cap="none" strike="noStrike"/>
          </a:p>
        </p:txBody>
      </p:sp>
      <p:sp>
        <p:nvSpPr>
          <p:cNvPr id="172" name="Google Shape;172;p8"/>
          <p:cNvSpPr/>
          <p:nvPr/>
        </p:nvSpPr>
        <p:spPr>
          <a:xfrm>
            <a:off x="793790" y="4442341"/>
            <a:ext cx="692443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Model might overfit or underfit based on specific data partition</a:t>
            </a:r>
            <a:endParaRPr b="0" i="0" sz="1750" u="none" cap="none" strike="noStrike"/>
          </a:p>
        </p:txBody>
      </p:sp>
      <p:sp>
        <p:nvSpPr>
          <p:cNvPr id="173" name="Google Shape;173;p8"/>
          <p:cNvSpPr/>
          <p:nvPr/>
        </p:nvSpPr>
        <p:spPr>
          <a:xfrm>
            <a:off x="793790" y="5247442"/>
            <a:ext cx="6924437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Performance varies significantly with different random splits</a:t>
            </a:r>
            <a:endParaRPr b="0" i="0" sz="1750" u="none" cap="none" strike="noStrike"/>
          </a:p>
        </p:txBody>
      </p:sp>
      <p:sp>
        <p:nvSpPr>
          <p:cNvPr id="174" name="Google Shape;174;p8"/>
          <p:cNvSpPr/>
          <p:nvPr/>
        </p:nvSpPr>
        <p:spPr>
          <a:xfrm>
            <a:off x="793790" y="6052542"/>
            <a:ext cx="692443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No way to know if results are representative</a:t>
            </a:r>
            <a:endParaRPr b="0" i="0" sz="1750" u="none" cap="none" strike="noStrike"/>
          </a:p>
        </p:txBody>
      </p:sp>
      <p:sp>
        <p:nvSpPr>
          <p:cNvPr id="175" name="Google Shape;175;p8"/>
          <p:cNvSpPr/>
          <p:nvPr/>
        </p:nvSpPr>
        <p:spPr>
          <a:xfrm>
            <a:off x="793790" y="6494740"/>
            <a:ext cx="6924437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High variance in evaluation metrics</a:t>
            </a:r>
            <a:endParaRPr b="0" i="0" sz="1750" u="none" cap="none" strike="noStrike"/>
          </a:p>
        </p:txBody>
      </p:sp>
      <p:pic>
        <p:nvPicPr>
          <p:cNvPr descr="preencoded.png"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9249" y="2596753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8279249" y="5137904"/>
            <a:ext cx="5564862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1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Solution needed:</a:t>
            </a: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 A more robust, reliable evaluation methodology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/>
          <p:nvPr/>
        </p:nvSpPr>
        <p:spPr>
          <a:xfrm>
            <a:off x="793790" y="1331595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Cross-Validation: The Gold Standard for Model Evaluation</a:t>
            </a:r>
            <a:endParaRPr b="0" i="0" sz="4450" u="none" cap="none" strike="noStrike"/>
          </a:p>
        </p:txBody>
      </p:sp>
      <p:sp>
        <p:nvSpPr>
          <p:cNvPr id="184" name="Google Shape;184;p9"/>
          <p:cNvSpPr/>
          <p:nvPr/>
        </p:nvSpPr>
        <p:spPr>
          <a:xfrm>
            <a:off x="793790" y="3202781"/>
            <a:ext cx="2268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 Light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01</a:t>
            </a:r>
            <a:endParaRPr b="0" i="0" sz="1750" u="none" cap="none" strike="noStrike"/>
          </a:p>
        </p:txBody>
      </p:sp>
      <p:sp>
        <p:nvSpPr>
          <p:cNvPr id="185" name="Google Shape;185;p9"/>
          <p:cNvSpPr/>
          <p:nvPr/>
        </p:nvSpPr>
        <p:spPr>
          <a:xfrm>
            <a:off x="793790" y="3557826"/>
            <a:ext cx="4196358" cy="3048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793790" y="373213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Split Data into K Folds</a:t>
            </a:r>
            <a:endParaRPr b="0" i="0" sz="2200" u="none" cap="none" strike="noStrike"/>
          </a:p>
        </p:txBody>
      </p:sp>
      <p:sp>
        <p:nvSpPr>
          <p:cNvPr id="187" name="Google Shape;187;p9"/>
          <p:cNvSpPr/>
          <p:nvPr/>
        </p:nvSpPr>
        <p:spPr>
          <a:xfrm>
            <a:off x="793790" y="4222552"/>
            <a:ext cx="419635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Divide dataset into k equal parts (typically 5 or 10 folds)</a:t>
            </a:r>
            <a:endParaRPr b="0" i="0" sz="1750" u="none" cap="none" strike="noStrike"/>
          </a:p>
        </p:txBody>
      </p:sp>
      <p:sp>
        <p:nvSpPr>
          <p:cNvPr id="188" name="Google Shape;188;p9"/>
          <p:cNvSpPr/>
          <p:nvPr/>
        </p:nvSpPr>
        <p:spPr>
          <a:xfrm>
            <a:off x="5216862" y="3202778"/>
            <a:ext cx="1883100" cy="1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 Light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02</a:t>
            </a:r>
            <a:endParaRPr b="0" i="0" sz="1750" u="none" cap="none" strike="noStrike"/>
          </a:p>
        </p:txBody>
      </p:sp>
      <p:sp>
        <p:nvSpPr>
          <p:cNvPr id="189" name="Google Shape;189;p9"/>
          <p:cNvSpPr/>
          <p:nvPr/>
        </p:nvSpPr>
        <p:spPr>
          <a:xfrm>
            <a:off x="5216962" y="3557826"/>
            <a:ext cx="4196358" cy="3048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5216962" y="373213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Train on K-1 Folds</a:t>
            </a:r>
            <a:endParaRPr b="0" i="0" sz="2200" u="none" cap="none" strike="noStrike"/>
          </a:p>
        </p:txBody>
      </p:sp>
      <p:sp>
        <p:nvSpPr>
          <p:cNvPr id="191" name="Google Shape;191;p9"/>
          <p:cNvSpPr/>
          <p:nvPr/>
        </p:nvSpPr>
        <p:spPr>
          <a:xfrm>
            <a:off x="5216962" y="4222552"/>
            <a:ext cx="41963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Use k-1 folds for training the model</a:t>
            </a:r>
            <a:endParaRPr b="0" i="0" sz="1750" u="none" cap="none" strike="noStrike"/>
          </a:p>
        </p:txBody>
      </p:sp>
      <p:sp>
        <p:nvSpPr>
          <p:cNvPr id="192" name="Google Shape;192;p9"/>
          <p:cNvSpPr/>
          <p:nvPr/>
        </p:nvSpPr>
        <p:spPr>
          <a:xfrm>
            <a:off x="9640051" y="3201769"/>
            <a:ext cx="15501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 Light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03</a:t>
            </a:r>
            <a:endParaRPr b="0" i="0" sz="1750" u="none" cap="none" strike="noStrike"/>
          </a:p>
        </p:txBody>
      </p:sp>
      <p:sp>
        <p:nvSpPr>
          <p:cNvPr id="193" name="Google Shape;193;p9"/>
          <p:cNvSpPr/>
          <p:nvPr/>
        </p:nvSpPr>
        <p:spPr>
          <a:xfrm>
            <a:off x="9640133" y="3557826"/>
            <a:ext cx="4196358" cy="3048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9640133" y="3732133"/>
            <a:ext cx="289774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Test on Remaining Fold</a:t>
            </a:r>
            <a:endParaRPr b="0" i="0" sz="2200" u="none" cap="none" strike="noStrike"/>
          </a:p>
        </p:txBody>
      </p:sp>
      <p:sp>
        <p:nvSpPr>
          <p:cNvPr id="195" name="Google Shape;195;p9"/>
          <p:cNvSpPr/>
          <p:nvPr/>
        </p:nvSpPr>
        <p:spPr>
          <a:xfrm>
            <a:off x="9640133" y="4222552"/>
            <a:ext cx="41963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Evaluate on the held-out fold</a:t>
            </a:r>
            <a:endParaRPr b="0" i="0" sz="1750" u="none" cap="none" strike="noStrike"/>
          </a:p>
        </p:txBody>
      </p:sp>
      <p:sp>
        <p:nvSpPr>
          <p:cNvPr id="196" name="Google Shape;196;p9"/>
          <p:cNvSpPr/>
          <p:nvPr/>
        </p:nvSpPr>
        <p:spPr>
          <a:xfrm>
            <a:off x="793850" y="5345197"/>
            <a:ext cx="1356000" cy="1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 Light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04</a:t>
            </a:r>
            <a:endParaRPr b="0" i="0" sz="1750" u="none" cap="none" strike="noStrike"/>
          </a:p>
        </p:txBody>
      </p:sp>
      <p:sp>
        <p:nvSpPr>
          <p:cNvPr id="197" name="Google Shape;197;p9"/>
          <p:cNvSpPr/>
          <p:nvPr/>
        </p:nvSpPr>
        <p:spPr>
          <a:xfrm>
            <a:off x="793790" y="5700236"/>
            <a:ext cx="6407944" cy="3048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793790" y="5874544"/>
            <a:ext cx="307288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Rotate Through All Folds</a:t>
            </a:r>
            <a:endParaRPr b="0" i="0" sz="2200" u="none" cap="none" strike="noStrike"/>
          </a:p>
        </p:txBody>
      </p:sp>
      <p:sp>
        <p:nvSpPr>
          <p:cNvPr id="199" name="Google Shape;199;p9"/>
          <p:cNvSpPr/>
          <p:nvPr/>
        </p:nvSpPr>
        <p:spPr>
          <a:xfrm>
            <a:off x="793790" y="6364962"/>
            <a:ext cx="640794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Repeat k times, each fold used once as test set</a:t>
            </a:r>
            <a:endParaRPr b="0" i="0" sz="1750" u="none" cap="none" strike="noStrike"/>
          </a:p>
        </p:txBody>
      </p:sp>
      <p:sp>
        <p:nvSpPr>
          <p:cNvPr id="200" name="Google Shape;200;p9"/>
          <p:cNvSpPr/>
          <p:nvPr/>
        </p:nvSpPr>
        <p:spPr>
          <a:xfrm>
            <a:off x="7428559" y="5345196"/>
            <a:ext cx="1231200" cy="1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Kanit Light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05</a:t>
            </a:r>
            <a:endParaRPr b="0" i="0" sz="1750" u="none" cap="none" strike="noStrike"/>
          </a:p>
        </p:txBody>
      </p:sp>
      <p:sp>
        <p:nvSpPr>
          <p:cNvPr id="201" name="Google Shape;201;p9"/>
          <p:cNvSpPr/>
          <p:nvPr/>
        </p:nvSpPr>
        <p:spPr>
          <a:xfrm>
            <a:off x="7428548" y="5700236"/>
            <a:ext cx="6407944" cy="3048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7428548" y="587454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Average Results</a:t>
            </a:r>
            <a:endParaRPr b="0" i="0" sz="2200" u="none" cap="none" strike="noStrike"/>
          </a:p>
        </p:txBody>
      </p:sp>
      <p:sp>
        <p:nvSpPr>
          <p:cNvPr id="203" name="Google Shape;203;p9"/>
          <p:cNvSpPr/>
          <p:nvPr/>
        </p:nvSpPr>
        <p:spPr>
          <a:xfrm>
            <a:off x="7428548" y="6364962"/>
            <a:ext cx="6407944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Compute mean performance for stable estimate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9" name="Google Shape;2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/>
          <p:cNvSpPr/>
          <p:nvPr/>
        </p:nvSpPr>
        <p:spPr>
          <a:xfrm>
            <a:off x="714494" y="723900"/>
            <a:ext cx="7715012" cy="127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000"/>
              <a:buFont typeface="Kanit Light"/>
              <a:buNone/>
            </a:pPr>
            <a:r>
              <a:rPr b="0" i="0" lang="en-US" sz="40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Visualizing K-Fold Cross-Validation</a:t>
            </a:r>
            <a:endParaRPr b="0" i="0" sz="4000" u="none" cap="none" strike="noStrike"/>
          </a:p>
        </p:txBody>
      </p:sp>
      <p:sp>
        <p:nvSpPr>
          <p:cNvPr id="211" name="Google Shape;211;p10"/>
          <p:cNvSpPr/>
          <p:nvPr/>
        </p:nvSpPr>
        <p:spPr>
          <a:xfrm>
            <a:off x="714494" y="2305883"/>
            <a:ext cx="3755469" cy="2661166"/>
          </a:xfrm>
          <a:prstGeom prst="roundRect">
            <a:avLst>
              <a:gd fmla="val 3222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926187" y="2517577"/>
            <a:ext cx="612338" cy="612338"/>
          </a:xfrm>
          <a:prstGeom prst="roundRect">
            <a:avLst>
              <a:gd fmla="val 14931436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4542" y="2685931"/>
            <a:ext cx="275511" cy="27551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0"/>
          <p:cNvSpPr/>
          <p:nvPr/>
        </p:nvSpPr>
        <p:spPr>
          <a:xfrm>
            <a:off x="926187" y="3333988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000"/>
              <a:buFont typeface="Kanit Light"/>
              <a:buNone/>
            </a:pPr>
            <a:r>
              <a:rPr b="0" i="0" lang="en-US" sz="20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Iterative Process</a:t>
            </a:r>
            <a:endParaRPr b="0" i="0" sz="2000" u="none" cap="none" strike="noStrike"/>
          </a:p>
        </p:txBody>
      </p:sp>
      <p:sp>
        <p:nvSpPr>
          <p:cNvPr id="215" name="Google Shape;215;p10"/>
          <p:cNvSpPr/>
          <p:nvPr/>
        </p:nvSpPr>
        <p:spPr>
          <a:xfrm>
            <a:off x="926187" y="3775234"/>
            <a:ext cx="3332083" cy="98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600"/>
              <a:buFont typeface="Martel Sans"/>
              <a:buNone/>
            </a:pPr>
            <a:r>
              <a:rPr b="0" i="0" lang="en-US" sz="16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Each fold takes its turn as the test set, ensuring every data point is evaluated</a:t>
            </a:r>
            <a:endParaRPr b="0" i="0" sz="1600" u="none" cap="none" strike="noStrike"/>
          </a:p>
        </p:txBody>
      </p:sp>
      <p:sp>
        <p:nvSpPr>
          <p:cNvPr id="216" name="Google Shape;216;p10"/>
          <p:cNvSpPr/>
          <p:nvPr/>
        </p:nvSpPr>
        <p:spPr>
          <a:xfrm>
            <a:off x="4674037" y="2305883"/>
            <a:ext cx="3755469" cy="2661166"/>
          </a:xfrm>
          <a:prstGeom prst="roundRect">
            <a:avLst>
              <a:gd fmla="val 3222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4885730" y="2517577"/>
            <a:ext cx="612338" cy="612338"/>
          </a:xfrm>
          <a:prstGeom prst="roundRect">
            <a:avLst>
              <a:gd fmla="val 14931436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8" name="Google Shape;21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54084" y="2685931"/>
            <a:ext cx="275511" cy="27551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0"/>
          <p:cNvSpPr/>
          <p:nvPr/>
        </p:nvSpPr>
        <p:spPr>
          <a:xfrm>
            <a:off x="4885730" y="3333988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000"/>
              <a:buFont typeface="Kanit Light"/>
              <a:buNone/>
            </a:pPr>
            <a:r>
              <a:rPr b="0" i="0" lang="en-US" sz="20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Reduced Variance</a:t>
            </a:r>
            <a:endParaRPr b="0" i="0" sz="2000" u="none" cap="none" strike="noStrike"/>
          </a:p>
        </p:txBody>
      </p:sp>
      <p:sp>
        <p:nvSpPr>
          <p:cNvPr id="220" name="Google Shape;220;p10"/>
          <p:cNvSpPr/>
          <p:nvPr/>
        </p:nvSpPr>
        <p:spPr>
          <a:xfrm>
            <a:off x="4885730" y="3775234"/>
            <a:ext cx="3332083" cy="98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600"/>
              <a:buFont typeface="Martel Sans"/>
              <a:buNone/>
            </a:pPr>
            <a:r>
              <a:rPr b="0" i="0" lang="en-US" sz="16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Averaging across folds dramatically reduces performance estimate variance</a:t>
            </a:r>
            <a:endParaRPr b="0" i="0" sz="1600" u="none" cap="none" strike="noStrike"/>
          </a:p>
        </p:txBody>
      </p:sp>
      <p:sp>
        <p:nvSpPr>
          <p:cNvPr id="221" name="Google Shape;221;p10"/>
          <p:cNvSpPr/>
          <p:nvPr/>
        </p:nvSpPr>
        <p:spPr>
          <a:xfrm>
            <a:off x="714494" y="5171123"/>
            <a:ext cx="7715012" cy="2334458"/>
          </a:xfrm>
          <a:prstGeom prst="roundRect">
            <a:avLst>
              <a:gd fmla="val 3673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926187" y="5382816"/>
            <a:ext cx="612338" cy="612338"/>
          </a:xfrm>
          <a:prstGeom prst="roundRect">
            <a:avLst>
              <a:gd fmla="val 14931436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4542" y="5551170"/>
            <a:ext cx="275511" cy="27551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>
            <a:off x="926187" y="6199227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2000"/>
              <a:buFont typeface="Kanit Light"/>
              <a:buNone/>
            </a:pPr>
            <a:r>
              <a:rPr b="0" i="0" lang="en-US" sz="2000" u="none" cap="none" strike="noStrike">
                <a:solidFill>
                  <a:srgbClr val="2C3249"/>
                </a:solidFill>
                <a:latin typeface="Kanit Light"/>
                <a:ea typeface="Kanit Light"/>
                <a:cs typeface="Kanit Light"/>
                <a:sym typeface="Kanit Light"/>
              </a:rPr>
              <a:t>Overfitting Detection</a:t>
            </a:r>
            <a:endParaRPr b="0" i="0" sz="2000" u="none" cap="none" strike="noStrike"/>
          </a:p>
        </p:txBody>
      </p:sp>
      <p:sp>
        <p:nvSpPr>
          <p:cNvPr id="225" name="Google Shape;225;p10"/>
          <p:cNvSpPr/>
          <p:nvPr/>
        </p:nvSpPr>
        <p:spPr>
          <a:xfrm>
            <a:off x="926187" y="6640473"/>
            <a:ext cx="7291626" cy="653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600"/>
              <a:buFont typeface="Martel Sans"/>
              <a:buNone/>
            </a:pPr>
            <a:r>
              <a:rPr b="0" i="0" lang="en-US" sz="160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Helps identify if your model memorizes training data instead of learning patterns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/>
          <p:nvPr/>
        </p:nvSpPr>
        <p:spPr>
          <a:xfrm>
            <a:off x="793790" y="1346478"/>
            <a:ext cx="1262086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4450"/>
              <a:buFont typeface="Kanit Light"/>
              <a:buNone/>
            </a:pPr>
            <a:r>
              <a:rPr b="0" i="0" lang="en-US" sz="445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Combining Confusion Matrix with Cross-Validation</a:t>
            </a:r>
            <a:endParaRPr b="0" i="0" sz="4450" u="none" cap="none" strike="noStrike"/>
          </a:p>
        </p:txBody>
      </p:sp>
      <p:sp>
        <p:nvSpPr>
          <p:cNvPr id="232" name="Google Shape;232;p11"/>
          <p:cNvSpPr/>
          <p:nvPr/>
        </p:nvSpPr>
        <p:spPr>
          <a:xfrm>
            <a:off x="793790" y="2622233"/>
            <a:ext cx="3050738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200"/>
              <a:buFont typeface="Kanit Light"/>
              <a:buNone/>
            </a:pPr>
            <a:r>
              <a:rPr b="0" i="0" lang="en-US" sz="22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The Power of Integration</a:t>
            </a:r>
            <a:endParaRPr b="0" i="0" sz="2200" u="none" cap="none" strike="noStrike"/>
          </a:p>
        </p:txBody>
      </p:sp>
      <p:sp>
        <p:nvSpPr>
          <p:cNvPr id="233" name="Google Shape;233;p11"/>
          <p:cNvSpPr/>
          <p:nvPr/>
        </p:nvSpPr>
        <p:spPr>
          <a:xfrm>
            <a:off x="793790" y="3203377"/>
            <a:ext cx="624470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By generating a confusion matrix for each fold's test predictions and aggregating them, you achieve both detailed error analysis and robust validation.</a:t>
            </a:r>
            <a:endParaRPr b="0" i="0" sz="1750" u="none" cap="none" strike="noStrike"/>
          </a:p>
        </p:txBody>
      </p:sp>
      <p:sp>
        <p:nvSpPr>
          <p:cNvPr id="234" name="Google Shape;234;p11"/>
          <p:cNvSpPr/>
          <p:nvPr/>
        </p:nvSpPr>
        <p:spPr>
          <a:xfrm>
            <a:off x="793790" y="4496157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Generate confusion matrix for each fold</a:t>
            </a:r>
            <a:endParaRPr b="0" i="0" sz="1750" u="none" cap="none" strike="noStrike"/>
          </a:p>
        </p:txBody>
      </p:sp>
      <p:sp>
        <p:nvSpPr>
          <p:cNvPr id="235" name="Google Shape;235;p11"/>
          <p:cNvSpPr/>
          <p:nvPr/>
        </p:nvSpPr>
        <p:spPr>
          <a:xfrm>
            <a:off x="793790" y="4938355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Sum matrices across all folds</a:t>
            </a:r>
            <a:endParaRPr b="0" i="0" sz="1750" u="none" cap="none" strike="noStrike"/>
          </a:p>
        </p:txBody>
      </p:sp>
      <p:sp>
        <p:nvSpPr>
          <p:cNvPr id="236" name="Google Shape;236;p11"/>
          <p:cNvSpPr/>
          <p:nvPr/>
        </p:nvSpPr>
        <p:spPr>
          <a:xfrm>
            <a:off x="793790" y="5380553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Analyze aggregate patterns</a:t>
            </a:r>
            <a:endParaRPr b="0" i="0" sz="1750" u="none" cap="none" strike="noStrike"/>
          </a:p>
        </p:txBody>
      </p:sp>
      <p:sp>
        <p:nvSpPr>
          <p:cNvPr id="237" name="Google Shape;237;p11"/>
          <p:cNvSpPr/>
          <p:nvPr/>
        </p:nvSpPr>
        <p:spPr>
          <a:xfrm>
            <a:off x="793790" y="5822752"/>
            <a:ext cx="624470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Char char="•"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Calculate metrics with confidence intervals</a:t>
            </a:r>
            <a:endParaRPr b="0" i="0" sz="1750" u="none" cap="none" strike="noStrike"/>
          </a:p>
        </p:txBody>
      </p:sp>
      <p:pic>
        <p:nvPicPr>
          <p:cNvPr descr="preencoded.png" id="238" name="Google Shape;2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7170" y="1878907"/>
            <a:ext cx="5004100" cy="500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/>
          <p:nvPr/>
        </p:nvSpPr>
        <p:spPr>
          <a:xfrm>
            <a:off x="793790" y="6520101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750"/>
              <a:buFont typeface="Martel Sans"/>
              <a:buNone/>
            </a:pPr>
            <a:r>
              <a:rPr b="0" i="0" lang="en-US" sz="1750" u="none" cap="none" strike="noStrike">
                <a:solidFill>
                  <a:srgbClr val="2C3249"/>
                </a:solidFill>
                <a:latin typeface="Martel Sans"/>
                <a:ea typeface="Martel Sans"/>
                <a:cs typeface="Martel Sans"/>
                <a:sym typeface="Martel Sans"/>
              </a:rPr>
              <a:t>This combination provides the most comprehensive and reliable assessment of classification model performance.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"/>
          <p:cNvSpPr/>
          <p:nvPr/>
        </p:nvSpPr>
        <p:spPr>
          <a:xfrm>
            <a:off x="470535" y="476131"/>
            <a:ext cx="4866918" cy="4200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600"/>
              <a:buFont typeface="Kanit Light"/>
              <a:buNone/>
            </a:pPr>
            <a:r>
              <a:rPr b="0" i="0" lang="en-US" sz="2600" u="none" cap="none" strike="noStrike">
                <a:solidFill>
                  <a:srgbClr val="272D45"/>
                </a:solidFill>
                <a:latin typeface="Kanit Light"/>
                <a:ea typeface="Kanit Light"/>
                <a:cs typeface="Kanit Light"/>
                <a:sym typeface="Kanit Light"/>
              </a:rPr>
              <a:t>Python Implementation Example</a:t>
            </a:r>
            <a:endParaRPr b="0" i="0" sz="2600" u="none" cap="none" strike="noStrike"/>
          </a:p>
        </p:txBody>
      </p:sp>
      <p:sp>
        <p:nvSpPr>
          <p:cNvPr id="246" name="Google Shape;246;p12"/>
          <p:cNvSpPr/>
          <p:nvPr/>
        </p:nvSpPr>
        <p:spPr>
          <a:xfrm>
            <a:off x="470535" y="1165027"/>
            <a:ext cx="13689330" cy="6222206"/>
          </a:xfrm>
          <a:prstGeom prst="roundRect">
            <a:avLst>
              <a:gd fmla="val 90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463868" y="1165027"/>
            <a:ext cx="13702665" cy="6222206"/>
          </a:xfrm>
          <a:prstGeom prst="roundRect">
            <a:avLst>
              <a:gd fmla="val 32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"/>
          <p:cNvSpPr/>
          <p:nvPr/>
        </p:nvSpPr>
        <p:spPr>
          <a:xfrm>
            <a:off x="598300" y="1265750"/>
            <a:ext cx="13433700" cy="61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from sklearn.model_selection import cross_val_predict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from sklearn.metrics import confusion_matrix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from sklearn.ensemble import RandomForestClassifier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Initialize model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model = RandomForestClassifier(n_estimators=100)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Get predictions from cross-validation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y_pred = cross_val_predict(model, X, y, cv=10)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Generate confusion matrix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cm = confusion_matrix(y, y_pred)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print("Confusion Matrix:\n", cm)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# Calculate metrics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TP = cm[1,1]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FP = cm[0,1]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FN = cm[1,0]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TN = cm[0,0]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precision = TP / (TP + FP)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recall = TP / (TP + FN)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f1_score = 2 * (precision * recall) / (precision + recall)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print(f"Precision: {precision:.3f}")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print(f"Recall: {recall:.3f}")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print(f"F1-Score: {f1_score:.3f}")</a:t>
            </a:r>
            <a:br>
              <a:rPr b="0" i="0" lang="en-US" sz="1050" u="none" cap="none" strike="noStrike">
                <a:solidFill>
                  <a:srgbClr val="2C3249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0" i="0" sz="10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2025-12-14T16:47:40Z</dcterms:created>
</cp:coreProperties>
</file>