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/>
  <p:notesSz cx="8229600" cy="14630400"/>
  <p:embeddedFontLst>
    <p:embeddedFont>
      <p:font typeface="Kanit Light" panose="020B0604020202020204" charset="-34"/>
      <p:regular r:id="rId22"/>
    </p:embeddedFont>
    <p:embeddedFont>
      <p:font typeface="Martel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43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Supervised Learning in Machine Learning: Teaching Machines to Predict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Discover how machines learn to make intelligent predictions by learning from examples, transforming the way we solve complex problems across industries.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8508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1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4106347"/>
            <a:ext cx="7327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Supervised Learning?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1552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the foundation of predictive machine learning and how labeled data guides algorithms to make accurate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584716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Essence of Supervised Learning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4260" y="2232660"/>
            <a:ext cx="7655481" cy="2771418"/>
          </a:xfrm>
          <a:prstGeom prst="roundRect">
            <a:avLst>
              <a:gd name="adj" fmla="val 322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64525" y="245292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04" y="2628305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525" y="3303508"/>
            <a:ext cx="281832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Learning from Examples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4525" y="3763328"/>
            <a:ext cx="721494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machine learning technique that uses labeled data to teach algorithms, showing them the correct answers so they can learn patterns.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4260" y="5216723"/>
            <a:ext cx="7655481" cy="2431256"/>
          </a:xfrm>
          <a:prstGeom prst="roundRect">
            <a:avLst>
              <a:gd name="adj" fmla="val 3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964525" y="543698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9904" y="5612368"/>
            <a:ext cx="287060" cy="287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525" y="628757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Ultimate Goal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964525" y="6747391"/>
            <a:ext cx="721494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 predict outcomes accurately on new, unseen data by generalizing from the patterns learned during training.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966" y="534233"/>
            <a:ext cx="4856798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Labeled Data in Action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86" y="1655921"/>
            <a:ext cx="2526744" cy="252674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707" y="1655921"/>
            <a:ext cx="2526744" cy="252674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828" y="1655921"/>
            <a:ext cx="2526744" cy="2526744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949" y="1655921"/>
            <a:ext cx="2526744" cy="252674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6070" y="1655921"/>
            <a:ext cx="2526744" cy="2526744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586" y="4338042"/>
            <a:ext cx="2526744" cy="252674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79966" y="7209473"/>
            <a:ext cx="1327046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piece of training data comes with its correct answer—these labels are the foundation that enables supervised learning algorithms to understand patterns and make predictions.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119331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Supervised Learning Works: The Big Picture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25998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Collect &amp; Label Data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Gather data points and assign correct answers (labels) to create your training foundation.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225998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 Models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Feed labeled examples to algorithms so they learn the patterns linking inputs to outputs.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225998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Evaluate &amp; Refine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predictions on new data and fine-tune the model for better accuracy and reliability.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47517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2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705356"/>
            <a:ext cx="85942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Supervised Learning Workflow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67542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systematic approach to building accurate predictive models from raw data to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353"/>
            <a:ext cx="6454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1: Define the Problem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6108"/>
            <a:ext cx="3063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Are We Predicting?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7725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successful supervised learning project starts with a clear problem definition. Are you detecting spam emails, recognizing images, or forecasting prices?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003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problem type determines everything that follows—from the data you collect to the algorithms you choose.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599521" y="222444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69041" y="2224445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48255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Classification Example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48255" y="306288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Spam detection: email is spam or not spam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9521" y="3909893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69041" y="3909893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48255" y="4167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Recognition Example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48255" y="474833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 recognition: identifying objects in photos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9521" y="5595342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69041" y="5595342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48255" y="5852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Regression Example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48255" y="6433780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Price forecasting: predicting future values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40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2: Data Collection and Labeling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01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956798"/>
            <a:ext cx="3664744" cy="3048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3131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Gather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621524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Collect information from sensors, databases, user interactions, and other relevant sources.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2601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2956798"/>
            <a:ext cx="3664863" cy="3048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71748" y="3131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 Labels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621524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Attach the correct answer or "ground truth" to each data point—this is what the model will learn from.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54699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825014"/>
            <a:ext cx="7556421" cy="3048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0190" y="5999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Ensure Quality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64897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High-quality, accurate labels are essential—better labels lead to better model predictions and more reliable outcomes.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155"/>
            <a:ext cx="9280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3: Model Training and Evaluation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209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Feed Labeled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2699980"/>
            <a:ext cx="459331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Input your prepared dataset into the chosen algorithm to begin the learning process.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Adjust Parameters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model iteratively adjusts its internal parameters to minimize prediction errors.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0070" y="2209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Validate Performance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2699980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validation data to fine-tune hyperparameters and prevent overfitting.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 Accuracy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Assess final performance on unseen test data to verify the model is ready for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9405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3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37518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 of Supervised Learning Tasks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550961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the two main categories of supervised learning problems and when to use each approach.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6893"/>
            <a:ext cx="9280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Classification: Sorting Into Categories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32648"/>
            <a:ext cx="32236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Predicting Discrete Labels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13792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Classification tasks involve assigning data points to specific categories or classes. The output is always a label from a predefined set of possibilities.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29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Common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61045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Spam vs. legitimate email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5265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Disease diagnosis: healthy vs. diseased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9485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Image recognition: identifying objects in photos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3705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Sentiment analysis: positive, neutral, or negative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60984"/>
            <a:ext cx="2286000" cy="228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959096" y="4702135"/>
            <a:ext cx="4885015" cy="2415421"/>
          </a:xfrm>
          <a:prstGeom prst="roundRect">
            <a:avLst>
              <a:gd name="adj" fmla="val 3944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5015746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6212" y="4985623"/>
            <a:ext cx="39210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 Example:</a:t>
            </a: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Email spam filters learn from thousands of labeled emails to automatically identify and block junk mail, improving accuracy over time.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601980"/>
            <a:ext cx="9921478" cy="684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Regression: Predicting Continuous Values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67" y="1860709"/>
            <a:ext cx="228600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67" y="439293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6612" y="1833324"/>
            <a:ext cx="38032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Predicting Numerical Outcomes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26612" y="2394109"/>
            <a:ext cx="7645122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Regression models predict continuous numerical values rather than discrete categories. The output can be any number within a range.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226612" y="3313509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Typical Use Cases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226612" y="3874294"/>
            <a:ext cx="7645122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House price estimation based on features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226612" y="4301133"/>
            <a:ext cx="7645122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Stock market value forecasting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226612" y="4727972"/>
            <a:ext cx="7645122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 or weather predictions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226612" y="5154811"/>
            <a:ext cx="7645122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Salary estimation from years of experience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26612" y="5751314"/>
            <a:ext cx="7645122" cy="1630680"/>
          </a:xfrm>
          <a:prstGeom prst="roundRect">
            <a:avLst>
              <a:gd name="adj" fmla="val 5639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448" y="6054209"/>
            <a:ext cx="273606" cy="2188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7891" y="6024801"/>
            <a:ext cx="6715006" cy="105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7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Predicting a person's salary based on their years of experience, education level, and job role—the output is a specific dollar amount.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6066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4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523905"/>
            <a:ext cx="10656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Popular Algorithms in Supervised Learning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65728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Exploring the diverse toolkit of algorithms that power supervised learning, from simple trees to complex neural networks.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335"/>
            <a:ext cx="533935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Common Algorithms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4" y="1681877"/>
            <a:ext cx="4200525" cy="4200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474" y="6095881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 Trees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7474" y="6557605"/>
            <a:ext cx="4200525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Intuitive flowchart-like models that make decisions by asking a series of yes/no questions, splitting data at each branch.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8" y="1681877"/>
            <a:ext cx="4200525" cy="4200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38" y="6095881"/>
            <a:ext cx="2928938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Support Vector Machines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214938" y="6557605"/>
            <a:ext cx="4200525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Powerful algorithms that find the optimal boundary separating different classes in high-dimensional space.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401" y="1681877"/>
            <a:ext cx="4200525" cy="4200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2401" y="6095881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Neural Networks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682401" y="6557605"/>
            <a:ext cx="4200525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Layered models inspired by the human brain, exceptionally powerful for complex data like images, text, and speech.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823" y="380881"/>
            <a:ext cx="3463528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Training Techniques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07580" y="1090851"/>
            <a:ext cx="15240" cy="7231023"/>
          </a:xfrm>
          <a:prstGeom prst="roundRect">
            <a:avLst>
              <a:gd name="adj" fmla="val 38181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9583" y="1090851"/>
            <a:ext cx="6830378" cy="3476982"/>
          </a:xfrm>
          <a:prstGeom prst="roundRect">
            <a:avLst>
              <a:gd name="adj" fmla="val 167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29726" y="1236940"/>
            <a:ext cx="1731764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Gradient Descent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672" y="1536502"/>
            <a:ext cx="6545818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iterative optimization method that gradually adjusts model parameters by following the slope of the error function, systematically minimizing prediction mistakes.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490" y="2135743"/>
            <a:ext cx="228600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30440" y="4844891"/>
            <a:ext cx="6830378" cy="3476982"/>
          </a:xfrm>
          <a:prstGeom prst="rect">
            <a:avLst/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68910" y="4990981"/>
            <a:ext cx="1731764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Cross-Validation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68910" y="5290542"/>
            <a:ext cx="6545818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robust testing technique that evaluates models on different subsets of data, ensuring the model generalizes well and avoiding the pitfall of overfitting to training data.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910" y="5889784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9405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Chapter 5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37518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Applications and Impact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50961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From healthcare diagnostics to personalized recommendations, supervised learning is transforming industries and improving lives.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0648" y="613529"/>
            <a:ext cx="7809428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Everyday Uses of Supervised Learning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0648" y="1478042"/>
            <a:ext cx="560784" cy="560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0648" y="2272427"/>
            <a:ext cx="2336602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Healthcare Revolution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40648" y="2676644"/>
            <a:ext cx="783550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Diagnosing diseases from medical images like X-rays and MRIs with accuracy rivaling expert radiologists, enabling earlier detection and better patient outcomes.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648" y="3648670"/>
            <a:ext cx="560784" cy="5607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0648" y="4443055"/>
            <a:ext cx="2801898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Financial Risk Management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40648" y="4847273"/>
            <a:ext cx="783550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Predicting loan defaults and credit risk to help financial institutions make smarter lending decisions and protect against losses.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648" y="5819299"/>
            <a:ext cx="560784" cy="5607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0648" y="6613684"/>
            <a:ext cx="2684383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Personalized E-commerce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40648" y="7017901"/>
            <a:ext cx="783550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Recommending products based on customer behavior and preferences, increasing engagement and creating tailored shopping experiences.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1037868"/>
            <a:ext cx="7655838" cy="6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Future of Supervised Learning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13567" y="2281118"/>
            <a:ext cx="203002" cy="1190149"/>
          </a:xfrm>
          <a:prstGeom prst="roundRect">
            <a:avLst>
              <a:gd name="adj" fmla="val 420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0565" y="2147888"/>
            <a:ext cx="609005" cy="609005"/>
          </a:xfrm>
          <a:prstGeom prst="roundRect">
            <a:avLst>
              <a:gd name="adj" fmla="val 7507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846" y="2300168"/>
            <a:ext cx="304443" cy="304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2571" y="2179677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Learning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522571" y="2618780"/>
            <a:ext cx="691086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that continuously improve over time by learning from new data, adapting to changing patterns and staying relevant.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218009" y="3978831"/>
            <a:ext cx="203002" cy="1190149"/>
          </a:xfrm>
          <a:prstGeom prst="roundRect">
            <a:avLst>
              <a:gd name="adj" fmla="val 420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15008" y="3845600"/>
            <a:ext cx="609005" cy="609005"/>
          </a:xfrm>
          <a:prstGeom prst="roundRect">
            <a:avLst>
              <a:gd name="adj" fmla="val 7507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7289" y="3997881"/>
            <a:ext cx="304443" cy="3044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7014" y="3877389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Integration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827014" y="4316492"/>
            <a:ext cx="6606421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Combining supervised learning with reinforcement learning and unsupervised learning to create more powerful, versatile AI systems.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1522571" y="5676543"/>
            <a:ext cx="203002" cy="1514951"/>
          </a:xfrm>
          <a:prstGeom prst="roundRect">
            <a:avLst>
              <a:gd name="adj" fmla="val 420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1319570" y="5543312"/>
            <a:ext cx="609005" cy="609005"/>
          </a:xfrm>
          <a:prstGeom prst="roundRect">
            <a:avLst>
              <a:gd name="adj" fmla="val 7507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1851" y="5695593"/>
            <a:ext cx="304443" cy="3044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31576" y="5575102"/>
            <a:ext cx="25378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Decisions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2131576" y="6014204"/>
            <a:ext cx="6301859" cy="97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Expanding into more complex, real-time decision-making systems that can respond instantly to dynamic environments and urgent situations.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253" y="825937"/>
            <a:ext cx="7765494" cy="1230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Conclusion: Empowering Decisions with Supervised Learning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9253" y="2351961"/>
            <a:ext cx="3784283" cy="2095143"/>
          </a:xfrm>
          <a:prstGeom prst="roundRect">
            <a:avLst>
              <a:gd name="adj" fmla="val 39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93802" y="2556510"/>
            <a:ext cx="246173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to Predictions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3802" y="2982397"/>
            <a:ext cx="3375184" cy="12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Supervised learning transforms raw, unstructured data into actionable predictions that drive intelligent decision-making.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0465" y="2351961"/>
            <a:ext cx="3784283" cy="2095143"/>
          </a:xfrm>
          <a:prstGeom prst="roundRect">
            <a:avLst>
              <a:gd name="adj" fmla="val 39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75014" y="2556510"/>
            <a:ext cx="246173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Innovation Backbone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75014" y="2982397"/>
            <a:ext cx="3375184" cy="126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 serves as the backbone of countless AI-powered innovations that are actively shaping our modern world every day.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9253" y="4644033"/>
            <a:ext cx="7765494" cy="1465064"/>
          </a:xfrm>
          <a:prstGeom prst="roundRect">
            <a:avLst>
              <a:gd name="adj" fmla="val 564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3802" y="4848582"/>
            <a:ext cx="246173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Journey Begins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3802" y="5274469"/>
            <a:ext cx="7356396" cy="63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journey from labeled data to smart, reliable predictions is just beginning—the possibilities are limitless.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4647" y="6552009"/>
            <a:ext cx="7470100" cy="63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true power of supervised learning lies not just in what machines can predict today, but in how they'll help us solve tomorrow's challenges.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89253" y="6330553"/>
            <a:ext cx="22860" cy="1072991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1065</Words>
  <Application>Microsoft Office PowerPoint</Application>
  <PresentationFormat>Custom</PresentationFormat>
  <Paragraphs>135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</cp:lastModifiedBy>
  <cp:revision>2</cp:revision>
  <dcterms:created xsi:type="dcterms:W3CDTF">2025-12-14T13:57:24Z</dcterms:created>
  <dcterms:modified xsi:type="dcterms:W3CDTF">2025-12-14T14:01:12Z</dcterms:modified>
</cp:coreProperties>
</file>