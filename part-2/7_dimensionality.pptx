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Kanit Light" panose="020B0604020202020204" charset="-34"/>
      <p:regular r:id="rId18"/>
    </p:embeddedFont>
    <p:embeddedFont>
      <p:font typeface="Martel Sa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170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Learning: Clustering and Dimensionality Reduction Unveiled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Discovering hidden patterns and structures in complex data through powerful unsupervised learning techniques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1: The Power of Unsupervised Learning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744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Pattern Discovery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Unsupervised learning lets machines find hidden patterns without labeled data, uncovering insights humans might miss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5080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06182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3756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for analyzing complex, unlabeled datasets in fields from cybersecurity to bioinformatics and beyond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14624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Two Core Pillars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Clustering groups similar data points together; Dimensionality Reduction simplifies data representation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18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Unsupervised Learning Matters Today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58083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$1.8T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26927" y="3789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Market by 2030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3710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Projected global market size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00901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38.8%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126927" y="63326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Growth Rate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69138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Compound annual growth rate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2616398"/>
            <a:ext cx="2931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Transforming Industries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56321" y="3197542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Unsupervised methods enable breakthrough insights where labeling is impossible or prohibitively costly, opening new frontiers in data analysis.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216128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techniques form the foundation for anomaly detection, sophisticated recommendation systems, and exploratory data analysis across sectors.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2: Clustering — Grouping the Unknown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017306" y="2676763"/>
            <a:ext cx="3380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Discovering Natural Groups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16718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Clustering partitions data into meaningful groups based on similarity without requiring prior labels or supervision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17306" y="4424482"/>
            <a:ext cx="3225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Unlocking Hidden Insights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91490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Enables discovery of natural groupings, customer segments, anomaly clusters, and patterns that weren't previously obvious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17306" y="6172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Two Main Approaches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6626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Partitioning methods like K-Means divide data into distinct clusters; Hierarchical clustering builds nested cluster trees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880" y="443032"/>
            <a:ext cx="6278285" cy="50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K-Means Clustering: The Workhorse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3880" y="1349097"/>
            <a:ext cx="20140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It Works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63880" y="1762006"/>
            <a:ext cx="7944326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K-Means assigns data points to K clusters by minimizing the distance to cluster centroids, creating clear boundaries between groups.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3880" y="2458522"/>
            <a:ext cx="161092" cy="201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3880" y="2709386"/>
            <a:ext cx="7944326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3880" y="2835593"/>
            <a:ext cx="20140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Initialize Centroids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63880" y="3248501"/>
            <a:ext cx="7944326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Randomly place K cluster centers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3880" y="3787973"/>
            <a:ext cx="161092" cy="201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3880" y="4038838"/>
            <a:ext cx="7944326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3880" y="4165044"/>
            <a:ext cx="20140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 Points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63880" y="4577953"/>
            <a:ext cx="7944326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Group data by nearest centroid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3880" y="5117425"/>
            <a:ext cx="161092" cy="201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3880" y="5368290"/>
            <a:ext cx="7944326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3880" y="5494496"/>
            <a:ext cx="20140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Update Centers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63880" y="5907405"/>
            <a:ext cx="7944326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Recalculate centroid positions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3880" y="6446877"/>
            <a:ext cx="161092" cy="201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3880" y="6697742"/>
            <a:ext cx="7944326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3880" y="6823948"/>
            <a:ext cx="20140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Iterate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63880" y="7236857"/>
            <a:ext cx="7944326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Repeat until convergence</a:t>
            </a:r>
            <a:endParaRPr lang="en-US" sz="12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6967" y="1824450"/>
            <a:ext cx="3589247" cy="3589247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908971" y="5689812"/>
            <a:ext cx="5165169" cy="942023"/>
          </a:xfrm>
          <a:prstGeom prst="roundRect">
            <a:avLst>
              <a:gd name="adj" fmla="val 7184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534" y="5926454"/>
            <a:ext cx="201335" cy="1610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585960" y="5907404"/>
            <a:ext cx="4480560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Advantage:</a:t>
            </a:r>
            <a:r>
              <a:rPr lang="en-US" sz="12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Widely used for its simplicity, speed, and exceptional scalability in handling large datasets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1625"/>
            <a:ext cx="12262723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Hierarchical Clustering: Building a Tree of Clusters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27760" y="2341364"/>
            <a:ext cx="6074569" cy="225504"/>
          </a:xfrm>
          <a:prstGeom prst="roundRect">
            <a:avLst>
              <a:gd name="adj" fmla="val 4201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503" y="2115800"/>
            <a:ext cx="676632" cy="676632"/>
          </a:xfrm>
          <a:prstGeom prst="roundRect">
            <a:avLst>
              <a:gd name="adj" fmla="val 675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691" y="2284988"/>
            <a:ext cx="338257" cy="3382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3017996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Individual Points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5008" y="3505676"/>
            <a:ext cx="596193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Start with each data point as its own cluster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766209" y="2003108"/>
            <a:ext cx="6074569" cy="225504"/>
          </a:xfrm>
          <a:prstGeom prst="roundRect">
            <a:avLst>
              <a:gd name="adj" fmla="val 4201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27952" y="1777544"/>
            <a:ext cx="676632" cy="676632"/>
          </a:xfrm>
          <a:prstGeom prst="roundRect">
            <a:avLst>
              <a:gd name="adj" fmla="val 675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7140" y="1946731"/>
            <a:ext cx="338257" cy="3382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3457" y="2679740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Merge Closest Pairs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3457" y="3167420"/>
            <a:ext cx="596193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 the two nearest clusters iteratively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1127760" y="4881443"/>
            <a:ext cx="6074569" cy="225504"/>
          </a:xfrm>
          <a:prstGeom prst="roundRect">
            <a:avLst>
              <a:gd name="adj" fmla="val 4201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89503" y="4655880"/>
            <a:ext cx="676632" cy="676632"/>
          </a:xfrm>
          <a:prstGeom prst="roundRect">
            <a:avLst>
              <a:gd name="adj" fmla="val 675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691" y="4825067"/>
            <a:ext cx="338257" cy="3382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5008" y="5558076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Hierarchy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15008" y="6045756"/>
            <a:ext cx="596193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 nested structure of cluster relationships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766209" y="4543187"/>
            <a:ext cx="6074569" cy="225504"/>
          </a:xfrm>
          <a:prstGeom prst="roundRect">
            <a:avLst>
              <a:gd name="adj" fmla="val 4201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27952" y="4317623"/>
            <a:ext cx="676632" cy="676632"/>
          </a:xfrm>
          <a:prstGeom prst="roundRect">
            <a:avLst>
              <a:gd name="adj" fmla="val 675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7140" y="4486811"/>
            <a:ext cx="338257" cy="33825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3457" y="5219819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Visualize Results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3457" y="5707499"/>
            <a:ext cx="596193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Produces dendrograms showing all cluster merges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89503" y="6885980"/>
            <a:ext cx="13051393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agglomerative approach proves especially useful when the number of clusters is unknown or when clusters have a naturally nested structure.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1690"/>
            <a:ext cx="3230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Dendrogram Visualization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280190" y="373618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dendrogram reveals the hierarchical relationship between clusters, showing how data points progressively merge into larger groups. The height of each branch indicates the distance at which clusters combine.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9938" y="690205"/>
            <a:ext cx="7776924" cy="1830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3: Dimensionality Reduction — Simplifying Complexity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9938" y="2814042"/>
            <a:ext cx="3790831" cy="2108716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47078" y="2814042"/>
            <a:ext cx="91440" cy="2108716"/>
          </a:xfrm>
          <a:prstGeom prst="roundRect">
            <a:avLst>
              <a:gd name="adj" fmla="val 8971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56640" y="3032165"/>
            <a:ext cx="24416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56640" y="3454479"/>
            <a:ext cx="3286006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High-dimensional data can be noisy, redundant, and nearly impossible to visualize effectively, obscuring meaningful patterns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6031" y="2814042"/>
            <a:ext cx="3790831" cy="2108716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33171" y="2814042"/>
            <a:ext cx="91440" cy="2108716"/>
          </a:xfrm>
          <a:prstGeom prst="roundRect">
            <a:avLst>
              <a:gd name="adj" fmla="val 8971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42734" y="3032165"/>
            <a:ext cx="24416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Solution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442734" y="3454479"/>
            <a:ext cx="3286006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Dimensionality reduction projects data into fewer dimensions while preserving the most important information and structure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69938" y="5118021"/>
            <a:ext cx="3790831" cy="2421255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47078" y="5118021"/>
            <a:ext cx="91440" cy="2421255"/>
          </a:xfrm>
          <a:prstGeom prst="roundRect">
            <a:avLst>
              <a:gd name="adj" fmla="val 8971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56640" y="5336143"/>
            <a:ext cx="244161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Two Main Strategies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56640" y="5758458"/>
            <a:ext cx="3286006" cy="156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Selection chooses the most relevant existing features; Feature Extraction creates new meaningful features from combinations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40807"/>
            <a:ext cx="13167360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Principal Component Analysis (PCA): The Classic Technique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85" y="2439349"/>
            <a:ext cx="4826799" cy="48267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7733" y="2569607"/>
            <a:ext cx="316039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Maximum Variance Capture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577733" y="3105031"/>
            <a:ext cx="6328767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PCA finds new axes called principal components that capture the maximum variance in your data, revealing the directions of greatest variability.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7733" y="4317325"/>
            <a:ext cx="331029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Uncorrelated Transformation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577733" y="4852749"/>
            <a:ext cx="6328767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 transforms original features into uncorrelated components ranked by importance, eliminating redundancy and noise.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7733" y="5730597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Practical Benefits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577733" y="6266021"/>
            <a:ext cx="63287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Enables intuitive 2D/3D visualization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77733" y="6673572"/>
            <a:ext cx="63287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Speeds up downstream ML algorithms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77733" y="7081123"/>
            <a:ext cx="6328767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Reduces storage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1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Beyond PCA: Nonlinear Techniques like t-SNE and UMAP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2835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224" y="32627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44983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t-SNE Excellence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60463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t-Distributed Stochastic Neighbor Embedding excels at visualizing complex data clusters in 2D or 3D space, preserving local neighborhood structures beautifully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2835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51396" y="32627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44983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UMAP Advantages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660463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Uniform Manifold Approximation and Projection preserves both local and global data structure, offering faster computation and better scalability than t-SNE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2835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4568" y="32627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44983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Manifold Discovery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66046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Both techniques reveal hidden data manifolds and nonlinear patterns that linear methods like PCA simply cannot capture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Dimensionality Reduction in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transformation from high-dimensional space to 2D reveals hidden structure. Original data (left) appears as an incomprehensible cloud, while PCA and UMAP projections (right) expose distinct clusters and relationships.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4: Clustering vs Dimensionality Reduction — Complementary, Not the Same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125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Clustering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5571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Explicitly groups similar data points together into distinct categories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75070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125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615571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Transforms data representation into fewer dimensions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75070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5777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Synergy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606813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Reduction enhances clustering by removing noise and redundancy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601027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96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Pipeline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8668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Using PCA or UMAP before K-Means improves cluster quality dramatically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601027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7664"/>
            <a:ext cx="6084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Applications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56886"/>
            <a:ext cx="30270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47304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Clustering identifies distinct buyer personas and behaviors, while PCA reduces feature overload from hundreds of customer attributes to actionable insights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Anomaly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4147304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Dimensionality reduction highlights outliers in high-dimensional security data, and clustering isolates suspicious activity patterns for investigation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Image Recognition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4147304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extraction reduces massive pixel data to manageable representations, enabling clustering to group visually similar images efficiently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598765"/>
            <a:ext cx="8064698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Cutting-Edge Advances and Tools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2119" y="1823442"/>
            <a:ext cx="329719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Industry-Standard Libraries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119" y="2381250"/>
            <a:ext cx="6287453" cy="104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Scikit-learn offers robust, production-ready implementations of K-Means, Agglomerative Clustering, and PCA that power ML pipelines worldwide.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9" y="3671292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8448" y="1823442"/>
            <a:ext cx="309800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Next-Generation Methods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588448" y="2381250"/>
            <a:ext cx="6287453" cy="104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UMAP is rapidly gaining popularity for scalable nonlinear dimension reduction, outperforming t-SNE in both speed and quality.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448" y="3671292"/>
            <a:ext cx="228600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2119" y="6447115"/>
            <a:ext cx="13106162" cy="1273612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65" y="6749653"/>
            <a:ext cx="272177" cy="2176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9588" y="6719173"/>
            <a:ext cx="12181046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 Tip:</a:t>
            </a:r>
            <a:r>
              <a:rPr lang="en-US" sz="17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Integration pipelines that combine reduction and clustering stages unlock powerful insights that neither technique achieves alone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862" y="650677"/>
            <a:ext cx="7930277" cy="108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Conclusion: Harnessing the Magic of Unsupervised Learning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62" y="1994416"/>
            <a:ext cx="867013" cy="12762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7230" y="2167771"/>
            <a:ext cx="2181106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Unlock Hidden Insights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647230" y="2542699"/>
            <a:ext cx="6889909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Clustering and dimensionality reduction reveal patterns and structures in unlabeled data that traditional methods miss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62" y="3270647"/>
            <a:ext cx="867013" cy="12762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7230" y="3444002"/>
            <a:ext cx="216753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Simplify Complexity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647230" y="3818930"/>
            <a:ext cx="6889909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Together, these techniques transform overwhelming high-dimensional data into understandable, actionable knowledge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62" y="4546878"/>
            <a:ext cx="867013" cy="12762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7230" y="4720233"/>
            <a:ext cx="2454831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Empower Smart Solutions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647230" y="5095161"/>
            <a:ext cx="6889909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Mastering these techniques empowers you to build more intelligent AI solutions across every industry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06862" y="6083141"/>
            <a:ext cx="7930277" cy="14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Ready to explore your data's hidden stories?</a:t>
            </a:r>
            <a:endParaRPr lang="en-US" sz="4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Custom</PresentationFormat>
  <Paragraphs>124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Martel Sans</vt:lpstr>
      <vt:lpstr>Kanit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</cp:lastModifiedBy>
  <cp:revision>3</cp:revision>
  <dcterms:created xsi:type="dcterms:W3CDTF">2025-12-16T17:09:01Z</dcterms:created>
  <dcterms:modified xsi:type="dcterms:W3CDTF">2025-12-16T23:29:09Z</dcterms:modified>
</cp:coreProperties>
</file>