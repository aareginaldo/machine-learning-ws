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7"/>
  </p:notesMasterIdLst>
  <p:sldIdLst>
    <p:sldId id="256" r:id="rId5"/>
    <p:sldId id="384" r:id="rId6"/>
    <p:sldId id="383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410" r:id="rId33"/>
    <p:sldId id="411" r:id="rId34"/>
    <p:sldId id="412" r:id="rId35"/>
    <p:sldId id="413" r:id="rId36"/>
    <p:sldId id="414" r:id="rId37"/>
    <p:sldId id="415" r:id="rId38"/>
    <p:sldId id="416" r:id="rId39"/>
    <p:sldId id="417" r:id="rId40"/>
    <p:sldId id="418" r:id="rId41"/>
    <p:sldId id="419" r:id="rId42"/>
    <p:sldId id="420" r:id="rId43"/>
    <p:sldId id="421" r:id="rId44"/>
    <p:sldId id="422" r:id="rId45"/>
    <p:sldId id="291" r:id="rId46"/>
  </p:sldIdLst>
  <p:sldSz cx="18288000" cy="10287000"/>
  <p:notesSz cx="6858000" cy="9144000"/>
  <p:embeddedFontLst>
    <p:embeddedFont>
      <p:font typeface="맑은 고딕" panose="020B0503020000020004" pitchFamily="34" charset="-127"/>
      <p:regular r:id="rId48"/>
      <p:bold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AD7"/>
    <a:srgbClr val="E46C0A"/>
    <a:srgbClr val="EC1651"/>
    <a:srgbClr val="FBC422"/>
    <a:srgbClr val="FE98F9"/>
    <a:srgbClr val="F9C7C9"/>
    <a:srgbClr val="394CB5"/>
    <a:srgbClr val="EC4A52"/>
    <a:srgbClr val="FAB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82" autoAdjust="0"/>
    <p:restoredTop sz="85159" autoAdjust="0"/>
  </p:normalViewPr>
  <p:slideViewPr>
    <p:cSldViewPr snapToGrid="0">
      <p:cViewPr varScale="1">
        <p:scale>
          <a:sx n="68" d="100"/>
          <a:sy n="68" d="100"/>
        </p:scale>
        <p:origin x="8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1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054AF-692A-42DF-91F9-81DF289757A7}" type="datetimeFigureOut">
              <a:rPr lang="ko-KR" altLang="en-US" smtClean="0"/>
              <a:t>2025. 12. 12.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5E348-0E32-436E-906A-2326BDCE49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77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642F9-CA85-5593-FD79-FDEBA4EF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825EA-7515-7F55-B9D5-E4B74A2EF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EF66D-834B-8613-AAC1-035305AD0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FDB5A-6A70-3FB4-B2F0-817018BCF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81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6F20-9B57-DEA2-B31F-26125375D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D1FFF-A716-DFC9-C0B9-5DC24035F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D9C62-B8C3-4533-0ED1-F7683F771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55F09-E607-4E77-B473-12670B290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30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CDF4-7F94-49B8-91F8-30BEF3644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2E79B-839A-6545-FFAB-6EA2B82C4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BB456-DE8D-94E2-5E20-189B86B41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46EEF-70A1-46D0-D5B4-AE30F43D0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119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9C75B-B863-B15C-9E29-93A93E190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1E7D1-84BF-6556-36A2-D805D5D7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1C92B-FCC3-61C7-0668-33F393C49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2FD59-B5F1-5A1D-BF0A-EE9960AB8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060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A648D-CAEF-0612-80CF-16B51A84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EB1B9-611D-49B6-A835-A927F988E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1588B-3909-0C5A-AA6D-ECDDB75AC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4A4FF-8C93-65AA-6F66-BB6753390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105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958AB-5C22-FF3C-2FC0-B4CDDE8B8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47365-5B44-E585-E429-580577B2D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79984-DE2D-7460-A09C-E292CF930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14B11-0A0E-EAB8-61C4-5CA1F0222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326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FE51-7B82-A573-75A7-7ECDB106B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43772-9682-D871-5796-40AE43CDC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95C53-D719-B436-DDE7-E0DCCC0E0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84F79-F67E-44AF-E0A7-C3C2F6EB7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707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F508B-6F5C-5A87-B0C3-24984AF4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FA48C-65BF-79E5-6A7F-8A3D3CE75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F571E-88DF-D27E-91AA-8A0C92700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A31FE-E27D-2D15-CD76-7EB7DCA41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392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6055B-44C9-17E4-E82E-D1619EC0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9A964F-D7AB-79B0-734C-B31EDAC08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B4F97-DE5D-D1F4-6D3D-705566E4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D5FDF-910A-65E5-8D37-1C19F21BD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670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FE72C-5CBC-884E-9CA6-9CBC7A4B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D8E3C-7B9D-E804-18BB-95B045633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2524C-F27F-F601-FEDB-6FB60AFD2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1125B-D10A-92D6-ED31-E202FB2F8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005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0C5D0-850D-362A-20C3-4A4C9B9B8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72EED-E957-E72D-AD99-EFC15F778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7A4DE-4590-3BFF-7E09-956D944AC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07702-7582-3A1C-4ED2-FA56CF826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389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F8EFB-A1F9-A660-4942-42F99E55A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63C48-2AD6-0112-7D19-663608AE0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9FF25-B2E9-5D20-4B41-D6A702F9A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32D0E-E341-AD59-78DC-3681DC4EA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467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6A34-A098-8103-3EA0-016C9E8E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D4378-8193-B0DF-9FB2-96C9FC5FB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3DA52-2D7C-04FA-56BA-64054AFC2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6BF58-EB88-D0F3-146F-2BB60261D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321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0AF9-8E04-B828-F033-C998B459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02FB4-0795-A64E-0438-DA1AA568A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EC2CD-181B-29B7-5CAA-A40854DE4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7ADF6-1F2E-FFD9-D8C9-6EA1628E5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4475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24440-20F0-907D-BC3C-B46040E0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5C76B-82D3-8F57-7BA2-05E4DFF7C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7FE88-9570-EF28-9510-019F898FA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98CBA-ED46-71FB-DCBD-DA0AD64F2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315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D659B-C705-1E46-112E-2A4043E14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19545-153D-28FE-E682-C0B800B6B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736A2-3B64-1524-34C5-C4925E619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A7F90-8708-7EC6-98C0-C56F965D4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207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1B011-37BD-4750-0FCD-9F163EF2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1D7B1-1B26-0230-13A6-BBBFDC4C3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65004-EBC2-77C4-4378-F4668C95E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6BE76-C8AF-F9C7-03CB-5E4BC823F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153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0912-B8B8-427C-5A32-09F40536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AE149-58BC-D9A5-1B8E-4E2D2157D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B7B05-0934-1D0F-0AD6-E4B0ABB99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87C1F-D065-96DF-107F-5313C6E10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9183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A0DA4-3082-CF0E-72CD-E231FB165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97FF3-A3A3-1752-1C59-503A9E9E7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DFECF-FD6F-5A6B-357F-FDBA1B3DD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E65AD-554F-A814-63FB-F49654D6D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767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AFE0-E078-7E7A-4A67-E78A9B1EF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9F8A5-623B-DEBC-420C-4A8D82358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B45D3-E016-99DA-7B51-A6F8DFA30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DD139-424A-B228-B91B-B3D10ED1E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132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5244C-419F-62B0-2430-744358F4E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5E2A5-26D1-2E2D-889F-EF449CD07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430BC-122C-02CB-EA2F-6410044E4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A3BAD-22DC-3ECF-0657-6E1C5246E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2304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35626-AA59-7369-F3D9-C9421F89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1F763-B339-DECE-4146-5EBBDD40F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337F5-EA58-E7B0-F105-47C79EC29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B42E0-C212-5BFE-857D-5D4E02725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3720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9015-F116-C649-52CD-A620A862D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990BF-2AB4-D3BC-85E6-CA2780B0F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AB3CF-592C-5C74-C798-3B96EEEB0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117EF-F6CB-06AF-662E-C48D63270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6540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3EC8-73BD-11A1-9308-9BF073A1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FD8E9-1073-3911-117E-A4541E569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E005A-4EAE-83A2-A3F9-4E18EC102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E3260-6487-3F48-B3A8-3EB774FB7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1167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58A3C-752D-5D14-0A42-5F8A92F1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966E4-7E50-2D39-6585-8BC354F34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B581C-42C5-8A60-C588-94CADE1B5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A6FEE-63A5-797D-A70F-16B9FEC04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2516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DBED0-FE7B-9746-E2E9-7147574DB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9C639-09ED-117D-EC54-1200022E3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9ABB9-0153-9105-2EC3-9633C97A0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99473-4244-6787-5FA1-D859F9298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9802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2EBCA-54FC-13DA-EE59-07B6B5B1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EF732-11CB-BE37-99CD-FF1B936F2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00AEB-41F3-1FE0-8C8B-B6131A36E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BA79D-E51C-F377-9BE9-DD2C82DD1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2020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1DDE1-BFE3-E5E9-5007-14F2CF1A6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2CA75-6F98-BE76-F9A7-A1DC2B5C7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37192-6AE5-E018-D672-9F30AFECB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E3298-67A1-7DAD-8ED0-B4121342E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2511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11324-0905-0C67-418E-48DD3E567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2DB61-116A-D1A9-0864-AAC826862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10049-4C81-B218-749E-FDA1D7D0E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DB3AC-2AC0-3C29-1350-3C2D38E6B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366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6CFC5-EA69-8D71-CA63-E79A494E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C6428-4553-B5E0-5A9E-01CEB77EC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2524E-DBAE-ACDE-C65D-1BBA710D9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00060-96DC-E876-7F42-BF328233A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5224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E1AEC-E58F-3553-7D84-5143B1910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3C2A3-2C45-DB7B-8E33-D2FA9C161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5E052-65A3-2132-FF35-0C8004A0B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23FB7-5A41-9770-099F-C38C7F2D9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970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F1DC-1D7F-C2C1-2B73-49B010B31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0F4D4-7F0A-8327-AA52-7ABC90006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D2F23-DD30-78FC-07FE-E7AC8429C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EC9BE-1BDB-8316-D9E3-CD66BB60E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368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86B7-E871-1995-6313-BE39F463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00878-1102-CA2B-8F52-AD844C1AC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7F024-ECEF-85B0-BAAF-4BFBCBFEB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6829C-CF68-9B1C-69AD-35662E9DB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8560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8BDE-62D8-CFED-8D63-C180B61D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8F5CD-19A3-B5E7-D033-DCEA0F005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4231-5D12-73DF-409D-CB88BCC4B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EA699-65CD-5915-5337-777631B28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6699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C57E-8F66-2A9F-F4F8-AB709655F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66705-DAFB-9AE8-7C51-9AA7B1A9A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23E71-52F6-6B1F-176F-DABCDF0FA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32344-9FE0-680D-F09B-49BB2D3C9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9080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F915-0249-0904-729C-BDDFA4054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4B21B-A681-B920-E21F-1F66CD554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BBEC0-F289-1A9D-4E36-728BBD155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504D2-2DDF-3967-EC95-2A0BB7222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8297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191C-2C24-92E5-1839-B07C9D1BE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5D977-D05B-B544-AE25-4460CB211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2BC49-2574-FADF-A310-20B249651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6F1A3-5176-E95A-D9DB-3B0696981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3982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5AA1-CBF5-0B3D-995A-19B141396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77FFB-A098-93D7-D3E4-4444B2FB5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7ECE0-72F5-0F70-8345-39DAB6B64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6219B-CB99-ED85-E4E4-631698016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060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09DA-24A2-0209-8DCA-D416C5C00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3A6E8-E378-34AC-97C8-CD88A0DF7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EDF6F-B4F6-4289-5199-9B973622F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F52CA-287D-7DF2-F7DC-D1D48798F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8590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0C85-B9A1-2A7C-DC95-FA4A734D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55851F-B39C-F6F6-2505-8B1C60FD2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44D20-AC89-48C1-FB11-348C89A3B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3DFCF-8CE2-3048-881B-3353EE4D6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4154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3758-4F56-1F48-E1AF-B8A58BD2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340F5-11C5-642A-27CB-28B553567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E2D72-1DA0-90B0-293E-56D0EC843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5D877-627F-F00F-F2C5-313C6EE0F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230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emf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emf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emf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emf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emf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emf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mailto:garsampedro@ieee.org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39800"/>
            <a:ext cx="9906000" cy="12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523F20-348A-0B6C-1F4E-A7CDC2322569}"/>
              </a:ext>
            </a:extLst>
          </p:cNvPr>
          <p:cNvSpPr txBox="1"/>
          <p:nvPr/>
        </p:nvSpPr>
        <p:spPr>
          <a:xfrm>
            <a:off x="1780674" y="3721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90244-C446-989A-CC4E-D088DD1E92BD}"/>
              </a:ext>
            </a:extLst>
          </p:cNvPr>
          <p:cNvSpPr txBox="1"/>
          <p:nvPr/>
        </p:nvSpPr>
        <p:spPr>
          <a:xfrm>
            <a:off x="888474" y="3696950"/>
            <a:ext cx="176281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Data Preprocessing</a:t>
            </a:r>
            <a:endParaRPr lang="en-PH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A9BD-2359-CFFE-2216-6789969E2063}"/>
              </a:ext>
            </a:extLst>
          </p:cNvPr>
          <p:cNvSpPr txBox="1"/>
          <p:nvPr/>
        </p:nvSpPr>
        <p:spPr>
          <a:xfrm>
            <a:off x="888474" y="7334672"/>
            <a:ext cx="1260960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800" b="1" dirty="0"/>
              <a:t>Gabriel Avelino Sampedro, Ph.D.</a:t>
            </a:r>
            <a:endParaRPr lang="en-PH" sz="2800" dirty="0"/>
          </a:p>
          <a:p>
            <a:r>
              <a:rPr lang="en-PH" sz="2800" dirty="0"/>
              <a:t>Chairman, Korean Institute of Communications and Information Sciences - PH Section</a:t>
            </a:r>
          </a:p>
          <a:p>
            <a:r>
              <a:rPr lang="en-PH" sz="2800" dirty="0"/>
              <a:t>Founder / CEO, Philippine Coding Camp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4084F3-CBBE-2C10-FCCF-2275C5940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93" y="364079"/>
            <a:ext cx="3567184" cy="1972695"/>
          </a:xfrm>
          <a:prstGeom prst="rect">
            <a:avLst/>
          </a:prstGeom>
        </p:spPr>
      </p:pic>
      <p:pic>
        <p:nvPicPr>
          <p:cNvPr id="7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76074BCB-4457-350E-D4A1-7193CDE04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5538" y="0"/>
            <a:ext cx="3282462" cy="246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173C6-F116-924E-A213-589B4F79D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E17CBE-21DC-052A-35CA-9F113240B57E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0E0B7D-E73F-3BAC-21BC-A30290AA4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18C66EFD-9FD3-924F-D821-16611ABA5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6F1248-F31B-9B47-7C41-10376456F978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CE22FC-6286-DAF5-6382-598AA5CBF039}"/>
              </a:ext>
            </a:extLst>
          </p:cNvPr>
          <p:cNvSpPr txBox="1"/>
          <p:nvPr/>
        </p:nvSpPr>
        <p:spPr>
          <a:xfrm>
            <a:off x="2107926" y="150262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A4BFD-96D8-4275-25B3-8EB210396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281" y="2940325"/>
            <a:ext cx="15317438" cy="67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5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3960-984A-185E-48BA-C5C1BDF5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10A8B4-0906-4368-A0A0-23D020B5183D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9CBE87-2B9B-0797-AF25-12AC7B91C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BB9B0DCE-58BA-12A8-55AA-E1441F122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56AF08-41A3-5587-B085-C2C45E35F50B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422D79-788C-906F-5E6F-504A3D108991}"/>
              </a:ext>
            </a:extLst>
          </p:cNvPr>
          <p:cNvSpPr txBox="1"/>
          <p:nvPr/>
        </p:nvSpPr>
        <p:spPr>
          <a:xfrm>
            <a:off x="2107926" y="991405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1FF167-B43A-39A4-DB2F-5E38E768E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915" y="2524398"/>
            <a:ext cx="8031685" cy="7100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5882FB4-F1EB-45DD-0773-C4395DFB1E63}"/>
              </a:ext>
            </a:extLst>
          </p:cNvPr>
          <p:cNvSpPr txBox="1"/>
          <p:nvPr/>
        </p:nvSpPr>
        <p:spPr>
          <a:xfrm>
            <a:off x="1406770" y="8917301"/>
            <a:ext cx="12952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2000" dirty="0">
                <a:solidFill>
                  <a:srgbClr val="000000"/>
                </a:solidFill>
                <a:effectLst/>
                <a:latin typeface="+mj-lt"/>
              </a:rPr>
              <a:t>Leek, J. and Peng, R. (2015, March 20). What is the Question?</a:t>
            </a:r>
          </a:p>
          <a:p>
            <a:pPr>
              <a:buNone/>
            </a:pPr>
            <a:r>
              <a:rPr lang="en-US" altLang="ko-KR" sz="2000" dirty="0">
                <a:solidFill>
                  <a:srgbClr val="000000"/>
                </a:solidFill>
                <a:effectLst/>
                <a:latin typeface="+mj-lt"/>
              </a:rPr>
              <a:t> Science Magazine, 347(6228), pp. 1314-1315.</a:t>
            </a:r>
            <a:endParaRPr lang="en-US" altLang="ko-KR" sz="2000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197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9BC86-5018-52E1-6757-D5EF594F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8C6D08-8D14-FEA4-D03F-800E8C26A170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74468A-016C-9B0E-D9F9-8B1E13A16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8F337150-F137-5353-EEF4-E86AC2573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7F1039-6F98-DFF0-FF01-60E3698EB545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2D3E3E8-6164-7A0D-93E9-0BDC77F1293E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Exploratory Data Analysis (EDA) requires you to: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57810-8943-291E-7079-29ED0E9BF0CF}"/>
              </a:ext>
            </a:extLst>
          </p:cNvPr>
          <p:cNvSpPr txBox="1"/>
          <p:nvPr/>
        </p:nvSpPr>
        <p:spPr>
          <a:xfrm>
            <a:off x="884858" y="7386689"/>
            <a:ext cx="4296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3000" b="1" dirty="0">
                <a:solidFill>
                  <a:srgbClr val="000000"/>
                </a:solidFill>
                <a:effectLst/>
              </a:rPr>
              <a:t>Investigate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Get a first look of the data</a:t>
            </a:r>
          </a:p>
        </p:txBody>
      </p:sp>
      <p:pic>
        <p:nvPicPr>
          <p:cNvPr id="46082" name="Picture 2" descr="Magnifying glass - Free ui icons">
            <a:extLst>
              <a:ext uri="{FF2B5EF4-FFF2-40B4-BE49-F238E27FC236}">
                <a16:creationId xmlns:a16="http://schemas.microsoft.com/office/drawing/2014/main" id="{5D417B59-3D64-D4A1-F963-1625FA780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252" y="4020760"/>
            <a:ext cx="31242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11931B-87C6-77B6-B747-A6A46826A29F}"/>
              </a:ext>
            </a:extLst>
          </p:cNvPr>
          <p:cNvSpPr txBox="1"/>
          <p:nvPr/>
        </p:nvSpPr>
        <p:spPr>
          <a:xfrm>
            <a:off x="6755853" y="7386689"/>
            <a:ext cx="47762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3000" b="1" dirty="0">
                <a:solidFill>
                  <a:srgbClr val="000000"/>
                </a:solidFill>
                <a:effectLst/>
              </a:rPr>
              <a:t>Understand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Gain an understanding of the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data and its properties</a:t>
            </a:r>
          </a:p>
        </p:txBody>
      </p:sp>
      <p:pic>
        <p:nvPicPr>
          <p:cNvPr id="46084" name="Picture 4" descr="Idea - Free technology icons">
            <a:extLst>
              <a:ext uri="{FF2B5EF4-FFF2-40B4-BE49-F238E27FC236}">
                <a16:creationId xmlns:a16="http://schemas.microsoft.com/office/drawing/2014/main" id="{5B426795-AE93-54DE-12FF-98CAD4325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969" y="3651428"/>
            <a:ext cx="3548062" cy="354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101F89-49A0-1AE7-75DA-DFB201A90CF9}"/>
              </a:ext>
            </a:extLst>
          </p:cNvPr>
          <p:cNvSpPr txBox="1"/>
          <p:nvPr/>
        </p:nvSpPr>
        <p:spPr>
          <a:xfrm>
            <a:off x="12492284" y="7399389"/>
            <a:ext cx="477629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3000" b="1" dirty="0">
                <a:solidFill>
                  <a:srgbClr val="000000"/>
                </a:solidFill>
                <a:effectLst/>
              </a:rPr>
              <a:t>Hypothesize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Form new hypothesis and ask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more questions for additional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data collection and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experiments</a:t>
            </a:r>
          </a:p>
        </p:txBody>
      </p:sp>
      <p:pic>
        <p:nvPicPr>
          <p:cNvPr id="46086" name="Picture 6" descr="Question mark Special Flat icon | Freepik">
            <a:extLst>
              <a:ext uri="{FF2B5EF4-FFF2-40B4-BE49-F238E27FC236}">
                <a16:creationId xmlns:a16="http://schemas.microsoft.com/office/drawing/2014/main" id="{DB7E3301-6F43-62F4-C619-CEA22C11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7680" y="3509755"/>
            <a:ext cx="3829646" cy="3829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64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81CE-EF21-95C1-581C-363900B27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9CC97A-C5EC-68A4-529E-28CF69CD4C7C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C00FBD-DD34-9BE2-FEE9-59DA9FA37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6A0A5B2E-C079-4775-5C14-7D6041A85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3784D6-712F-6B2F-F83E-F7B3189EFFCC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9E9E8E-0EFD-EB22-8161-98A4154C7109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Exploratory Data Analysis (EDA) involves: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D498F-0A6E-E661-60F3-EF535A49611D}"/>
              </a:ext>
            </a:extLst>
          </p:cNvPr>
          <p:cNvSpPr txBox="1"/>
          <p:nvPr/>
        </p:nvSpPr>
        <p:spPr>
          <a:xfrm>
            <a:off x="884858" y="7386689"/>
            <a:ext cx="47762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3000" b="1" dirty="0">
                <a:solidFill>
                  <a:srgbClr val="000000"/>
                </a:solidFill>
                <a:effectLst/>
              </a:rPr>
              <a:t>Summary Statistics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Measure of central tendency,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measure of dispersion, etc.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525D8C-F71C-C53F-D778-F92DD3470C47}"/>
              </a:ext>
            </a:extLst>
          </p:cNvPr>
          <p:cNvSpPr txBox="1"/>
          <p:nvPr/>
        </p:nvSpPr>
        <p:spPr>
          <a:xfrm>
            <a:off x="6755853" y="7386689"/>
            <a:ext cx="47762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3000" b="1" dirty="0">
                <a:solidFill>
                  <a:srgbClr val="000000"/>
                </a:solidFill>
                <a:effectLst/>
              </a:rPr>
              <a:t>Data Cleaning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Fixing inconsistencies,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removing invalid records,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handling missing 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5DE34-DC0D-02D6-5C40-1C4BEA2762CF}"/>
              </a:ext>
            </a:extLst>
          </p:cNvPr>
          <p:cNvSpPr txBox="1"/>
          <p:nvPr/>
        </p:nvSpPr>
        <p:spPr>
          <a:xfrm>
            <a:off x="12492284" y="7399389"/>
            <a:ext cx="47762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3000" b="1" dirty="0">
                <a:solidFill>
                  <a:srgbClr val="000000"/>
                </a:solidFill>
                <a:effectLst/>
              </a:rPr>
              <a:t>Data Visualization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Scatterplot, dot plot,</a:t>
            </a:r>
          </a:p>
          <a:p>
            <a:pPr algn="ctr">
              <a:buNone/>
            </a:pPr>
            <a:r>
              <a:rPr lang="en-US" altLang="ko-KR" sz="3000" dirty="0">
                <a:solidFill>
                  <a:srgbClr val="000000"/>
                </a:solidFill>
                <a:effectLst/>
              </a:rPr>
              <a:t>histogram, box plot</a:t>
            </a:r>
          </a:p>
        </p:txBody>
      </p:sp>
      <p:pic>
        <p:nvPicPr>
          <p:cNvPr id="47106" name="Picture 2" descr="Statistics - Free business icons">
            <a:extLst>
              <a:ext uri="{FF2B5EF4-FFF2-40B4-BE49-F238E27FC236}">
                <a16:creationId xmlns:a16="http://schemas.microsoft.com/office/drawing/2014/main" id="{40531C6B-8111-304E-E1FA-4BC24D76B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770" y="3648747"/>
            <a:ext cx="3737942" cy="373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8" name="Picture 4" descr="Cleaning - Free miscellaneous icons">
            <a:extLst>
              <a:ext uri="{FF2B5EF4-FFF2-40B4-BE49-F238E27FC236}">
                <a16:creationId xmlns:a16="http://schemas.microsoft.com/office/drawing/2014/main" id="{BEEF927F-E11B-5757-F4A4-8EBAA7DC8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253" y="3648747"/>
            <a:ext cx="3737942" cy="373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0" name="Picture 6" descr="Data visualization - Free marketing icons">
            <a:extLst>
              <a:ext uri="{FF2B5EF4-FFF2-40B4-BE49-F238E27FC236}">
                <a16:creationId xmlns:a16="http://schemas.microsoft.com/office/drawing/2014/main" id="{2FAB014C-F1EB-E5FB-8FF1-7ACF2A87D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1430" y="3836094"/>
            <a:ext cx="3737943" cy="373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05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48548-2B8B-9BE1-79B0-7D43A1BF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CEBF7C-A334-0886-09F5-6A906B8FD98F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DFE38-C3EC-42D0-B887-62A87FE3C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45257F6A-F9D5-8A34-832C-48B437C75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B4724C-51CC-349E-7A95-9461EF2E7E94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5581D1-444E-7F14-8ED7-A179B7A83572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84BE5-EC86-C96B-2220-3D812623DA8C}"/>
              </a:ext>
            </a:extLst>
          </p:cNvPr>
          <p:cNvSpPr txBox="1"/>
          <p:nvPr/>
        </p:nvSpPr>
        <p:spPr>
          <a:xfrm>
            <a:off x="884858" y="3035618"/>
            <a:ext cx="149901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500" b="1" dirty="0">
                <a:solidFill>
                  <a:srgbClr val="000000"/>
                </a:solidFill>
                <a:effectLst/>
              </a:rPr>
              <a:t>Some things to find out in the process of doing EDA: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Different information that are available in the data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Range of values of each variable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Distributions of different variables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Presence of outliers, if any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Comparisons between different variables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Comparisons between groups of observations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Testing of personal assumption about the data</a:t>
            </a:r>
          </a:p>
        </p:txBody>
      </p:sp>
    </p:spTree>
    <p:extLst>
      <p:ext uri="{BB962C8B-B14F-4D97-AF65-F5344CB8AC3E}">
        <p14:creationId xmlns:p14="http://schemas.microsoft.com/office/powerpoint/2010/main" val="3224297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02B-E1D5-9E75-81FE-C0E1CABBA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64112E-EC02-28F9-01A8-D325FCB50F02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F9AB4E-BE8E-714C-78CA-B9C77A87B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73734ABE-C888-83E0-3361-9EBFCB4AD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532F43-E763-9823-9BAB-19F83E358EAD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E2FA2E4-E5F3-5B00-309D-700C744DD2D6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518BBA-4CBE-060C-27D3-C975173E1368}"/>
              </a:ext>
            </a:extLst>
          </p:cNvPr>
          <p:cNvSpPr txBox="1"/>
          <p:nvPr/>
        </p:nvSpPr>
        <p:spPr>
          <a:xfrm>
            <a:off x="884858" y="3035618"/>
            <a:ext cx="149901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500" b="1" dirty="0">
                <a:solidFill>
                  <a:srgbClr val="000000"/>
                </a:solidFill>
                <a:effectLst/>
              </a:rPr>
              <a:t>Regarding the format and the metadata</a:t>
            </a:r>
            <a:endParaRPr lang="en-US" altLang="ko-KR" sz="4500" b="1" dirty="0">
              <a:solidFill>
                <a:srgbClr val="000000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sz="450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What does each observation represent?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What does each variable represent?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Can I treat each row as individual records? Are there duplicates?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Are there missing data to consider?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What is the unit of measure for each variable?</a:t>
            </a:r>
          </a:p>
        </p:txBody>
      </p:sp>
    </p:spTree>
    <p:extLst>
      <p:ext uri="{BB962C8B-B14F-4D97-AF65-F5344CB8AC3E}">
        <p14:creationId xmlns:p14="http://schemas.microsoft.com/office/powerpoint/2010/main" val="274070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FC3EC-13A3-499A-1A8F-3CE502B2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54CF8-8112-CC19-B762-90A31DB7E153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5EB2FB-F709-D2DA-9935-F6D167DA1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474E72E8-017C-D912-7493-CC0D454E9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99324A-57B9-50AF-A37D-637F4F415CD2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1E904-8BC9-8112-5EE0-44A9F7E4DB31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68876-9596-7CFB-5784-88A7A5DE034E}"/>
              </a:ext>
            </a:extLst>
          </p:cNvPr>
          <p:cNvSpPr txBox="1"/>
          <p:nvPr/>
        </p:nvSpPr>
        <p:spPr>
          <a:xfrm>
            <a:off x="884858" y="3035618"/>
            <a:ext cx="14990142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500" b="1" dirty="0">
                <a:solidFill>
                  <a:srgbClr val="000000"/>
                </a:solidFill>
                <a:effectLst/>
              </a:rPr>
              <a:t>Regarding the domain</a:t>
            </a:r>
            <a:endParaRPr lang="en-US" altLang="ko-KR" sz="4500" b="1" dirty="0">
              <a:solidFill>
                <a:srgbClr val="000000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sz="450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What do the terms/jargons in the dataset mean?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In Financial Trading data – bid volume, bid-ask volume misbalance, signed transaction volume, spread volatility, bid-ask spread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In Epidemiology data – basic reproduction number, generation time, incidence, serial interval, vaccine efficacy</a:t>
            </a:r>
          </a:p>
        </p:txBody>
      </p:sp>
    </p:spTree>
    <p:extLst>
      <p:ext uri="{BB962C8B-B14F-4D97-AF65-F5344CB8AC3E}">
        <p14:creationId xmlns:p14="http://schemas.microsoft.com/office/powerpoint/2010/main" val="2712400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6B477-21FF-A85C-C924-CE238FC68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0CA749-093D-53ED-10FE-2C3BEF07C1B1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ABE0E-E40C-D5C5-3578-E456058B2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B05E3E6D-BD4E-8730-2F65-92C71F9F6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A33E8B-B0E5-D0EC-E715-22F2B702D640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25013A1-8E54-C6EE-D7B7-6C509678CB76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F0CF5-B601-08F3-7F40-B5CAB3B8F9D3}"/>
              </a:ext>
            </a:extLst>
          </p:cNvPr>
          <p:cNvSpPr txBox="1"/>
          <p:nvPr/>
        </p:nvSpPr>
        <p:spPr>
          <a:xfrm>
            <a:off x="884858" y="3035618"/>
            <a:ext cx="149901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500" b="1" dirty="0">
                <a:solidFill>
                  <a:srgbClr val="000000"/>
                </a:solidFill>
                <a:effectLst/>
              </a:rPr>
              <a:t>Regarding the domain</a:t>
            </a:r>
            <a:endParaRPr lang="en-US" altLang="ko-KR" sz="4500" b="1" dirty="0">
              <a:solidFill>
                <a:srgbClr val="000000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sz="450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Is the dataset a population or a sample in the context of the research question?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Are there possible biases in the dataset?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Is the data collection consistent across all observations?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Is it grouped?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Is it simulated?</a:t>
            </a:r>
          </a:p>
        </p:txBody>
      </p:sp>
    </p:spTree>
    <p:extLst>
      <p:ext uri="{BB962C8B-B14F-4D97-AF65-F5344CB8AC3E}">
        <p14:creationId xmlns:p14="http://schemas.microsoft.com/office/powerpoint/2010/main" val="2998513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8127B-BB57-3260-9F84-F568F478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E9EA75-9B48-C387-972B-2553A57AA398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D559C4-0826-906D-3726-23B889BDD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A4A51D67-FE81-DF82-989C-62E3930CA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90C36E-EEEC-3CBF-1D4A-55C1974BEEA2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B189F7A-426A-22BD-EE0B-D27DCE02E6A7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B2878B-F8CF-9974-036C-E934C9E00B63}"/>
              </a:ext>
            </a:extLst>
          </p:cNvPr>
          <p:cNvSpPr txBox="1"/>
          <p:nvPr/>
        </p:nvSpPr>
        <p:spPr>
          <a:xfrm>
            <a:off x="884858" y="3035618"/>
            <a:ext cx="14990142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500" b="1" dirty="0">
                <a:solidFill>
                  <a:srgbClr val="000000"/>
                </a:solidFill>
                <a:effectLst/>
              </a:rPr>
              <a:t>Regarding previous processing involved</a:t>
            </a:r>
            <a:endParaRPr lang="en-US" altLang="ko-KR" sz="4500" b="1" dirty="0">
              <a:solidFill>
                <a:srgbClr val="000000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sz="450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Are there previous processing performed on the data?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Normalization – numerical values have been normalized to a set range?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Discretization – numerical data has been grouped together into categories?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Interpolation – are some values estimated from others?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Truncation – some observations have been removed?</a:t>
            </a:r>
          </a:p>
        </p:txBody>
      </p:sp>
    </p:spTree>
    <p:extLst>
      <p:ext uri="{BB962C8B-B14F-4D97-AF65-F5344CB8AC3E}">
        <p14:creationId xmlns:p14="http://schemas.microsoft.com/office/powerpoint/2010/main" val="2750528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62883-A1AD-871F-3899-7074DE2B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29A866-3DC8-B4DB-4117-DC60AF2AD638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3C872D-22DA-D61C-8661-A88665C8E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02021F5F-073E-5DB6-C1D3-D50C9FDC7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03628B5-C22A-06E1-AD73-F75ECFA9E093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226D74D-2EC4-5026-7AB4-FBD422837E88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6F159-922B-BE43-6B05-BABE371DFAF4}"/>
              </a:ext>
            </a:extLst>
          </p:cNvPr>
          <p:cNvSpPr txBox="1"/>
          <p:nvPr/>
        </p:nvSpPr>
        <p:spPr>
          <a:xfrm>
            <a:off x="884858" y="3035618"/>
            <a:ext cx="149901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500" b="1" dirty="0">
                <a:solidFill>
                  <a:srgbClr val="000000"/>
                </a:solidFill>
                <a:effectLst/>
              </a:rPr>
              <a:t>Regarding the data</a:t>
            </a:r>
            <a:endParaRPr lang="en-US" altLang="ko-KR" sz="4500" b="1" dirty="0">
              <a:solidFill>
                <a:srgbClr val="000000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sz="450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Describe each variable in the dataset.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Summary statistics, frequency tables, histograms, etc.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Describe the relationship between pairs of variables.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Scatterplots, correlation tables, etc.</a:t>
            </a:r>
          </a:p>
        </p:txBody>
      </p:sp>
    </p:spTree>
    <p:extLst>
      <p:ext uri="{BB962C8B-B14F-4D97-AF65-F5344CB8AC3E}">
        <p14:creationId xmlns:p14="http://schemas.microsoft.com/office/powerpoint/2010/main" val="8544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A4322-C8F8-7498-06A1-14130D0B8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28A9F1-13FA-B3C1-20D4-622D57271A57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A21B04-5CCE-B277-CD7B-F5E0D920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8109DD83-FFF0-E896-4C17-595BDC626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1EC963-CD9B-B470-791B-74575CC03EBB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AA206DF-0722-47CC-39D2-F976171512C5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BE3D4-3246-6E00-2257-0C079573D5FA}"/>
              </a:ext>
            </a:extLst>
          </p:cNvPr>
          <p:cNvSpPr txBox="1"/>
          <p:nvPr/>
        </p:nvSpPr>
        <p:spPr>
          <a:xfrm>
            <a:off x="884858" y="3035618"/>
            <a:ext cx="149901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500" b="1" dirty="0">
                <a:solidFill>
                  <a:srgbClr val="000000"/>
                </a:solidFill>
                <a:effectLst/>
              </a:rPr>
              <a:t>Regarding each variable</a:t>
            </a:r>
            <a:endParaRPr lang="en-US" altLang="ko-KR" sz="4500" b="1" dirty="0">
              <a:solidFill>
                <a:srgbClr val="000000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sz="450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What is the measure of central tendency?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Mean, median, mode, trimmed mean, etc.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What is the measure of dispersion?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Range, IQR, standard deviation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What does the distribution look like?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Symmetric, positively skewed, negatively skewed, etc.</a:t>
            </a:r>
          </a:p>
        </p:txBody>
      </p:sp>
    </p:spTree>
    <p:extLst>
      <p:ext uri="{BB962C8B-B14F-4D97-AF65-F5344CB8AC3E}">
        <p14:creationId xmlns:p14="http://schemas.microsoft.com/office/powerpoint/2010/main" val="1981053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6146D-9AEA-D4BB-19C9-AF2988F4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F6763F-577A-D4AE-1B87-9721288E0273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93CC69-18AB-2AFF-F3BA-B09DAF2DE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C68A0847-B8F0-D3C7-C67A-151B72BE2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8E285C-4DCE-987E-2526-95C9034075C8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693F55-AF16-A0E9-0707-12786771D84A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86D839-2B47-329F-203B-9BEE60222B65}"/>
              </a:ext>
            </a:extLst>
          </p:cNvPr>
          <p:cNvSpPr txBox="1"/>
          <p:nvPr/>
        </p:nvSpPr>
        <p:spPr>
          <a:xfrm>
            <a:off x="884858" y="3035618"/>
            <a:ext cx="149901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500" b="1" dirty="0">
                <a:solidFill>
                  <a:srgbClr val="000000"/>
                </a:solidFill>
                <a:effectLst/>
              </a:rPr>
              <a:t>Regarding relationships between variables</a:t>
            </a:r>
            <a:endParaRPr lang="en-US" altLang="ko-KR" sz="4500" b="1" dirty="0">
              <a:solidFill>
                <a:srgbClr val="000000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sz="450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Is there a relationship between two variables?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Measures of correlation (Pearson, Spearman, etc.)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Scatterplot, correlation tables, etc.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Use the </a:t>
            </a:r>
            <a:r>
              <a:rPr lang="en-US" altLang="ko-KR" sz="4500" b="1" dirty="0" err="1">
                <a:solidFill>
                  <a:srgbClr val="000000"/>
                </a:solidFill>
                <a:effectLst/>
              </a:rPr>
              <a:t>corr</a:t>
            </a:r>
            <a:r>
              <a:rPr lang="en-US" altLang="ko-KR" sz="4500" b="1" dirty="0">
                <a:solidFill>
                  <a:srgbClr val="000000"/>
                </a:solidFill>
                <a:effectLst/>
              </a:rPr>
              <a:t>() </a:t>
            </a:r>
            <a:r>
              <a:rPr lang="en-US" altLang="ko-KR" sz="4500" dirty="0">
                <a:solidFill>
                  <a:srgbClr val="000000"/>
                </a:solidFill>
                <a:effectLst/>
              </a:rPr>
              <a:t>function in </a:t>
            </a:r>
            <a:r>
              <a:rPr lang="en-US" altLang="ko-KR" sz="4500" b="1" dirty="0">
                <a:solidFill>
                  <a:srgbClr val="000000"/>
                </a:solidFill>
                <a:effectLst/>
              </a:rPr>
              <a:t>pandas</a:t>
            </a:r>
            <a:r>
              <a:rPr lang="en-US" altLang="ko-KR" sz="4500" dirty="0">
                <a:solidFill>
                  <a:srgbClr val="000000"/>
                </a:solidFill>
                <a:effectLst/>
              </a:rPr>
              <a:t> for this.</a:t>
            </a:r>
          </a:p>
        </p:txBody>
      </p:sp>
    </p:spTree>
    <p:extLst>
      <p:ext uri="{BB962C8B-B14F-4D97-AF65-F5344CB8AC3E}">
        <p14:creationId xmlns:p14="http://schemas.microsoft.com/office/powerpoint/2010/main" val="3750122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633A-E8CB-8F2A-200A-7E3C9313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99ADE0-B433-817B-A1A7-F09D567B3A5D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DA4DC8-D69F-31EB-FE07-A5218541D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65E78729-3876-6634-D968-464928B2A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1A44EB-4438-74F4-BAED-5707F2911CBF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41B59C-6A67-7430-7855-8BC0E658C34A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366E9-3B66-58D9-FC0A-46348689EFCF}"/>
              </a:ext>
            </a:extLst>
          </p:cNvPr>
          <p:cNvSpPr txBox="1"/>
          <p:nvPr/>
        </p:nvSpPr>
        <p:spPr>
          <a:xfrm>
            <a:off x="884858" y="3035618"/>
            <a:ext cx="14990142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500" b="1" dirty="0">
                <a:solidFill>
                  <a:srgbClr val="000000"/>
                </a:solidFill>
                <a:effectLst/>
              </a:rPr>
              <a:t>Regarding outliers and anomalies</a:t>
            </a:r>
            <a:endParaRPr lang="en-US" altLang="ko-KR" sz="4500" b="1" dirty="0">
              <a:solidFill>
                <a:srgbClr val="000000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sz="450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Are there outliers? Errors in encoding?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Are there needed preprocessing steps to visualize and process the data properly?</a:t>
            </a:r>
          </a:p>
        </p:txBody>
      </p:sp>
    </p:spTree>
    <p:extLst>
      <p:ext uri="{BB962C8B-B14F-4D97-AF65-F5344CB8AC3E}">
        <p14:creationId xmlns:p14="http://schemas.microsoft.com/office/powerpoint/2010/main" val="2118042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A974E-64AE-8C91-A9CB-803412D4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8C4483-ADF5-2499-6721-B03DE7F6C27B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D3520E-BCC1-E5DE-426C-C787EAD2C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6DCA5BCA-BBC7-CDBC-1A44-1DCF478AB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B609B4-5AA7-EA95-D704-B9D33D0D50C5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85112D6-F808-5841-5C85-B6D54167D4B0}"/>
              </a:ext>
            </a:extLst>
          </p:cNvPr>
          <p:cNvSpPr txBox="1"/>
          <p:nvPr/>
        </p:nvSpPr>
        <p:spPr>
          <a:xfrm>
            <a:off x="334109" y="1502624"/>
            <a:ext cx="1761978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Regarding outliers and anomalies</a:t>
            </a:r>
          </a:p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Rape data in Boulder, CO (1960-2004)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9B6AE-6446-080D-7752-93E5EC591B68}"/>
              </a:ext>
            </a:extLst>
          </p:cNvPr>
          <p:cNvSpPr txBox="1"/>
          <p:nvPr/>
        </p:nvSpPr>
        <p:spPr>
          <a:xfrm>
            <a:off x="3196258" y="8871039"/>
            <a:ext cx="12373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2000" dirty="0">
                <a:solidFill>
                  <a:srgbClr val="000000"/>
                </a:solidFill>
                <a:effectLst/>
              </a:rPr>
              <a:t>Maltz, M. D. (2010). Look before you analyze: Visualizing data in criminal justice. In Piquero, A. . and Weisburd, D., editors, Handbook of Quantitative Criminology, chapter 3, pages 25-52. Springer New York, New York, NY.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8C42D-6329-BC66-A8F0-A8B89909E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5176" y="4220777"/>
            <a:ext cx="10137648" cy="456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39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4464A-0CF2-3ABB-FFC1-AC1DC429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DC8541-8E63-26C9-0885-F3D0CECB440A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4F1C31-4CAF-6382-7605-2CF0170DB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A4D8DF69-D64A-1098-FEA8-7696216F8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6468F1-99DF-9FDE-A50D-C1AAE33A9A12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7A726E-404B-429B-1AB3-13CC92999C96}"/>
              </a:ext>
            </a:extLst>
          </p:cNvPr>
          <p:cNvSpPr txBox="1"/>
          <p:nvPr/>
        </p:nvSpPr>
        <p:spPr>
          <a:xfrm>
            <a:off x="334109" y="1502624"/>
            <a:ext cx="1761978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Regarding outliers and anomalies</a:t>
            </a:r>
          </a:p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Murder Data in Oklahoma City (1960-2004)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20734-E4DF-F256-D272-8293B34881BB}"/>
              </a:ext>
            </a:extLst>
          </p:cNvPr>
          <p:cNvSpPr txBox="1"/>
          <p:nvPr/>
        </p:nvSpPr>
        <p:spPr>
          <a:xfrm>
            <a:off x="3196258" y="8871039"/>
            <a:ext cx="12373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2000" dirty="0">
                <a:solidFill>
                  <a:srgbClr val="000000"/>
                </a:solidFill>
                <a:effectLst/>
              </a:rPr>
              <a:t>Maltz, M. D. (2010). Look before you analyze: Visualizing data in criminal justice. In Piquero, A. . and Weisburd, D., editors, Handbook of Quantitative Criminology, chapter 3, pages 25-52. Springer New York, New York, NY.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53C85-5F23-9C8F-E66D-6BEF1C71D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741" y="4118735"/>
            <a:ext cx="9890975" cy="475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3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51AB1-BE07-5D08-395E-9869091C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D53D2-38F9-62F3-468C-6DB48C0CF5A0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954D7B-C814-D975-EFE1-608B1C409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6C026140-479D-8DFF-063C-F409EC303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2B1874-338F-1DD7-FA34-009FF54A8C13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1D73E2B-38FE-7086-A83D-B61A8C5138C0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759F7-42EC-222F-477A-FF1FCF356740}"/>
              </a:ext>
            </a:extLst>
          </p:cNvPr>
          <p:cNvSpPr txBox="1"/>
          <p:nvPr/>
        </p:nvSpPr>
        <p:spPr>
          <a:xfrm>
            <a:off x="884858" y="5774055"/>
            <a:ext cx="47762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effectLst/>
              </a:rPr>
              <a:t>Computed index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Poverty index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H-index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BMI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4628DB-425C-E97B-EFA6-BC1975B27C2B}"/>
              </a:ext>
            </a:extLst>
          </p:cNvPr>
          <p:cNvSpPr txBox="1"/>
          <p:nvPr/>
        </p:nvSpPr>
        <p:spPr>
          <a:xfrm>
            <a:off x="6755853" y="5774055"/>
            <a:ext cx="47762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effectLst/>
              </a:rPr>
              <a:t>Feature pairs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Male + old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Cough + fever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1B0DD-477A-F347-2DE6-A759B3353437}"/>
              </a:ext>
            </a:extLst>
          </p:cNvPr>
          <p:cNvSpPr txBox="1"/>
          <p:nvPr/>
        </p:nvSpPr>
        <p:spPr>
          <a:xfrm>
            <a:off x="12492284" y="5786755"/>
            <a:ext cx="47762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effectLst/>
              </a:rPr>
              <a:t>Generated features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Nearest grocery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Time duration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Date difference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FB1F6-71F7-F77F-DCCE-1A094447D755}"/>
              </a:ext>
            </a:extLst>
          </p:cNvPr>
          <p:cNvSpPr txBox="1"/>
          <p:nvPr/>
        </p:nvSpPr>
        <p:spPr>
          <a:xfrm>
            <a:off x="884858" y="3035618"/>
            <a:ext cx="149901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500" b="1" dirty="0">
                <a:solidFill>
                  <a:srgbClr val="000000"/>
                </a:solidFill>
                <a:effectLst/>
              </a:rPr>
              <a:t>Regarding additiona</a:t>
            </a:r>
            <a:r>
              <a:rPr lang="en-US" altLang="ko-KR" sz="4500" b="1" dirty="0">
                <a:solidFill>
                  <a:srgbClr val="000000"/>
                </a:solidFill>
              </a:rPr>
              <a:t>l columns</a:t>
            </a:r>
            <a:endParaRPr lang="en-US" altLang="ko-KR" sz="450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4500" dirty="0">
                <a:solidFill>
                  <a:srgbClr val="000000"/>
                </a:solidFill>
                <a:effectLst/>
              </a:rPr>
              <a:t>Are there additional columns to add to the dataset?</a:t>
            </a:r>
          </a:p>
        </p:txBody>
      </p:sp>
    </p:spTree>
    <p:extLst>
      <p:ext uri="{BB962C8B-B14F-4D97-AF65-F5344CB8AC3E}">
        <p14:creationId xmlns:p14="http://schemas.microsoft.com/office/powerpoint/2010/main" val="4165551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FCF76-0A62-3842-3B1D-6430DFDC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728D25-F2AA-31ED-F845-F566DFA3F6E3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2E6783-1C7F-305C-DC7D-6CFC5C7CE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5A07ACF7-DDEC-8CE1-BC83-A0352D07E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DFCFDA-A17B-12A4-79D5-0ADAB8305520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6D3D992-72A8-28D7-05E4-A0BD91F80898}"/>
              </a:ext>
            </a:extLst>
          </p:cNvPr>
          <p:cNvSpPr txBox="1"/>
          <p:nvPr/>
        </p:nvSpPr>
        <p:spPr>
          <a:xfrm>
            <a:off x="334109" y="4597196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</p:txBody>
      </p:sp>
    </p:spTree>
    <p:extLst>
      <p:ext uri="{BB962C8B-B14F-4D97-AF65-F5344CB8AC3E}">
        <p14:creationId xmlns:p14="http://schemas.microsoft.com/office/powerpoint/2010/main" val="1302483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4A49-0BEB-BAB8-4D46-BA094CCE2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B48B78-DE6D-826B-012B-F9E9CB1670B6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381A07-CAAE-2C85-15BC-6C75FA031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A3739C89-F474-4AE0-F3A5-41892BFDC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CDF2EF-4CA5-2E5A-36A5-6990260F5BDE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EB3FC7-256B-241E-2661-11659346B58E}"/>
              </a:ext>
            </a:extLst>
          </p:cNvPr>
          <p:cNvSpPr txBox="1"/>
          <p:nvPr/>
        </p:nvSpPr>
        <p:spPr>
          <a:xfrm>
            <a:off x="334109" y="1502624"/>
            <a:ext cx="17619782" cy="817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Measure of Central Tendency</a:t>
            </a:r>
          </a:p>
          <a:p>
            <a:pPr algn="ctr">
              <a:buNone/>
            </a:pPr>
            <a:endParaRPr lang="en-US" altLang="ko-KR" sz="5000" b="1" dirty="0">
              <a:solidFill>
                <a:srgbClr val="000000"/>
              </a:solidFill>
              <a:latin typeface="+mj-lt"/>
            </a:endParaRPr>
          </a:p>
          <a:p>
            <a:pPr algn="ctr">
              <a:buNone/>
            </a:pPr>
            <a:endParaRPr lang="en-US" altLang="ko-KR" sz="5000" b="1" dirty="0">
              <a:solidFill>
                <a:srgbClr val="000000"/>
              </a:solidFill>
              <a:latin typeface="+mj-lt"/>
            </a:endParaRPr>
          </a:p>
          <a:p>
            <a:pPr algn="ctr">
              <a:buNone/>
            </a:pPr>
            <a:r>
              <a:rPr lang="en-US" altLang="ko-KR" sz="6000" dirty="0">
                <a:solidFill>
                  <a:srgbClr val="000000"/>
                </a:solidFill>
                <a:latin typeface="+mj-lt"/>
              </a:rPr>
              <a:t>54, 54, 54, 55, 56, 57, 57, 58, 58, 60, 60</a:t>
            </a:r>
          </a:p>
          <a:p>
            <a:pPr algn="ctr">
              <a:buNone/>
            </a:pPr>
            <a:endParaRPr lang="en-US" altLang="ko-KR" sz="5000" dirty="0">
              <a:solidFill>
                <a:srgbClr val="000000"/>
              </a:solidFill>
              <a:latin typeface="+mj-lt"/>
            </a:endParaRPr>
          </a:p>
          <a:p>
            <a:pPr algn="ctr">
              <a:buNone/>
            </a:pPr>
            <a:endParaRPr lang="en-US" altLang="ko-KR" sz="5000" dirty="0">
              <a:solidFill>
                <a:srgbClr val="000000"/>
              </a:solidFill>
              <a:latin typeface="+mj-lt"/>
            </a:endParaRPr>
          </a:p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Mean = 56.6</a:t>
            </a:r>
          </a:p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Median = 57</a:t>
            </a:r>
          </a:p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Mode = 54</a:t>
            </a:r>
          </a:p>
        </p:txBody>
      </p:sp>
    </p:spTree>
    <p:extLst>
      <p:ext uri="{BB962C8B-B14F-4D97-AF65-F5344CB8AC3E}">
        <p14:creationId xmlns:p14="http://schemas.microsoft.com/office/powerpoint/2010/main" val="273514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A0326-C423-5F00-D11F-E1F45DFF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49FFA3-ED22-C435-CC1F-89EE7362545B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9494B3-4AE2-FB7D-B8EB-BAE7E2CCB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918F6167-E85F-F6EE-C53D-BCF0D07F8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8C77ED-C24B-8A2D-07CA-33D6171D50ED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F1004A-1360-BB28-DFB4-8FBCC316123C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Mean</a:t>
            </a:r>
          </a:p>
        </p:txBody>
      </p:sp>
      <p:pic>
        <p:nvPicPr>
          <p:cNvPr id="3" name="Picture 2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57944D64-4632-218E-3B53-0B47D60C7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577" y="3472465"/>
            <a:ext cx="5230846" cy="29207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CA143F-E93D-00D8-83D5-539F6CE85A58}"/>
              </a:ext>
            </a:extLst>
          </p:cNvPr>
          <p:cNvSpPr txBox="1"/>
          <p:nvPr/>
        </p:nvSpPr>
        <p:spPr>
          <a:xfrm>
            <a:off x="334108" y="6922329"/>
            <a:ext cx="179538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Advantages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Used for both continuous and discrete numeric data.</a:t>
            </a: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Disadvantages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This cannot be calculated for categorical data. This is easily influenced by outliers.</a:t>
            </a:r>
          </a:p>
        </p:txBody>
      </p:sp>
    </p:spTree>
    <p:extLst>
      <p:ext uri="{BB962C8B-B14F-4D97-AF65-F5344CB8AC3E}">
        <p14:creationId xmlns:p14="http://schemas.microsoft.com/office/powerpoint/2010/main" val="1800995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0585F-0139-1166-21FB-A5E5800B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6626EA-046D-6AEB-BBE2-10E929CB5DC8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43C1EC-521B-FF35-BAA6-B40441E8E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2103845A-F4F9-C8B5-3211-98FB47F56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E3466B-3EB3-7D0F-0F0E-596AB95BA40F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5FFD5D-B3DC-3E4B-36F2-6C468CED5563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Trimmed Mean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0B222-0E80-8ACF-1111-F9B0A704B624}"/>
              </a:ext>
            </a:extLst>
          </p:cNvPr>
          <p:cNvSpPr txBox="1"/>
          <p:nvPr/>
        </p:nvSpPr>
        <p:spPr>
          <a:xfrm>
            <a:off x="334109" y="3971183"/>
            <a:ext cx="173321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Same as mean, but removing </a:t>
            </a:r>
            <a:r>
              <a:rPr lang="ko-KR" altLang="en-US" sz="5000" dirty="0">
                <a:solidFill>
                  <a:srgbClr val="000000"/>
                </a:solidFill>
                <a:latin typeface="+mj-lt"/>
              </a:rPr>
              <a:t>𝑛</a:t>
            </a: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% of the highest and lowest values in the dataset</a:t>
            </a:r>
          </a:p>
          <a:p>
            <a:pPr>
              <a:buNone/>
            </a:pPr>
            <a:endParaRPr lang="en-US" altLang="ko-KR" sz="4000" dirty="0">
              <a:solidFill>
                <a:srgbClr val="000000"/>
              </a:solidFill>
              <a:latin typeface="+mj-lt"/>
            </a:endParaRP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Advantages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Used for both continuous and discrete numeric data.</a:t>
            </a:r>
          </a:p>
          <a:p>
            <a:pPr>
              <a:buNone/>
            </a:pPr>
            <a:endParaRPr lang="en-US" altLang="ko-KR" sz="4000" dirty="0">
              <a:solidFill>
                <a:srgbClr val="000000"/>
              </a:solidFill>
              <a:latin typeface="+mj-lt"/>
            </a:endParaRP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Disadvantages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This cannot be calculated for categorical data.</a:t>
            </a:r>
          </a:p>
        </p:txBody>
      </p:sp>
    </p:spTree>
    <p:extLst>
      <p:ext uri="{BB962C8B-B14F-4D97-AF65-F5344CB8AC3E}">
        <p14:creationId xmlns:p14="http://schemas.microsoft.com/office/powerpoint/2010/main" val="2733549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81997-D4CB-3A55-9A51-AFC461AD5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137863-A498-1C9D-0FBE-9868AF93A39D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939D84-E4E2-C7CE-9D59-BAF8869C3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DA442042-5B8F-74B6-C5E3-D3A84D4B0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8D44E5-5C0D-D837-E24E-35E7C4FBB8BD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6B3939-62D2-0043-2B20-745888CCE777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Median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A5F4A-73CC-9369-7FC2-CEA8A2CAE5D8}"/>
              </a:ext>
            </a:extLst>
          </p:cNvPr>
          <p:cNvSpPr txBox="1"/>
          <p:nvPr/>
        </p:nvSpPr>
        <p:spPr>
          <a:xfrm>
            <a:off x="334109" y="3971183"/>
            <a:ext cx="173321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The value separating the upper half and the lower half of the sample/population.</a:t>
            </a:r>
          </a:p>
          <a:p>
            <a:pPr algn="ctr">
              <a:buNone/>
            </a:pPr>
            <a:endParaRPr lang="en-US" altLang="ko-KR" sz="4000" dirty="0">
              <a:solidFill>
                <a:srgbClr val="000000"/>
              </a:solidFill>
              <a:latin typeface="+mj-lt"/>
            </a:endParaRP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Advantages</a:t>
            </a:r>
          </a:p>
          <a:p>
            <a:pPr lvl="1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This is less affected by outliers and skewed data than the mean. Preferred when the distribution is not symmetrical.</a:t>
            </a: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Disadvantages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This cannot be calculated for categorical data.</a:t>
            </a:r>
          </a:p>
        </p:txBody>
      </p:sp>
    </p:spTree>
    <p:extLst>
      <p:ext uri="{BB962C8B-B14F-4D97-AF65-F5344CB8AC3E}">
        <p14:creationId xmlns:p14="http://schemas.microsoft.com/office/powerpoint/2010/main" val="1864684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BD89-5D60-2FFF-2007-44A2B9FC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84C993-8E8A-206F-ED53-94E9BB056892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C3BFD8-0577-BEE1-AFA0-AA1A67E72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AC1B37DE-5944-B6BF-6A85-0315C0367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9DCE80-E31A-D21F-CCD9-9B81FB4F603B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9ED108-1005-250C-D6DA-2FE92789AF43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Mode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BB19D-8378-C401-3DDD-9D3DE7539FEB}"/>
              </a:ext>
            </a:extLst>
          </p:cNvPr>
          <p:cNvSpPr txBox="1"/>
          <p:nvPr/>
        </p:nvSpPr>
        <p:spPr>
          <a:xfrm>
            <a:off x="334109" y="3971183"/>
            <a:ext cx="173321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Most frequent occurring value in the sample/population</a:t>
            </a:r>
          </a:p>
          <a:p>
            <a:pPr algn="ctr">
              <a:buNone/>
            </a:pPr>
            <a:endParaRPr lang="en-US" altLang="ko-KR" sz="4000" dirty="0">
              <a:solidFill>
                <a:srgbClr val="000000"/>
              </a:solidFill>
              <a:latin typeface="+mj-lt"/>
            </a:endParaRP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Advantages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This can be calculated for numerical and categorical data.</a:t>
            </a: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Disadvantages</a:t>
            </a:r>
          </a:p>
          <a:p>
            <a:pPr lvl="1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This may not reflect the center of the distribution very well. When the data are continuous, it may have no mode at all.</a:t>
            </a:r>
          </a:p>
        </p:txBody>
      </p:sp>
    </p:spTree>
    <p:extLst>
      <p:ext uri="{BB962C8B-B14F-4D97-AF65-F5344CB8AC3E}">
        <p14:creationId xmlns:p14="http://schemas.microsoft.com/office/powerpoint/2010/main" val="3308328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92F4-0A8D-70B8-3941-4867BF76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69C267-CC1B-AA44-8EC0-F87B43BDE219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815657-DEAF-FFEF-64EA-45072C395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AABFF733-DCF7-10BA-CB78-E6DF6F59F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3A529-620C-D2C8-0403-BB4D1F03C4AB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AC03179-CD66-5E7E-38BC-492B39E90BA5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3ADEC-6060-CC2D-14F4-A31DD2062A66}"/>
              </a:ext>
            </a:extLst>
          </p:cNvPr>
          <p:cNvSpPr txBox="1"/>
          <p:nvPr/>
        </p:nvSpPr>
        <p:spPr>
          <a:xfrm>
            <a:off x="334109" y="3201742"/>
            <a:ext cx="173321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Measure of Dispersion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Range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Interquartile Range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Variance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Standard Deviation</a:t>
            </a:r>
            <a:endParaRPr lang="en-US" altLang="ko-KR" sz="4000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35682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1B12-52F8-F267-3521-2E1E7926A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22CA63-00FE-4B12-1453-798CBECEB29A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6E0C25-847B-6891-45C3-811827422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DF66F0B3-0713-33B9-0D70-0525A1302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9C32A-5CA5-5C71-6900-1211EC8A8BB2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C30F8DC-5977-2114-6696-0F2D1449DAEE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Range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2FBFC-22E6-77A2-F3C2-DB3DF35FD739}"/>
              </a:ext>
            </a:extLst>
          </p:cNvPr>
          <p:cNvSpPr txBox="1"/>
          <p:nvPr/>
        </p:nvSpPr>
        <p:spPr>
          <a:xfrm>
            <a:off x="334109" y="3971183"/>
            <a:ext cx="173321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Difference of the maximum and the minimum values of the dataset</a:t>
            </a:r>
            <a:endParaRPr lang="en-US" altLang="ko-KR" sz="4000" dirty="0">
              <a:solidFill>
                <a:srgbClr val="000000"/>
              </a:solidFill>
              <a:latin typeface="+mj-lt"/>
            </a:endParaRP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Advantages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Easy to calculate</a:t>
            </a: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Disadvantages</a:t>
            </a:r>
          </a:p>
          <a:p>
            <a:pPr lvl="1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This is very sensitive to outliers and does not use all the observations in a data set.</a:t>
            </a:r>
          </a:p>
        </p:txBody>
      </p:sp>
    </p:spTree>
    <p:extLst>
      <p:ext uri="{BB962C8B-B14F-4D97-AF65-F5344CB8AC3E}">
        <p14:creationId xmlns:p14="http://schemas.microsoft.com/office/powerpoint/2010/main" val="1969687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75EED-B805-127B-BF2C-9F18412D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954BE7-F442-640D-4B4A-B36E595A7BCA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19CBCC-D9A6-416A-4412-C6289B334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F2260F4B-10F9-DC8D-A35D-E7DB2520B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DCBD50-79A1-2CF0-015F-D7AE07C9F24D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5972BC-D2CD-819A-1B9B-0A3877E94AEA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Interquartile Range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B7B5B-C743-9B43-F8EB-6D6D182F6B32}"/>
              </a:ext>
            </a:extLst>
          </p:cNvPr>
          <p:cNvSpPr txBox="1"/>
          <p:nvPr/>
        </p:nvSpPr>
        <p:spPr>
          <a:xfrm>
            <a:off x="334109" y="3971183"/>
            <a:ext cx="173321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Difference of the median of the upper half and the median of</a:t>
            </a:r>
          </a:p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the lower half (</a:t>
            </a:r>
            <a:r>
              <a:rPr lang="ko-KR" altLang="en-US" sz="5000" dirty="0">
                <a:solidFill>
                  <a:srgbClr val="000000"/>
                </a:solidFill>
                <a:latin typeface="+mj-lt"/>
              </a:rPr>
              <a:t>𝑄</a:t>
            </a: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3 − </a:t>
            </a:r>
            <a:r>
              <a:rPr lang="ko-KR" altLang="en-US" sz="5000" dirty="0">
                <a:solidFill>
                  <a:srgbClr val="000000"/>
                </a:solidFill>
                <a:latin typeface="+mj-lt"/>
              </a:rPr>
              <a:t>𝑄</a:t>
            </a: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1)</a:t>
            </a:r>
          </a:p>
          <a:p>
            <a:pPr algn="ctr">
              <a:buNone/>
            </a:pPr>
            <a:endParaRPr lang="en-US" altLang="ko-KR" sz="5000" b="1" dirty="0">
              <a:solidFill>
                <a:srgbClr val="000000"/>
              </a:solidFill>
              <a:latin typeface="+mj-lt"/>
            </a:endParaRP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Advantages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This can be used as a measure of dispersion if the extreme values are not being recorded exactly.</a:t>
            </a: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Disadvantages</a:t>
            </a:r>
          </a:p>
          <a:p>
            <a:pPr lvl="1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Issues with sampling stability</a:t>
            </a:r>
          </a:p>
        </p:txBody>
      </p:sp>
    </p:spTree>
    <p:extLst>
      <p:ext uri="{BB962C8B-B14F-4D97-AF65-F5344CB8AC3E}">
        <p14:creationId xmlns:p14="http://schemas.microsoft.com/office/powerpoint/2010/main" val="4169011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CA6F0-8975-DC34-5050-E2F922F7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6C5447-D7D3-C41B-A9CE-EEAC445774F2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E93B4C-DEC6-1891-E55C-E2C47AAB9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30D6AE89-ED1A-88CB-ACD1-37FBA1DE4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F8EA68-92C8-788C-548D-59ADF9EFFD3B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056BDE-F2AB-9684-50BF-22343D3D17F0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Standard deviation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456C9-0372-DF0F-F34E-6BD68060A361}"/>
              </a:ext>
            </a:extLst>
          </p:cNvPr>
          <p:cNvSpPr txBox="1"/>
          <p:nvPr/>
        </p:nvSpPr>
        <p:spPr>
          <a:xfrm>
            <a:off x="334109" y="3971183"/>
            <a:ext cx="173321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Square root of the variance</a:t>
            </a:r>
          </a:p>
          <a:p>
            <a:pPr algn="ctr">
              <a:buNone/>
            </a:pPr>
            <a:endParaRPr lang="en-US" altLang="ko-KR" sz="5000" b="1" dirty="0">
              <a:solidFill>
                <a:srgbClr val="000000"/>
              </a:solidFill>
              <a:latin typeface="+mj-lt"/>
            </a:endParaRP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Advantages</a:t>
            </a:r>
          </a:p>
          <a:p>
            <a:pPr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This is based on every item of the distribution</a:t>
            </a:r>
          </a:p>
          <a:p>
            <a:pPr>
              <a:buNone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Disadvantages</a:t>
            </a:r>
          </a:p>
          <a:p>
            <a:pPr lvl="1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	This can be impacted by outliers and extreme values</a:t>
            </a:r>
          </a:p>
        </p:txBody>
      </p:sp>
    </p:spTree>
    <p:extLst>
      <p:ext uri="{BB962C8B-B14F-4D97-AF65-F5344CB8AC3E}">
        <p14:creationId xmlns:p14="http://schemas.microsoft.com/office/powerpoint/2010/main" val="3818401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8ADE-B700-7873-A779-753D58E6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E176A0-FD00-6CC1-D50C-93F1BC85C75B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0F8EA9-1944-6468-2869-C6B8122A8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A4A530D5-AFDB-B2D8-D3A8-EAE7DF1C2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399BD3-5D3C-853A-6207-0B97AEA107B1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44FBAF-74A7-91B7-B2B0-97540FFA453B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Correlation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D22FD-B86D-0DA7-724C-04401A1AFAAE}"/>
              </a:ext>
            </a:extLst>
          </p:cNvPr>
          <p:cNvSpPr txBox="1"/>
          <p:nvPr/>
        </p:nvSpPr>
        <p:spPr>
          <a:xfrm>
            <a:off x="334108" y="4020760"/>
            <a:ext cx="17332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Pearson Correlation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5000" dirty="0">
                <a:solidFill>
                  <a:srgbClr val="000000"/>
                </a:solidFill>
                <a:latin typeface="+mj-lt"/>
              </a:rPr>
              <a:t>Spearman Correlation</a:t>
            </a:r>
            <a:endParaRPr lang="en-US" altLang="ko-KR" sz="4000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60582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AF2DD-C2AC-FF60-CAF6-497053D1E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E7BEBF-C6D6-859A-AA9E-BA53DD41AE2A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C0990C-402F-7222-4C4F-C48945CC9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509A019C-47CF-7C53-E551-23D743860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DD286F-AD18-3895-3F74-1279F1352C7C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E7325F-C3F5-193C-72F8-4257C7093A76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Pearson Correlation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06631-53AB-2436-301B-32C4A465BE80}"/>
              </a:ext>
            </a:extLst>
          </p:cNvPr>
          <p:cNvSpPr txBox="1"/>
          <p:nvPr/>
        </p:nvSpPr>
        <p:spPr>
          <a:xfrm>
            <a:off x="334109" y="7709729"/>
            <a:ext cx="17332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Assesses the linear relationship between two variables.</a:t>
            </a:r>
          </a:p>
        </p:txBody>
      </p:sp>
      <p:pic>
        <p:nvPicPr>
          <p:cNvPr id="3" name="Picture 2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A44DAD26-27F0-5EF7-2C06-651036D40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810" y="4020760"/>
            <a:ext cx="6177133" cy="314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22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9F82-38D8-F222-3830-171DB290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A42C4A-2980-5B4B-808D-785FD2775621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FAE13B-917F-D338-5F1E-A9366245A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D55B8303-1711-BC8C-F50B-2DC765E65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395414-CFBA-4177-BF9B-3DFB6FE5B0B0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5133E2-E7AE-2D45-B8BB-6DADCFB66B45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Spearman Correlation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4E7D4-E25E-3C8F-4F14-F4E621756EC3}"/>
              </a:ext>
            </a:extLst>
          </p:cNvPr>
          <p:cNvSpPr txBox="1"/>
          <p:nvPr/>
        </p:nvSpPr>
        <p:spPr>
          <a:xfrm>
            <a:off x="334109" y="7709729"/>
            <a:ext cx="17332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Assesses the monotonic relationship between two variables</a:t>
            </a:r>
          </a:p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(whether linear or not).</a:t>
            </a: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7CB617B-EB08-CF1B-7590-484371C51F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005" y="4101265"/>
            <a:ext cx="9346308" cy="282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258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D829B-5D64-1A8F-97C8-84B61299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D32E81-953C-91CA-B3B0-AEAD53BC96D8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3FC5AD-3E90-A427-FBE3-027907C1F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0A0BD419-33C6-E434-95BD-06BED7C4C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98F3B8-825D-8300-42E6-F78B6925E3F0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072A4B-9CB4-96E9-7031-FC8E40CF1970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</p:txBody>
      </p:sp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F805A20C-0C1D-8535-DAAD-60575D259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388" y="3201742"/>
            <a:ext cx="13795223" cy="611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46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6A10-8A82-4955-52BC-5DCDE86E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3870F7-6849-069D-94B2-D194407B1550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AC1F38-3D8F-B1EF-89C8-4F4851663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E7CF9945-AF81-83C4-704F-963E64439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C61943-C411-B522-531F-C4B2CD2B6810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726C30B-A8A5-1EDC-D73A-F74E66521D63}"/>
              </a:ext>
            </a:extLst>
          </p:cNvPr>
          <p:cNvSpPr txBox="1"/>
          <p:nvPr/>
        </p:nvSpPr>
        <p:spPr>
          <a:xfrm>
            <a:off x="334109" y="4597196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304457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5706-5E9B-F58E-85D4-D2B180ACF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9C5AF7-55F8-0DF9-E298-330E5E095CD2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D018EF-A0FF-F8B8-B7F7-EFFCA9C82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5DA6228E-76E9-18EC-282E-FE7E67C60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12B2CC-8CC4-C7EF-5D3A-AAAB42635145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844857E-765E-637C-4CAD-26601BF2576D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latin typeface="+mj-lt"/>
              </a:rPr>
              <a:t>DATA VISUALIZATION</a:t>
            </a:r>
            <a:endParaRPr lang="en-US" altLang="ko-KR" sz="6500" b="1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0485F-2A1A-D8A6-F637-28AA3A649636}"/>
              </a:ext>
            </a:extLst>
          </p:cNvPr>
          <p:cNvSpPr txBox="1"/>
          <p:nvPr/>
        </p:nvSpPr>
        <p:spPr>
          <a:xfrm>
            <a:off x="765909" y="4097855"/>
            <a:ext cx="86251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matplotlib </a:t>
            </a: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is a package for data visualization in Python that works well with pandas.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4000" dirty="0">
              <a:solidFill>
                <a:srgbClr val="000000"/>
              </a:solidFill>
              <a:latin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Use it to visualize data, which is an important step in exploratory data analysis.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A32CC6-43AC-C1BA-B655-FEDB7E116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463" y="2990167"/>
            <a:ext cx="7907628" cy="629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44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104EF-11C2-6CA2-ABD1-EE1623F07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EA2792-534D-CF57-4D16-8A605228106B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6590F9-4CC6-D932-7E9E-75871EDFF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190B7F3B-F2A4-BB1B-0EF1-C844C8480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F1102F-F424-46EB-4AE1-1BC3B8BF2647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0B45CC-E6CA-EB2E-1230-8241AA5CF78A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latin typeface="+mj-lt"/>
              </a:rPr>
              <a:t>DATA VISUALIZATION</a:t>
            </a:r>
            <a:endParaRPr lang="en-US" altLang="ko-KR" sz="6500" b="1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F128F-EB08-BDF0-7988-7DC0E4E87C7B}"/>
              </a:ext>
            </a:extLst>
          </p:cNvPr>
          <p:cNvSpPr txBox="1"/>
          <p:nvPr/>
        </p:nvSpPr>
        <p:spPr>
          <a:xfrm>
            <a:off x="765908" y="8154695"/>
            <a:ext cx="16900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In exploratory data analysis, it is often useful</a:t>
            </a:r>
          </a:p>
          <a:p>
            <a:pPr algn="ctr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 to visualize the distribution of a dataset.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5584C-6DB1-948C-6068-021FB6010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089" y="3058156"/>
            <a:ext cx="12149936" cy="463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003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382D-14DB-C510-462E-6B9F6D67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D6D530-1F04-ED7D-03A9-12D3F3002FFB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E34EFA-FA72-838F-E5B8-B2FA7E7B4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F2119D96-5441-6695-7AE4-1CCF3944B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992C99-0E08-BB5D-9E73-9BF87EF1BB69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199E32-4180-1372-7634-2FECE01560DA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latin typeface="+mj-lt"/>
              </a:rPr>
              <a:t>DATA VISUALIZATION</a:t>
            </a:r>
            <a:endParaRPr lang="en-US" altLang="ko-KR" sz="6500" b="1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3DA4F9-FC7D-E363-E961-B55CF413A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821" y="2595231"/>
            <a:ext cx="6923110" cy="748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02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F6ED-4E51-3198-66EA-1ED02411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6138E6-541E-0A56-0D42-FAECD650D2FC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B5B01F-D25A-C221-3A5E-8215A54A9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E2B554D6-DB19-4F05-C382-9EF15262C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EA4623-6E58-5B46-454A-6AE0A77BB689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2E33D9-C2A8-E5A4-496F-59810ACF1104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Types of plot</a:t>
            </a:r>
          </a:p>
        </p:txBody>
      </p:sp>
      <p:pic>
        <p:nvPicPr>
          <p:cNvPr id="3" name="Picture 2" descr="A black and white image of a graph and a chart&#10;&#10;AI-generated content may be incorrect.">
            <a:extLst>
              <a:ext uri="{FF2B5EF4-FFF2-40B4-BE49-F238E27FC236}">
                <a16:creationId xmlns:a16="http://schemas.microsoft.com/office/drawing/2014/main" id="{A322EF76-A748-8D87-6B7E-AA3B05DCB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109" y="4151358"/>
            <a:ext cx="16766248" cy="381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2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0584-21E4-2F6C-8AD7-1D4CF38D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105063-19C0-D8E4-1136-38E2827E3610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54B06C-1F39-B718-0B55-F5F45D8A4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4A47E263-0BD2-6F45-49F2-541E4627D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7302C-7360-B43A-E553-2B0152F25864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A4C1A9-4BD8-068C-7C1A-826F8C736608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latin typeface="+mj-lt"/>
              </a:rPr>
              <a:t>DATA VISUALIZATION</a:t>
            </a:r>
            <a:endParaRPr lang="en-US" altLang="ko-KR" sz="6500" b="1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D12E6-620A-464A-00DF-589AA81CEA34}"/>
              </a:ext>
            </a:extLst>
          </p:cNvPr>
          <p:cNvSpPr txBox="1"/>
          <p:nvPr/>
        </p:nvSpPr>
        <p:spPr>
          <a:xfrm>
            <a:off x="765908" y="8154695"/>
            <a:ext cx="16900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Use scatterplot when dealing with </a:t>
            </a: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paired variables</a:t>
            </a: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. </a:t>
            </a:r>
          </a:p>
          <a:p>
            <a:pPr algn="ctr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This identifies the relation between two variables.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2D774-4B80-6ACD-7351-41B854036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0693" y="2858293"/>
            <a:ext cx="14776633" cy="483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91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E4DE-E423-B90C-E54E-86F5083A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5FC257-BBB0-4B3E-46FE-8C7B1E74CDA1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87792E-EC81-677B-78B0-4D542414A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31294111-0A0D-8320-E90E-E9279559C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490C79-F8A7-8AAA-21A9-A1B6302591FF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991EDF-9356-BEF8-9988-30D3BAA3C026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Correlation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4D14C-2C71-4EA2-D533-1DF8556D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405" y="3364672"/>
            <a:ext cx="7191584" cy="63158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CBB891-C3C2-8637-1E61-EA63EEE1F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2635" y="3456979"/>
            <a:ext cx="6233375" cy="676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854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9F2DD-7D91-0701-4BB5-153F1DED8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10CC6B-738A-1BBB-8093-31D47DAD5700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581811-2123-F9B7-CC0C-0BDB3D733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A0748A32-99C0-D942-FDF3-78E8A6D5E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185E2D-5ED6-69FA-B273-4620DE2F7A48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DF6EDD-A483-B08E-AB26-916C1AD66BE7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Histogram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0D661-F41F-136A-A50B-B58118121C22}"/>
              </a:ext>
            </a:extLst>
          </p:cNvPr>
          <p:cNvSpPr txBox="1"/>
          <p:nvPr/>
        </p:nvSpPr>
        <p:spPr>
          <a:xfrm>
            <a:off x="765908" y="8154695"/>
            <a:ext cx="16900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If the data contains </a:t>
            </a: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numerous observations</a:t>
            </a: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, it is better to group them into bins and display it in a </a:t>
            </a: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histogram</a:t>
            </a: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E7B41B-FEEC-1A0E-E81B-E86D73408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5727" y="3306825"/>
            <a:ext cx="9405299" cy="49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882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484E-E2C8-4F1D-52BF-E40DDD77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D354A3-D9AE-7679-473C-0A7CA01ED684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F7058E-33F8-D516-F381-0161C990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417CC60C-A1D8-1CDE-A50B-8588701B3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5C014A-194B-5D5C-08D4-1ECA218F30E9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720072-599F-9F70-F637-D22C4F53DC6B}"/>
              </a:ext>
            </a:extLst>
          </p:cNvPr>
          <p:cNvSpPr txBox="1"/>
          <p:nvPr/>
        </p:nvSpPr>
        <p:spPr>
          <a:xfrm>
            <a:off x="334109" y="1502624"/>
            <a:ext cx="17619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SUMMARY STATISTICS</a:t>
            </a:r>
          </a:p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latin typeface="+mj-lt"/>
              </a:rPr>
              <a:t>Histogram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859CF7-BB17-5214-0684-F79E9CF3A07F}"/>
              </a:ext>
            </a:extLst>
          </p:cNvPr>
          <p:cNvSpPr txBox="1"/>
          <p:nvPr/>
        </p:nvSpPr>
        <p:spPr>
          <a:xfrm>
            <a:off x="765908" y="8154695"/>
            <a:ext cx="16900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Histograms provide a view of the data density</a:t>
            </a:r>
          </a:p>
          <a:p>
            <a:pPr algn="ctr"/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and can be used to </a:t>
            </a:r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identify modes</a:t>
            </a: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1B0A0-2C79-3EF0-3DEC-8716B5121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2815" y="3836094"/>
            <a:ext cx="14260490" cy="433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62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A0E43-62C9-0017-8E99-24C0F885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1E93FA-ADFA-44BF-F951-8B6E2901E6F5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08E7E6-6D80-756C-321F-0A9B2D63B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79F7E649-A9B8-FAEF-157A-659FB8701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97C20C-DC19-7DE8-9D68-242F64EB67BF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C332AC8-412C-57FD-032B-B18C84E9B238}"/>
              </a:ext>
            </a:extLst>
          </p:cNvPr>
          <p:cNvSpPr txBox="1"/>
          <p:nvPr/>
        </p:nvSpPr>
        <p:spPr>
          <a:xfrm>
            <a:off x="334109" y="1502624"/>
            <a:ext cx="1761978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6500" b="1" dirty="0">
                <a:solidFill>
                  <a:srgbClr val="000000"/>
                </a:solidFill>
                <a:latin typeface="+mj-lt"/>
              </a:rPr>
              <a:t>DATA VISUALIZATION</a:t>
            </a:r>
            <a:endParaRPr lang="en-US" altLang="ko-KR" sz="6500" b="1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E0B6A-1B01-CAFF-5933-BDC8D1453770}"/>
              </a:ext>
            </a:extLst>
          </p:cNvPr>
          <p:cNvSpPr txBox="1"/>
          <p:nvPr/>
        </p:nvSpPr>
        <p:spPr>
          <a:xfrm>
            <a:off x="765909" y="3220970"/>
            <a:ext cx="86251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000000"/>
                </a:solidFill>
                <a:latin typeface="+mj-lt"/>
              </a:rPr>
              <a:t>Bar Plot</a:t>
            </a:r>
          </a:p>
          <a:p>
            <a:endParaRPr lang="en-US" altLang="ko-KR" sz="4000" b="1" dirty="0">
              <a:solidFill>
                <a:srgbClr val="000000"/>
              </a:solidFill>
              <a:latin typeface="+mj-lt"/>
            </a:endParaRPr>
          </a:p>
          <a:p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This displays the data distribution</a:t>
            </a:r>
          </a:p>
          <a:p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based on five-number summary: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Upper Whisker (</a:t>
            </a:r>
            <a:r>
              <a:rPr lang="ko-KR" altLang="en-US" sz="4000" dirty="0">
                <a:solidFill>
                  <a:srgbClr val="000000"/>
                </a:solidFill>
                <a:latin typeface="+mj-lt"/>
              </a:rPr>
              <a:t>𝑄</a:t>
            </a: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3 + 1.5 × </a:t>
            </a:r>
            <a:r>
              <a:rPr lang="ko-KR" altLang="en-US" sz="4000" dirty="0">
                <a:solidFill>
                  <a:srgbClr val="000000"/>
                </a:solidFill>
                <a:latin typeface="+mj-lt"/>
              </a:rPr>
              <a:t>𝐼𝑄𝑅</a:t>
            </a:r>
            <a:r>
              <a:rPr lang="en-PH" altLang="ko-KR" sz="4000" dirty="0">
                <a:solidFill>
                  <a:srgbClr val="000000"/>
                </a:solidFill>
                <a:latin typeface="+mj-lt"/>
              </a:rPr>
              <a:t>)</a:t>
            </a:r>
            <a:endParaRPr lang="ko-KR" altLang="en-US" sz="4000" dirty="0">
              <a:solidFill>
                <a:srgbClr val="000000"/>
              </a:solidFill>
              <a:latin typeface="+mj-lt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Third Quartile (</a:t>
            </a:r>
            <a:r>
              <a:rPr lang="ko-KR" altLang="en-US" sz="4000" dirty="0">
                <a:solidFill>
                  <a:srgbClr val="000000"/>
                </a:solidFill>
                <a:latin typeface="+mj-lt"/>
              </a:rPr>
              <a:t>𝑄</a:t>
            </a: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3)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Median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First Quartile (</a:t>
            </a:r>
            <a:r>
              <a:rPr lang="ko-KR" altLang="en-US" sz="4000" dirty="0">
                <a:solidFill>
                  <a:srgbClr val="000000"/>
                </a:solidFill>
                <a:latin typeface="+mj-lt"/>
              </a:rPr>
              <a:t>𝑄</a:t>
            </a: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1)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Lower whisker (</a:t>
            </a:r>
            <a:r>
              <a:rPr lang="ko-KR" altLang="en-US" sz="4000" dirty="0">
                <a:solidFill>
                  <a:srgbClr val="000000"/>
                </a:solidFill>
                <a:latin typeface="+mj-lt"/>
              </a:rPr>
              <a:t>𝑄</a:t>
            </a:r>
            <a:r>
              <a:rPr lang="en-US" altLang="ko-KR" sz="4000" dirty="0">
                <a:solidFill>
                  <a:srgbClr val="000000"/>
                </a:solidFill>
                <a:latin typeface="+mj-lt"/>
              </a:rPr>
              <a:t>1 + 1.5 × </a:t>
            </a:r>
            <a:r>
              <a:rPr lang="ko-KR" altLang="en-US" sz="4000" dirty="0">
                <a:solidFill>
                  <a:srgbClr val="000000"/>
                </a:solidFill>
                <a:latin typeface="+mj-lt"/>
              </a:rPr>
              <a:t>𝐼𝑄𝑅</a:t>
            </a:r>
            <a:r>
              <a:rPr lang="en-PH" altLang="ko-KR" sz="4000" dirty="0">
                <a:solidFill>
                  <a:srgbClr val="000000"/>
                </a:solidFill>
                <a:latin typeface="+mj-lt"/>
              </a:rPr>
              <a:t>)</a:t>
            </a:r>
            <a:endParaRPr lang="en-US" altLang="ko-KR" sz="4000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F79C84-BBAE-C2FA-31D1-71199476E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7585" y="3292241"/>
            <a:ext cx="6619741" cy="494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907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DCD16-A210-3C36-1AD5-F90444F5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EA4C46-6563-6E55-A2EF-BA2E914C2846}"/>
              </a:ext>
            </a:extLst>
          </p:cNvPr>
          <p:cNvSpPr txBox="1"/>
          <p:nvPr/>
        </p:nvSpPr>
        <p:spPr>
          <a:xfrm>
            <a:off x="1780674" y="3721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12D01-4209-0990-6492-FCEF27EEE080}"/>
              </a:ext>
            </a:extLst>
          </p:cNvPr>
          <p:cNvSpPr txBox="1"/>
          <p:nvPr/>
        </p:nvSpPr>
        <p:spPr>
          <a:xfrm>
            <a:off x="1406770" y="2429106"/>
            <a:ext cx="11752641" cy="646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rPr lang="en-PH" sz="4000" dirty="0"/>
              <a:t>Thank you for listening!</a:t>
            </a:r>
          </a:p>
          <a:p>
            <a:pPr>
              <a:lnSpc>
                <a:spcPct val="150000"/>
              </a:lnSpc>
              <a:defRPr sz="1800"/>
            </a:pPr>
            <a:endParaRPr lang="en-PH" sz="4000" i="1" dirty="0"/>
          </a:p>
          <a:p>
            <a:pPr>
              <a:lnSpc>
                <a:spcPct val="150000"/>
              </a:lnSpc>
              <a:defRPr sz="1800"/>
            </a:pPr>
            <a:endParaRPr lang="en-PH" sz="4000" i="1" dirty="0"/>
          </a:p>
          <a:p>
            <a:pPr>
              <a:lnSpc>
                <a:spcPct val="150000"/>
              </a:lnSpc>
              <a:defRPr sz="1800"/>
            </a:pPr>
            <a:r>
              <a:rPr lang="en-PH" sz="4000" i="1" dirty="0"/>
              <a:t>Let’s Connect:</a:t>
            </a:r>
            <a:br>
              <a:rPr lang="en-PH" sz="4000" i="1" dirty="0"/>
            </a:br>
            <a:r>
              <a:rPr lang="en-PH" sz="4000" b="1" dirty="0"/>
              <a:t>Gabriel Avelino Sampedro, Ph.D</a:t>
            </a:r>
            <a:r>
              <a:rPr lang="en-PH" sz="4000" i="1" dirty="0"/>
              <a:t>.</a:t>
            </a:r>
          </a:p>
          <a:p>
            <a:pPr>
              <a:lnSpc>
                <a:spcPct val="150000"/>
              </a:lnSpc>
              <a:defRPr sz="1800"/>
            </a:pPr>
            <a:r>
              <a:rPr lang="en-PH" sz="4000" i="1" dirty="0">
                <a:hlinkClick r:id="rId3"/>
              </a:rPr>
              <a:t>garsampedro@ieee.org</a:t>
            </a:r>
            <a:endParaRPr lang="en-PH" sz="4000" i="1" dirty="0"/>
          </a:p>
          <a:p>
            <a:pPr>
              <a:lnSpc>
                <a:spcPct val="150000"/>
              </a:lnSpc>
              <a:defRPr sz="1800"/>
            </a:pPr>
            <a:r>
              <a:rPr lang="en-PH" sz="4000" i="1" dirty="0"/>
              <a:t>WhatsApp: +63 999 992 9515</a:t>
            </a:r>
            <a:endParaRPr lang="en-PH" sz="3600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1708CE-A71B-EAF5-F29B-ED26B7455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135529EE-43A1-F955-B87B-8CD5D4A6A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D2095C-21EE-DC2B-8B17-A4F7317372B1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463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C010A4030C30940AC5B3B3E5099227D" ma:contentTypeVersion="5" ma:contentTypeDescription="새 문서를 만듭니다." ma:contentTypeScope="" ma:versionID="3db2be6f11029d7e283f406f4e4a40eb">
  <xsd:schema xmlns:xsd="http://www.w3.org/2001/XMLSchema" xmlns:xs="http://www.w3.org/2001/XMLSchema" xmlns:p="http://schemas.microsoft.com/office/2006/metadata/properties" xmlns:ns3="ad3ea3dd-8c76-4c68-85d7-d38a05f43789" targetNamespace="http://schemas.microsoft.com/office/2006/metadata/properties" ma:root="true" ma:fieldsID="58d87fa2133091d014aa0cf80148812c" ns3:_="">
    <xsd:import namespace="ad3ea3dd-8c76-4c68-85d7-d38a05f4378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3ea3dd-8c76-4c68-85d7-d38a05f437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9C5D3C-9C26-449E-A7E8-2BB6BB68DA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D5E26E-5AF7-4D5D-9167-3C1A55DD158D}">
  <ds:schemaRefs>
    <ds:schemaRef ds:uri="ad3ea3dd-8c76-4c68-85d7-d38a05f437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4E9B8C8-33FE-4201-A048-261AE8E6062B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ad3ea3dd-8c76-4c68-85d7-d38a05f43789"/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3210</TotalTime>
  <Words>1373</Words>
  <Application>Microsoft Macintosh PowerPoint</Application>
  <PresentationFormat>Custom</PresentationFormat>
  <Paragraphs>285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맑은 고딕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LG</dc:creator>
  <cp:lastModifiedBy>The Academic Editor</cp:lastModifiedBy>
  <cp:revision>247</cp:revision>
  <dcterms:created xsi:type="dcterms:W3CDTF">2006-08-16T00:00:00Z</dcterms:created>
  <dcterms:modified xsi:type="dcterms:W3CDTF">2025-12-12T01:29:28Z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0x0101008C010A4030C30940AC5B3B3E5099227D</vt:lpwstr>
  </property>
</Properties>
</file>