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76"/>
  </p:notesMasterIdLst>
  <p:sldIdLst>
    <p:sldId id="256" r:id="rId5"/>
    <p:sldId id="383" r:id="rId6"/>
    <p:sldId id="384" r:id="rId7"/>
    <p:sldId id="385" r:id="rId8"/>
    <p:sldId id="386" r:id="rId9"/>
    <p:sldId id="387" r:id="rId10"/>
    <p:sldId id="388" r:id="rId11"/>
    <p:sldId id="389" r:id="rId12"/>
    <p:sldId id="390" r:id="rId13"/>
    <p:sldId id="391" r:id="rId14"/>
    <p:sldId id="392" r:id="rId15"/>
    <p:sldId id="393" r:id="rId16"/>
    <p:sldId id="394" r:id="rId17"/>
    <p:sldId id="395" r:id="rId18"/>
    <p:sldId id="396" r:id="rId19"/>
    <p:sldId id="397" r:id="rId20"/>
    <p:sldId id="398" r:id="rId21"/>
    <p:sldId id="399" r:id="rId22"/>
    <p:sldId id="400" r:id="rId23"/>
    <p:sldId id="401" r:id="rId24"/>
    <p:sldId id="402" r:id="rId25"/>
    <p:sldId id="403" r:id="rId26"/>
    <p:sldId id="404" r:id="rId27"/>
    <p:sldId id="405" r:id="rId28"/>
    <p:sldId id="406" r:id="rId29"/>
    <p:sldId id="407" r:id="rId30"/>
    <p:sldId id="408" r:id="rId31"/>
    <p:sldId id="409" r:id="rId32"/>
    <p:sldId id="410" r:id="rId33"/>
    <p:sldId id="411" r:id="rId34"/>
    <p:sldId id="412" r:id="rId35"/>
    <p:sldId id="413" r:id="rId36"/>
    <p:sldId id="414" r:id="rId37"/>
    <p:sldId id="415" r:id="rId38"/>
    <p:sldId id="416" r:id="rId39"/>
    <p:sldId id="417" r:id="rId40"/>
    <p:sldId id="418" r:id="rId41"/>
    <p:sldId id="419" r:id="rId42"/>
    <p:sldId id="420" r:id="rId43"/>
    <p:sldId id="421" r:id="rId44"/>
    <p:sldId id="422" r:id="rId45"/>
    <p:sldId id="423" r:id="rId46"/>
    <p:sldId id="424" r:id="rId47"/>
    <p:sldId id="425" r:id="rId48"/>
    <p:sldId id="426" r:id="rId49"/>
    <p:sldId id="427" r:id="rId50"/>
    <p:sldId id="428" r:id="rId51"/>
    <p:sldId id="429" r:id="rId52"/>
    <p:sldId id="430" r:id="rId53"/>
    <p:sldId id="431" r:id="rId54"/>
    <p:sldId id="432" r:id="rId55"/>
    <p:sldId id="433" r:id="rId56"/>
    <p:sldId id="434" r:id="rId57"/>
    <p:sldId id="435" r:id="rId58"/>
    <p:sldId id="436" r:id="rId59"/>
    <p:sldId id="437" r:id="rId60"/>
    <p:sldId id="438" r:id="rId61"/>
    <p:sldId id="439" r:id="rId62"/>
    <p:sldId id="440" r:id="rId63"/>
    <p:sldId id="441" r:id="rId64"/>
    <p:sldId id="442" r:id="rId65"/>
    <p:sldId id="443" r:id="rId66"/>
    <p:sldId id="444" r:id="rId67"/>
    <p:sldId id="445" r:id="rId68"/>
    <p:sldId id="446" r:id="rId69"/>
    <p:sldId id="447" r:id="rId70"/>
    <p:sldId id="448" r:id="rId71"/>
    <p:sldId id="449" r:id="rId72"/>
    <p:sldId id="450" r:id="rId73"/>
    <p:sldId id="451" r:id="rId74"/>
    <p:sldId id="291" r:id="rId75"/>
  </p:sldIdLst>
  <p:sldSz cx="18288000" cy="10287000"/>
  <p:notesSz cx="6858000" cy="9144000"/>
  <p:embeddedFontLst>
    <p:embeddedFont>
      <p:font typeface="맑은 고딕" panose="020B0503020000020004" pitchFamily="34" charset="-127"/>
      <p:regular r:id="rId77"/>
      <p:bold r:id="rId7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BAD7"/>
    <a:srgbClr val="E46C0A"/>
    <a:srgbClr val="EC1651"/>
    <a:srgbClr val="FBC422"/>
    <a:srgbClr val="FE98F9"/>
    <a:srgbClr val="F9C7C9"/>
    <a:srgbClr val="394CB5"/>
    <a:srgbClr val="EC4A52"/>
    <a:srgbClr val="FABB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82" autoAdjust="0"/>
    <p:restoredTop sz="85159" autoAdjust="0"/>
  </p:normalViewPr>
  <p:slideViewPr>
    <p:cSldViewPr snapToGrid="0">
      <p:cViewPr varScale="1">
        <p:scale>
          <a:sx n="68" d="100"/>
          <a:sy n="68" d="100"/>
        </p:scale>
        <p:origin x="88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1.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2.fntdata"/><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9054AF-692A-42DF-91F9-81DF289757A7}" type="datetimeFigureOut">
              <a:rPr lang="ko-KR" altLang="en-US" smtClean="0"/>
              <a:t>2025. 12. 12.</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5E348-0E32-436E-906A-2326BDCE49F6}" type="slidenum">
              <a:rPr lang="ko-KR" altLang="en-US" smtClean="0"/>
              <a:t>‹#›</a:t>
            </a:fld>
            <a:endParaRPr lang="ko-KR" altLang="en-US"/>
          </a:p>
        </p:txBody>
      </p:sp>
    </p:spTree>
    <p:extLst>
      <p:ext uri="{BB962C8B-B14F-4D97-AF65-F5344CB8AC3E}">
        <p14:creationId xmlns:p14="http://schemas.microsoft.com/office/powerpoint/2010/main" val="383077147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56F20-9B57-DEA2-B31F-26125375D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D1FFF-A716-DFC9-C0B9-5DC24035FB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D9C62-B8C3-4533-0ED1-F7683F7717F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62055F09-E607-4E77-B473-12670B29064A}"/>
              </a:ext>
            </a:extLst>
          </p:cNvPr>
          <p:cNvSpPr>
            <a:spLocks noGrp="1"/>
          </p:cNvSpPr>
          <p:nvPr>
            <p:ph type="sldNum" sz="quarter" idx="5"/>
          </p:nvPr>
        </p:nvSpPr>
        <p:spPr/>
        <p:txBody>
          <a:bodyPr/>
          <a:lstStyle/>
          <a:p>
            <a:fld id="{C6A5E348-0E32-436E-906A-2326BDCE49F6}" type="slidenum">
              <a:rPr lang="ko-KR" altLang="en-US" smtClean="0"/>
              <a:t>2</a:t>
            </a:fld>
            <a:endParaRPr lang="ko-KR" altLang="en-US"/>
          </a:p>
        </p:txBody>
      </p:sp>
    </p:spTree>
    <p:extLst>
      <p:ext uri="{BB962C8B-B14F-4D97-AF65-F5344CB8AC3E}">
        <p14:creationId xmlns:p14="http://schemas.microsoft.com/office/powerpoint/2010/main" val="49930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0C5E0-B8BF-3256-3E36-29B79F04F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94E36-4FDA-E6DD-BD19-202A13C032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B8870-CFA7-D44A-2F76-D53DB898300E}"/>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688017C-C7E6-CD9E-1804-E964AABE8441}"/>
              </a:ext>
            </a:extLst>
          </p:cNvPr>
          <p:cNvSpPr>
            <a:spLocks noGrp="1"/>
          </p:cNvSpPr>
          <p:nvPr>
            <p:ph type="sldNum" sz="quarter" idx="5"/>
          </p:nvPr>
        </p:nvSpPr>
        <p:spPr/>
        <p:txBody>
          <a:bodyPr/>
          <a:lstStyle/>
          <a:p>
            <a:fld id="{C6A5E348-0E32-436E-906A-2326BDCE49F6}" type="slidenum">
              <a:rPr lang="ko-KR" altLang="en-US" smtClean="0"/>
              <a:t>3</a:t>
            </a:fld>
            <a:endParaRPr lang="ko-KR" altLang="en-US"/>
          </a:p>
        </p:txBody>
      </p:sp>
    </p:spTree>
    <p:extLst>
      <p:ext uri="{BB962C8B-B14F-4D97-AF65-F5344CB8AC3E}">
        <p14:creationId xmlns:p14="http://schemas.microsoft.com/office/powerpoint/2010/main" val="4161377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58C09-2A9E-010C-6539-4A72F325B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2FDFE-62B7-B727-4304-B66BD8EB6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8902C9-A4AC-75E6-847A-8813738156EE}"/>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F75C913-0870-23F2-96C6-4671EFF72ADB}"/>
              </a:ext>
            </a:extLst>
          </p:cNvPr>
          <p:cNvSpPr>
            <a:spLocks noGrp="1"/>
          </p:cNvSpPr>
          <p:nvPr>
            <p:ph type="sldNum" sz="quarter" idx="5"/>
          </p:nvPr>
        </p:nvSpPr>
        <p:spPr/>
        <p:txBody>
          <a:bodyPr/>
          <a:lstStyle/>
          <a:p>
            <a:fld id="{C6A5E348-0E32-436E-906A-2326BDCE49F6}" type="slidenum">
              <a:rPr lang="ko-KR" altLang="en-US" smtClean="0"/>
              <a:t>4</a:t>
            </a:fld>
            <a:endParaRPr lang="ko-KR" altLang="en-US"/>
          </a:p>
        </p:txBody>
      </p:sp>
    </p:spTree>
    <p:extLst>
      <p:ext uri="{BB962C8B-B14F-4D97-AF65-F5344CB8AC3E}">
        <p14:creationId xmlns:p14="http://schemas.microsoft.com/office/powerpoint/2010/main" val="2399288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068C6-B5DA-40DA-5DD5-32522AE9A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0A110F-43EC-395B-1B69-C5C48C183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BB1E4-0210-1BA4-068D-0CC206827A45}"/>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DD25824-8A23-B4AD-045D-4692A917B837}"/>
              </a:ext>
            </a:extLst>
          </p:cNvPr>
          <p:cNvSpPr>
            <a:spLocks noGrp="1"/>
          </p:cNvSpPr>
          <p:nvPr>
            <p:ph type="sldNum" sz="quarter" idx="5"/>
          </p:nvPr>
        </p:nvSpPr>
        <p:spPr/>
        <p:txBody>
          <a:bodyPr/>
          <a:lstStyle/>
          <a:p>
            <a:fld id="{C6A5E348-0E32-436E-906A-2326BDCE49F6}" type="slidenum">
              <a:rPr lang="ko-KR" altLang="en-US" smtClean="0"/>
              <a:t>5</a:t>
            </a:fld>
            <a:endParaRPr lang="ko-KR" altLang="en-US"/>
          </a:p>
        </p:txBody>
      </p:sp>
    </p:spTree>
    <p:extLst>
      <p:ext uri="{BB962C8B-B14F-4D97-AF65-F5344CB8AC3E}">
        <p14:creationId xmlns:p14="http://schemas.microsoft.com/office/powerpoint/2010/main" val="1517816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D9247-AE4C-9164-BBAB-2997B96DE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B1C3D-C156-2EAF-3B0B-A02A1751E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1A248D-C45D-3187-90F9-4916479B11F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4CDF1F15-ADB4-E05F-1095-E068B147400A}"/>
              </a:ext>
            </a:extLst>
          </p:cNvPr>
          <p:cNvSpPr>
            <a:spLocks noGrp="1"/>
          </p:cNvSpPr>
          <p:nvPr>
            <p:ph type="sldNum" sz="quarter" idx="5"/>
          </p:nvPr>
        </p:nvSpPr>
        <p:spPr/>
        <p:txBody>
          <a:bodyPr/>
          <a:lstStyle/>
          <a:p>
            <a:fld id="{C6A5E348-0E32-436E-906A-2326BDCE49F6}" type="slidenum">
              <a:rPr lang="ko-KR" altLang="en-US" smtClean="0"/>
              <a:t>6</a:t>
            </a:fld>
            <a:endParaRPr lang="ko-KR" altLang="en-US"/>
          </a:p>
        </p:txBody>
      </p:sp>
    </p:spTree>
    <p:extLst>
      <p:ext uri="{BB962C8B-B14F-4D97-AF65-F5344CB8AC3E}">
        <p14:creationId xmlns:p14="http://schemas.microsoft.com/office/powerpoint/2010/main" val="3119168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A09AC-523A-DA04-1A5A-B3DDC6EEDC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DDEC2-AA84-AB40-9D80-ACBD0F7C72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18AA7-BD64-FC99-659A-31279527B8D6}"/>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DCEB0C6B-8D84-CC4F-D106-8DF25BFAA104}"/>
              </a:ext>
            </a:extLst>
          </p:cNvPr>
          <p:cNvSpPr>
            <a:spLocks noGrp="1"/>
          </p:cNvSpPr>
          <p:nvPr>
            <p:ph type="sldNum" sz="quarter" idx="5"/>
          </p:nvPr>
        </p:nvSpPr>
        <p:spPr/>
        <p:txBody>
          <a:bodyPr/>
          <a:lstStyle/>
          <a:p>
            <a:fld id="{C6A5E348-0E32-436E-906A-2326BDCE49F6}" type="slidenum">
              <a:rPr lang="ko-KR" altLang="en-US" smtClean="0"/>
              <a:t>7</a:t>
            </a:fld>
            <a:endParaRPr lang="ko-KR" altLang="en-US"/>
          </a:p>
        </p:txBody>
      </p:sp>
    </p:spTree>
    <p:extLst>
      <p:ext uri="{BB962C8B-B14F-4D97-AF65-F5344CB8AC3E}">
        <p14:creationId xmlns:p14="http://schemas.microsoft.com/office/powerpoint/2010/main" val="1920097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DA1FD-7AF9-5747-AA49-0F987F0FA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C090E-D339-C845-C661-2D1A3F47AE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73C2A4-24AF-22B8-AA34-9E7C1F9358F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CD25C58-E1C7-9B87-E240-A8D44075748C}"/>
              </a:ext>
            </a:extLst>
          </p:cNvPr>
          <p:cNvSpPr>
            <a:spLocks noGrp="1"/>
          </p:cNvSpPr>
          <p:nvPr>
            <p:ph type="sldNum" sz="quarter" idx="5"/>
          </p:nvPr>
        </p:nvSpPr>
        <p:spPr/>
        <p:txBody>
          <a:bodyPr/>
          <a:lstStyle/>
          <a:p>
            <a:fld id="{C6A5E348-0E32-436E-906A-2326BDCE49F6}" type="slidenum">
              <a:rPr lang="ko-KR" altLang="en-US" smtClean="0"/>
              <a:t>8</a:t>
            </a:fld>
            <a:endParaRPr lang="ko-KR" altLang="en-US"/>
          </a:p>
        </p:txBody>
      </p:sp>
    </p:spTree>
    <p:extLst>
      <p:ext uri="{BB962C8B-B14F-4D97-AF65-F5344CB8AC3E}">
        <p14:creationId xmlns:p14="http://schemas.microsoft.com/office/powerpoint/2010/main" val="1083633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88090-C8D3-5407-235F-8C8A19B81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EB1D7-D8D7-3938-5EF8-40B0B2BC85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FBE96-9DE3-9BCC-247D-6A547826EDDA}"/>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FE99CDD-5952-FA2B-E4AF-E76EA917F0C5}"/>
              </a:ext>
            </a:extLst>
          </p:cNvPr>
          <p:cNvSpPr>
            <a:spLocks noGrp="1"/>
          </p:cNvSpPr>
          <p:nvPr>
            <p:ph type="sldNum" sz="quarter" idx="5"/>
          </p:nvPr>
        </p:nvSpPr>
        <p:spPr/>
        <p:txBody>
          <a:bodyPr/>
          <a:lstStyle/>
          <a:p>
            <a:fld id="{C6A5E348-0E32-436E-906A-2326BDCE49F6}" type="slidenum">
              <a:rPr lang="ko-KR" altLang="en-US" smtClean="0"/>
              <a:t>9</a:t>
            </a:fld>
            <a:endParaRPr lang="ko-KR" altLang="en-US"/>
          </a:p>
        </p:txBody>
      </p:sp>
    </p:spTree>
    <p:extLst>
      <p:ext uri="{BB962C8B-B14F-4D97-AF65-F5344CB8AC3E}">
        <p14:creationId xmlns:p14="http://schemas.microsoft.com/office/powerpoint/2010/main" val="1266287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67D43-D1E4-AFEF-4DA5-2E852F514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F2618-E8A7-0BCD-F82C-F99910B5EC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1DADE-C90A-19AC-70B7-DFE4D2EF4183}"/>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BAE7CE3A-936A-FFB3-02E6-50697B82E20F}"/>
              </a:ext>
            </a:extLst>
          </p:cNvPr>
          <p:cNvSpPr>
            <a:spLocks noGrp="1"/>
          </p:cNvSpPr>
          <p:nvPr>
            <p:ph type="sldNum" sz="quarter" idx="5"/>
          </p:nvPr>
        </p:nvSpPr>
        <p:spPr/>
        <p:txBody>
          <a:bodyPr/>
          <a:lstStyle/>
          <a:p>
            <a:fld id="{C6A5E348-0E32-436E-906A-2326BDCE49F6}" type="slidenum">
              <a:rPr lang="ko-KR" altLang="en-US" smtClean="0"/>
              <a:t>10</a:t>
            </a:fld>
            <a:endParaRPr lang="ko-KR" altLang="en-US"/>
          </a:p>
        </p:txBody>
      </p:sp>
    </p:spTree>
    <p:extLst>
      <p:ext uri="{BB962C8B-B14F-4D97-AF65-F5344CB8AC3E}">
        <p14:creationId xmlns:p14="http://schemas.microsoft.com/office/powerpoint/2010/main" val="4044619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50BAC-6F60-0AD4-ECD2-A3C4A3051B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9F1DC-B31B-5ED1-DE56-75FCDE8F33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5BE09-6E38-6C74-DB1B-E3147EACA693}"/>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452BA3D6-947E-FA33-A390-55A637690F64}"/>
              </a:ext>
            </a:extLst>
          </p:cNvPr>
          <p:cNvSpPr>
            <a:spLocks noGrp="1"/>
          </p:cNvSpPr>
          <p:nvPr>
            <p:ph type="sldNum" sz="quarter" idx="5"/>
          </p:nvPr>
        </p:nvSpPr>
        <p:spPr/>
        <p:txBody>
          <a:bodyPr/>
          <a:lstStyle/>
          <a:p>
            <a:fld id="{C6A5E348-0E32-436E-906A-2326BDCE49F6}" type="slidenum">
              <a:rPr lang="ko-KR" altLang="en-US" smtClean="0"/>
              <a:t>11</a:t>
            </a:fld>
            <a:endParaRPr lang="ko-KR" altLang="en-US"/>
          </a:p>
        </p:txBody>
      </p:sp>
    </p:spTree>
    <p:extLst>
      <p:ext uri="{BB962C8B-B14F-4D97-AF65-F5344CB8AC3E}">
        <p14:creationId xmlns:p14="http://schemas.microsoft.com/office/powerpoint/2010/main" val="2018319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55867-55EE-3D02-A0EE-CCB0F5B27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21DB5-AD21-4A67-9DE5-0582907829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519F05-3BAC-8BF1-555A-29414CC6DEB7}"/>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4F16B67-D9E4-5161-2715-75EF02505974}"/>
              </a:ext>
            </a:extLst>
          </p:cNvPr>
          <p:cNvSpPr>
            <a:spLocks noGrp="1"/>
          </p:cNvSpPr>
          <p:nvPr>
            <p:ph type="sldNum" sz="quarter" idx="5"/>
          </p:nvPr>
        </p:nvSpPr>
        <p:spPr/>
        <p:txBody>
          <a:bodyPr/>
          <a:lstStyle/>
          <a:p>
            <a:fld id="{C6A5E348-0E32-436E-906A-2326BDCE49F6}" type="slidenum">
              <a:rPr lang="ko-KR" altLang="en-US" smtClean="0"/>
              <a:t>12</a:t>
            </a:fld>
            <a:endParaRPr lang="ko-KR" altLang="en-US"/>
          </a:p>
        </p:txBody>
      </p:sp>
    </p:spTree>
    <p:extLst>
      <p:ext uri="{BB962C8B-B14F-4D97-AF65-F5344CB8AC3E}">
        <p14:creationId xmlns:p14="http://schemas.microsoft.com/office/powerpoint/2010/main" val="3284359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AEE5E-EE6A-5DD8-1BEF-79A443044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A2F54-2060-D460-8C68-594512EEAE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EDD119-E219-2AC0-7D19-5350EDDA6D9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D18996FE-F0D1-35B1-C60F-953494FAEF7D}"/>
              </a:ext>
            </a:extLst>
          </p:cNvPr>
          <p:cNvSpPr>
            <a:spLocks noGrp="1"/>
          </p:cNvSpPr>
          <p:nvPr>
            <p:ph type="sldNum" sz="quarter" idx="5"/>
          </p:nvPr>
        </p:nvSpPr>
        <p:spPr/>
        <p:txBody>
          <a:bodyPr/>
          <a:lstStyle/>
          <a:p>
            <a:fld id="{C6A5E348-0E32-436E-906A-2326BDCE49F6}" type="slidenum">
              <a:rPr lang="ko-KR" altLang="en-US" smtClean="0"/>
              <a:t>13</a:t>
            </a:fld>
            <a:endParaRPr lang="ko-KR" altLang="en-US"/>
          </a:p>
        </p:txBody>
      </p:sp>
    </p:spTree>
    <p:extLst>
      <p:ext uri="{BB962C8B-B14F-4D97-AF65-F5344CB8AC3E}">
        <p14:creationId xmlns:p14="http://schemas.microsoft.com/office/powerpoint/2010/main" val="4032096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6309A-A9F7-A1BA-9A92-473DF22FF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871D58-DE2D-74D8-F257-ED5FAC1BB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7B0A88-20B2-A97C-E867-3CE231A67C3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5C603C42-FC50-5F22-71DB-C850CAD46698}"/>
              </a:ext>
            </a:extLst>
          </p:cNvPr>
          <p:cNvSpPr>
            <a:spLocks noGrp="1"/>
          </p:cNvSpPr>
          <p:nvPr>
            <p:ph type="sldNum" sz="quarter" idx="5"/>
          </p:nvPr>
        </p:nvSpPr>
        <p:spPr/>
        <p:txBody>
          <a:bodyPr/>
          <a:lstStyle/>
          <a:p>
            <a:fld id="{C6A5E348-0E32-436E-906A-2326BDCE49F6}" type="slidenum">
              <a:rPr lang="ko-KR" altLang="en-US" smtClean="0"/>
              <a:t>14</a:t>
            </a:fld>
            <a:endParaRPr lang="ko-KR" altLang="en-US"/>
          </a:p>
        </p:txBody>
      </p:sp>
    </p:spTree>
    <p:extLst>
      <p:ext uri="{BB962C8B-B14F-4D97-AF65-F5344CB8AC3E}">
        <p14:creationId xmlns:p14="http://schemas.microsoft.com/office/powerpoint/2010/main" val="33321759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709AD-5C0B-86A1-2549-850CC7BC1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E03D61-A874-01AF-C82D-6BD26EEEC1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E5AAFB-52F6-8532-3F0F-79E24A4FE51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3359D308-9F52-E648-C75B-4771F242EBB5}"/>
              </a:ext>
            </a:extLst>
          </p:cNvPr>
          <p:cNvSpPr>
            <a:spLocks noGrp="1"/>
          </p:cNvSpPr>
          <p:nvPr>
            <p:ph type="sldNum" sz="quarter" idx="5"/>
          </p:nvPr>
        </p:nvSpPr>
        <p:spPr/>
        <p:txBody>
          <a:bodyPr/>
          <a:lstStyle/>
          <a:p>
            <a:fld id="{C6A5E348-0E32-436E-906A-2326BDCE49F6}" type="slidenum">
              <a:rPr lang="ko-KR" altLang="en-US" smtClean="0"/>
              <a:t>15</a:t>
            </a:fld>
            <a:endParaRPr lang="ko-KR" altLang="en-US"/>
          </a:p>
        </p:txBody>
      </p:sp>
    </p:spTree>
    <p:extLst>
      <p:ext uri="{BB962C8B-B14F-4D97-AF65-F5344CB8AC3E}">
        <p14:creationId xmlns:p14="http://schemas.microsoft.com/office/powerpoint/2010/main" val="17494782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576BE-23E0-9229-012D-7B8F4BCE2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B9542-603E-40D9-5BEE-A08754765E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B931F-2FB3-C7F5-AD4C-818428D2443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E51E101-8DAC-F9B9-C4B9-5FF55E9FAFCE}"/>
              </a:ext>
            </a:extLst>
          </p:cNvPr>
          <p:cNvSpPr>
            <a:spLocks noGrp="1"/>
          </p:cNvSpPr>
          <p:nvPr>
            <p:ph type="sldNum" sz="quarter" idx="5"/>
          </p:nvPr>
        </p:nvSpPr>
        <p:spPr/>
        <p:txBody>
          <a:bodyPr/>
          <a:lstStyle/>
          <a:p>
            <a:fld id="{C6A5E348-0E32-436E-906A-2326BDCE49F6}" type="slidenum">
              <a:rPr lang="ko-KR" altLang="en-US" smtClean="0"/>
              <a:t>16</a:t>
            </a:fld>
            <a:endParaRPr lang="ko-KR" altLang="en-US"/>
          </a:p>
        </p:txBody>
      </p:sp>
    </p:spTree>
    <p:extLst>
      <p:ext uri="{BB962C8B-B14F-4D97-AF65-F5344CB8AC3E}">
        <p14:creationId xmlns:p14="http://schemas.microsoft.com/office/powerpoint/2010/main" val="1491608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FDD88-0D2D-40D0-EA39-809465B9FC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B5F948-781F-4BC5-A267-34E713270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63E71-C37E-9EA5-0061-433D6B792503}"/>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B804ED92-3088-05BD-1725-22969831E138}"/>
              </a:ext>
            </a:extLst>
          </p:cNvPr>
          <p:cNvSpPr>
            <a:spLocks noGrp="1"/>
          </p:cNvSpPr>
          <p:nvPr>
            <p:ph type="sldNum" sz="quarter" idx="5"/>
          </p:nvPr>
        </p:nvSpPr>
        <p:spPr/>
        <p:txBody>
          <a:bodyPr/>
          <a:lstStyle/>
          <a:p>
            <a:fld id="{C6A5E348-0E32-436E-906A-2326BDCE49F6}" type="slidenum">
              <a:rPr lang="ko-KR" altLang="en-US" smtClean="0"/>
              <a:t>17</a:t>
            </a:fld>
            <a:endParaRPr lang="ko-KR" altLang="en-US"/>
          </a:p>
        </p:txBody>
      </p:sp>
    </p:spTree>
    <p:extLst>
      <p:ext uri="{BB962C8B-B14F-4D97-AF65-F5344CB8AC3E}">
        <p14:creationId xmlns:p14="http://schemas.microsoft.com/office/powerpoint/2010/main" val="25868740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0884B-A4ED-B8C2-CEE6-0DBFCEB2C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DC318-5C23-0771-E252-638D703CA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550122-AE09-D16C-31A1-C0BB1CC40F06}"/>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2415A10-5FAC-863C-843E-5C0EA4EF6BAC}"/>
              </a:ext>
            </a:extLst>
          </p:cNvPr>
          <p:cNvSpPr>
            <a:spLocks noGrp="1"/>
          </p:cNvSpPr>
          <p:nvPr>
            <p:ph type="sldNum" sz="quarter" idx="5"/>
          </p:nvPr>
        </p:nvSpPr>
        <p:spPr/>
        <p:txBody>
          <a:bodyPr/>
          <a:lstStyle/>
          <a:p>
            <a:fld id="{C6A5E348-0E32-436E-906A-2326BDCE49F6}" type="slidenum">
              <a:rPr lang="ko-KR" altLang="en-US" smtClean="0"/>
              <a:t>18</a:t>
            </a:fld>
            <a:endParaRPr lang="ko-KR" altLang="en-US"/>
          </a:p>
        </p:txBody>
      </p:sp>
    </p:spTree>
    <p:extLst>
      <p:ext uri="{BB962C8B-B14F-4D97-AF65-F5344CB8AC3E}">
        <p14:creationId xmlns:p14="http://schemas.microsoft.com/office/powerpoint/2010/main" val="29382248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185D4-33D4-2693-8C9A-D98D87AE6E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C0B38-6762-87DC-5159-CD953F674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3AC687-7A13-7D38-1B61-65272C84EB55}"/>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C88D31DE-339B-E604-6A7E-F000B0EE6A28}"/>
              </a:ext>
            </a:extLst>
          </p:cNvPr>
          <p:cNvSpPr>
            <a:spLocks noGrp="1"/>
          </p:cNvSpPr>
          <p:nvPr>
            <p:ph type="sldNum" sz="quarter" idx="5"/>
          </p:nvPr>
        </p:nvSpPr>
        <p:spPr/>
        <p:txBody>
          <a:bodyPr/>
          <a:lstStyle/>
          <a:p>
            <a:fld id="{C6A5E348-0E32-436E-906A-2326BDCE49F6}" type="slidenum">
              <a:rPr lang="ko-KR" altLang="en-US" smtClean="0"/>
              <a:t>19</a:t>
            </a:fld>
            <a:endParaRPr lang="ko-KR" altLang="en-US"/>
          </a:p>
        </p:txBody>
      </p:sp>
    </p:spTree>
    <p:extLst>
      <p:ext uri="{BB962C8B-B14F-4D97-AF65-F5344CB8AC3E}">
        <p14:creationId xmlns:p14="http://schemas.microsoft.com/office/powerpoint/2010/main" val="26845752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46E9F-65F4-83D4-204E-362728E4A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A3A05D-8830-41DD-E4AE-EB264A5309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15EA14-49E5-EFAC-8071-5265ED5B875F}"/>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0BE6750-073B-FB79-1E3E-A31CC98313A5}"/>
              </a:ext>
            </a:extLst>
          </p:cNvPr>
          <p:cNvSpPr>
            <a:spLocks noGrp="1"/>
          </p:cNvSpPr>
          <p:nvPr>
            <p:ph type="sldNum" sz="quarter" idx="5"/>
          </p:nvPr>
        </p:nvSpPr>
        <p:spPr/>
        <p:txBody>
          <a:bodyPr/>
          <a:lstStyle/>
          <a:p>
            <a:fld id="{C6A5E348-0E32-436E-906A-2326BDCE49F6}" type="slidenum">
              <a:rPr lang="ko-KR" altLang="en-US" smtClean="0"/>
              <a:t>20</a:t>
            </a:fld>
            <a:endParaRPr lang="ko-KR" altLang="en-US"/>
          </a:p>
        </p:txBody>
      </p:sp>
    </p:spTree>
    <p:extLst>
      <p:ext uri="{BB962C8B-B14F-4D97-AF65-F5344CB8AC3E}">
        <p14:creationId xmlns:p14="http://schemas.microsoft.com/office/powerpoint/2010/main" val="7037133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5F638-34F6-D2C2-D8A4-4119B807E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6BBE3-8EC1-AE48-043D-2B898974D6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6A31D-BD14-0CB8-3567-2EE309F46652}"/>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6E82E9DA-4BEC-8953-6A32-DDCFB4A1BC07}"/>
              </a:ext>
            </a:extLst>
          </p:cNvPr>
          <p:cNvSpPr>
            <a:spLocks noGrp="1"/>
          </p:cNvSpPr>
          <p:nvPr>
            <p:ph type="sldNum" sz="quarter" idx="5"/>
          </p:nvPr>
        </p:nvSpPr>
        <p:spPr/>
        <p:txBody>
          <a:bodyPr/>
          <a:lstStyle/>
          <a:p>
            <a:fld id="{C6A5E348-0E32-436E-906A-2326BDCE49F6}" type="slidenum">
              <a:rPr lang="ko-KR" altLang="en-US" smtClean="0"/>
              <a:t>21</a:t>
            </a:fld>
            <a:endParaRPr lang="ko-KR" altLang="en-US"/>
          </a:p>
        </p:txBody>
      </p:sp>
    </p:spTree>
    <p:extLst>
      <p:ext uri="{BB962C8B-B14F-4D97-AF65-F5344CB8AC3E}">
        <p14:creationId xmlns:p14="http://schemas.microsoft.com/office/powerpoint/2010/main" val="36981442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C10CD-80FD-746F-5E60-54712616B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F1B0F-F248-A598-BED6-7776511E90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1FC09-4B67-8CCD-FF62-41B2503A8C0D}"/>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C1633FFB-97E1-ED89-E9BF-30D37FD9C10C}"/>
              </a:ext>
            </a:extLst>
          </p:cNvPr>
          <p:cNvSpPr>
            <a:spLocks noGrp="1"/>
          </p:cNvSpPr>
          <p:nvPr>
            <p:ph type="sldNum" sz="quarter" idx="5"/>
          </p:nvPr>
        </p:nvSpPr>
        <p:spPr/>
        <p:txBody>
          <a:bodyPr/>
          <a:lstStyle/>
          <a:p>
            <a:fld id="{C6A5E348-0E32-436E-906A-2326BDCE49F6}" type="slidenum">
              <a:rPr lang="ko-KR" altLang="en-US" smtClean="0"/>
              <a:t>22</a:t>
            </a:fld>
            <a:endParaRPr lang="ko-KR" altLang="en-US"/>
          </a:p>
        </p:txBody>
      </p:sp>
    </p:spTree>
    <p:extLst>
      <p:ext uri="{BB962C8B-B14F-4D97-AF65-F5344CB8AC3E}">
        <p14:creationId xmlns:p14="http://schemas.microsoft.com/office/powerpoint/2010/main" val="40653657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C1BE5-64BE-E5F9-1C7C-56E02C0E91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662C7-D833-D797-645D-085DD6C492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D1CBC2-9CBC-6E81-9BFD-5E8099553FE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4C2B7C10-1F64-BD8E-68D9-B061C5053F4F}"/>
              </a:ext>
            </a:extLst>
          </p:cNvPr>
          <p:cNvSpPr>
            <a:spLocks noGrp="1"/>
          </p:cNvSpPr>
          <p:nvPr>
            <p:ph type="sldNum" sz="quarter" idx="5"/>
          </p:nvPr>
        </p:nvSpPr>
        <p:spPr/>
        <p:txBody>
          <a:bodyPr/>
          <a:lstStyle/>
          <a:p>
            <a:fld id="{C6A5E348-0E32-436E-906A-2326BDCE49F6}" type="slidenum">
              <a:rPr lang="ko-KR" altLang="en-US" smtClean="0"/>
              <a:t>23</a:t>
            </a:fld>
            <a:endParaRPr lang="ko-KR" altLang="en-US"/>
          </a:p>
        </p:txBody>
      </p:sp>
    </p:spTree>
    <p:extLst>
      <p:ext uri="{BB962C8B-B14F-4D97-AF65-F5344CB8AC3E}">
        <p14:creationId xmlns:p14="http://schemas.microsoft.com/office/powerpoint/2010/main" val="17597427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966A7-F737-0E5F-85B2-46B55CB71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027AEB-E640-FB58-B27C-337FD2AE2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9FE7CB-E0A2-6F04-BAF2-29D756177C1E}"/>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F97EB55-9A93-055B-8A83-9D6EEBD21474}"/>
              </a:ext>
            </a:extLst>
          </p:cNvPr>
          <p:cNvSpPr>
            <a:spLocks noGrp="1"/>
          </p:cNvSpPr>
          <p:nvPr>
            <p:ph type="sldNum" sz="quarter" idx="5"/>
          </p:nvPr>
        </p:nvSpPr>
        <p:spPr/>
        <p:txBody>
          <a:bodyPr/>
          <a:lstStyle/>
          <a:p>
            <a:fld id="{C6A5E348-0E32-436E-906A-2326BDCE49F6}" type="slidenum">
              <a:rPr lang="ko-KR" altLang="en-US" smtClean="0"/>
              <a:t>24</a:t>
            </a:fld>
            <a:endParaRPr lang="ko-KR" altLang="en-US"/>
          </a:p>
        </p:txBody>
      </p:sp>
    </p:spTree>
    <p:extLst>
      <p:ext uri="{BB962C8B-B14F-4D97-AF65-F5344CB8AC3E}">
        <p14:creationId xmlns:p14="http://schemas.microsoft.com/office/powerpoint/2010/main" val="1262496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DFAD2-D056-0FEA-A028-F5B1EA922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9B20B-D95C-52B2-73AE-DB4949FF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FA393C-DFAA-A1E4-3112-C793936231C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3BA73FAD-5650-B548-D3AA-97562A9AC870}"/>
              </a:ext>
            </a:extLst>
          </p:cNvPr>
          <p:cNvSpPr>
            <a:spLocks noGrp="1"/>
          </p:cNvSpPr>
          <p:nvPr>
            <p:ph type="sldNum" sz="quarter" idx="5"/>
          </p:nvPr>
        </p:nvSpPr>
        <p:spPr/>
        <p:txBody>
          <a:bodyPr/>
          <a:lstStyle/>
          <a:p>
            <a:fld id="{C6A5E348-0E32-436E-906A-2326BDCE49F6}" type="slidenum">
              <a:rPr lang="ko-KR" altLang="en-US" smtClean="0"/>
              <a:t>25</a:t>
            </a:fld>
            <a:endParaRPr lang="ko-KR" altLang="en-US"/>
          </a:p>
        </p:txBody>
      </p:sp>
    </p:spTree>
    <p:extLst>
      <p:ext uri="{BB962C8B-B14F-4D97-AF65-F5344CB8AC3E}">
        <p14:creationId xmlns:p14="http://schemas.microsoft.com/office/powerpoint/2010/main" val="11837196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F59FF-FE54-622F-391B-281E53AEF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90BBE-93CD-EF40-FFD4-DB8351C654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3320B-F85C-DA64-09BF-1B7AA5B3867E}"/>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607C535C-222B-258A-58F7-C60F55781654}"/>
              </a:ext>
            </a:extLst>
          </p:cNvPr>
          <p:cNvSpPr>
            <a:spLocks noGrp="1"/>
          </p:cNvSpPr>
          <p:nvPr>
            <p:ph type="sldNum" sz="quarter" idx="5"/>
          </p:nvPr>
        </p:nvSpPr>
        <p:spPr/>
        <p:txBody>
          <a:bodyPr/>
          <a:lstStyle/>
          <a:p>
            <a:fld id="{C6A5E348-0E32-436E-906A-2326BDCE49F6}" type="slidenum">
              <a:rPr lang="ko-KR" altLang="en-US" smtClean="0"/>
              <a:t>26</a:t>
            </a:fld>
            <a:endParaRPr lang="ko-KR" altLang="en-US"/>
          </a:p>
        </p:txBody>
      </p:sp>
    </p:spTree>
    <p:extLst>
      <p:ext uri="{BB962C8B-B14F-4D97-AF65-F5344CB8AC3E}">
        <p14:creationId xmlns:p14="http://schemas.microsoft.com/office/powerpoint/2010/main" val="4154576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D02E8-09B1-8B3A-56D4-E5C424F2E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3A8F2-25BC-AB0A-4FE9-D0BAA6E0F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7F507B-8439-7192-3B50-890F4E9695AA}"/>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0B4DF7B-D485-1CB4-FA61-A5D58C7E2093}"/>
              </a:ext>
            </a:extLst>
          </p:cNvPr>
          <p:cNvSpPr>
            <a:spLocks noGrp="1"/>
          </p:cNvSpPr>
          <p:nvPr>
            <p:ph type="sldNum" sz="quarter" idx="5"/>
          </p:nvPr>
        </p:nvSpPr>
        <p:spPr/>
        <p:txBody>
          <a:bodyPr/>
          <a:lstStyle/>
          <a:p>
            <a:fld id="{C6A5E348-0E32-436E-906A-2326BDCE49F6}" type="slidenum">
              <a:rPr lang="ko-KR" altLang="en-US" smtClean="0"/>
              <a:t>27</a:t>
            </a:fld>
            <a:endParaRPr lang="ko-KR" altLang="en-US"/>
          </a:p>
        </p:txBody>
      </p:sp>
    </p:spTree>
    <p:extLst>
      <p:ext uri="{BB962C8B-B14F-4D97-AF65-F5344CB8AC3E}">
        <p14:creationId xmlns:p14="http://schemas.microsoft.com/office/powerpoint/2010/main" val="33310574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9E60E-DA84-FABE-B477-E872F57B77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33C77-FA08-5822-7918-40E092A90E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4BB6C6-39F6-DD48-DF74-3701E6317DF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4ED62513-AD29-7248-4744-E67AF8CDFE24}"/>
              </a:ext>
            </a:extLst>
          </p:cNvPr>
          <p:cNvSpPr>
            <a:spLocks noGrp="1"/>
          </p:cNvSpPr>
          <p:nvPr>
            <p:ph type="sldNum" sz="quarter" idx="5"/>
          </p:nvPr>
        </p:nvSpPr>
        <p:spPr/>
        <p:txBody>
          <a:bodyPr/>
          <a:lstStyle/>
          <a:p>
            <a:fld id="{C6A5E348-0E32-436E-906A-2326BDCE49F6}" type="slidenum">
              <a:rPr lang="ko-KR" altLang="en-US" smtClean="0"/>
              <a:t>28</a:t>
            </a:fld>
            <a:endParaRPr lang="ko-KR" altLang="en-US"/>
          </a:p>
        </p:txBody>
      </p:sp>
    </p:spTree>
    <p:extLst>
      <p:ext uri="{BB962C8B-B14F-4D97-AF65-F5344CB8AC3E}">
        <p14:creationId xmlns:p14="http://schemas.microsoft.com/office/powerpoint/2010/main" val="33182342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57893-943A-55A1-5AAF-DC658A709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4B6D2-3174-A404-F3A2-8C5ED4F44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ED9346-E737-FD09-2147-110225C7B472}"/>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C53A38CA-F539-6A18-26C8-08D26A81AE43}"/>
              </a:ext>
            </a:extLst>
          </p:cNvPr>
          <p:cNvSpPr>
            <a:spLocks noGrp="1"/>
          </p:cNvSpPr>
          <p:nvPr>
            <p:ph type="sldNum" sz="quarter" idx="5"/>
          </p:nvPr>
        </p:nvSpPr>
        <p:spPr/>
        <p:txBody>
          <a:bodyPr/>
          <a:lstStyle/>
          <a:p>
            <a:fld id="{C6A5E348-0E32-436E-906A-2326BDCE49F6}" type="slidenum">
              <a:rPr lang="ko-KR" altLang="en-US" smtClean="0"/>
              <a:t>29</a:t>
            </a:fld>
            <a:endParaRPr lang="ko-KR" altLang="en-US"/>
          </a:p>
        </p:txBody>
      </p:sp>
    </p:spTree>
    <p:extLst>
      <p:ext uri="{BB962C8B-B14F-4D97-AF65-F5344CB8AC3E}">
        <p14:creationId xmlns:p14="http://schemas.microsoft.com/office/powerpoint/2010/main" val="7974592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24CFF-5251-64A8-9100-55942A995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927B3-A266-DA1F-7DA2-CC4D356437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64E333-DC1D-743B-31A9-A8286A6F71C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551902C-C50A-F539-630B-4FF59E65221B}"/>
              </a:ext>
            </a:extLst>
          </p:cNvPr>
          <p:cNvSpPr>
            <a:spLocks noGrp="1"/>
          </p:cNvSpPr>
          <p:nvPr>
            <p:ph type="sldNum" sz="quarter" idx="5"/>
          </p:nvPr>
        </p:nvSpPr>
        <p:spPr/>
        <p:txBody>
          <a:bodyPr/>
          <a:lstStyle/>
          <a:p>
            <a:fld id="{C6A5E348-0E32-436E-906A-2326BDCE49F6}" type="slidenum">
              <a:rPr lang="ko-KR" altLang="en-US" smtClean="0"/>
              <a:t>30</a:t>
            </a:fld>
            <a:endParaRPr lang="ko-KR" altLang="en-US"/>
          </a:p>
        </p:txBody>
      </p:sp>
    </p:spTree>
    <p:extLst>
      <p:ext uri="{BB962C8B-B14F-4D97-AF65-F5344CB8AC3E}">
        <p14:creationId xmlns:p14="http://schemas.microsoft.com/office/powerpoint/2010/main" val="20617502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1428B-A29C-8BD4-5B23-0941A5DB5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2557B-201B-3A5F-D1F4-19F9FEF60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C70839-00AB-8A4A-EAA0-C5A259A35B1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D03AAA4-8CD5-ED73-559C-A78B4150335B}"/>
              </a:ext>
            </a:extLst>
          </p:cNvPr>
          <p:cNvSpPr>
            <a:spLocks noGrp="1"/>
          </p:cNvSpPr>
          <p:nvPr>
            <p:ph type="sldNum" sz="quarter" idx="5"/>
          </p:nvPr>
        </p:nvSpPr>
        <p:spPr/>
        <p:txBody>
          <a:bodyPr/>
          <a:lstStyle/>
          <a:p>
            <a:fld id="{C6A5E348-0E32-436E-906A-2326BDCE49F6}" type="slidenum">
              <a:rPr lang="ko-KR" altLang="en-US" smtClean="0"/>
              <a:t>31</a:t>
            </a:fld>
            <a:endParaRPr lang="ko-KR" altLang="en-US"/>
          </a:p>
        </p:txBody>
      </p:sp>
    </p:spTree>
    <p:extLst>
      <p:ext uri="{BB962C8B-B14F-4D97-AF65-F5344CB8AC3E}">
        <p14:creationId xmlns:p14="http://schemas.microsoft.com/office/powerpoint/2010/main" val="36878485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383BA-7CF2-DF6F-94FC-78E5548AD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61135-4788-F50B-A1DA-087166DC9D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B44E0-B273-7421-96A5-9BD160E04DBA}"/>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D50FBA2-3E93-9DD0-5B4B-7D00D7BE311C}"/>
              </a:ext>
            </a:extLst>
          </p:cNvPr>
          <p:cNvSpPr>
            <a:spLocks noGrp="1"/>
          </p:cNvSpPr>
          <p:nvPr>
            <p:ph type="sldNum" sz="quarter" idx="5"/>
          </p:nvPr>
        </p:nvSpPr>
        <p:spPr/>
        <p:txBody>
          <a:bodyPr/>
          <a:lstStyle/>
          <a:p>
            <a:fld id="{C6A5E348-0E32-436E-906A-2326BDCE49F6}" type="slidenum">
              <a:rPr lang="ko-KR" altLang="en-US" smtClean="0"/>
              <a:t>32</a:t>
            </a:fld>
            <a:endParaRPr lang="ko-KR" altLang="en-US"/>
          </a:p>
        </p:txBody>
      </p:sp>
    </p:spTree>
    <p:extLst>
      <p:ext uri="{BB962C8B-B14F-4D97-AF65-F5344CB8AC3E}">
        <p14:creationId xmlns:p14="http://schemas.microsoft.com/office/powerpoint/2010/main" val="29286805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CD341-6BC6-BEF6-DACF-41571290EF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43480-0D78-E3AF-B85F-993DF72D28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7C64F-2CCC-B2A7-80B2-F5744A8C97D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EDC261E-F11D-66B0-1FF0-4971C8ECB38B}"/>
              </a:ext>
            </a:extLst>
          </p:cNvPr>
          <p:cNvSpPr>
            <a:spLocks noGrp="1"/>
          </p:cNvSpPr>
          <p:nvPr>
            <p:ph type="sldNum" sz="quarter" idx="5"/>
          </p:nvPr>
        </p:nvSpPr>
        <p:spPr/>
        <p:txBody>
          <a:bodyPr/>
          <a:lstStyle/>
          <a:p>
            <a:fld id="{C6A5E348-0E32-436E-906A-2326BDCE49F6}" type="slidenum">
              <a:rPr lang="ko-KR" altLang="en-US" smtClean="0"/>
              <a:t>33</a:t>
            </a:fld>
            <a:endParaRPr lang="ko-KR" altLang="en-US"/>
          </a:p>
        </p:txBody>
      </p:sp>
    </p:spTree>
    <p:extLst>
      <p:ext uri="{BB962C8B-B14F-4D97-AF65-F5344CB8AC3E}">
        <p14:creationId xmlns:p14="http://schemas.microsoft.com/office/powerpoint/2010/main" val="29898884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EB439-97B0-B3B9-884D-853A067EB3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3E0B3-45C7-B8E4-C842-D4B755CE2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4FEE0-DBA9-7597-08ED-C046F97B8DA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B0339FBC-8C70-88E7-AD7C-6B8D2BD98D3C}"/>
              </a:ext>
            </a:extLst>
          </p:cNvPr>
          <p:cNvSpPr>
            <a:spLocks noGrp="1"/>
          </p:cNvSpPr>
          <p:nvPr>
            <p:ph type="sldNum" sz="quarter" idx="5"/>
          </p:nvPr>
        </p:nvSpPr>
        <p:spPr/>
        <p:txBody>
          <a:bodyPr/>
          <a:lstStyle/>
          <a:p>
            <a:fld id="{C6A5E348-0E32-436E-906A-2326BDCE49F6}" type="slidenum">
              <a:rPr lang="ko-KR" altLang="en-US" smtClean="0"/>
              <a:t>34</a:t>
            </a:fld>
            <a:endParaRPr lang="ko-KR" altLang="en-US"/>
          </a:p>
        </p:txBody>
      </p:sp>
    </p:spTree>
    <p:extLst>
      <p:ext uri="{BB962C8B-B14F-4D97-AF65-F5344CB8AC3E}">
        <p14:creationId xmlns:p14="http://schemas.microsoft.com/office/powerpoint/2010/main" val="6054434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688E5-329E-ADF7-5722-F37EB4FCC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52B7D0-4441-B50F-5A19-F4998EB9E1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E9DAA-9012-8555-AF9A-A2C18DD2179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BF731185-8B38-0E0D-FC80-B912709BAF55}"/>
              </a:ext>
            </a:extLst>
          </p:cNvPr>
          <p:cNvSpPr>
            <a:spLocks noGrp="1"/>
          </p:cNvSpPr>
          <p:nvPr>
            <p:ph type="sldNum" sz="quarter" idx="5"/>
          </p:nvPr>
        </p:nvSpPr>
        <p:spPr/>
        <p:txBody>
          <a:bodyPr/>
          <a:lstStyle/>
          <a:p>
            <a:fld id="{C6A5E348-0E32-436E-906A-2326BDCE49F6}" type="slidenum">
              <a:rPr lang="ko-KR" altLang="en-US" smtClean="0"/>
              <a:t>35</a:t>
            </a:fld>
            <a:endParaRPr lang="ko-KR" altLang="en-US"/>
          </a:p>
        </p:txBody>
      </p:sp>
    </p:spTree>
    <p:extLst>
      <p:ext uri="{BB962C8B-B14F-4D97-AF65-F5344CB8AC3E}">
        <p14:creationId xmlns:p14="http://schemas.microsoft.com/office/powerpoint/2010/main" val="3055912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C73B8-45EA-DE74-3D97-6B3A9085A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56D62B-0577-6602-39F1-AB6B71B23A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D05B42-F657-9D28-0E72-12FAB1AECC06}"/>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AB750929-2F13-ECFE-38FB-12276BA2A48D}"/>
              </a:ext>
            </a:extLst>
          </p:cNvPr>
          <p:cNvSpPr>
            <a:spLocks noGrp="1"/>
          </p:cNvSpPr>
          <p:nvPr>
            <p:ph type="sldNum" sz="quarter" idx="5"/>
          </p:nvPr>
        </p:nvSpPr>
        <p:spPr/>
        <p:txBody>
          <a:bodyPr/>
          <a:lstStyle/>
          <a:p>
            <a:fld id="{C6A5E348-0E32-436E-906A-2326BDCE49F6}" type="slidenum">
              <a:rPr lang="ko-KR" altLang="en-US" smtClean="0"/>
              <a:t>36</a:t>
            </a:fld>
            <a:endParaRPr lang="ko-KR" altLang="en-US"/>
          </a:p>
        </p:txBody>
      </p:sp>
    </p:spTree>
    <p:extLst>
      <p:ext uri="{BB962C8B-B14F-4D97-AF65-F5344CB8AC3E}">
        <p14:creationId xmlns:p14="http://schemas.microsoft.com/office/powerpoint/2010/main" val="15360972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53EE4-F2A8-D23D-7685-842DFD5D2F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D7783B-22EA-5E14-C75B-A2E1771F5F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DF71EE-6E11-E481-64C6-C010EB910B3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AE2E29B4-C5A9-4AB1-C53F-9D5700287FD6}"/>
              </a:ext>
            </a:extLst>
          </p:cNvPr>
          <p:cNvSpPr>
            <a:spLocks noGrp="1"/>
          </p:cNvSpPr>
          <p:nvPr>
            <p:ph type="sldNum" sz="quarter" idx="5"/>
          </p:nvPr>
        </p:nvSpPr>
        <p:spPr/>
        <p:txBody>
          <a:bodyPr/>
          <a:lstStyle/>
          <a:p>
            <a:fld id="{C6A5E348-0E32-436E-906A-2326BDCE49F6}" type="slidenum">
              <a:rPr lang="ko-KR" altLang="en-US" smtClean="0"/>
              <a:t>37</a:t>
            </a:fld>
            <a:endParaRPr lang="ko-KR" altLang="en-US"/>
          </a:p>
        </p:txBody>
      </p:sp>
    </p:spTree>
    <p:extLst>
      <p:ext uri="{BB962C8B-B14F-4D97-AF65-F5344CB8AC3E}">
        <p14:creationId xmlns:p14="http://schemas.microsoft.com/office/powerpoint/2010/main" val="16228567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34533-6062-F645-ED9D-C37EF848D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9A0C5-106E-7983-02F3-0C69CE1D05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91AF17-293D-12CE-8D46-AAE4238ECAC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55785E64-E693-1A4C-FFE7-1FD4796C7FFB}"/>
              </a:ext>
            </a:extLst>
          </p:cNvPr>
          <p:cNvSpPr>
            <a:spLocks noGrp="1"/>
          </p:cNvSpPr>
          <p:nvPr>
            <p:ph type="sldNum" sz="quarter" idx="5"/>
          </p:nvPr>
        </p:nvSpPr>
        <p:spPr/>
        <p:txBody>
          <a:bodyPr/>
          <a:lstStyle/>
          <a:p>
            <a:fld id="{C6A5E348-0E32-436E-906A-2326BDCE49F6}" type="slidenum">
              <a:rPr lang="ko-KR" altLang="en-US" smtClean="0"/>
              <a:t>38</a:t>
            </a:fld>
            <a:endParaRPr lang="ko-KR" altLang="en-US"/>
          </a:p>
        </p:txBody>
      </p:sp>
    </p:spTree>
    <p:extLst>
      <p:ext uri="{BB962C8B-B14F-4D97-AF65-F5344CB8AC3E}">
        <p14:creationId xmlns:p14="http://schemas.microsoft.com/office/powerpoint/2010/main" val="27868819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56DCC-9C9F-F110-4856-B1CB9183E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79533-E4E6-C16E-BACD-E10FD5AD58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C86A9-642F-3125-58DA-235B025C87C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4B56F27-B229-B445-7FC0-05FD292C579C}"/>
              </a:ext>
            </a:extLst>
          </p:cNvPr>
          <p:cNvSpPr>
            <a:spLocks noGrp="1"/>
          </p:cNvSpPr>
          <p:nvPr>
            <p:ph type="sldNum" sz="quarter" idx="5"/>
          </p:nvPr>
        </p:nvSpPr>
        <p:spPr/>
        <p:txBody>
          <a:bodyPr/>
          <a:lstStyle/>
          <a:p>
            <a:fld id="{C6A5E348-0E32-436E-906A-2326BDCE49F6}" type="slidenum">
              <a:rPr lang="ko-KR" altLang="en-US" smtClean="0"/>
              <a:t>39</a:t>
            </a:fld>
            <a:endParaRPr lang="ko-KR" altLang="en-US"/>
          </a:p>
        </p:txBody>
      </p:sp>
    </p:spTree>
    <p:extLst>
      <p:ext uri="{BB962C8B-B14F-4D97-AF65-F5344CB8AC3E}">
        <p14:creationId xmlns:p14="http://schemas.microsoft.com/office/powerpoint/2010/main" val="23810540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94ABC-6D89-46AF-79BA-805686750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FF662-B59B-BDF4-0A1B-D23D04276E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E973AC-936E-1523-888A-F0CF42610A1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CECB32B-5AC9-D178-E174-29B7AAE20122}"/>
              </a:ext>
            </a:extLst>
          </p:cNvPr>
          <p:cNvSpPr>
            <a:spLocks noGrp="1"/>
          </p:cNvSpPr>
          <p:nvPr>
            <p:ph type="sldNum" sz="quarter" idx="5"/>
          </p:nvPr>
        </p:nvSpPr>
        <p:spPr/>
        <p:txBody>
          <a:bodyPr/>
          <a:lstStyle/>
          <a:p>
            <a:fld id="{C6A5E348-0E32-436E-906A-2326BDCE49F6}" type="slidenum">
              <a:rPr lang="ko-KR" altLang="en-US" smtClean="0"/>
              <a:t>40</a:t>
            </a:fld>
            <a:endParaRPr lang="ko-KR" altLang="en-US"/>
          </a:p>
        </p:txBody>
      </p:sp>
    </p:spTree>
    <p:extLst>
      <p:ext uri="{BB962C8B-B14F-4D97-AF65-F5344CB8AC3E}">
        <p14:creationId xmlns:p14="http://schemas.microsoft.com/office/powerpoint/2010/main" val="37619179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0D6E1-A23C-6F04-AFA8-D3C150ACFD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9A6656-DD55-189B-698D-F27C848564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0FAEB-469A-BBDD-646C-1397A4CE6D3A}"/>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42339E6C-5A94-7EFE-F269-3866B5B3485B}"/>
              </a:ext>
            </a:extLst>
          </p:cNvPr>
          <p:cNvSpPr>
            <a:spLocks noGrp="1"/>
          </p:cNvSpPr>
          <p:nvPr>
            <p:ph type="sldNum" sz="quarter" idx="5"/>
          </p:nvPr>
        </p:nvSpPr>
        <p:spPr/>
        <p:txBody>
          <a:bodyPr/>
          <a:lstStyle/>
          <a:p>
            <a:fld id="{C6A5E348-0E32-436E-906A-2326BDCE49F6}" type="slidenum">
              <a:rPr lang="ko-KR" altLang="en-US" smtClean="0"/>
              <a:t>41</a:t>
            </a:fld>
            <a:endParaRPr lang="ko-KR" altLang="en-US"/>
          </a:p>
        </p:txBody>
      </p:sp>
    </p:spTree>
    <p:extLst>
      <p:ext uri="{BB962C8B-B14F-4D97-AF65-F5344CB8AC3E}">
        <p14:creationId xmlns:p14="http://schemas.microsoft.com/office/powerpoint/2010/main" val="42828231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553C5-06D6-6A87-F35C-B6C4020A8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DA2F7-8870-8782-9F50-3F82FC8550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A1105-930A-D00F-F558-B65A86815E27}"/>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E4882CB2-7CFA-A4B0-99BD-2AA7ADAF94C3}"/>
              </a:ext>
            </a:extLst>
          </p:cNvPr>
          <p:cNvSpPr>
            <a:spLocks noGrp="1"/>
          </p:cNvSpPr>
          <p:nvPr>
            <p:ph type="sldNum" sz="quarter" idx="5"/>
          </p:nvPr>
        </p:nvSpPr>
        <p:spPr/>
        <p:txBody>
          <a:bodyPr/>
          <a:lstStyle/>
          <a:p>
            <a:fld id="{C6A5E348-0E32-436E-906A-2326BDCE49F6}" type="slidenum">
              <a:rPr lang="ko-KR" altLang="en-US" smtClean="0"/>
              <a:t>42</a:t>
            </a:fld>
            <a:endParaRPr lang="ko-KR" altLang="en-US"/>
          </a:p>
        </p:txBody>
      </p:sp>
    </p:spTree>
    <p:extLst>
      <p:ext uri="{BB962C8B-B14F-4D97-AF65-F5344CB8AC3E}">
        <p14:creationId xmlns:p14="http://schemas.microsoft.com/office/powerpoint/2010/main" val="32036125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CC7B9-07A0-B163-1B13-0F273C7C8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BE313-0C1E-BDF6-BF9E-8905F4D79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0D5099-B584-8A63-5B4D-60AC93FAAFD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716545C-BC9C-5B6D-F544-78AB3CC5CD62}"/>
              </a:ext>
            </a:extLst>
          </p:cNvPr>
          <p:cNvSpPr>
            <a:spLocks noGrp="1"/>
          </p:cNvSpPr>
          <p:nvPr>
            <p:ph type="sldNum" sz="quarter" idx="5"/>
          </p:nvPr>
        </p:nvSpPr>
        <p:spPr/>
        <p:txBody>
          <a:bodyPr/>
          <a:lstStyle/>
          <a:p>
            <a:fld id="{C6A5E348-0E32-436E-906A-2326BDCE49F6}" type="slidenum">
              <a:rPr lang="ko-KR" altLang="en-US" smtClean="0"/>
              <a:t>43</a:t>
            </a:fld>
            <a:endParaRPr lang="ko-KR" altLang="en-US"/>
          </a:p>
        </p:txBody>
      </p:sp>
    </p:spTree>
    <p:extLst>
      <p:ext uri="{BB962C8B-B14F-4D97-AF65-F5344CB8AC3E}">
        <p14:creationId xmlns:p14="http://schemas.microsoft.com/office/powerpoint/2010/main" val="19807986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195C7-DB61-9D6D-2F0A-86D76144A4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0A02C-6B65-206B-CF47-7E732455D6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E2321-69F2-F855-8ED0-D432C9DA757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A616CB5-8F47-099D-2C6E-0A9B7E0E5EF8}"/>
              </a:ext>
            </a:extLst>
          </p:cNvPr>
          <p:cNvSpPr>
            <a:spLocks noGrp="1"/>
          </p:cNvSpPr>
          <p:nvPr>
            <p:ph type="sldNum" sz="quarter" idx="5"/>
          </p:nvPr>
        </p:nvSpPr>
        <p:spPr/>
        <p:txBody>
          <a:bodyPr/>
          <a:lstStyle/>
          <a:p>
            <a:fld id="{C6A5E348-0E32-436E-906A-2326BDCE49F6}" type="slidenum">
              <a:rPr lang="ko-KR" altLang="en-US" smtClean="0"/>
              <a:t>44</a:t>
            </a:fld>
            <a:endParaRPr lang="ko-KR" altLang="en-US"/>
          </a:p>
        </p:txBody>
      </p:sp>
    </p:spTree>
    <p:extLst>
      <p:ext uri="{BB962C8B-B14F-4D97-AF65-F5344CB8AC3E}">
        <p14:creationId xmlns:p14="http://schemas.microsoft.com/office/powerpoint/2010/main" val="25277079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A7DF4-83E5-5F70-3E16-EFA6DBB43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B67A1-883A-AC69-BCC7-A3690803F5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3A82B-D9C6-14B9-09AF-3C1517A9361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2187E07-5761-44FC-4381-694D0582FCC7}"/>
              </a:ext>
            </a:extLst>
          </p:cNvPr>
          <p:cNvSpPr>
            <a:spLocks noGrp="1"/>
          </p:cNvSpPr>
          <p:nvPr>
            <p:ph type="sldNum" sz="quarter" idx="5"/>
          </p:nvPr>
        </p:nvSpPr>
        <p:spPr/>
        <p:txBody>
          <a:bodyPr/>
          <a:lstStyle/>
          <a:p>
            <a:fld id="{C6A5E348-0E32-436E-906A-2326BDCE49F6}" type="slidenum">
              <a:rPr lang="ko-KR" altLang="en-US" smtClean="0"/>
              <a:t>45</a:t>
            </a:fld>
            <a:endParaRPr lang="ko-KR" altLang="en-US"/>
          </a:p>
        </p:txBody>
      </p:sp>
    </p:spTree>
    <p:extLst>
      <p:ext uri="{BB962C8B-B14F-4D97-AF65-F5344CB8AC3E}">
        <p14:creationId xmlns:p14="http://schemas.microsoft.com/office/powerpoint/2010/main" val="36766607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EB28B-0D02-D54B-4E0F-0599FC525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431FA-5D68-8A5F-4CBE-6809FD86C1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69BCC7-FBAF-9D9B-A4B2-738B32E10C2C}"/>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FAFD37B-2D47-5219-EDD2-F1397DA6F81C}"/>
              </a:ext>
            </a:extLst>
          </p:cNvPr>
          <p:cNvSpPr>
            <a:spLocks noGrp="1"/>
          </p:cNvSpPr>
          <p:nvPr>
            <p:ph type="sldNum" sz="quarter" idx="5"/>
          </p:nvPr>
        </p:nvSpPr>
        <p:spPr/>
        <p:txBody>
          <a:bodyPr/>
          <a:lstStyle/>
          <a:p>
            <a:fld id="{C6A5E348-0E32-436E-906A-2326BDCE49F6}" type="slidenum">
              <a:rPr lang="ko-KR" altLang="en-US" smtClean="0"/>
              <a:t>46</a:t>
            </a:fld>
            <a:endParaRPr lang="ko-KR" altLang="en-US"/>
          </a:p>
        </p:txBody>
      </p:sp>
    </p:spTree>
    <p:extLst>
      <p:ext uri="{BB962C8B-B14F-4D97-AF65-F5344CB8AC3E}">
        <p14:creationId xmlns:p14="http://schemas.microsoft.com/office/powerpoint/2010/main" val="12192693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A1FB7-4C0B-BE16-53EE-790A01A9E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934612-5DEF-C133-0A97-7E85E4E64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541822-0209-331B-6AF5-09DC9B7B439F}"/>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343E8541-10A2-19BC-93C9-44A451D635C8}"/>
              </a:ext>
            </a:extLst>
          </p:cNvPr>
          <p:cNvSpPr>
            <a:spLocks noGrp="1"/>
          </p:cNvSpPr>
          <p:nvPr>
            <p:ph type="sldNum" sz="quarter" idx="5"/>
          </p:nvPr>
        </p:nvSpPr>
        <p:spPr/>
        <p:txBody>
          <a:bodyPr/>
          <a:lstStyle/>
          <a:p>
            <a:fld id="{C6A5E348-0E32-436E-906A-2326BDCE49F6}" type="slidenum">
              <a:rPr lang="ko-KR" altLang="en-US" smtClean="0"/>
              <a:t>47</a:t>
            </a:fld>
            <a:endParaRPr lang="ko-KR" altLang="en-US"/>
          </a:p>
        </p:txBody>
      </p:sp>
    </p:spTree>
    <p:extLst>
      <p:ext uri="{BB962C8B-B14F-4D97-AF65-F5344CB8AC3E}">
        <p14:creationId xmlns:p14="http://schemas.microsoft.com/office/powerpoint/2010/main" val="1455328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A805B-B47E-D570-2989-6D7592756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AB7BE-B4CC-6A40-77B8-3907E1D83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7A779-C63E-B4CB-475F-800BF1173E3F}"/>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C8384494-8B24-1E54-97AC-13BC97CC05CD}"/>
              </a:ext>
            </a:extLst>
          </p:cNvPr>
          <p:cNvSpPr>
            <a:spLocks noGrp="1"/>
          </p:cNvSpPr>
          <p:nvPr>
            <p:ph type="sldNum" sz="quarter" idx="5"/>
          </p:nvPr>
        </p:nvSpPr>
        <p:spPr/>
        <p:txBody>
          <a:bodyPr/>
          <a:lstStyle/>
          <a:p>
            <a:fld id="{C6A5E348-0E32-436E-906A-2326BDCE49F6}" type="slidenum">
              <a:rPr lang="ko-KR" altLang="en-US" smtClean="0"/>
              <a:t>48</a:t>
            </a:fld>
            <a:endParaRPr lang="ko-KR" altLang="en-US"/>
          </a:p>
        </p:txBody>
      </p:sp>
    </p:spTree>
    <p:extLst>
      <p:ext uri="{BB962C8B-B14F-4D97-AF65-F5344CB8AC3E}">
        <p14:creationId xmlns:p14="http://schemas.microsoft.com/office/powerpoint/2010/main" val="9363288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D1252-37AE-6979-A899-CD39A3395B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C8644-7DDE-7DEC-6CCF-DD550B6D93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6B69B2-8960-2113-F436-42259F65668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C780EA2F-CB6C-EFB8-5740-9C75F0B3AE33}"/>
              </a:ext>
            </a:extLst>
          </p:cNvPr>
          <p:cNvSpPr>
            <a:spLocks noGrp="1"/>
          </p:cNvSpPr>
          <p:nvPr>
            <p:ph type="sldNum" sz="quarter" idx="5"/>
          </p:nvPr>
        </p:nvSpPr>
        <p:spPr/>
        <p:txBody>
          <a:bodyPr/>
          <a:lstStyle/>
          <a:p>
            <a:fld id="{C6A5E348-0E32-436E-906A-2326BDCE49F6}" type="slidenum">
              <a:rPr lang="ko-KR" altLang="en-US" smtClean="0"/>
              <a:t>49</a:t>
            </a:fld>
            <a:endParaRPr lang="ko-KR" altLang="en-US"/>
          </a:p>
        </p:txBody>
      </p:sp>
    </p:spTree>
    <p:extLst>
      <p:ext uri="{BB962C8B-B14F-4D97-AF65-F5344CB8AC3E}">
        <p14:creationId xmlns:p14="http://schemas.microsoft.com/office/powerpoint/2010/main" val="20629755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484D4-0FCC-98A8-1B95-78BCB8D3B6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E27A7-DC6D-AD81-4E0D-9F12B26B9B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8BF787-D850-B2A8-2193-971619A52E96}"/>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66AEECC-D12B-2F41-C355-3C57BA8505CC}"/>
              </a:ext>
            </a:extLst>
          </p:cNvPr>
          <p:cNvSpPr>
            <a:spLocks noGrp="1"/>
          </p:cNvSpPr>
          <p:nvPr>
            <p:ph type="sldNum" sz="quarter" idx="5"/>
          </p:nvPr>
        </p:nvSpPr>
        <p:spPr/>
        <p:txBody>
          <a:bodyPr/>
          <a:lstStyle/>
          <a:p>
            <a:fld id="{C6A5E348-0E32-436E-906A-2326BDCE49F6}" type="slidenum">
              <a:rPr lang="ko-KR" altLang="en-US" smtClean="0"/>
              <a:t>50</a:t>
            </a:fld>
            <a:endParaRPr lang="ko-KR" altLang="en-US"/>
          </a:p>
        </p:txBody>
      </p:sp>
    </p:spTree>
    <p:extLst>
      <p:ext uri="{BB962C8B-B14F-4D97-AF65-F5344CB8AC3E}">
        <p14:creationId xmlns:p14="http://schemas.microsoft.com/office/powerpoint/2010/main" val="72500517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1B18A-2A30-3A02-C599-1D9E261D8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8F81F-86A7-49E7-0122-7C15CAB835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A72587-0697-0747-70F9-02BF24C6178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A5D35F93-D62E-DD75-5438-C14A0788972A}"/>
              </a:ext>
            </a:extLst>
          </p:cNvPr>
          <p:cNvSpPr>
            <a:spLocks noGrp="1"/>
          </p:cNvSpPr>
          <p:nvPr>
            <p:ph type="sldNum" sz="quarter" idx="5"/>
          </p:nvPr>
        </p:nvSpPr>
        <p:spPr/>
        <p:txBody>
          <a:bodyPr/>
          <a:lstStyle/>
          <a:p>
            <a:fld id="{C6A5E348-0E32-436E-906A-2326BDCE49F6}" type="slidenum">
              <a:rPr lang="ko-KR" altLang="en-US" smtClean="0"/>
              <a:t>51</a:t>
            </a:fld>
            <a:endParaRPr lang="ko-KR" altLang="en-US"/>
          </a:p>
        </p:txBody>
      </p:sp>
    </p:spTree>
    <p:extLst>
      <p:ext uri="{BB962C8B-B14F-4D97-AF65-F5344CB8AC3E}">
        <p14:creationId xmlns:p14="http://schemas.microsoft.com/office/powerpoint/2010/main" val="15559324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ACCF1-DCAD-7D70-FE29-141C63D601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10BCB-1773-9758-E4D9-885470AD1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43AF1-ED97-454F-9FD9-F9F27C625C1D}"/>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EA6A9971-4825-A9BC-4701-2114B156CE22}"/>
              </a:ext>
            </a:extLst>
          </p:cNvPr>
          <p:cNvSpPr>
            <a:spLocks noGrp="1"/>
          </p:cNvSpPr>
          <p:nvPr>
            <p:ph type="sldNum" sz="quarter" idx="5"/>
          </p:nvPr>
        </p:nvSpPr>
        <p:spPr/>
        <p:txBody>
          <a:bodyPr/>
          <a:lstStyle/>
          <a:p>
            <a:fld id="{C6A5E348-0E32-436E-906A-2326BDCE49F6}" type="slidenum">
              <a:rPr lang="ko-KR" altLang="en-US" smtClean="0"/>
              <a:t>52</a:t>
            </a:fld>
            <a:endParaRPr lang="ko-KR" altLang="en-US"/>
          </a:p>
        </p:txBody>
      </p:sp>
    </p:spTree>
    <p:extLst>
      <p:ext uri="{BB962C8B-B14F-4D97-AF65-F5344CB8AC3E}">
        <p14:creationId xmlns:p14="http://schemas.microsoft.com/office/powerpoint/2010/main" val="23315970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3F46A-65F4-9C80-3DBC-58FA6B82E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1FDA1-4AE3-D258-8CB4-2C205B6717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FE0414-3BA8-4F7E-6CF7-A1BF01D9858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CC12E89C-CD03-E1B8-C428-A18F08853A41}"/>
              </a:ext>
            </a:extLst>
          </p:cNvPr>
          <p:cNvSpPr>
            <a:spLocks noGrp="1"/>
          </p:cNvSpPr>
          <p:nvPr>
            <p:ph type="sldNum" sz="quarter" idx="5"/>
          </p:nvPr>
        </p:nvSpPr>
        <p:spPr/>
        <p:txBody>
          <a:bodyPr/>
          <a:lstStyle/>
          <a:p>
            <a:fld id="{C6A5E348-0E32-436E-906A-2326BDCE49F6}" type="slidenum">
              <a:rPr lang="ko-KR" altLang="en-US" smtClean="0"/>
              <a:t>53</a:t>
            </a:fld>
            <a:endParaRPr lang="ko-KR" altLang="en-US"/>
          </a:p>
        </p:txBody>
      </p:sp>
    </p:spTree>
    <p:extLst>
      <p:ext uri="{BB962C8B-B14F-4D97-AF65-F5344CB8AC3E}">
        <p14:creationId xmlns:p14="http://schemas.microsoft.com/office/powerpoint/2010/main" val="363028439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E53CF-9AE0-F4CB-B985-B68007EAA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732CD-FDB1-DDCC-1857-A5CCEA1D8A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F4867-365A-B9D1-2D51-1D76EFFA23DF}"/>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A14EBFAF-8AFD-F1E2-7008-5F8CC75065CA}"/>
              </a:ext>
            </a:extLst>
          </p:cNvPr>
          <p:cNvSpPr>
            <a:spLocks noGrp="1"/>
          </p:cNvSpPr>
          <p:nvPr>
            <p:ph type="sldNum" sz="quarter" idx="5"/>
          </p:nvPr>
        </p:nvSpPr>
        <p:spPr/>
        <p:txBody>
          <a:bodyPr/>
          <a:lstStyle/>
          <a:p>
            <a:fld id="{C6A5E348-0E32-436E-906A-2326BDCE49F6}" type="slidenum">
              <a:rPr lang="ko-KR" altLang="en-US" smtClean="0"/>
              <a:t>54</a:t>
            </a:fld>
            <a:endParaRPr lang="ko-KR" altLang="en-US"/>
          </a:p>
        </p:txBody>
      </p:sp>
    </p:spTree>
    <p:extLst>
      <p:ext uri="{BB962C8B-B14F-4D97-AF65-F5344CB8AC3E}">
        <p14:creationId xmlns:p14="http://schemas.microsoft.com/office/powerpoint/2010/main" val="14864429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9C095-F3CC-D2C3-33EB-6DA7E22035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EC927-D44B-7B21-0EE9-7A577D153B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48121B-63A2-7AE5-F3B6-94E814F27415}"/>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4E90FEB-7883-68B5-597D-E953679EFD4C}"/>
              </a:ext>
            </a:extLst>
          </p:cNvPr>
          <p:cNvSpPr>
            <a:spLocks noGrp="1"/>
          </p:cNvSpPr>
          <p:nvPr>
            <p:ph type="sldNum" sz="quarter" idx="5"/>
          </p:nvPr>
        </p:nvSpPr>
        <p:spPr/>
        <p:txBody>
          <a:bodyPr/>
          <a:lstStyle/>
          <a:p>
            <a:fld id="{C6A5E348-0E32-436E-906A-2326BDCE49F6}" type="slidenum">
              <a:rPr lang="ko-KR" altLang="en-US" smtClean="0"/>
              <a:t>55</a:t>
            </a:fld>
            <a:endParaRPr lang="ko-KR" altLang="en-US"/>
          </a:p>
        </p:txBody>
      </p:sp>
    </p:spTree>
    <p:extLst>
      <p:ext uri="{BB962C8B-B14F-4D97-AF65-F5344CB8AC3E}">
        <p14:creationId xmlns:p14="http://schemas.microsoft.com/office/powerpoint/2010/main" val="31383789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2E1B8-5661-8973-CE52-159F0A433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1F86FB-9D04-5186-AD9F-A9EB338039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B9DA9B-831D-E695-D6CD-95EDDE21B83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28F1D8A-1C9A-9095-2DDA-B71DBF1C6458}"/>
              </a:ext>
            </a:extLst>
          </p:cNvPr>
          <p:cNvSpPr>
            <a:spLocks noGrp="1"/>
          </p:cNvSpPr>
          <p:nvPr>
            <p:ph type="sldNum" sz="quarter" idx="5"/>
          </p:nvPr>
        </p:nvSpPr>
        <p:spPr/>
        <p:txBody>
          <a:bodyPr/>
          <a:lstStyle/>
          <a:p>
            <a:fld id="{C6A5E348-0E32-436E-906A-2326BDCE49F6}" type="slidenum">
              <a:rPr lang="ko-KR" altLang="en-US" smtClean="0"/>
              <a:t>56</a:t>
            </a:fld>
            <a:endParaRPr lang="ko-KR" altLang="en-US"/>
          </a:p>
        </p:txBody>
      </p:sp>
    </p:spTree>
    <p:extLst>
      <p:ext uri="{BB962C8B-B14F-4D97-AF65-F5344CB8AC3E}">
        <p14:creationId xmlns:p14="http://schemas.microsoft.com/office/powerpoint/2010/main" val="33187838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ED33A-867B-EC56-ACC9-072A48DD5A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05210-080E-2AF0-5D9F-DBB23F6E05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417AC9-2A65-08DF-A727-C6759757A09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036F979-9D4F-A73A-3061-49B32C360F71}"/>
              </a:ext>
            </a:extLst>
          </p:cNvPr>
          <p:cNvSpPr>
            <a:spLocks noGrp="1"/>
          </p:cNvSpPr>
          <p:nvPr>
            <p:ph type="sldNum" sz="quarter" idx="5"/>
          </p:nvPr>
        </p:nvSpPr>
        <p:spPr/>
        <p:txBody>
          <a:bodyPr/>
          <a:lstStyle/>
          <a:p>
            <a:fld id="{C6A5E348-0E32-436E-906A-2326BDCE49F6}" type="slidenum">
              <a:rPr lang="ko-KR" altLang="en-US" smtClean="0"/>
              <a:t>57</a:t>
            </a:fld>
            <a:endParaRPr lang="ko-KR" altLang="en-US"/>
          </a:p>
        </p:txBody>
      </p:sp>
    </p:spTree>
    <p:extLst>
      <p:ext uri="{BB962C8B-B14F-4D97-AF65-F5344CB8AC3E}">
        <p14:creationId xmlns:p14="http://schemas.microsoft.com/office/powerpoint/2010/main" val="230265620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AA4E8-B222-3C84-DDAA-3E2B7E06C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64311-34C0-C4A4-63E5-C37414E9FA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7BF9DA-0F80-6880-7292-3F4531836913}"/>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F6D2563-3F7A-3029-08DA-7BB5C169DA5A}"/>
              </a:ext>
            </a:extLst>
          </p:cNvPr>
          <p:cNvSpPr>
            <a:spLocks noGrp="1"/>
          </p:cNvSpPr>
          <p:nvPr>
            <p:ph type="sldNum" sz="quarter" idx="5"/>
          </p:nvPr>
        </p:nvSpPr>
        <p:spPr/>
        <p:txBody>
          <a:bodyPr/>
          <a:lstStyle/>
          <a:p>
            <a:fld id="{C6A5E348-0E32-436E-906A-2326BDCE49F6}" type="slidenum">
              <a:rPr lang="ko-KR" altLang="en-US" smtClean="0"/>
              <a:t>58</a:t>
            </a:fld>
            <a:endParaRPr lang="ko-KR" altLang="en-US"/>
          </a:p>
        </p:txBody>
      </p:sp>
    </p:spTree>
    <p:extLst>
      <p:ext uri="{BB962C8B-B14F-4D97-AF65-F5344CB8AC3E}">
        <p14:creationId xmlns:p14="http://schemas.microsoft.com/office/powerpoint/2010/main" val="33635078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DFA45-C0DA-BB21-4654-CDDA79AF90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AE2D8-0879-64AC-C7CB-7BA8E3A613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4D9E1E-3392-28AF-E2B5-C6A40580CE22}"/>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C4C98118-973D-3575-ADC2-2C3F4C472A1E}"/>
              </a:ext>
            </a:extLst>
          </p:cNvPr>
          <p:cNvSpPr>
            <a:spLocks noGrp="1"/>
          </p:cNvSpPr>
          <p:nvPr>
            <p:ph type="sldNum" sz="quarter" idx="5"/>
          </p:nvPr>
        </p:nvSpPr>
        <p:spPr/>
        <p:txBody>
          <a:bodyPr/>
          <a:lstStyle/>
          <a:p>
            <a:fld id="{C6A5E348-0E32-436E-906A-2326BDCE49F6}" type="slidenum">
              <a:rPr lang="ko-KR" altLang="en-US" smtClean="0"/>
              <a:t>59</a:t>
            </a:fld>
            <a:endParaRPr lang="ko-KR" altLang="en-US"/>
          </a:p>
        </p:txBody>
      </p:sp>
    </p:spTree>
    <p:extLst>
      <p:ext uri="{BB962C8B-B14F-4D97-AF65-F5344CB8AC3E}">
        <p14:creationId xmlns:p14="http://schemas.microsoft.com/office/powerpoint/2010/main" val="2693234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35D3B-49AE-B366-0253-D161CD5D4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5DDF39-7005-FBC2-9AAB-16E2D7520E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03DA7F-489B-21B0-05B3-ED65D3054BDD}"/>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3AF7C9BD-ED75-C333-2B62-0F35B4326ED6}"/>
              </a:ext>
            </a:extLst>
          </p:cNvPr>
          <p:cNvSpPr>
            <a:spLocks noGrp="1"/>
          </p:cNvSpPr>
          <p:nvPr>
            <p:ph type="sldNum" sz="quarter" idx="5"/>
          </p:nvPr>
        </p:nvSpPr>
        <p:spPr/>
        <p:txBody>
          <a:bodyPr/>
          <a:lstStyle/>
          <a:p>
            <a:fld id="{C6A5E348-0E32-436E-906A-2326BDCE49F6}" type="slidenum">
              <a:rPr lang="ko-KR" altLang="en-US" smtClean="0"/>
              <a:t>60</a:t>
            </a:fld>
            <a:endParaRPr lang="ko-KR" altLang="en-US"/>
          </a:p>
        </p:txBody>
      </p:sp>
    </p:spTree>
    <p:extLst>
      <p:ext uri="{BB962C8B-B14F-4D97-AF65-F5344CB8AC3E}">
        <p14:creationId xmlns:p14="http://schemas.microsoft.com/office/powerpoint/2010/main" val="413370265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25CC6-F3D2-FD5B-3C4F-734BD24FF9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541596-B114-EF15-F41F-F41B3366A8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A27874-21F1-03F4-08D8-91857FEDF3E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D18A52B-52FC-D35A-ADC1-F7C7A3627FA3}"/>
              </a:ext>
            </a:extLst>
          </p:cNvPr>
          <p:cNvSpPr>
            <a:spLocks noGrp="1"/>
          </p:cNvSpPr>
          <p:nvPr>
            <p:ph type="sldNum" sz="quarter" idx="5"/>
          </p:nvPr>
        </p:nvSpPr>
        <p:spPr/>
        <p:txBody>
          <a:bodyPr/>
          <a:lstStyle/>
          <a:p>
            <a:fld id="{C6A5E348-0E32-436E-906A-2326BDCE49F6}" type="slidenum">
              <a:rPr lang="ko-KR" altLang="en-US" smtClean="0"/>
              <a:t>61</a:t>
            </a:fld>
            <a:endParaRPr lang="ko-KR" altLang="en-US"/>
          </a:p>
        </p:txBody>
      </p:sp>
    </p:spTree>
    <p:extLst>
      <p:ext uri="{BB962C8B-B14F-4D97-AF65-F5344CB8AC3E}">
        <p14:creationId xmlns:p14="http://schemas.microsoft.com/office/powerpoint/2010/main" val="223567324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118C9-EE0F-FC76-4C7D-80F595D75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9B0EAE-EAFD-601F-D13B-76691002EF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7B2B17-7090-D62C-BC45-D4C68A50B2B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8F34DD9-3205-8A4F-130D-9124FD0589BC}"/>
              </a:ext>
            </a:extLst>
          </p:cNvPr>
          <p:cNvSpPr>
            <a:spLocks noGrp="1"/>
          </p:cNvSpPr>
          <p:nvPr>
            <p:ph type="sldNum" sz="quarter" idx="5"/>
          </p:nvPr>
        </p:nvSpPr>
        <p:spPr/>
        <p:txBody>
          <a:bodyPr/>
          <a:lstStyle/>
          <a:p>
            <a:fld id="{C6A5E348-0E32-436E-906A-2326BDCE49F6}" type="slidenum">
              <a:rPr lang="ko-KR" altLang="en-US" smtClean="0"/>
              <a:t>62</a:t>
            </a:fld>
            <a:endParaRPr lang="ko-KR" altLang="en-US"/>
          </a:p>
        </p:txBody>
      </p:sp>
    </p:spTree>
    <p:extLst>
      <p:ext uri="{BB962C8B-B14F-4D97-AF65-F5344CB8AC3E}">
        <p14:creationId xmlns:p14="http://schemas.microsoft.com/office/powerpoint/2010/main" val="6469354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1C969-4E21-530C-B6D8-ABF794AD11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E050C6-2F37-31FA-6DC3-C37A22C0E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48B65-3F02-8989-7AAE-5DF612876725}"/>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C15D742-D0EB-E09B-3A6F-8AFBF232FD76}"/>
              </a:ext>
            </a:extLst>
          </p:cNvPr>
          <p:cNvSpPr>
            <a:spLocks noGrp="1"/>
          </p:cNvSpPr>
          <p:nvPr>
            <p:ph type="sldNum" sz="quarter" idx="5"/>
          </p:nvPr>
        </p:nvSpPr>
        <p:spPr/>
        <p:txBody>
          <a:bodyPr/>
          <a:lstStyle/>
          <a:p>
            <a:fld id="{C6A5E348-0E32-436E-906A-2326BDCE49F6}" type="slidenum">
              <a:rPr lang="ko-KR" altLang="en-US" smtClean="0"/>
              <a:t>63</a:t>
            </a:fld>
            <a:endParaRPr lang="ko-KR" altLang="en-US"/>
          </a:p>
        </p:txBody>
      </p:sp>
    </p:spTree>
    <p:extLst>
      <p:ext uri="{BB962C8B-B14F-4D97-AF65-F5344CB8AC3E}">
        <p14:creationId xmlns:p14="http://schemas.microsoft.com/office/powerpoint/2010/main" val="61349285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F3403-2BA7-7C60-DE18-16A14E5EA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64FBA-4448-BF69-9855-EC67FF862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E9300-878C-E389-DCF5-8F8E2A1A4D9C}"/>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577F76C1-AB49-8C1D-B8FC-4A12634039A6}"/>
              </a:ext>
            </a:extLst>
          </p:cNvPr>
          <p:cNvSpPr>
            <a:spLocks noGrp="1"/>
          </p:cNvSpPr>
          <p:nvPr>
            <p:ph type="sldNum" sz="quarter" idx="5"/>
          </p:nvPr>
        </p:nvSpPr>
        <p:spPr/>
        <p:txBody>
          <a:bodyPr/>
          <a:lstStyle/>
          <a:p>
            <a:fld id="{C6A5E348-0E32-436E-906A-2326BDCE49F6}" type="slidenum">
              <a:rPr lang="ko-KR" altLang="en-US" smtClean="0"/>
              <a:t>64</a:t>
            </a:fld>
            <a:endParaRPr lang="ko-KR" altLang="en-US"/>
          </a:p>
        </p:txBody>
      </p:sp>
    </p:spTree>
    <p:extLst>
      <p:ext uri="{BB962C8B-B14F-4D97-AF65-F5344CB8AC3E}">
        <p14:creationId xmlns:p14="http://schemas.microsoft.com/office/powerpoint/2010/main" val="11290004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49200-34A3-5B19-DACB-62F781333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8003C7-F87C-3935-F3F0-803D02A715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364D7-6E28-FAC0-24AE-1FBEC5AA1A0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DBA1E165-A705-803B-BF29-B2DAA1995B7A}"/>
              </a:ext>
            </a:extLst>
          </p:cNvPr>
          <p:cNvSpPr>
            <a:spLocks noGrp="1"/>
          </p:cNvSpPr>
          <p:nvPr>
            <p:ph type="sldNum" sz="quarter" idx="5"/>
          </p:nvPr>
        </p:nvSpPr>
        <p:spPr/>
        <p:txBody>
          <a:bodyPr/>
          <a:lstStyle/>
          <a:p>
            <a:fld id="{C6A5E348-0E32-436E-906A-2326BDCE49F6}" type="slidenum">
              <a:rPr lang="ko-KR" altLang="en-US" smtClean="0"/>
              <a:t>65</a:t>
            </a:fld>
            <a:endParaRPr lang="ko-KR" altLang="en-US"/>
          </a:p>
        </p:txBody>
      </p:sp>
    </p:spTree>
    <p:extLst>
      <p:ext uri="{BB962C8B-B14F-4D97-AF65-F5344CB8AC3E}">
        <p14:creationId xmlns:p14="http://schemas.microsoft.com/office/powerpoint/2010/main" val="30180957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5BC30-0D8E-A31A-6FE7-FBAEB13E6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7DD9D6-10F3-6AFD-A8FF-950BAF4402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E21E2-6DC6-2FA7-BF2F-3A40B7DED4AF}"/>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63815F3-E15E-CBEB-E2D7-0EEEEB2DA8C3}"/>
              </a:ext>
            </a:extLst>
          </p:cNvPr>
          <p:cNvSpPr>
            <a:spLocks noGrp="1"/>
          </p:cNvSpPr>
          <p:nvPr>
            <p:ph type="sldNum" sz="quarter" idx="5"/>
          </p:nvPr>
        </p:nvSpPr>
        <p:spPr/>
        <p:txBody>
          <a:bodyPr/>
          <a:lstStyle/>
          <a:p>
            <a:fld id="{C6A5E348-0E32-436E-906A-2326BDCE49F6}" type="slidenum">
              <a:rPr lang="ko-KR" altLang="en-US" smtClean="0"/>
              <a:t>66</a:t>
            </a:fld>
            <a:endParaRPr lang="ko-KR" altLang="en-US"/>
          </a:p>
        </p:txBody>
      </p:sp>
    </p:spTree>
    <p:extLst>
      <p:ext uri="{BB962C8B-B14F-4D97-AF65-F5344CB8AC3E}">
        <p14:creationId xmlns:p14="http://schemas.microsoft.com/office/powerpoint/2010/main" val="6246340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CED1C-0CB4-68F3-CAD3-126B1D486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123F6-A133-6F13-6E7B-953B92D437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28E06-CD6F-5791-DAF0-68184175BBE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B52E1D4A-80BD-3962-3219-618BD8C80B1B}"/>
              </a:ext>
            </a:extLst>
          </p:cNvPr>
          <p:cNvSpPr>
            <a:spLocks noGrp="1"/>
          </p:cNvSpPr>
          <p:nvPr>
            <p:ph type="sldNum" sz="quarter" idx="5"/>
          </p:nvPr>
        </p:nvSpPr>
        <p:spPr/>
        <p:txBody>
          <a:bodyPr/>
          <a:lstStyle/>
          <a:p>
            <a:fld id="{C6A5E348-0E32-436E-906A-2326BDCE49F6}" type="slidenum">
              <a:rPr lang="ko-KR" altLang="en-US" smtClean="0"/>
              <a:t>67</a:t>
            </a:fld>
            <a:endParaRPr lang="ko-KR" altLang="en-US"/>
          </a:p>
        </p:txBody>
      </p:sp>
    </p:spTree>
    <p:extLst>
      <p:ext uri="{BB962C8B-B14F-4D97-AF65-F5344CB8AC3E}">
        <p14:creationId xmlns:p14="http://schemas.microsoft.com/office/powerpoint/2010/main" val="395666085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66421-E0E1-17B5-B021-795D11EB38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E83BA-D8BC-34BA-AF6D-A915B66DF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382F9F-45AE-FF01-F137-C9D04FB8B5A7}"/>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920E36A-997A-F4F5-CC5E-82F021DABBB0}"/>
              </a:ext>
            </a:extLst>
          </p:cNvPr>
          <p:cNvSpPr>
            <a:spLocks noGrp="1"/>
          </p:cNvSpPr>
          <p:nvPr>
            <p:ph type="sldNum" sz="quarter" idx="5"/>
          </p:nvPr>
        </p:nvSpPr>
        <p:spPr/>
        <p:txBody>
          <a:bodyPr/>
          <a:lstStyle/>
          <a:p>
            <a:fld id="{C6A5E348-0E32-436E-906A-2326BDCE49F6}" type="slidenum">
              <a:rPr lang="ko-KR" altLang="en-US" smtClean="0"/>
              <a:t>68</a:t>
            </a:fld>
            <a:endParaRPr lang="ko-KR" altLang="en-US"/>
          </a:p>
        </p:txBody>
      </p:sp>
    </p:spTree>
    <p:extLst>
      <p:ext uri="{BB962C8B-B14F-4D97-AF65-F5344CB8AC3E}">
        <p14:creationId xmlns:p14="http://schemas.microsoft.com/office/powerpoint/2010/main" val="369425768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A27CE-182B-C9CC-2B3F-10FD60B58D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5DE2A-D9BF-B947-A8EC-A2945C1FF1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4F1A89-1ADB-91AB-AA69-F6865C30621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0270AD57-5F1F-F7C6-CB2B-F2ED35D0CC18}"/>
              </a:ext>
            </a:extLst>
          </p:cNvPr>
          <p:cNvSpPr>
            <a:spLocks noGrp="1"/>
          </p:cNvSpPr>
          <p:nvPr>
            <p:ph type="sldNum" sz="quarter" idx="5"/>
          </p:nvPr>
        </p:nvSpPr>
        <p:spPr/>
        <p:txBody>
          <a:bodyPr/>
          <a:lstStyle/>
          <a:p>
            <a:fld id="{C6A5E348-0E32-436E-906A-2326BDCE49F6}" type="slidenum">
              <a:rPr lang="ko-KR" altLang="en-US" smtClean="0"/>
              <a:t>69</a:t>
            </a:fld>
            <a:endParaRPr lang="ko-KR" altLang="en-US"/>
          </a:p>
        </p:txBody>
      </p:sp>
    </p:spTree>
    <p:extLst>
      <p:ext uri="{BB962C8B-B14F-4D97-AF65-F5344CB8AC3E}">
        <p14:creationId xmlns:p14="http://schemas.microsoft.com/office/powerpoint/2010/main" val="74558602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F68B4-482D-2675-8098-53621A53C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7AE5AD-53D8-E1C6-F3EE-E0143B40EF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1155C-7143-C122-EFFB-2269F375ADC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D91F1F95-D7FF-9855-FB59-B88B306E7DE6}"/>
              </a:ext>
            </a:extLst>
          </p:cNvPr>
          <p:cNvSpPr>
            <a:spLocks noGrp="1"/>
          </p:cNvSpPr>
          <p:nvPr>
            <p:ph type="sldNum" sz="quarter" idx="5"/>
          </p:nvPr>
        </p:nvSpPr>
        <p:spPr/>
        <p:txBody>
          <a:bodyPr/>
          <a:lstStyle/>
          <a:p>
            <a:fld id="{C6A5E348-0E32-436E-906A-2326BDCE49F6}" type="slidenum">
              <a:rPr lang="ko-KR" altLang="en-US" smtClean="0"/>
              <a:t>70</a:t>
            </a:fld>
            <a:endParaRPr lang="ko-KR" altLang="en-US"/>
          </a:p>
        </p:txBody>
      </p:sp>
    </p:spTree>
    <p:extLst>
      <p:ext uri="{BB962C8B-B14F-4D97-AF65-F5344CB8AC3E}">
        <p14:creationId xmlns:p14="http://schemas.microsoft.com/office/powerpoint/2010/main" val="189792824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C3758-4F56-1F48-E1AF-B8A58BD27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340F5-11C5-642A-27CB-28B5535676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E2D72-1DA0-90B0-293E-56D0EC8437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45D877-627F-F00F-F2C5-313C6EE0FA76}"/>
              </a:ext>
            </a:extLst>
          </p:cNvPr>
          <p:cNvSpPr>
            <a:spLocks noGrp="1"/>
          </p:cNvSpPr>
          <p:nvPr>
            <p:ph type="sldNum" sz="quarter" idx="5"/>
          </p:nvPr>
        </p:nvSpPr>
        <p:spPr/>
        <p:txBody>
          <a:bodyPr/>
          <a:lstStyle/>
          <a:p>
            <a:fld id="{C6A5E348-0E32-436E-906A-2326BDCE49F6}" type="slidenum">
              <a:rPr lang="ko-KR" altLang="en-US" smtClean="0"/>
              <a:t>71</a:t>
            </a:fld>
            <a:endParaRPr lang="ko-KR" altLang="en-US"/>
          </a:p>
        </p:txBody>
      </p:sp>
    </p:spTree>
    <p:extLst>
      <p:ext uri="{BB962C8B-B14F-4D97-AF65-F5344CB8AC3E}">
        <p14:creationId xmlns:p14="http://schemas.microsoft.com/office/powerpoint/2010/main" val="540230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emf"/><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emf"/><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3.png"/><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4.emf"/><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40.emf"/><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image" Target="../media/image41.emf"/><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hyperlink" Target="mailto:garsampedro@ieee.org" TargetMode="External"/><Relationship Id="rId2" Type="http://schemas.openxmlformats.org/officeDocument/2006/relationships/notesSlide" Target="../notesSlides/notesSlide7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4572000" y="939800"/>
            <a:ext cx="9906000" cy="12700"/>
          </a:xfrm>
          <a:prstGeom prst="rect">
            <a:avLst/>
          </a:prstGeom>
        </p:spPr>
      </p:pic>
      <p:sp>
        <p:nvSpPr>
          <p:cNvPr id="4" name="TextBox 3">
            <a:extLst>
              <a:ext uri="{FF2B5EF4-FFF2-40B4-BE49-F238E27FC236}">
                <a16:creationId xmlns:a16="http://schemas.microsoft.com/office/drawing/2014/main" id="{A9523F20-348A-0B6C-1F4E-A7CDC2322569}"/>
              </a:ext>
            </a:extLst>
          </p:cNvPr>
          <p:cNvSpPr txBox="1"/>
          <p:nvPr/>
        </p:nvSpPr>
        <p:spPr>
          <a:xfrm>
            <a:off x="1780674" y="3721768"/>
            <a:ext cx="184731" cy="369332"/>
          </a:xfrm>
          <a:prstGeom prst="rect">
            <a:avLst/>
          </a:prstGeom>
          <a:noFill/>
        </p:spPr>
        <p:txBody>
          <a:bodyPr wrap="none" rtlCol="0">
            <a:spAutoFit/>
          </a:bodyPr>
          <a:lstStyle/>
          <a:p>
            <a:endParaRPr kumimoji="1" lang="ko-KR" altLang="en-US" dirty="0"/>
          </a:p>
        </p:txBody>
      </p:sp>
      <p:sp>
        <p:nvSpPr>
          <p:cNvPr id="3" name="TextBox 2">
            <a:extLst>
              <a:ext uri="{FF2B5EF4-FFF2-40B4-BE49-F238E27FC236}">
                <a16:creationId xmlns:a16="http://schemas.microsoft.com/office/drawing/2014/main" id="{00190244-C446-989A-CC4E-D088DD1E92BD}"/>
              </a:ext>
            </a:extLst>
          </p:cNvPr>
          <p:cNvSpPr txBox="1"/>
          <p:nvPr/>
        </p:nvSpPr>
        <p:spPr>
          <a:xfrm>
            <a:off x="888474" y="3696950"/>
            <a:ext cx="17628126" cy="769441"/>
          </a:xfrm>
          <a:prstGeom prst="rect">
            <a:avLst/>
          </a:prstGeom>
          <a:noFill/>
        </p:spPr>
        <p:txBody>
          <a:bodyPr wrap="square" rtlCol="0">
            <a:spAutoFit/>
          </a:bodyPr>
          <a:lstStyle/>
          <a:p>
            <a:r>
              <a:rPr lang="en-US" sz="4400" b="1" dirty="0"/>
              <a:t>Data Preprocessing</a:t>
            </a:r>
            <a:endParaRPr lang="en-PH" sz="4400" dirty="0"/>
          </a:p>
        </p:txBody>
      </p:sp>
      <p:sp>
        <p:nvSpPr>
          <p:cNvPr id="5" name="TextBox 4">
            <a:extLst>
              <a:ext uri="{FF2B5EF4-FFF2-40B4-BE49-F238E27FC236}">
                <a16:creationId xmlns:a16="http://schemas.microsoft.com/office/drawing/2014/main" id="{13D5A9BD-2359-CFFE-2216-6789969E2063}"/>
              </a:ext>
            </a:extLst>
          </p:cNvPr>
          <p:cNvSpPr txBox="1"/>
          <p:nvPr/>
        </p:nvSpPr>
        <p:spPr>
          <a:xfrm>
            <a:off x="888474" y="7334672"/>
            <a:ext cx="12609606" cy="1384995"/>
          </a:xfrm>
          <a:prstGeom prst="rect">
            <a:avLst/>
          </a:prstGeom>
          <a:noFill/>
        </p:spPr>
        <p:txBody>
          <a:bodyPr wrap="none" rtlCol="0">
            <a:spAutoFit/>
          </a:bodyPr>
          <a:lstStyle/>
          <a:p>
            <a:r>
              <a:rPr lang="en-PH" sz="2800" b="1" dirty="0"/>
              <a:t>Gabriel Avelino Sampedro, Ph.D.</a:t>
            </a:r>
            <a:endParaRPr lang="en-PH" sz="2800" dirty="0"/>
          </a:p>
          <a:p>
            <a:r>
              <a:rPr lang="en-PH" sz="2800" dirty="0"/>
              <a:t>Chairman, Korean Institute of Communications and Information Sciences - PH Section</a:t>
            </a:r>
          </a:p>
          <a:p>
            <a:r>
              <a:rPr lang="en-PH" sz="2800" dirty="0"/>
              <a:t>Founder / CEO, Philippine Coding Camp</a:t>
            </a:r>
          </a:p>
        </p:txBody>
      </p:sp>
      <p:pic>
        <p:nvPicPr>
          <p:cNvPr id="6" name="Picture 5">
            <a:extLst>
              <a:ext uri="{FF2B5EF4-FFF2-40B4-BE49-F238E27FC236}">
                <a16:creationId xmlns:a16="http://schemas.microsoft.com/office/drawing/2014/main" id="{624084F3-CBBE-2C10-FCCF-2275C5940C6E}"/>
              </a:ext>
            </a:extLst>
          </p:cNvPr>
          <p:cNvPicPr>
            <a:picLocks noChangeAspect="1"/>
          </p:cNvPicPr>
          <p:nvPr/>
        </p:nvPicPr>
        <p:blipFill>
          <a:blip r:embed="rId3"/>
          <a:stretch>
            <a:fillRect/>
          </a:stretch>
        </p:blipFill>
        <p:spPr>
          <a:xfrm>
            <a:off x="580293" y="364079"/>
            <a:ext cx="3567184" cy="1972695"/>
          </a:xfrm>
          <a:prstGeom prst="rect">
            <a:avLst/>
          </a:prstGeom>
        </p:spPr>
      </p:pic>
      <p:pic>
        <p:nvPicPr>
          <p:cNvPr id="7" name="Picture 2" descr="Unveiling Partnerships that Make Science Castle Philippines 2025 Possible |  Leave a Nest">
            <a:extLst>
              <a:ext uri="{FF2B5EF4-FFF2-40B4-BE49-F238E27FC236}">
                <a16:creationId xmlns:a16="http://schemas.microsoft.com/office/drawing/2014/main" id="{76074BCB-4457-350E-D4A1-7193CDE041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05538" y="0"/>
            <a:ext cx="3282462" cy="24618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03960-984A-185E-48BA-C5C1BDF546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810A8B4-0906-4368-A0A0-23D020B5183D}"/>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B89CBE87-2B9B-0797-AF25-12AC7B91C100}"/>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BB9B0DCE-58BA-12A8-55AA-E1441F122C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9156AF08-41A3-5587-B085-C2C45E35F50B}"/>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E9422D79-788C-906F-5E6F-504A3D108991}"/>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6231C108-DB1E-B537-0653-351A7C65988D}"/>
              </a:ext>
            </a:extLst>
          </p:cNvPr>
          <p:cNvSpPr txBox="1"/>
          <p:nvPr/>
        </p:nvSpPr>
        <p:spPr>
          <a:xfrm>
            <a:off x="884858" y="3279717"/>
            <a:ext cx="16107038" cy="5632311"/>
          </a:xfrm>
          <a:prstGeom prst="rect">
            <a:avLst/>
          </a:prstGeom>
          <a:noFill/>
        </p:spPr>
        <p:txBody>
          <a:bodyPr wrap="square" rtlCol="0">
            <a:spAutoFit/>
          </a:bodyPr>
          <a:lstStyle/>
          <a:p>
            <a:pPr>
              <a:buNone/>
            </a:pPr>
            <a:r>
              <a:rPr lang="en-US" altLang="ko-KR" sz="4500" dirty="0">
                <a:solidFill>
                  <a:srgbClr val="000000"/>
                </a:solidFill>
                <a:effectLst/>
              </a:rPr>
              <a:t>Raw data is inherently dirty. Some issues may include:</a:t>
            </a:r>
          </a:p>
          <a:p>
            <a:pPr marL="1485900" lvl="2" indent="-571500">
              <a:buFont typeface="Arial" panose="020B0604020202020204" pitchFamily="34" charset="0"/>
              <a:buChar char="•"/>
            </a:pPr>
            <a:r>
              <a:rPr lang="en-US" altLang="ko-KR" sz="4500" dirty="0">
                <a:solidFill>
                  <a:srgbClr val="000000"/>
                </a:solidFill>
                <a:effectLst/>
              </a:rPr>
              <a:t>Spelling/encoding errors</a:t>
            </a:r>
          </a:p>
          <a:p>
            <a:pPr marL="1485900" lvl="2" indent="-571500">
              <a:buFont typeface="Arial" panose="020B0604020202020204" pitchFamily="34" charset="0"/>
              <a:buChar char="•"/>
            </a:pPr>
            <a:r>
              <a:rPr lang="en-US" altLang="ko-KR" sz="4500" dirty="0">
                <a:solidFill>
                  <a:srgbClr val="000000"/>
                </a:solidFill>
                <a:effectLst/>
              </a:rPr>
              <a:t>Incorrect data types</a:t>
            </a:r>
          </a:p>
          <a:p>
            <a:pPr marL="1485900" lvl="2" indent="-571500">
              <a:buFont typeface="Arial" panose="020B0604020202020204" pitchFamily="34" charset="0"/>
              <a:buChar char="•"/>
            </a:pPr>
            <a:r>
              <a:rPr lang="en-US" altLang="ko-KR" sz="4500" dirty="0">
                <a:solidFill>
                  <a:srgbClr val="000000"/>
                </a:solidFill>
                <a:effectLst/>
              </a:rPr>
              <a:t>Non-ideal formats</a:t>
            </a:r>
          </a:p>
          <a:p>
            <a:pPr marL="1485900" lvl="2" indent="-571500">
              <a:buFont typeface="Arial" panose="020B0604020202020204" pitchFamily="34" charset="0"/>
              <a:buChar char="•"/>
            </a:pPr>
            <a:r>
              <a:rPr lang="en-US" altLang="ko-KR" sz="4500" dirty="0">
                <a:solidFill>
                  <a:srgbClr val="000000"/>
                </a:solidFill>
                <a:effectLst/>
              </a:rPr>
              <a:t>Missing values</a:t>
            </a:r>
          </a:p>
          <a:p>
            <a:pPr marL="1485900" lvl="2" indent="-571500">
              <a:buFont typeface="Arial" panose="020B0604020202020204" pitchFamily="34" charset="0"/>
              <a:buChar char="•"/>
            </a:pPr>
            <a:endParaRPr lang="en-US" altLang="ko-KR" sz="4500" dirty="0">
              <a:solidFill>
                <a:srgbClr val="000000"/>
              </a:solidFill>
              <a:effectLst/>
            </a:endParaRPr>
          </a:p>
          <a:p>
            <a:pPr>
              <a:buNone/>
            </a:pPr>
            <a:r>
              <a:rPr lang="en-US" altLang="ko-KR" sz="4500" dirty="0">
                <a:solidFill>
                  <a:srgbClr val="000000"/>
                </a:solidFill>
                <a:effectLst/>
              </a:rPr>
              <a:t>In data cleaning, these inconsistencies are addressed to prevent problems in analysis.</a:t>
            </a:r>
          </a:p>
        </p:txBody>
      </p:sp>
    </p:spTree>
    <p:extLst>
      <p:ext uri="{BB962C8B-B14F-4D97-AF65-F5344CB8AC3E}">
        <p14:creationId xmlns:p14="http://schemas.microsoft.com/office/powerpoint/2010/main" val="1571976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47049-108D-AB7A-A2ED-8034826988E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815FCA7-9882-FE4E-01CB-FA63DF7D68CC}"/>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0FDB5A54-38C4-32C2-76D8-7992691F4F7E}"/>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4091D69B-CB7D-1684-2BC3-079681D30D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AFA28AD1-39F2-7884-DF3E-640521A36A0E}"/>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A64FDED6-96AD-EE7C-B2CF-C8E9840A8593}"/>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6C1E5385-B68D-0EE4-A43B-DB52E0F61907}"/>
              </a:ext>
            </a:extLst>
          </p:cNvPr>
          <p:cNvSpPr txBox="1"/>
          <p:nvPr/>
        </p:nvSpPr>
        <p:spPr>
          <a:xfrm>
            <a:off x="884858" y="3279717"/>
            <a:ext cx="16107038" cy="5632311"/>
          </a:xfrm>
          <a:prstGeom prst="rect">
            <a:avLst/>
          </a:prstGeom>
          <a:noFill/>
        </p:spPr>
        <p:txBody>
          <a:bodyPr wrap="square" rtlCol="0">
            <a:spAutoFit/>
          </a:bodyPr>
          <a:lstStyle/>
          <a:p>
            <a:pPr>
              <a:buNone/>
            </a:pPr>
            <a:r>
              <a:rPr lang="en-US" altLang="ko-KR" sz="4500" dirty="0">
                <a:solidFill>
                  <a:srgbClr val="000000"/>
                </a:solidFill>
                <a:effectLst/>
              </a:rPr>
              <a:t>Raw data is inherently dirty. Some issues may include:</a:t>
            </a:r>
          </a:p>
          <a:p>
            <a:pPr marL="1485900" lvl="2" indent="-571500">
              <a:buFont typeface="Arial" panose="020B0604020202020204" pitchFamily="34" charset="0"/>
              <a:buChar char="•"/>
            </a:pPr>
            <a:r>
              <a:rPr lang="en-US" altLang="ko-KR" sz="4500" dirty="0">
                <a:solidFill>
                  <a:srgbClr val="000000"/>
                </a:solidFill>
                <a:effectLst/>
              </a:rPr>
              <a:t>Spelling/encoding errors</a:t>
            </a:r>
          </a:p>
          <a:p>
            <a:pPr marL="1485900" lvl="2" indent="-571500">
              <a:buFont typeface="Arial" panose="020B0604020202020204" pitchFamily="34" charset="0"/>
              <a:buChar char="•"/>
            </a:pPr>
            <a:r>
              <a:rPr lang="en-US" altLang="ko-KR" sz="4500" dirty="0">
                <a:solidFill>
                  <a:srgbClr val="000000"/>
                </a:solidFill>
                <a:effectLst/>
              </a:rPr>
              <a:t>Incorrect data types</a:t>
            </a:r>
          </a:p>
          <a:p>
            <a:pPr marL="1485900" lvl="2" indent="-571500">
              <a:buFont typeface="Arial" panose="020B0604020202020204" pitchFamily="34" charset="0"/>
              <a:buChar char="•"/>
            </a:pPr>
            <a:r>
              <a:rPr lang="en-US" altLang="ko-KR" sz="4500" dirty="0">
                <a:solidFill>
                  <a:srgbClr val="000000"/>
                </a:solidFill>
                <a:effectLst/>
              </a:rPr>
              <a:t>Non-ideal formats</a:t>
            </a:r>
          </a:p>
          <a:p>
            <a:pPr marL="1485900" lvl="2" indent="-571500">
              <a:buFont typeface="Arial" panose="020B0604020202020204" pitchFamily="34" charset="0"/>
              <a:buChar char="•"/>
            </a:pPr>
            <a:r>
              <a:rPr lang="en-US" altLang="ko-KR" sz="4500" dirty="0">
                <a:solidFill>
                  <a:srgbClr val="000000"/>
                </a:solidFill>
                <a:effectLst/>
              </a:rPr>
              <a:t>Missing values</a:t>
            </a:r>
          </a:p>
          <a:p>
            <a:pPr marL="1485900" lvl="2" indent="-571500">
              <a:buFont typeface="Arial" panose="020B0604020202020204" pitchFamily="34" charset="0"/>
              <a:buChar char="•"/>
            </a:pPr>
            <a:endParaRPr lang="en-US" altLang="ko-KR" sz="4500" dirty="0">
              <a:solidFill>
                <a:srgbClr val="000000"/>
              </a:solidFill>
              <a:effectLst/>
            </a:endParaRPr>
          </a:p>
          <a:p>
            <a:pPr>
              <a:buNone/>
            </a:pPr>
            <a:r>
              <a:rPr lang="en-US" altLang="ko-KR" sz="4500" dirty="0">
                <a:solidFill>
                  <a:srgbClr val="000000"/>
                </a:solidFill>
                <a:effectLst/>
              </a:rPr>
              <a:t>In data cleaning, these inconsistencies are addressed to prevent problems in analysis.</a:t>
            </a:r>
          </a:p>
        </p:txBody>
      </p:sp>
    </p:spTree>
    <p:extLst>
      <p:ext uri="{BB962C8B-B14F-4D97-AF65-F5344CB8AC3E}">
        <p14:creationId xmlns:p14="http://schemas.microsoft.com/office/powerpoint/2010/main" val="4134791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47D25-1652-3DEC-A6A1-FDE6E6EF6CF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17D9C1-E788-DE21-5EA0-374BF85E3F5D}"/>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F1E50CA3-1401-09A9-8E4F-7F25E85F937A}"/>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B2E34F9F-04E7-FE59-3F62-D541C6DF48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A4A440C7-EDB4-F3C0-B9F7-CA936956FAFD}"/>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0171D905-342F-7850-7DEC-D5D983435177}"/>
              </a:ext>
            </a:extLst>
          </p:cNvPr>
          <p:cNvSpPr txBox="1"/>
          <p:nvPr/>
        </p:nvSpPr>
        <p:spPr>
          <a:xfrm>
            <a:off x="884858" y="1502624"/>
            <a:ext cx="16107038"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9C0BE2E3-B0C7-DA6C-75D2-62922C56A4E3}"/>
              </a:ext>
            </a:extLst>
          </p:cNvPr>
          <p:cNvSpPr txBox="1"/>
          <p:nvPr/>
        </p:nvSpPr>
        <p:spPr>
          <a:xfrm>
            <a:off x="884858" y="2903462"/>
            <a:ext cx="16107038" cy="784830"/>
          </a:xfrm>
          <a:prstGeom prst="rect">
            <a:avLst/>
          </a:prstGeom>
          <a:noFill/>
        </p:spPr>
        <p:txBody>
          <a:bodyPr wrap="square" rtlCol="0">
            <a:spAutoFit/>
          </a:bodyPr>
          <a:lstStyle/>
          <a:p>
            <a:pPr algn="ctr">
              <a:buNone/>
            </a:pPr>
            <a:r>
              <a:rPr lang="en-US" altLang="ko-KR" sz="4500" dirty="0">
                <a:solidFill>
                  <a:srgbClr val="000000"/>
                </a:solidFill>
                <a:effectLst/>
              </a:rPr>
              <a:t>Noisy Data</a:t>
            </a:r>
          </a:p>
        </p:txBody>
      </p:sp>
      <p:pic>
        <p:nvPicPr>
          <p:cNvPr id="5" name="Picture 4">
            <a:extLst>
              <a:ext uri="{FF2B5EF4-FFF2-40B4-BE49-F238E27FC236}">
                <a16:creationId xmlns:a16="http://schemas.microsoft.com/office/drawing/2014/main" id="{A7037412-FE36-AC2D-A956-0374C800E9CE}"/>
              </a:ext>
            </a:extLst>
          </p:cNvPr>
          <p:cNvPicPr>
            <a:picLocks noChangeAspect="1"/>
          </p:cNvPicPr>
          <p:nvPr/>
        </p:nvPicPr>
        <p:blipFill>
          <a:blip r:embed="rId5"/>
          <a:srcRect t="16786"/>
          <a:stretch>
            <a:fillRect/>
          </a:stretch>
        </p:blipFill>
        <p:spPr>
          <a:xfrm>
            <a:off x="4732699" y="3889432"/>
            <a:ext cx="8822601" cy="5506254"/>
          </a:xfrm>
          <a:prstGeom prst="rect">
            <a:avLst/>
          </a:prstGeom>
        </p:spPr>
      </p:pic>
    </p:spTree>
    <p:extLst>
      <p:ext uri="{BB962C8B-B14F-4D97-AF65-F5344CB8AC3E}">
        <p14:creationId xmlns:p14="http://schemas.microsoft.com/office/powerpoint/2010/main" val="2005780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EA7B2-7BCC-EA20-DF88-6C09B4F64B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F7BFBF0-9544-A1C3-CFAF-5F6B34C11A24}"/>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24421D35-0416-DA69-5170-A04B886B53E2}"/>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1B437DDF-6B91-C6DA-3141-F87D510E96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C5226B08-A731-C904-AA99-E3812768581F}"/>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8716D664-25F6-C950-BDC1-83A984429DF8}"/>
              </a:ext>
            </a:extLst>
          </p:cNvPr>
          <p:cNvSpPr txBox="1"/>
          <p:nvPr/>
        </p:nvSpPr>
        <p:spPr>
          <a:xfrm>
            <a:off x="884858" y="1502624"/>
            <a:ext cx="16107038"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pic>
        <p:nvPicPr>
          <p:cNvPr id="6" name="Picture 5">
            <a:extLst>
              <a:ext uri="{FF2B5EF4-FFF2-40B4-BE49-F238E27FC236}">
                <a16:creationId xmlns:a16="http://schemas.microsoft.com/office/drawing/2014/main" id="{9241626A-D030-5E95-4A03-0FC30778DCCF}"/>
              </a:ext>
            </a:extLst>
          </p:cNvPr>
          <p:cNvPicPr>
            <a:picLocks noChangeAspect="1"/>
          </p:cNvPicPr>
          <p:nvPr/>
        </p:nvPicPr>
        <p:blipFill>
          <a:blip r:embed="rId5"/>
          <a:stretch>
            <a:fillRect/>
          </a:stretch>
        </p:blipFill>
        <p:spPr>
          <a:xfrm>
            <a:off x="2428290" y="4442949"/>
            <a:ext cx="13020174" cy="2500827"/>
          </a:xfrm>
          <a:prstGeom prst="rect">
            <a:avLst/>
          </a:prstGeom>
        </p:spPr>
      </p:pic>
    </p:spTree>
    <p:extLst>
      <p:ext uri="{BB962C8B-B14F-4D97-AF65-F5344CB8AC3E}">
        <p14:creationId xmlns:p14="http://schemas.microsoft.com/office/powerpoint/2010/main" val="448244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85CE9-5A94-F3F8-3B66-1EF296F7B29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A8450DE-F80E-50C7-65B9-6DEC0A2555CB}"/>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0658ACF2-0966-87B7-1708-BB773C0DC363}"/>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A8BC74D2-80DA-2E89-F682-57FED22B44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97D1A2B6-483E-01DD-BE28-8401E61876E8}"/>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98788F86-0A34-6F8A-C091-CB9742C53301}"/>
              </a:ext>
            </a:extLst>
          </p:cNvPr>
          <p:cNvSpPr txBox="1"/>
          <p:nvPr/>
        </p:nvSpPr>
        <p:spPr>
          <a:xfrm>
            <a:off x="884858" y="1502624"/>
            <a:ext cx="16107038"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pic>
        <p:nvPicPr>
          <p:cNvPr id="5" name="Picture 4">
            <a:extLst>
              <a:ext uri="{FF2B5EF4-FFF2-40B4-BE49-F238E27FC236}">
                <a16:creationId xmlns:a16="http://schemas.microsoft.com/office/drawing/2014/main" id="{93333D68-F593-9859-7FAA-973745DFBDB7}"/>
              </a:ext>
            </a:extLst>
          </p:cNvPr>
          <p:cNvPicPr>
            <a:picLocks noChangeAspect="1"/>
          </p:cNvPicPr>
          <p:nvPr/>
        </p:nvPicPr>
        <p:blipFill>
          <a:blip r:embed="rId5"/>
          <a:stretch>
            <a:fillRect/>
          </a:stretch>
        </p:blipFill>
        <p:spPr>
          <a:xfrm>
            <a:off x="4236915" y="2940325"/>
            <a:ext cx="9814169" cy="6752149"/>
          </a:xfrm>
          <a:prstGeom prst="rect">
            <a:avLst/>
          </a:prstGeom>
        </p:spPr>
      </p:pic>
    </p:spTree>
    <p:extLst>
      <p:ext uri="{BB962C8B-B14F-4D97-AF65-F5344CB8AC3E}">
        <p14:creationId xmlns:p14="http://schemas.microsoft.com/office/powerpoint/2010/main" val="3249396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C9F48-C480-B755-3D92-BB719651B2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E9DEE2B-7A34-5482-51B5-023529667772}"/>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A468C3F4-EE3D-932B-EAB8-EC6EFAAC1483}"/>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4C4F7C7F-4DA0-8D75-4C53-EEA53DC2A9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2AF965DF-AFB3-5AD8-D6F8-7807F577C657}"/>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AAF3B871-F6FD-8681-C71F-7E35CC0FE5D2}"/>
              </a:ext>
            </a:extLst>
          </p:cNvPr>
          <p:cNvSpPr txBox="1"/>
          <p:nvPr/>
        </p:nvSpPr>
        <p:spPr>
          <a:xfrm>
            <a:off x="884858" y="1502624"/>
            <a:ext cx="16107038"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pic>
        <p:nvPicPr>
          <p:cNvPr id="6" name="Picture 5">
            <a:extLst>
              <a:ext uri="{FF2B5EF4-FFF2-40B4-BE49-F238E27FC236}">
                <a16:creationId xmlns:a16="http://schemas.microsoft.com/office/drawing/2014/main" id="{E724167E-131B-BA97-2F43-D4542ABA5580}"/>
              </a:ext>
            </a:extLst>
          </p:cNvPr>
          <p:cNvPicPr>
            <a:picLocks noChangeAspect="1"/>
          </p:cNvPicPr>
          <p:nvPr/>
        </p:nvPicPr>
        <p:blipFill>
          <a:blip r:embed="rId5"/>
          <a:stretch>
            <a:fillRect/>
          </a:stretch>
        </p:blipFill>
        <p:spPr>
          <a:xfrm>
            <a:off x="6068177" y="2940325"/>
            <a:ext cx="5740400" cy="6774291"/>
          </a:xfrm>
          <a:prstGeom prst="rect">
            <a:avLst/>
          </a:prstGeom>
        </p:spPr>
      </p:pic>
    </p:spTree>
    <p:extLst>
      <p:ext uri="{BB962C8B-B14F-4D97-AF65-F5344CB8AC3E}">
        <p14:creationId xmlns:p14="http://schemas.microsoft.com/office/powerpoint/2010/main" val="2320041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6314C-80D3-0846-001C-E7D415995AC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087F71C-636E-A355-0EB0-95F09E69612F}"/>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70039655-A139-9DED-5D69-8E889AD19DAF}"/>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990898E1-4F06-C93C-8BB1-D50C132EBA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C7B7E1BF-A924-E9A5-97AF-BA1BB6226B39}"/>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BAE7D4FA-D797-0BE8-A733-70803B3E21CF}"/>
              </a:ext>
            </a:extLst>
          </p:cNvPr>
          <p:cNvSpPr txBox="1"/>
          <p:nvPr/>
        </p:nvSpPr>
        <p:spPr>
          <a:xfrm>
            <a:off x="884858" y="4424649"/>
            <a:ext cx="16107038"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Tree>
    <p:extLst>
      <p:ext uri="{BB962C8B-B14F-4D97-AF65-F5344CB8AC3E}">
        <p14:creationId xmlns:p14="http://schemas.microsoft.com/office/powerpoint/2010/main" val="3494104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2D3EA-C0C8-2CE9-60D9-7920F18EF54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4E5D835-E795-2B2C-68E8-3108DA0C7376}"/>
              </a:ext>
            </a:extLst>
          </p:cNvPr>
          <p:cNvSpPr txBox="1"/>
          <p:nvPr/>
        </p:nvSpPr>
        <p:spPr>
          <a:xfrm>
            <a:off x="1780674" y="3964202"/>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01639E96-F0CB-F810-8EC5-FBDE5DB5AF2C}"/>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9D035DB4-CEE8-5D09-7452-FC61891961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2F7A00AA-9616-EC1B-6C72-FEFDD1B1A16B}"/>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8A391E14-F130-34C6-9149-D8FBA94CE5D2}"/>
              </a:ext>
            </a:extLst>
          </p:cNvPr>
          <p:cNvSpPr txBox="1"/>
          <p:nvPr/>
        </p:nvSpPr>
        <p:spPr>
          <a:xfrm>
            <a:off x="884858" y="783311"/>
            <a:ext cx="16107038"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2" name="TextBox 1">
            <a:extLst>
              <a:ext uri="{FF2B5EF4-FFF2-40B4-BE49-F238E27FC236}">
                <a16:creationId xmlns:a16="http://schemas.microsoft.com/office/drawing/2014/main" id="{B73A5325-16E9-B5E3-1545-73F7830854BC}"/>
              </a:ext>
            </a:extLst>
          </p:cNvPr>
          <p:cNvSpPr txBox="1"/>
          <p:nvPr/>
        </p:nvSpPr>
        <p:spPr>
          <a:xfrm>
            <a:off x="1573989" y="4251679"/>
            <a:ext cx="184731" cy="369332"/>
          </a:xfrm>
          <a:prstGeom prst="rect">
            <a:avLst/>
          </a:prstGeom>
          <a:noFill/>
        </p:spPr>
        <p:txBody>
          <a:bodyPr wrap="none" rtlCol="0">
            <a:spAutoFit/>
          </a:bodyPr>
          <a:lstStyle/>
          <a:p>
            <a:endParaRPr kumimoji="1" lang="ko-KR" altLang="en-US">
              <a:latin typeface="+mj-lt"/>
            </a:endParaRPr>
          </a:p>
        </p:txBody>
      </p:sp>
      <p:sp>
        <p:nvSpPr>
          <p:cNvPr id="5" name="TextBox 4">
            <a:extLst>
              <a:ext uri="{FF2B5EF4-FFF2-40B4-BE49-F238E27FC236}">
                <a16:creationId xmlns:a16="http://schemas.microsoft.com/office/drawing/2014/main" id="{9D42785D-9781-F236-AD71-FDBB25F0D9CF}"/>
              </a:ext>
            </a:extLst>
          </p:cNvPr>
          <p:cNvSpPr txBox="1"/>
          <p:nvPr/>
        </p:nvSpPr>
        <p:spPr>
          <a:xfrm>
            <a:off x="922832" y="5277857"/>
            <a:ext cx="3868171" cy="1323439"/>
          </a:xfrm>
          <a:prstGeom prst="rect">
            <a:avLst/>
          </a:prstGeom>
          <a:noFill/>
        </p:spPr>
        <p:txBody>
          <a:bodyPr wrap="square" rtlCol="0">
            <a:spAutoFit/>
          </a:bodyPr>
          <a:lstStyle/>
          <a:p>
            <a:pPr algn="ctr"/>
            <a:r>
              <a:rPr lang="en-US" altLang="ko-KR" sz="4000" b="1" dirty="0">
                <a:solidFill>
                  <a:srgbClr val="000000"/>
                </a:solidFill>
                <a:effectLst/>
                <a:latin typeface="+mj-lt"/>
              </a:rPr>
              <a:t>Separate</a:t>
            </a:r>
          </a:p>
          <a:p>
            <a:pPr algn="ctr"/>
            <a:r>
              <a:rPr lang="en-US" altLang="ko-KR" sz="4000" b="1" dirty="0">
                <a:solidFill>
                  <a:srgbClr val="000000"/>
                </a:solidFill>
                <a:effectLst/>
                <a:latin typeface="+mj-lt"/>
              </a:rPr>
              <a:t>Files</a:t>
            </a:r>
            <a:endParaRPr lang="en-US" altLang="ko-KR" sz="4000" dirty="0">
              <a:solidFill>
                <a:srgbClr val="000000"/>
              </a:solidFill>
              <a:effectLst/>
              <a:latin typeface="+mj-lt"/>
            </a:endParaRPr>
          </a:p>
        </p:txBody>
      </p:sp>
      <p:sp>
        <p:nvSpPr>
          <p:cNvPr id="9" name="TextBox 8">
            <a:extLst>
              <a:ext uri="{FF2B5EF4-FFF2-40B4-BE49-F238E27FC236}">
                <a16:creationId xmlns:a16="http://schemas.microsoft.com/office/drawing/2014/main" id="{67879EB4-37AB-992C-52DD-B4F599F2FA72}"/>
              </a:ext>
            </a:extLst>
          </p:cNvPr>
          <p:cNvSpPr txBox="1"/>
          <p:nvPr/>
        </p:nvSpPr>
        <p:spPr>
          <a:xfrm>
            <a:off x="5089193" y="5264763"/>
            <a:ext cx="3868171" cy="1323439"/>
          </a:xfrm>
          <a:prstGeom prst="rect">
            <a:avLst/>
          </a:prstGeom>
          <a:noFill/>
        </p:spPr>
        <p:txBody>
          <a:bodyPr wrap="square" rtlCol="0">
            <a:spAutoFit/>
          </a:bodyPr>
          <a:lstStyle/>
          <a:p>
            <a:pPr algn="ctr"/>
            <a:r>
              <a:rPr lang="en-US" altLang="ko-KR" sz="4000" b="1" dirty="0">
                <a:solidFill>
                  <a:srgbClr val="000000"/>
                </a:solidFill>
                <a:latin typeface="+mj-lt"/>
              </a:rPr>
              <a:t>Multiple</a:t>
            </a:r>
          </a:p>
          <a:p>
            <a:pPr algn="ctr"/>
            <a:r>
              <a:rPr lang="en-US" altLang="ko-KR" sz="4000" b="1" dirty="0">
                <a:solidFill>
                  <a:srgbClr val="000000"/>
                </a:solidFill>
                <a:latin typeface="+mj-lt"/>
              </a:rPr>
              <a:t>Representations</a:t>
            </a:r>
            <a:endParaRPr lang="en-US" altLang="ko-KR" sz="4000" dirty="0">
              <a:solidFill>
                <a:srgbClr val="000000"/>
              </a:solidFill>
              <a:effectLst/>
              <a:latin typeface="+mj-lt"/>
            </a:endParaRPr>
          </a:p>
        </p:txBody>
      </p:sp>
      <p:sp>
        <p:nvSpPr>
          <p:cNvPr id="11" name="TextBox 10">
            <a:extLst>
              <a:ext uri="{FF2B5EF4-FFF2-40B4-BE49-F238E27FC236}">
                <a16:creationId xmlns:a16="http://schemas.microsoft.com/office/drawing/2014/main" id="{88D00C59-F2E5-9BD2-C857-A59A4151F8EB}"/>
              </a:ext>
            </a:extLst>
          </p:cNvPr>
          <p:cNvSpPr txBox="1"/>
          <p:nvPr/>
        </p:nvSpPr>
        <p:spPr>
          <a:xfrm>
            <a:off x="9255554" y="5277857"/>
            <a:ext cx="3868171" cy="1323439"/>
          </a:xfrm>
          <a:prstGeom prst="rect">
            <a:avLst/>
          </a:prstGeom>
          <a:noFill/>
        </p:spPr>
        <p:txBody>
          <a:bodyPr wrap="square" rtlCol="0">
            <a:spAutoFit/>
          </a:bodyPr>
          <a:lstStyle/>
          <a:p>
            <a:pPr algn="ctr"/>
            <a:r>
              <a:rPr lang="en-US" altLang="ko-KR" sz="4000" b="1" dirty="0">
                <a:solidFill>
                  <a:srgbClr val="000000"/>
                </a:solidFill>
                <a:latin typeface="+mj-lt"/>
              </a:rPr>
              <a:t>Incorrect</a:t>
            </a:r>
          </a:p>
          <a:p>
            <a:pPr algn="ctr"/>
            <a:r>
              <a:rPr lang="en-US" altLang="ko-KR" sz="4000" b="1" dirty="0">
                <a:solidFill>
                  <a:srgbClr val="000000"/>
                </a:solidFill>
                <a:latin typeface="+mj-lt"/>
              </a:rPr>
              <a:t>Datatype</a:t>
            </a:r>
            <a:endParaRPr lang="en-US" altLang="ko-KR" sz="4000" dirty="0">
              <a:solidFill>
                <a:srgbClr val="000000"/>
              </a:solidFill>
              <a:effectLst/>
              <a:latin typeface="+mj-lt"/>
            </a:endParaRPr>
          </a:p>
        </p:txBody>
      </p:sp>
      <p:sp>
        <p:nvSpPr>
          <p:cNvPr id="15" name="TextBox 14">
            <a:extLst>
              <a:ext uri="{FF2B5EF4-FFF2-40B4-BE49-F238E27FC236}">
                <a16:creationId xmlns:a16="http://schemas.microsoft.com/office/drawing/2014/main" id="{AB9FD12A-9F04-0358-A045-2D39544442CD}"/>
              </a:ext>
            </a:extLst>
          </p:cNvPr>
          <p:cNvSpPr txBox="1"/>
          <p:nvPr/>
        </p:nvSpPr>
        <p:spPr>
          <a:xfrm>
            <a:off x="1573989" y="7773793"/>
            <a:ext cx="184731" cy="369332"/>
          </a:xfrm>
          <a:prstGeom prst="rect">
            <a:avLst/>
          </a:prstGeom>
          <a:noFill/>
        </p:spPr>
        <p:txBody>
          <a:bodyPr wrap="none" rtlCol="0">
            <a:spAutoFit/>
          </a:bodyPr>
          <a:lstStyle/>
          <a:p>
            <a:endParaRPr kumimoji="1" lang="ko-KR" altLang="en-US">
              <a:latin typeface="+mj-lt"/>
            </a:endParaRPr>
          </a:p>
        </p:txBody>
      </p:sp>
      <p:sp>
        <p:nvSpPr>
          <p:cNvPr id="16" name="TextBox 15">
            <a:extLst>
              <a:ext uri="{FF2B5EF4-FFF2-40B4-BE49-F238E27FC236}">
                <a16:creationId xmlns:a16="http://schemas.microsoft.com/office/drawing/2014/main" id="{A664879B-80A7-F640-CA7A-E9740F21CF0F}"/>
              </a:ext>
            </a:extLst>
          </p:cNvPr>
          <p:cNvSpPr txBox="1"/>
          <p:nvPr/>
        </p:nvSpPr>
        <p:spPr>
          <a:xfrm>
            <a:off x="2773216" y="9238024"/>
            <a:ext cx="3868171" cy="707886"/>
          </a:xfrm>
          <a:prstGeom prst="rect">
            <a:avLst/>
          </a:prstGeom>
          <a:noFill/>
        </p:spPr>
        <p:txBody>
          <a:bodyPr wrap="square" rtlCol="0">
            <a:spAutoFit/>
          </a:bodyPr>
          <a:lstStyle/>
          <a:p>
            <a:pPr algn="ctr"/>
            <a:r>
              <a:rPr lang="en-US" altLang="ko-KR" sz="4000" b="1" dirty="0">
                <a:solidFill>
                  <a:srgbClr val="000000"/>
                </a:solidFill>
                <a:effectLst/>
                <a:latin typeface="+mj-lt"/>
              </a:rPr>
              <a:t>Missing Data</a:t>
            </a:r>
            <a:endParaRPr lang="en-US" altLang="ko-KR" sz="4000" dirty="0">
              <a:solidFill>
                <a:srgbClr val="000000"/>
              </a:solidFill>
              <a:effectLst/>
              <a:latin typeface="+mj-lt"/>
            </a:endParaRPr>
          </a:p>
        </p:txBody>
      </p:sp>
      <p:sp>
        <p:nvSpPr>
          <p:cNvPr id="17" name="TextBox 16">
            <a:extLst>
              <a:ext uri="{FF2B5EF4-FFF2-40B4-BE49-F238E27FC236}">
                <a16:creationId xmlns:a16="http://schemas.microsoft.com/office/drawing/2014/main" id="{61810549-F753-DAF2-A81D-2BE901DDB426}"/>
              </a:ext>
            </a:extLst>
          </p:cNvPr>
          <p:cNvSpPr txBox="1"/>
          <p:nvPr/>
        </p:nvSpPr>
        <p:spPr>
          <a:xfrm>
            <a:off x="7575250" y="9224930"/>
            <a:ext cx="3868171" cy="707886"/>
          </a:xfrm>
          <a:prstGeom prst="rect">
            <a:avLst/>
          </a:prstGeom>
          <a:noFill/>
        </p:spPr>
        <p:txBody>
          <a:bodyPr wrap="square" rtlCol="0">
            <a:spAutoFit/>
          </a:bodyPr>
          <a:lstStyle/>
          <a:p>
            <a:pPr algn="ctr"/>
            <a:r>
              <a:rPr lang="en-US" altLang="ko-KR" sz="4000" b="1" dirty="0">
                <a:solidFill>
                  <a:srgbClr val="000000"/>
                </a:solidFill>
                <a:latin typeface="+mj-lt"/>
              </a:rPr>
              <a:t>Duplicate Data</a:t>
            </a:r>
            <a:endParaRPr lang="en-US" altLang="ko-KR" sz="4000" dirty="0">
              <a:solidFill>
                <a:srgbClr val="000000"/>
              </a:solidFill>
              <a:effectLst/>
              <a:latin typeface="+mj-lt"/>
            </a:endParaRPr>
          </a:p>
        </p:txBody>
      </p:sp>
      <p:sp>
        <p:nvSpPr>
          <p:cNvPr id="18" name="TextBox 17">
            <a:extLst>
              <a:ext uri="{FF2B5EF4-FFF2-40B4-BE49-F238E27FC236}">
                <a16:creationId xmlns:a16="http://schemas.microsoft.com/office/drawing/2014/main" id="{19335718-183F-725B-9074-1F93A1BE46EE}"/>
              </a:ext>
            </a:extLst>
          </p:cNvPr>
          <p:cNvSpPr txBox="1"/>
          <p:nvPr/>
        </p:nvSpPr>
        <p:spPr>
          <a:xfrm>
            <a:off x="12495134" y="8838282"/>
            <a:ext cx="3868171" cy="1323439"/>
          </a:xfrm>
          <a:prstGeom prst="rect">
            <a:avLst/>
          </a:prstGeom>
          <a:noFill/>
        </p:spPr>
        <p:txBody>
          <a:bodyPr wrap="square" rtlCol="0">
            <a:spAutoFit/>
          </a:bodyPr>
          <a:lstStyle/>
          <a:p>
            <a:pPr algn="ctr"/>
            <a:r>
              <a:rPr lang="en-US" altLang="ko-KR" sz="4000" b="1" dirty="0">
                <a:solidFill>
                  <a:srgbClr val="000000"/>
                </a:solidFill>
                <a:latin typeface="+mj-lt"/>
              </a:rPr>
              <a:t>Inconsistent Format</a:t>
            </a:r>
            <a:endParaRPr lang="en-US" altLang="ko-KR" sz="4000" dirty="0">
              <a:solidFill>
                <a:srgbClr val="000000"/>
              </a:solidFill>
              <a:effectLst/>
              <a:latin typeface="+mj-lt"/>
            </a:endParaRPr>
          </a:p>
        </p:txBody>
      </p:sp>
      <p:sp>
        <p:nvSpPr>
          <p:cNvPr id="22" name="TextBox 21">
            <a:extLst>
              <a:ext uri="{FF2B5EF4-FFF2-40B4-BE49-F238E27FC236}">
                <a16:creationId xmlns:a16="http://schemas.microsoft.com/office/drawing/2014/main" id="{3523C9A2-7374-8587-436C-10C69932F96D}"/>
              </a:ext>
            </a:extLst>
          </p:cNvPr>
          <p:cNvSpPr txBox="1"/>
          <p:nvPr/>
        </p:nvSpPr>
        <p:spPr>
          <a:xfrm>
            <a:off x="13123725" y="5290163"/>
            <a:ext cx="3868171" cy="1323439"/>
          </a:xfrm>
          <a:prstGeom prst="rect">
            <a:avLst/>
          </a:prstGeom>
          <a:noFill/>
        </p:spPr>
        <p:txBody>
          <a:bodyPr wrap="square" rtlCol="0">
            <a:spAutoFit/>
          </a:bodyPr>
          <a:lstStyle/>
          <a:p>
            <a:pPr algn="ctr"/>
            <a:r>
              <a:rPr lang="en-US" altLang="ko-KR" sz="4000" b="1" dirty="0">
                <a:solidFill>
                  <a:srgbClr val="000000"/>
                </a:solidFill>
                <a:latin typeface="+mj-lt"/>
              </a:rPr>
              <a:t>Default</a:t>
            </a:r>
          </a:p>
          <a:p>
            <a:pPr algn="ctr"/>
            <a:r>
              <a:rPr lang="en-US" altLang="ko-KR" sz="4000" b="1" dirty="0">
                <a:solidFill>
                  <a:srgbClr val="000000"/>
                </a:solidFill>
                <a:latin typeface="+mj-lt"/>
              </a:rPr>
              <a:t>Values</a:t>
            </a:r>
            <a:endParaRPr lang="en-US" altLang="ko-KR" sz="4000" dirty="0">
              <a:solidFill>
                <a:srgbClr val="000000"/>
              </a:solidFill>
              <a:effectLst/>
              <a:latin typeface="+mj-lt"/>
            </a:endParaRPr>
          </a:p>
        </p:txBody>
      </p:sp>
      <p:pic>
        <p:nvPicPr>
          <p:cNvPr id="43010" name="Picture 2" descr="Folders - Free files and folders icons">
            <a:extLst>
              <a:ext uri="{FF2B5EF4-FFF2-40B4-BE49-F238E27FC236}">
                <a16:creationId xmlns:a16="http://schemas.microsoft.com/office/drawing/2014/main" id="{B53CDDDB-E84C-561C-28EC-82D2CEA1B1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6104" y="2303786"/>
            <a:ext cx="2888669" cy="2888669"/>
          </a:xfrm>
          <a:prstGeom prst="rect">
            <a:avLst/>
          </a:prstGeom>
          <a:noFill/>
          <a:extLst>
            <a:ext uri="{909E8E84-426E-40DD-AFC4-6F175D3DCCD1}">
              <a14:hiddenFill xmlns:a14="http://schemas.microsoft.com/office/drawing/2010/main">
                <a:solidFill>
                  <a:srgbClr val="FFFFFF"/>
                </a:solidFill>
              </a14:hiddenFill>
            </a:ext>
          </a:extLst>
        </p:spPr>
      </p:pic>
      <p:pic>
        <p:nvPicPr>
          <p:cNvPr id="43012" name="Picture 4" descr="Quotation - Free interface icons">
            <a:extLst>
              <a:ext uri="{FF2B5EF4-FFF2-40B4-BE49-F238E27FC236}">
                <a16:creationId xmlns:a16="http://schemas.microsoft.com/office/drawing/2014/main" id="{7B7D76F9-243C-519C-1A36-983686EE75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78943" y="2570226"/>
            <a:ext cx="2599857" cy="2599857"/>
          </a:xfrm>
          <a:prstGeom prst="rect">
            <a:avLst/>
          </a:prstGeom>
          <a:noFill/>
          <a:extLst>
            <a:ext uri="{909E8E84-426E-40DD-AFC4-6F175D3DCCD1}">
              <a14:hiddenFill xmlns:a14="http://schemas.microsoft.com/office/drawing/2010/main">
                <a:solidFill>
                  <a:srgbClr val="FFFFFF"/>
                </a:solidFill>
              </a14:hiddenFill>
            </a:ext>
          </a:extLst>
        </p:spPr>
      </p:pic>
      <p:pic>
        <p:nvPicPr>
          <p:cNvPr id="43014" name="Picture 6" descr="Binary code - Free computer icons">
            <a:extLst>
              <a:ext uri="{FF2B5EF4-FFF2-40B4-BE49-F238E27FC236}">
                <a16:creationId xmlns:a16="http://schemas.microsoft.com/office/drawing/2014/main" id="{126B9094-8A45-6624-22CC-146269C5AF7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70439" y="2754055"/>
            <a:ext cx="24384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3016" name="Picture 8" descr="Text Flat Icon 12394726 Vector Art at Vecteezy">
            <a:extLst>
              <a:ext uri="{FF2B5EF4-FFF2-40B4-BE49-F238E27FC236}">
                <a16:creationId xmlns:a16="http://schemas.microsoft.com/office/drawing/2014/main" id="{053811A5-7ABB-C998-3D89-FC300CB7B1A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636625" y="2520211"/>
            <a:ext cx="3077386" cy="2716971"/>
          </a:xfrm>
          <a:prstGeom prst="rect">
            <a:avLst/>
          </a:prstGeom>
          <a:noFill/>
          <a:extLst>
            <a:ext uri="{909E8E84-426E-40DD-AFC4-6F175D3DCCD1}">
              <a14:hiddenFill xmlns:a14="http://schemas.microsoft.com/office/drawing/2010/main">
                <a:solidFill>
                  <a:srgbClr val="FFFFFF"/>
                </a:solidFill>
              </a14:hiddenFill>
            </a:ext>
          </a:extLst>
        </p:spPr>
      </p:pic>
      <p:pic>
        <p:nvPicPr>
          <p:cNvPr id="43018" name="Picture 10" descr="Magnifying glass - Free edit tools icons">
            <a:extLst>
              <a:ext uri="{FF2B5EF4-FFF2-40B4-BE49-F238E27FC236}">
                <a16:creationId xmlns:a16="http://schemas.microsoft.com/office/drawing/2014/main" id="{28D8A186-12DE-A0C9-3462-A57301A38B9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1103" y="6973166"/>
            <a:ext cx="2251764" cy="2251764"/>
          </a:xfrm>
          <a:prstGeom prst="rect">
            <a:avLst/>
          </a:prstGeom>
          <a:noFill/>
          <a:extLst>
            <a:ext uri="{909E8E84-426E-40DD-AFC4-6F175D3DCCD1}">
              <a14:hiddenFill xmlns:a14="http://schemas.microsoft.com/office/drawing/2010/main">
                <a:solidFill>
                  <a:srgbClr val="FFFFFF"/>
                </a:solidFill>
              </a14:hiddenFill>
            </a:ext>
          </a:extLst>
        </p:spPr>
      </p:pic>
      <p:pic>
        <p:nvPicPr>
          <p:cNvPr id="43020" name="Picture 12" descr="Duplicate - Free interface icons">
            <a:extLst>
              <a:ext uri="{FF2B5EF4-FFF2-40B4-BE49-F238E27FC236}">
                <a16:creationId xmlns:a16="http://schemas.microsoft.com/office/drawing/2014/main" id="{6B0813DA-61AC-11F4-3F61-449115BA104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78800" y="6613602"/>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7167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E9EA9-5613-619A-084E-3E75B85F6F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5E485F2-F999-E917-29CA-047C64700CD7}"/>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E2FD6C13-DCC7-CDBE-4613-C77C1BAD6F08}"/>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8BA8C6CA-99EE-068E-B178-3BF523EF85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82839B4E-7D05-4F6B-1E04-D47EC2AE119E}"/>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B7820678-80E3-279F-F612-015951A2B7A3}"/>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46B2182A-487A-BEB7-A9C9-9E6E7FFAA8E7}"/>
              </a:ext>
            </a:extLst>
          </p:cNvPr>
          <p:cNvSpPr txBox="1"/>
          <p:nvPr/>
        </p:nvSpPr>
        <p:spPr>
          <a:xfrm>
            <a:off x="884858" y="3279717"/>
            <a:ext cx="16107038" cy="4939814"/>
          </a:xfrm>
          <a:prstGeom prst="rect">
            <a:avLst/>
          </a:prstGeom>
          <a:noFill/>
        </p:spPr>
        <p:txBody>
          <a:bodyPr wrap="square" rtlCol="0">
            <a:spAutoFit/>
          </a:bodyPr>
          <a:lstStyle/>
          <a:p>
            <a:pPr>
              <a:buNone/>
            </a:pPr>
            <a:r>
              <a:rPr lang="en-US" altLang="ko-KR" sz="4500" b="1" dirty="0">
                <a:solidFill>
                  <a:srgbClr val="000000"/>
                </a:solidFill>
                <a:effectLst/>
              </a:rPr>
              <a:t>Separate Files</a:t>
            </a:r>
          </a:p>
          <a:p>
            <a:pPr>
              <a:buNone/>
            </a:pPr>
            <a:r>
              <a:rPr lang="en-US" altLang="ko-KR" sz="4500" dirty="0">
                <a:solidFill>
                  <a:srgbClr val="000000"/>
                </a:solidFill>
                <a:effectLst/>
              </a:rPr>
              <a:t>Data comes from multiple sources.</a:t>
            </a:r>
          </a:p>
          <a:p>
            <a:pPr marL="1600200" lvl="2" indent="-685800">
              <a:buFont typeface="Arial" panose="020B0604020202020204" pitchFamily="34" charset="0"/>
              <a:buChar char="•"/>
            </a:pPr>
            <a:r>
              <a:rPr lang="en-US" altLang="ko-KR" sz="4500" dirty="0">
                <a:solidFill>
                  <a:srgbClr val="000000"/>
                </a:solidFill>
                <a:effectLst/>
              </a:rPr>
              <a:t>Collected at different times</a:t>
            </a:r>
          </a:p>
          <a:p>
            <a:pPr marL="1600200" lvl="2" indent="-685800">
              <a:buFont typeface="Arial" panose="020B0604020202020204" pitchFamily="34" charset="0"/>
              <a:buChar char="•"/>
            </a:pPr>
            <a:r>
              <a:rPr lang="en-US" altLang="ko-KR" sz="4500" dirty="0">
                <a:solidFill>
                  <a:srgbClr val="000000"/>
                </a:solidFill>
                <a:effectLst/>
              </a:rPr>
              <a:t>Completely different datasets</a:t>
            </a:r>
          </a:p>
          <a:p>
            <a:pPr marL="1600200" lvl="2" indent="-685800">
              <a:buFont typeface="Arial" panose="020B0604020202020204" pitchFamily="34" charset="0"/>
              <a:buChar char="•"/>
            </a:pPr>
            <a:endParaRPr lang="en-US" altLang="ko-KR" sz="4500" dirty="0">
              <a:solidFill>
                <a:srgbClr val="000000"/>
              </a:solidFill>
              <a:effectLst/>
            </a:endParaRPr>
          </a:p>
          <a:p>
            <a:pPr>
              <a:buNone/>
            </a:pPr>
            <a:r>
              <a:rPr lang="en-US" altLang="ko-KR" sz="4500" dirty="0">
                <a:solidFill>
                  <a:srgbClr val="000000"/>
                </a:solidFill>
                <a:effectLst/>
              </a:rPr>
              <a:t>Use various pandas functions such as </a:t>
            </a:r>
            <a:r>
              <a:rPr lang="en-US" altLang="ko-KR" sz="4500" dirty="0" err="1">
                <a:solidFill>
                  <a:srgbClr val="000000"/>
                </a:solidFill>
                <a:effectLst/>
              </a:rPr>
              <a:t>concat</a:t>
            </a:r>
            <a:r>
              <a:rPr lang="en-US" altLang="ko-KR" sz="4500" dirty="0">
                <a:solidFill>
                  <a:srgbClr val="000000"/>
                </a:solidFill>
                <a:effectLst/>
              </a:rPr>
              <a:t>() and merge() to combine separate files.</a:t>
            </a:r>
          </a:p>
        </p:txBody>
      </p:sp>
    </p:spTree>
    <p:extLst>
      <p:ext uri="{BB962C8B-B14F-4D97-AF65-F5344CB8AC3E}">
        <p14:creationId xmlns:p14="http://schemas.microsoft.com/office/powerpoint/2010/main" val="2575089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3D5FA-FC4C-9FAC-66DD-63A6A3F93B1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D7273EF-2BE7-26A0-2D4C-D5FC75543706}"/>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0B290295-0A8B-587F-03C0-08B508C69A5A}"/>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B042F0F2-5F07-8991-9B2F-3024D83D78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EC6D4F4-0E8F-4C2E-114B-C8B10C8D0CA3}"/>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651733DE-B240-05E2-C1F7-89B2DE10E212}"/>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8E49D11E-B6E3-A8F6-255F-BA55F295B28D}"/>
              </a:ext>
            </a:extLst>
          </p:cNvPr>
          <p:cNvSpPr txBox="1"/>
          <p:nvPr/>
        </p:nvSpPr>
        <p:spPr>
          <a:xfrm>
            <a:off x="884858" y="3279717"/>
            <a:ext cx="11078542" cy="4939814"/>
          </a:xfrm>
          <a:prstGeom prst="rect">
            <a:avLst/>
          </a:prstGeom>
          <a:noFill/>
        </p:spPr>
        <p:txBody>
          <a:bodyPr wrap="square" rtlCol="0">
            <a:spAutoFit/>
          </a:bodyPr>
          <a:lstStyle/>
          <a:p>
            <a:pPr>
              <a:buNone/>
            </a:pPr>
            <a:r>
              <a:rPr lang="en-US" altLang="ko-KR" sz="4500" b="1" dirty="0">
                <a:solidFill>
                  <a:srgbClr val="000000"/>
                </a:solidFill>
                <a:effectLst/>
              </a:rPr>
              <a:t>Multiple Representations</a:t>
            </a:r>
          </a:p>
          <a:p>
            <a:pPr>
              <a:buNone/>
            </a:pPr>
            <a:endParaRPr lang="en-US" altLang="ko-KR" sz="4500" b="1" dirty="0">
              <a:solidFill>
                <a:srgbClr val="000000"/>
              </a:solidFill>
              <a:effectLst/>
            </a:endParaRPr>
          </a:p>
          <a:p>
            <a:pPr marL="1600200" lvl="2" indent="-685800">
              <a:buFont typeface="Arial" panose="020B0604020202020204" pitchFamily="34" charset="0"/>
              <a:buChar char="•"/>
            </a:pPr>
            <a:r>
              <a:rPr lang="en-US" altLang="ko-KR" sz="4500" dirty="0">
                <a:solidFill>
                  <a:srgbClr val="000000"/>
                </a:solidFill>
                <a:effectLst/>
              </a:rPr>
              <a:t>Different representations of text may occur in the dataset.</a:t>
            </a:r>
          </a:p>
          <a:p>
            <a:pPr marL="1600200" lvl="2" indent="-685800">
              <a:buFont typeface="Arial" panose="020B0604020202020204" pitchFamily="34" charset="0"/>
              <a:buChar char="•"/>
            </a:pPr>
            <a:r>
              <a:rPr lang="en-US" altLang="ko-KR" sz="4500" dirty="0">
                <a:solidFill>
                  <a:srgbClr val="000000"/>
                </a:solidFill>
                <a:effectLst/>
              </a:rPr>
              <a:t>Use the unique() function to ensure that categorical variables are correctly represented.</a:t>
            </a:r>
          </a:p>
        </p:txBody>
      </p:sp>
      <p:pic>
        <p:nvPicPr>
          <p:cNvPr id="5" name="Picture 4" descr="A black and white rectangular object with text&#10;&#10;AI-generated content may be incorrect.">
            <a:extLst>
              <a:ext uri="{FF2B5EF4-FFF2-40B4-BE49-F238E27FC236}">
                <a16:creationId xmlns:a16="http://schemas.microsoft.com/office/drawing/2014/main" id="{AB9B6799-0567-9BAD-6CC6-275660710E6D}"/>
              </a:ext>
            </a:extLst>
          </p:cNvPr>
          <p:cNvPicPr>
            <a:picLocks noChangeAspect="1"/>
          </p:cNvPicPr>
          <p:nvPr/>
        </p:nvPicPr>
        <p:blipFill>
          <a:blip r:embed="rId5"/>
          <a:stretch>
            <a:fillRect/>
          </a:stretch>
        </p:blipFill>
        <p:spPr>
          <a:xfrm>
            <a:off x="13204746" y="2940325"/>
            <a:ext cx="2619454" cy="6126858"/>
          </a:xfrm>
          <a:prstGeom prst="rect">
            <a:avLst/>
          </a:prstGeom>
        </p:spPr>
      </p:pic>
    </p:spTree>
    <p:extLst>
      <p:ext uri="{BB962C8B-B14F-4D97-AF65-F5344CB8AC3E}">
        <p14:creationId xmlns:p14="http://schemas.microsoft.com/office/powerpoint/2010/main" val="351895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586A7-4255-6EA6-F1A8-C49BD9F7C39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F83A79-2712-6F40-DE82-5476080B5FC8}"/>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F0AC7CA0-3430-146B-EAD5-D01DBF14D0EE}"/>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B0AB8D0F-022A-CBA3-F8E4-200DB44812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E88270FE-D31F-8B22-4AEA-865C2FD2B8EF}"/>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71F1A42D-97A1-6E8D-95F8-BDA6BC28DF1C}"/>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2CBB13F8-DCD9-0C64-F134-7E8FFB57E891}"/>
              </a:ext>
            </a:extLst>
          </p:cNvPr>
          <p:cNvSpPr txBox="1"/>
          <p:nvPr/>
        </p:nvSpPr>
        <p:spPr>
          <a:xfrm>
            <a:off x="884858" y="3279717"/>
            <a:ext cx="11078542" cy="4247317"/>
          </a:xfrm>
          <a:prstGeom prst="rect">
            <a:avLst/>
          </a:prstGeom>
          <a:noFill/>
        </p:spPr>
        <p:txBody>
          <a:bodyPr wrap="square" rtlCol="0">
            <a:spAutoFit/>
          </a:bodyPr>
          <a:lstStyle/>
          <a:p>
            <a:pPr>
              <a:buNone/>
            </a:pPr>
            <a:r>
              <a:rPr lang="en-US" altLang="ko-KR" sz="4500" b="1" dirty="0">
                <a:solidFill>
                  <a:srgbClr val="000000"/>
                </a:solidFill>
                <a:effectLst/>
              </a:rPr>
              <a:t>Multiple Representations</a:t>
            </a:r>
          </a:p>
          <a:p>
            <a:pPr>
              <a:buNone/>
            </a:pPr>
            <a:endParaRPr lang="en-US" altLang="ko-KR" sz="4500" b="1" dirty="0">
              <a:solidFill>
                <a:srgbClr val="000000"/>
              </a:solidFill>
              <a:effectLst/>
            </a:endParaRPr>
          </a:p>
          <a:p>
            <a:pPr marL="1600200" lvl="2" indent="-685800">
              <a:buFont typeface="Arial" panose="020B0604020202020204" pitchFamily="34" charset="0"/>
              <a:buChar char="•"/>
            </a:pPr>
            <a:r>
              <a:rPr lang="en-US" altLang="ko-KR" sz="4500" dirty="0">
                <a:solidFill>
                  <a:srgbClr val="000000"/>
                </a:solidFill>
                <a:effectLst/>
              </a:rPr>
              <a:t>Modify the values by assigning the same value for each categorical level.</a:t>
            </a:r>
          </a:p>
          <a:p>
            <a:pPr marL="1600200" lvl="2" indent="-685800">
              <a:buFont typeface="Arial" panose="020B0604020202020204" pitchFamily="34" charset="0"/>
              <a:buChar char="•"/>
            </a:pPr>
            <a:r>
              <a:rPr lang="en-US" altLang="ko-KR" sz="4500" dirty="0">
                <a:solidFill>
                  <a:srgbClr val="000000"/>
                </a:solidFill>
                <a:effectLst/>
              </a:rPr>
              <a:t>The </a:t>
            </a:r>
            <a:r>
              <a:rPr lang="en-US" altLang="ko-KR" sz="4500" b="1" dirty="0">
                <a:solidFill>
                  <a:srgbClr val="000000"/>
                </a:solidFill>
                <a:effectLst/>
              </a:rPr>
              <a:t>map() </a:t>
            </a:r>
            <a:r>
              <a:rPr lang="en-US" altLang="ko-KR" sz="4500" dirty="0">
                <a:solidFill>
                  <a:srgbClr val="000000"/>
                </a:solidFill>
                <a:effectLst/>
              </a:rPr>
              <a:t>function of pandas might be useful for this problem.</a:t>
            </a:r>
          </a:p>
        </p:txBody>
      </p:sp>
      <p:pic>
        <p:nvPicPr>
          <p:cNvPr id="6" name="Picture 5" descr="A grey rectangular object with black letters&#10;&#10;AI-generated content may be incorrect.">
            <a:extLst>
              <a:ext uri="{FF2B5EF4-FFF2-40B4-BE49-F238E27FC236}">
                <a16:creationId xmlns:a16="http://schemas.microsoft.com/office/drawing/2014/main" id="{BF4D8D23-0F78-1F53-FF6A-9531C97372FA}"/>
              </a:ext>
            </a:extLst>
          </p:cNvPr>
          <p:cNvPicPr>
            <a:picLocks noChangeAspect="1"/>
          </p:cNvPicPr>
          <p:nvPr/>
        </p:nvPicPr>
        <p:blipFill>
          <a:blip r:embed="rId5"/>
          <a:stretch>
            <a:fillRect/>
          </a:stretch>
        </p:blipFill>
        <p:spPr>
          <a:xfrm>
            <a:off x="13223917" y="3279716"/>
            <a:ext cx="2492320" cy="5864283"/>
          </a:xfrm>
          <a:prstGeom prst="rect">
            <a:avLst/>
          </a:prstGeom>
        </p:spPr>
      </p:pic>
    </p:spTree>
    <p:extLst>
      <p:ext uri="{BB962C8B-B14F-4D97-AF65-F5344CB8AC3E}">
        <p14:creationId xmlns:p14="http://schemas.microsoft.com/office/powerpoint/2010/main" val="775919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603EA-4436-CBCD-217C-40D51DD7FC6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4FAB038-1127-5CE0-B5E6-02DA73531887}"/>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6290BDFE-A643-61DF-A7CF-4653A131D8C7}"/>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FAF34C22-E4F0-61E9-B5C8-4292B2D095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A0EE4A9B-D360-7A8E-7ACB-810924698686}"/>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22EE8DED-7509-6000-CE36-942614719537}"/>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ABAB790E-2479-EC22-D1E5-1B83AB03E528}"/>
              </a:ext>
            </a:extLst>
          </p:cNvPr>
          <p:cNvSpPr txBox="1"/>
          <p:nvPr/>
        </p:nvSpPr>
        <p:spPr>
          <a:xfrm>
            <a:off x="884858" y="3279717"/>
            <a:ext cx="11078542" cy="4247317"/>
          </a:xfrm>
          <a:prstGeom prst="rect">
            <a:avLst/>
          </a:prstGeom>
          <a:noFill/>
        </p:spPr>
        <p:txBody>
          <a:bodyPr wrap="square" rtlCol="0">
            <a:spAutoFit/>
          </a:bodyPr>
          <a:lstStyle/>
          <a:p>
            <a:pPr>
              <a:buNone/>
            </a:pPr>
            <a:r>
              <a:rPr lang="en-US" altLang="ko-KR" sz="4500" b="1" dirty="0">
                <a:solidFill>
                  <a:srgbClr val="000000"/>
                </a:solidFill>
              </a:rPr>
              <a:t>Incorrect Datatype</a:t>
            </a:r>
            <a:endParaRPr lang="en-US" altLang="ko-KR" sz="4500" b="1" dirty="0">
              <a:solidFill>
                <a:srgbClr val="000000"/>
              </a:solidFill>
              <a:effectLst/>
            </a:endParaRPr>
          </a:p>
          <a:p>
            <a:pPr>
              <a:buNone/>
            </a:pPr>
            <a:endParaRPr lang="en-US" altLang="ko-KR" sz="4500" b="1" dirty="0">
              <a:solidFill>
                <a:srgbClr val="000000"/>
              </a:solidFill>
              <a:effectLst/>
            </a:endParaRPr>
          </a:p>
          <a:p>
            <a:pPr marL="1600200" lvl="2" indent="-685800">
              <a:buFont typeface="Arial" panose="020B0604020202020204" pitchFamily="34" charset="0"/>
              <a:buChar char="•"/>
            </a:pPr>
            <a:r>
              <a:rPr lang="en-US" altLang="ko-KR" sz="4500" dirty="0">
                <a:solidFill>
                  <a:srgbClr val="000000"/>
                </a:solidFill>
                <a:effectLst/>
              </a:rPr>
              <a:t>Numerical values in the dataset may be represented as text or string.</a:t>
            </a:r>
          </a:p>
          <a:p>
            <a:pPr marL="1600200" lvl="2" indent="-685800">
              <a:buFont typeface="Arial" panose="020B0604020202020204" pitchFamily="34" charset="0"/>
              <a:buChar char="•"/>
            </a:pPr>
            <a:r>
              <a:rPr lang="en-US" altLang="ko-KR" sz="4500" dirty="0">
                <a:solidFill>
                  <a:srgbClr val="000000"/>
                </a:solidFill>
                <a:effectLst/>
              </a:rPr>
              <a:t>Use the info() function to check the datatype of each column in the dataset.</a:t>
            </a:r>
          </a:p>
        </p:txBody>
      </p:sp>
      <p:pic>
        <p:nvPicPr>
          <p:cNvPr id="5" name="Picture 4" descr="A white rectangular object with black lines&#10;&#10;AI-generated content may be incorrect.">
            <a:extLst>
              <a:ext uri="{FF2B5EF4-FFF2-40B4-BE49-F238E27FC236}">
                <a16:creationId xmlns:a16="http://schemas.microsoft.com/office/drawing/2014/main" id="{67E6BE23-8260-3FEA-3B1F-13F2985FFDBA}"/>
              </a:ext>
            </a:extLst>
          </p:cNvPr>
          <p:cNvPicPr>
            <a:picLocks noChangeAspect="1"/>
          </p:cNvPicPr>
          <p:nvPr/>
        </p:nvPicPr>
        <p:blipFill>
          <a:blip r:embed="rId5"/>
          <a:stretch>
            <a:fillRect/>
          </a:stretch>
        </p:blipFill>
        <p:spPr>
          <a:xfrm>
            <a:off x="13101633" y="2850467"/>
            <a:ext cx="2573843" cy="6033764"/>
          </a:xfrm>
          <a:prstGeom prst="rect">
            <a:avLst/>
          </a:prstGeom>
        </p:spPr>
      </p:pic>
    </p:spTree>
    <p:extLst>
      <p:ext uri="{BB962C8B-B14F-4D97-AF65-F5344CB8AC3E}">
        <p14:creationId xmlns:p14="http://schemas.microsoft.com/office/powerpoint/2010/main" val="763820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85EC1-71CF-9597-D03D-FB769A0587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1BBD48-4F79-FF78-0316-3C921B6C6CD2}"/>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476917F1-A4E1-FD0E-DCCA-B6055228892D}"/>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5C7AC2A4-4099-5BE8-3091-221D01B17D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CA138B42-E4FD-F301-9F87-3AD454B8B8B1}"/>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ABDE0828-A149-94BF-CB91-93DA1655FF61}"/>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C754E29F-8031-8F6F-4674-339413B87F6D}"/>
              </a:ext>
            </a:extLst>
          </p:cNvPr>
          <p:cNvSpPr txBox="1"/>
          <p:nvPr/>
        </p:nvSpPr>
        <p:spPr>
          <a:xfrm>
            <a:off x="884858" y="3279717"/>
            <a:ext cx="11078542" cy="5632311"/>
          </a:xfrm>
          <a:prstGeom prst="rect">
            <a:avLst/>
          </a:prstGeom>
          <a:noFill/>
        </p:spPr>
        <p:txBody>
          <a:bodyPr wrap="square" rtlCol="0">
            <a:spAutoFit/>
          </a:bodyPr>
          <a:lstStyle/>
          <a:p>
            <a:pPr>
              <a:buNone/>
            </a:pPr>
            <a:r>
              <a:rPr lang="en-US" altLang="ko-KR" sz="4500" b="1" dirty="0">
                <a:solidFill>
                  <a:srgbClr val="000000"/>
                </a:solidFill>
              </a:rPr>
              <a:t>Incorrect Datatype</a:t>
            </a:r>
            <a:endParaRPr lang="en-US" altLang="ko-KR" sz="4500" b="1" dirty="0">
              <a:solidFill>
                <a:srgbClr val="000000"/>
              </a:solidFill>
              <a:effectLst/>
            </a:endParaRPr>
          </a:p>
          <a:p>
            <a:pPr>
              <a:buNone/>
            </a:pPr>
            <a:endParaRPr lang="en-US" altLang="ko-KR" sz="4500" b="1" dirty="0">
              <a:solidFill>
                <a:srgbClr val="000000"/>
              </a:solidFill>
              <a:effectLst/>
            </a:endParaRPr>
          </a:p>
          <a:p>
            <a:pPr marL="1600200" lvl="2" indent="-685800">
              <a:buFont typeface="Arial" panose="020B0604020202020204" pitchFamily="34" charset="0"/>
              <a:buChar char="•"/>
            </a:pPr>
            <a:r>
              <a:rPr lang="en-US" altLang="ko-KR" sz="4500" dirty="0">
                <a:solidFill>
                  <a:srgbClr val="000000"/>
                </a:solidFill>
                <a:effectLst/>
              </a:rPr>
              <a:t>Convert all variables to their appropriate numerical data type.</a:t>
            </a:r>
          </a:p>
          <a:p>
            <a:pPr marL="1600200" lvl="2" indent="-685800">
              <a:buFont typeface="Arial" panose="020B0604020202020204" pitchFamily="34" charset="0"/>
              <a:buChar char="•"/>
            </a:pPr>
            <a:r>
              <a:rPr lang="en-US" altLang="ko-KR" sz="4500" dirty="0">
                <a:solidFill>
                  <a:srgbClr val="000000"/>
                </a:solidFill>
                <a:effectLst/>
              </a:rPr>
              <a:t>Use the </a:t>
            </a:r>
            <a:r>
              <a:rPr lang="en-US" altLang="ko-KR" sz="4500" b="1" dirty="0">
                <a:solidFill>
                  <a:srgbClr val="000000"/>
                </a:solidFill>
                <a:effectLst/>
              </a:rPr>
              <a:t>apply() </a:t>
            </a:r>
            <a:r>
              <a:rPr lang="en-US" altLang="ko-KR" sz="4500" dirty="0">
                <a:solidFill>
                  <a:srgbClr val="000000"/>
                </a:solidFill>
                <a:effectLst/>
              </a:rPr>
              <a:t>function to the appropriate column and use a </a:t>
            </a:r>
            <a:r>
              <a:rPr lang="en-US" altLang="ko-KR" sz="4500" b="1" dirty="0">
                <a:solidFill>
                  <a:srgbClr val="000000"/>
                </a:solidFill>
                <a:effectLst/>
              </a:rPr>
              <a:t>lambda function</a:t>
            </a:r>
            <a:r>
              <a:rPr lang="en-US" altLang="ko-KR" sz="4500" dirty="0">
                <a:solidFill>
                  <a:srgbClr val="000000"/>
                </a:solidFill>
                <a:effectLst/>
              </a:rPr>
              <a:t> to convert each element to a numerical data type.</a:t>
            </a:r>
          </a:p>
        </p:txBody>
      </p:sp>
      <p:pic>
        <p:nvPicPr>
          <p:cNvPr id="6" name="Picture 5" descr="A number on a white surface&#10;&#10;AI-generated content may be incorrect.">
            <a:extLst>
              <a:ext uri="{FF2B5EF4-FFF2-40B4-BE49-F238E27FC236}">
                <a16:creationId xmlns:a16="http://schemas.microsoft.com/office/drawing/2014/main" id="{A76AD04F-7A1E-BFBF-0BC7-05440EB64D90}"/>
              </a:ext>
            </a:extLst>
          </p:cNvPr>
          <p:cNvPicPr>
            <a:picLocks noChangeAspect="1"/>
          </p:cNvPicPr>
          <p:nvPr/>
        </p:nvPicPr>
        <p:blipFill>
          <a:blip r:embed="rId5"/>
          <a:stretch>
            <a:fillRect/>
          </a:stretch>
        </p:blipFill>
        <p:spPr>
          <a:xfrm>
            <a:off x="13123783" y="3357175"/>
            <a:ext cx="2370217" cy="5477394"/>
          </a:xfrm>
          <a:prstGeom prst="rect">
            <a:avLst/>
          </a:prstGeom>
        </p:spPr>
      </p:pic>
    </p:spTree>
    <p:extLst>
      <p:ext uri="{BB962C8B-B14F-4D97-AF65-F5344CB8AC3E}">
        <p14:creationId xmlns:p14="http://schemas.microsoft.com/office/powerpoint/2010/main" val="444984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7380-5BAE-C5FB-EF31-1743DEA59B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3B2F044-B6B0-F0D1-ED8B-5887915877C5}"/>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B9F2DBA0-F913-6F02-8E2D-B653044516A3}"/>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B7C73E64-3BED-4049-F40E-B23998C3AA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36394CC1-4C23-3DA3-EC36-C1046D482D77}"/>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CCB0711C-7DB0-FFC3-FC18-04183A68D562}"/>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8E05EE65-3AE8-ACBF-B942-690D4656417B}"/>
              </a:ext>
            </a:extLst>
          </p:cNvPr>
          <p:cNvSpPr txBox="1"/>
          <p:nvPr/>
        </p:nvSpPr>
        <p:spPr>
          <a:xfrm>
            <a:off x="884858" y="3279717"/>
            <a:ext cx="11078542" cy="6324808"/>
          </a:xfrm>
          <a:prstGeom prst="rect">
            <a:avLst/>
          </a:prstGeom>
          <a:noFill/>
        </p:spPr>
        <p:txBody>
          <a:bodyPr wrap="square" rtlCol="0">
            <a:spAutoFit/>
          </a:bodyPr>
          <a:lstStyle/>
          <a:p>
            <a:pPr>
              <a:buNone/>
            </a:pPr>
            <a:r>
              <a:rPr lang="en-US" altLang="ko-KR" sz="4500" b="1" dirty="0">
                <a:solidFill>
                  <a:srgbClr val="000000"/>
                </a:solidFill>
              </a:rPr>
              <a:t>Default Values</a:t>
            </a:r>
            <a:endParaRPr lang="en-US" altLang="ko-KR" sz="4500" b="1" dirty="0">
              <a:solidFill>
                <a:srgbClr val="000000"/>
              </a:solidFill>
              <a:effectLst/>
            </a:endParaRPr>
          </a:p>
          <a:p>
            <a:pPr>
              <a:buNone/>
            </a:pPr>
            <a:endParaRPr lang="en-US" altLang="ko-KR" sz="4500" b="1" dirty="0">
              <a:solidFill>
                <a:srgbClr val="000000"/>
              </a:solidFill>
              <a:effectLst/>
            </a:endParaRPr>
          </a:p>
          <a:p>
            <a:pPr marL="1600200" lvl="2" indent="-685800">
              <a:buFont typeface="Arial" panose="020B0604020202020204" pitchFamily="34" charset="0"/>
              <a:buChar char="•"/>
            </a:pPr>
            <a:r>
              <a:rPr lang="en-US" altLang="ko-KR" sz="4500" dirty="0">
                <a:solidFill>
                  <a:srgbClr val="000000"/>
                </a:solidFill>
                <a:effectLst/>
              </a:rPr>
              <a:t>Datasets may use a default value for when the data is missing or not applicable.</a:t>
            </a:r>
          </a:p>
          <a:p>
            <a:pPr marL="1600200" lvl="2" indent="-685800">
              <a:buFont typeface="Arial" panose="020B0604020202020204" pitchFamily="34" charset="0"/>
              <a:buChar char="•"/>
            </a:pPr>
            <a:r>
              <a:rPr lang="en-US" altLang="ko-KR" sz="4500" dirty="0">
                <a:solidFill>
                  <a:srgbClr val="000000"/>
                </a:solidFill>
                <a:effectLst/>
              </a:rPr>
              <a:t>Handle these cases appropriately depending on the context.</a:t>
            </a:r>
          </a:p>
          <a:p>
            <a:pPr marL="1600200" lvl="2" indent="-685800">
              <a:buFont typeface="Arial" panose="020B0604020202020204" pitchFamily="34" charset="0"/>
              <a:buChar char="•"/>
            </a:pPr>
            <a:r>
              <a:rPr lang="en-US" altLang="ko-KR" sz="4500" dirty="0">
                <a:solidFill>
                  <a:srgbClr val="000000"/>
                </a:solidFill>
                <a:effectLst/>
              </a:rPr>
              <a:t>In pandas, missing values are represented as </a:t>
            </a:r>
            <a:r>
              <a:rPr lang="en-US" altLang="ko-KR" sz="4500" b="1" dirty="0" err="1">
                <a:solidFill>
                  <a:srgbClr val="000000"/>
                </a:solidFill>
                <a:effectLst/>
              </a:rPr>
              <a:t>NaN</a:t>
            </a:r>
            <a:r>
              <a:rPr lang="en-US" altLang="ko-KR" sz="4500" dirty="0">
                <a:solidFill>
                  <a:srgbClr val="000000"/>
                </a:solidFill>
                <a:effectLst/>
              </a:rPr>
              <a:t> or </a:t>
            </a:r>
            <a:r>
              <a:rPr lang="en-US" altLang="ko-KR" sz="4500" b="1" dirty="0">
                <a:solidFill>
                  <a:srgbClr val="000000"/>
                </a:solidFill>
                <a:effectLst/>
              </a:rPr>
              <a:t>None.</a:t>
            </a:r>
          </a:p>
        </p:txBody>
      </p:sp>
      <p:pic>
        <p:nvPicPr>
          <p:cNvPr id="5" name="Picture 4" descr="A white rectangular object with black text&#10;&#10;AI-generated content may be incorrect.">
            <a:extLst>
              <a:ext uri="{FF2B5EF4-FFF2-40B4-BE49-F238E27FC236}">
                <a16:creationId xmlns:a16="http://schemas.microsoft.com/office/drawing/2014/main" id="{40B3D7D8-FBD2-8206-46FF-E7C4D0E5A6F5}"/>
              </a:ext>
            </a:extLst>
          </p:cNvPr>
          <p:cNvPicPr>
            <a:picLocks noChangeAspect="1"/>
          </p:cNvPicPr>
          <p:nvPr/>
        </p:nvPicPr>
        <p:blipFill>
          <a:blip r:embed="rId5"/>
          <a:stretch>
            <a:fillRect/>
          </a:stretch>
        </p:blipFill>
        <p:spPr>
          <a:xfrm>
            <a:off x="12859216" y="3270913"/>
            <a:ext cx="2573417" cy="6119975"/>
          </a:xfrm>
          <a:prstGeom prst="rect">
            <a:avLst/>
          </a:prstGeom>
        </p:spPr>
      </p:pic>
    </p:spTree>
    <p:extLst>
      <p:ext uri="{BB962C8B-B14F-4D97-AF65-F5344CB8AC3E}">
        <p14:creationId xmlns:p14="http://schemas.microsoft.com/office/powerpoint/2010/main" val="835124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8CACE-B518-3D91-F987-3562AFA6762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DAFBE8-8357-2DA4-75C3-1A6FA98EB03C}"/>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F7C5954A-9A6F-C7AA-BB2E-590FE1B9A2ED}"/>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B5073F52-1217-7A12-3F22-61D908F140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AE4765C5-9D3D-8EFF-FF6A-AB6385DB3DA6}"/>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3731660E-4169-866A-BEA0-966BC380AC2F}"/>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9D812894-14BF-49C8-5F01-51E33EEC69C8}"/>
              </a:ext>
            </a:extLst>
          </p:cNvPr>
          <p:cNvSpPr txBox="1"/>
          <p:nvPr/>
        </p:nvSpPr>
        <p:spPr>
          <a:xfrm>
            <a:off x="884858" y="3279717"/>
            <a:ext cx="11078542" cy="4247317"/>
          </a:xfrm>
          <a:prstGeom prst="rect">
            <a:avLst/>
          </a:prstGeom>
          <a:noFill/>
        </p:spPr>
        <p:txBody>
          <a:bodyPr wrap="square" rtlCol="0">
            <a:spAutoFit/>
          </a:bodyPr>
          <a:lstStyle/>
          <a:p>
            <a:pPr>
              <a:buNone/>
            </a:pPr>
            <a:r>
              <a:rPr lang="en-US" altLang="ko-KR" sz="4500" b="1" dirty="0">
                <a:solidFill>
                  <a:srgbClr val="000000"/>
                </a:solidFill>
              </a:rPr>
              <a:t>Default Values</a:t>
            </a:r>
            <a:endParaRPr lang="en-US" altLang="ko-KR" sz="4500" b="1" dirty="0">
              <a:solidFill>
                <a:srgbClr val="000000"/>
              </a:solidFill>
              <a:effectLst/>
            </a:endParaRPr>
          </a:p>
          <a:p>
            <a:pPr>
              <a:buNone/>
            </a:pPr>
            <a:endParaRPr lang="en-US" altLang="ko-KR" sz="4500" b="1" dirty="0">
              <a:solidFill>
                <a:srgbClr val="000000"/>
              </a:solidFill>
              <a:effectLst/>
            </a:endParaRPr>
          </a:p>
          <a:p>
            <a:pPr marL="1600200" lvl="2" indent="-685800">
              <a:buFont typeface="Arial" panose="020B0604020202020204" pitchFamily="34" charset="0"/>
              <a:buChar char="•"/>
            </a:pPr>
            <a:r>
              <a:rPr lang="en-US" altLang="ko-KR" sz="4500" dirty="0">
                <a:solidFill>
                  <a:srgbClr val="000000"/>
                </a:solidFill>
                <a:effectLst/>
              </a:rPr>
              <a:t>Make sure that all missing values are represented as None or </a:t>
            </a:r>
            <a:r>
              <a:rPr lang="en-US" altLang="ko-KR" sz="4500" dirty="0" err="1">
                <a:solidFill>
                  <a:srgbClr val="000000"/>
                </a:solidFill>
                <a:effectLst/>
              </a:rPr>
              <a:t>NaN</a:t>
            </a:r>
            <a:r>
              <a:rPr lang="en-US" altLang="ko-KR" sz="4500" dirty="0">
                <a:solidFill>
                  <a:srgbClr val="000000"/>
                </a:solidFill>
                <a:effectLst/>
              </a:rPr>
              <a:t>.</a:t>
            </a:r>
          </a:p>
          <a:p>
            <a:pPr marL="1600200" lvl="2" indent="-685800">
              <a:buFont typeface="Arial" panose="020B0604020202020204" pitchFamily="34" charset="0"/>
              <a:buChar char="•"/>
            </a:pPr>
            <a:r>
              <a:rPr lang="en-US" altLang="ko-KR" sz="4500" dirty="0">
                <a:solidFill>
                  <a:srgbClr val="000000"/>
                </a:solidFill>
                <a:effectLst/>
              </a:rPr>
              <a:t>For other kinds of default values, handle them depending on the context.</a:t>
            </a:r>
            <a:endParaRPr lang="en-US" altLang="ko-KR" sz="4500" b="1" dirty="0">
              <a:solidFill>
                <a:srgbClr val="000000"/>
              </a:solidFill>
              <a:effectLst/>
            </a:endParaRPr>
          </a:p>
        </p:txBody>
      </p:sp>
      <p:pic>
        <p:nvPicPr>
          <p:cNvPr id="6" name="Picture 5" descr="A black and white rectangular object with black text&#10;&#10;AI-generated content may be incorrect.">
            <a:extLst>
              <a:ext uri="{FF2B5EF4-FFF2-40B4-BE49-F238E27FC236}">
                <a16:creationId xmlns:a16="http://schemas.microsoft.com/office/drawing/2014/main" id="{25CB2769-78C6-82CD-2C7B-32A41B8519D1}"/>
              </a:ext>
            </a:extLst>
          </p:cNvPr>
          <p:cNvPicPr>
            <a:picLocks noChangeAspect="1"/>
          </p:cNvPicPr>
          <p:nvPr/>
        </p:nvPicPr>
        <p:blipFill>
          <a:blip r:embed="rId5"/>
          <a:stretch>
            <a:fillRect/>
          </a:stretch>
        </p:blipFill>
        <p:spPr>
          <a:xfrm>
            <a:off x="13244436" y="3279717"/>
            <a:ext cx="2325764" cy="5703177"/>
          </a:xfrm>
          <a:prstGeom prst="rect">
            <a:avLst/>
          </a:prstGeom>
        </p:spPr>
      </p:pic>
    </p:spTree>
    <p:extLst>
      <p:ext uri="{BB962C8B-B14F-4D97-AF65-F5344CB8AC3E}">
        <p14:creationId xmlns:p14="http://schemas.microsoft.com/office/powerpoint/2010/main" val="2964033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D6646-8B61-10D8-6533-6EAB42EC00B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90724F9-6D09-9567-DAED-B645757373E8}"/>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3A88D1BB-05EC-1E2C-055C-49F6F2AD7323}"/>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DC9586A4-F16B-2F50-3A21-4B2B17101D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8C8810E7-51F3-4100-261E-EF41A679E95C}"/>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44F8FBB7-894E-FF9C-B5A3-DAE16E165522}"/>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2A660EEC-8A97-87E3-FC48-87236F2A77B8}"/>
              </a:ext>
            </a:extLst>
          </p:cNvPr>
          <p:cNvSpPr txBox="1"/>
          <p:nvPr/>
        </p:nvSpPr>
        <p:spPr>
          <a:xfrm>
            <a:off x="884858" y="3279717"/>
            <a:ext cx="11078542" cy="4247317"/>
          </a:xfrm>
          <a:prstGeom prst="rect">
            <a:avLst/>
          </a:prstGeom>
          <a:noFill/>
        </p:spPr>
        <p:txBody>
          <a:bodyPr wrap="square" rtlCol="0">
            <a:spAutoFit/>
          </a:bodyPr>
          <a:lstStyle/>
          <a:p>
            <a:pPr>
              <a:buNone/>
            </a:pPr>
            <a:r>
              <a:rPr lang="en-US" altLang="ko-KR" sz="4500" b="1" dirty="0">
                <a:solidFill>
                  <a:srgbClr val="000000"/>
                </a:solidFill>
              </a:rPr>
              <a:t>Missing Data</a:t>
            </a:r>
            <a:endParaRPr lang="en-US" altLang="ko-KR" sz="4500" b="1" dirty="0">
              <a:solidFill>
                <a:srgbClr val="000000"/>
              </a:solidFill>
              <a:effectLst/>
            </a:endParaRPr>
          </a:p>
          <a:p>
            <a:pPr>
              <a:buNone/>
            </a:pPr>
            <a:endParaRPr lang="en-US" altLang="ko-KR" sz="4500" b="1" dirty="0">
              <a:solidFill>
                <a:srgbClr val="000000"/>
              </a:solidFill>
              <a:effectLst/>
            </a:endParaRPr>
          </a:p>
          <a:p>
            <a:pPr marL="1600200" lvl="2" indent="-685800">
              <a:buFont typeface="Arial" panose="020B0604020202020204" pitchFamily="34" charset="0"/>
              <a:buChar char="•"/>
            </a:pPr>
            <a:r>
              <a:rPr lang="en-US" altLang="ko-KR" sz="4500" dirty="0">
                <a:solidFill>
                  <a:srgbClr val="000000"/>
                </a:solidFill>
                <a:effectLst/>
              </a:rPr>
              <a:t>Elements in the dataset may be missing because the data is unavailable.</a:t>
            </a:r>
          </a:p>
          <a:p>
            <a:pPr marL="1600200" lvl="2" indent="-685800">
              <a:buFont typeface="Arial" panose="020B0604020202020204" pitchFamily="34" charset="0"/>
              <a:buChar char="•"/>
            </a:pPr>
            <a:r>
              <a:rPr lang="en-US" altLang="ko-KR" sz="4500" dirty="0">
                <a:solidFill>
                  <a:srgbClr val="000000"/>
                </a:solidFill>
                <a:effectLst/>
              </a:rPr>
              <a:t>Missing values are represented as </a:t>
            </a:r>
            <a:r>
              <a:rPr lang="en-US" altLang="ko-KR" sz="4500" dirty="0" err="1">
                <a:solidFill>
                  <a:srgbClr val="000000"/>
                </a:solidFill>
                <a:effectLst/>
              </a:rPr>
              <a:t>NaN</a:t>
            </a:r>
            <a:r>
              <a:rPr lang="en-US" altLang="ko-KR" sz="4500" dirty="0">
                <a:solidFill>
                  <a:srgbClr val="000000"/>
                </a:solidFill>
                <a:effectLst/>
              </a:rPr>
              <a:t> or None in pandas.</a:t>
            </a:r>
            <a:endParaRPr lang="en-US" altLang="ko-KR" sz="4500" b="1" dirty="0">
              <a:solidFill>
                <a:srgbClr val="000000"/>
              </a:solidFill>
              <a:effectLst/>
            </a:endParaRPr>
          </a:p>
        </p:txBody>
      </p:sp>
      <p:pic>
        <p:nvPicPr>
          <p:cNvPr id="5" name="Picture 4" descr="A number on a white surface&#10;&#10;AI-generated content may be incorrect.">
            <a:extLst>
              <a:ext uri="{FF2B5EF4-FFF2-40B4-BE49-F238E27FC236}">
                <a16:creationId xmlns:a16="http://schemas.microsoft.com/office/drawing/2014/main" id="{3DBAC6BC-7D7E-75A5-E91D-E69E398257D8}"/>
              </a:ext>
            </a:extLst>
          </p:cNvPr>
          <p:cNvPicPr>
            <a:picLocks noChangeAspect="1"/>
          </p:cNvPicPr>
          <p:nvPr/>
        </p:nvPicPr>
        <p:blipFill>
          <a:blip r:embed="rId5"/>
          <a:stretch>
            <a:fillRect/>
          </a:stretch>
        </p:blipFill>
        <p:spPr>
          <a:xfrm>
            <a:off x="13225383" y="2850467"/>
            <a:ext cx="2649617" cy="6189864"/>
          </a:xfrm>
          <a:prstGeom prst="rect">
            <a:avLst/>
          </a:prstGeom>
        </p:spPr>
      </p:pic>
    </p:spTree>
    <p:extLst>
      <p:ext uri="{BB962C8B-B14F-4D97-AF65-F5344CB8AC3E}">
        <p14:creationId xmlns:p14="http://schemas.microsoft.com/office/powerpoint/2010/main" val="160722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B9A62-6841-924E-75CB-E4051579F62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0223062-FDD8-67D1-B6FD-398FDFBE6D3B}"/>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A93BD27C-5B7D-DF62-D099-E156329C4AE3}"/>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27BF8256-5281-4CA3-6645-480D5ACF8C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8C41E3E1-3831-C7E8-A099-18AADE48C046}"/>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2E275DA0-AD90-0ACE-B5A7-C2F1D11713F9}"/>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FDF5AF62-1388-A276-7088-0948714D0439}"/>
              </a:ext>
            </a:extLst>
          </p:cNvPr>
          <p:cNvSpPr txBox="1"/>
          <p:nvPr/>
        </p:nvSpPr>
        <p:spPr>
          <a:xfrm>
            <a:off x="884858" y="3279717"/>
            <a:ext cx="11078542" cy="6324808"/>
          </a:xfrm>
          <a:prstGeom prst="rect">
            <a:avLst/>
          </a:prstGeom>
          <a:noFill/>
        </p:spPr>
        <p:txBody>
          <a:bodyPr wrap="square" rtlCol="0">
            <a:spAutoFit/>
          </a:bodyPr>
          <a:lstStyle/>
          <a:p>
            <a:pPr>
              <a:buNone/>
            </a:pPr>
            <a:r>
              <a:rPr lang="en-US" altLang="ko-KR" sz="4500" b="1" dirty="0">
                <a:solidFill>
                  <a:srgbClr val="000000"/>
                </a:solidFill>
              </a:rPr>
              <a:t>Missing Data</a:t>
            </a:r>
          </a:p>
          <a:p>
            <a:pPr>
              <a:buNone/>
            </a:pPr>
            <a:r>
              <a:rPr lang="en-US" altLang="ko-KR" sz="4500" dirty="0">
                <a:solidFill>
                  <a:srgbClr val="000000"/>
                </a:solidFill>
                <a:effectLst/>
              </a:rPr>
              <a:t>Handling missing data depends on the domain. Use your own judgment.</a:t>
            </a:r>
          </a:p>
          <a:p>
            <a:pPr>
              <a:buNone/>
            </a:pPr>
            <a:endParaRPr lang="en-US" altLang="ko-KR" sz="4500" dirty="0">
              <a:solidFill>
                <a:srgbClr val="000000"/>
              </a:solidFill>
              <a:effectLst/>
            </a:endParaRPr>
          </a:p>
          <a:p>
            <a:pPr marL="1600200" lvl="2" indent="-685800">
              <a:buFont typeface="Arial" panose="020B0604020202020204" pitchFamily="34" charset="0"/>
              <a:buChar char="•"/>
            </a:pPr>
            <a:r>
              <a:rPr lang="en-US" altLang="ko-KR" sz="4500" dirty="0">
                <a:solidFill>
                  <a:srgbClr val="000000"/>
                </a:solidFill>
                <a:effectLst/>
              </a:rPr>
              <a:t>Option: Delete all rows that contain missing data.</a:t>
            </a:r>
          </a:p>
          <a:p>
            <a:pPr marL="1600200" lvl="2" indent="-685800">
              <a:buFont typeface="Arial" panose="020B0604020202020204" pitchFamily="34" charset="0"/>
              <a:buChar char="•"/>
            </a:pPr>
            <a:r>
              <a:rPr lang="en-US" altLang="ko-KR" sz="4500" dirty="0">
                <a:solidFill>
                  <a:srgbClr val="000000"/>
                </a:solidFill>
                <a:effectLst/>
              </a:rPr>
              <a:t>Option: Replace the missing data with the mean of the variable</a:t>
            </a:r>
          </a:p>
          <a:p>
            <a:pPr marL="1600200" lvl="2" indent="-685800">
              <a:buFont typeface="Arial" panose="020B0604020202020204" pitchFamily="34" charset="0"/>
              <a:buChar char="•"/>
            </a:pPr>
            <a:r>
              <a:rPr lang="en-US" altLang="ko-KR" sz="4500" dirty="0">
                <a:solidFill>
                  <a:srgbClr val="000000"/>
                </a:solidFill>
                <a:effectLst/>
              </a:rPr>
              <a:t>And other schemes…</a:t>
            </a:r>
            <a:endParaRPr lang="en-US" altLang="ko-KR" sz="4500" b="1" dirty="0">
              <a:solidFill>
                <a:srgbClr val="000000"/>
              </a:solidFill>
              <a:effectLst/>
            </a:endParaRPr>
          </a:p>
        </p:txBody>
      </p:sp>
      <p:pic>
        <p:nvPicPr>
          <p:cNvPr id="6" name="Picture 5" descr="A table of grade and grade&#10;&#10;AI-generated content may be incorrect.">
            <a:extLst>
              <a:ext uri="{FF2B5EF4-FFF2-40B4-BE49-F238E27FC236}">
                <a16:creationId xmlns:a16="http://schemas.microsoft.com/office/drawing/2014/main" id="{5D5C2E25-5783-4F90-C946-BA78C40F3711}"/>
              </a:ext>
            </a:extLst>
          </p:cNvPr>
          <p:cNvPicPr>
            <a:picLocks noChangeAspect="1"/>
          </p:cNvPicPr>
          <p:nvPr/>
        </p:nvPicPr>
        <p:blipFill>
          <a:blip r:embed="rId5"/>
          <a:stretch>
            <a:fillRect/>
          </a:stretch>
        </p:blipFill>
        <p:spPr>
          <a:xfrm>
            <a:off x="12547597" y="3279717"/>
            <a:ext cx="5025610" cy="5836192"/>
          </a:xfrm>
          <a:prstGeom prst="rect">
            <a:avLst/>
          </a:prstGeom>
        </p:spPr>
      </p:pic>
    </p:spTree>
    <p:extLst>
      <p:ext uri="{BB962C8B-B14F-4D97-AF65-F5344CB8AC3E}">
        <p14:creationId xmlns:p14="http://schemas.microsoft.com/office/powerpoint/2010/main" val="2191358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3F3C8-BEDA-D36A-E58E-3413D82C083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15C6342-748A-3E15-A16B-E25B725BFD77}"/>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274CF02B-DBB3-CB87-7E64-54C0704F2B35}"/>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DAD22553-C9CA-B9B6-1288-B5CD169612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B784CEEF-A4B5-7EB0-6DF9-CDD4155C6D65}"/>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7656D401-E380-A032-DF71-DB5CC3A9C47E}"/>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AA4DE237-7836-620E-C911-F1AEE833F32C}"/>
              </a:ext>
            </a:extLst>
          </p:cNvPr>
          <p:cNvSpPr txBox="1"/>
          <p:nvPr/>
        </p:nvSpPr>
        <p:spPr>
          <a:xfrm>
            <a:off x="884858" y="3279717"/>
            <a:ext cx="11078542" cy="4247317"/>
          </a:xfrm>
          <a:prstGeom prst="rect">
            <a:avLst/>
          </a:prstGeom>
          <a:noFill/>
        </p:spPr>
        <p:txBody>
          <a:bodyPr wrap="square" rtlCol="0">
            <a:spAutoFit/>
          </a:bodyPr>
          <a:lstStyle/>
          <a:p>
            <a:pPr>
              <a:buNone/>
            </a:pPr>
            <a:r>
              <a:rPr lang="en-US" altLang="ko-KR" sz="4500" b="1" dirty="0">
                <a:solidFill>
                  <a:srgbClr val="000000"/>
                </a:solidFill>
              </a:rPr>
              <a:t>Duplicate Data</a:t>
            </a:r>
          </a:p>
          <a:p>
            <a:pPr>
              <a:buNone/>
            </a:pPr>
            <a:r>
              <a:rPr lang="en-US" altLang="ko-KR" sz="4500" dirty="0">
                <a:solidFill>
                  <a:srgbClr val="000000"/>
                </a:solidFill>
                <a:effectLst/>
              </a:rPr>
              <a:t>A dataset may contain duplicate data.</a:t>
            </a:r>
          </a:p>
          <a:p>
            <a:pPr>
              <a:buNone/>
            </a:pPr>
            <a:endParaRPr lang="en-US" altLang="ko-KR" sz="4500" dirty="0">
              <a:solidFill>
                <a:srgbClr val="000000"/>
              </a:solidFill>
              <a:effectLst/>
            </a:endParaRPr>
          </a:p>
          <a:p>
            <a:pPr marL="1600200" lvl="2" indent="-685800">
              <a:buFont typeface="Arial" panose="020B0604020202020204" pitchFamily="34" charset="0"/>
              <a:buChar char="•"/>
            </a:pPr>
            <a:r>
              <a:rPr lang="en-US" altLang="ko-KR" sz="4500" dirty="0">
                <a:solidFill>
                  <a:srgbClr val="000000"/>
                </a:solidFill>
                <a:effectLst/>
              </a:rPr>
              <a:t>In some cases, there really is a duplicate.</a:t>
            </a:r>
          </a:p>
          <a:p>
            <a:pPr marL="1600200" lvl="2" indent="-685800">
              <a:buFont typeface="Arial" panose="020B0604020202020204" pitchFamily="34" charset="0"/>
              <a:buChar char="•"/>
            </a:pPr>
            <a:r>
              <a:rPr lang="en-US" altLang="ko-KR" sz="4500" dirty="0">
                <a:solidFill>
                  <a:srgbClr val="000000"/>
                </a:solidFill>
                <a:effectLst/>
              </a:rPr>
              <a:t>In some cases, it may be caused by an error.</a:t>
            </a:r>
            <a:endParaRPr lang="en-US" altLang="ko-KR" sz="4500" b="1" dirty="0">
              <a:solidFill>
                <a:srgbClr val="000000"/>
              </a:solidFill>
              <a:effectLst/>
            </a:endParaRPr>
          </a:p>
        </p:txBody>
      </p:sp>
      <p:pic>
        <p:nvPicPr>
          <p:cNvPr id="5" name="Picture 4" descr="A table with names and numbers&#10;&#10;AI-generated content may be incorrect.">
            <a:extLst>
              <a:ext uri="{FF2B5EF4-FFF2-40B4-BE49-F238E27FC236}">
                <a16:creationId xmlns:a16="http://schemas.microsoft.com/office/drawing/2014/main" id="{8BA4E239-ABDB-41B2-2775-95A0187C20BB}"/>
              </a:ext>
            </a:extLst>
          </p:cNvPr>
          <p:cNvPicPr>
            <a:picLocks noChangeAspect="1"/>
          </p:cNvPicPr>
          <p:nvPr/>
        </p:nvPicPr>
        <p:blipFill>
          <a:blip r:embed="rId5"/>
          <a:stretch>
            <a:fillRect/>
          </a:stretch>
        </p:blipFill>
        <p:spPr>
          <a:xfrm>
            <a:off x="12930016" y="2940325"/>
            <a:ext cx="4032381" cy="5863410"/>
          </a:xfrm>
          <a:prstGeom prst="rect">
            <a:avLst/>
          </a:prstGeom>
        </p:spPr>
      </p:pic>
    </p:spTree>
    <p:extLst>
      <p:ext uri="{BB962C8B-B14F-4D97-AF65-F5344CB8AC3E}">
        <p14:creationId xmlns:p14="http://schemas.microsoft.com/office/powerpoint/2010/main" val="744324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8A86F-E57F-C316-4BF5-76D2F021DD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263205F-08E5-4E95-7F12-D2E2AD4E867C}"/>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B644C79C-D635-3B1D-0AE1-03009BDBE84D}"/>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1B3CC433-3DBB-5484-92ED-FE10DB142D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81B7C8CB-E673-FD08-E44A-18FF6ECF8D75}"/>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28E88B88-9392-4F8D-6500-5464FDE107C1}"/>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21C8886B-2B97-0567-19DE-7787CA381AA4}"/>
              </a:ext>
            </a:extLst>
          </p:cNvPr>
          <p:cNvSpPr txBox="1"/>
          <p:nvPr/>
        </p:nvSpPr>
        <p:spPr>
          <a:xfrm>
            <a:off x="884858" y="3279717"/>
            <a:ext cx="11078542" cy="5632311"/>
          </a:xfrm>
          <a:prstGeom prst="rect">
            <a:avLst/>
          </a:prstGeom>
          <a:noFill/>
        </p:spPr>
        <p:txBody>
          <a:bodyPr wrap="square" rtlCol="0">
            <a:spAutoFit/>
          </a:bodyPr>
          <a:lstStyle/>
          <a:p>
            <a:pPr>
              <a:buNone/>
            </a:pPr>
            <a:r>
              <a:rPr lang="en-US" altLang="ko-KR" sz="4500" b="1" dirty="0">
                <a:solidFill>
                  <a:srgbClr val="000000"/>
                </a:solidFill>
              </a:rPr>
              <a:t>Duplicate Data</a:t>
            </a:r>
          </a:p>
          <a:p>
            <a:pPr>
              <a:buNone/>
            </a:pPr>
            <a:r>
              <a:rPr lang="en-US" altLang="ko-KR" sz="4500" dirty="0">
                <a:solidFill>
                  <a:srgbClr val="000000"/>
                </a:solidFill>
                <a:effectLst/>
              </a:rPr>
              <a:t>If there are duplicate rows, consider removing them from the dataset.</a:t>
            </a:r>
          </a:p>
          <a:p>
            <a:pPr>
              <a:buNone/>
            </a:pPr>
            <a:endParaRPr lang="en-US" altLang="ko-KR" sz="4500" dirty="0">
              <a:solidFill>
                <a:srgbClr val="000000"/>
              </a:solidFill>
              <a:effectLst/>
            </a:endParaRPr>
          </a:p>
          <a:p>
            <a:pPr lvl="2"/>
            <a:r>
              <a:rPr lang="en-US" altLang="ko-KR" sz="4500" dirty="0">
                <a:solidFill>
                  <a:srgbClr val="000000"/>
                </a:solidFill>
                <a:effectLst/>
              </a:rPr>
              <a:t>•It depends whether this is caused by an error or really part of the dataset.</a:t>
            </a:r>
          </a:p>
          <a:p>
            <a:pPr lvl="2"/>
            <a:r>
              <a:rPr lang="en-US" altLang="ko-KR" sz="4500" dirty="0">
                <a:solidFill>
                  <a:srgbClr val="000000"/>
                </a:solidFill>
                <a:effectLst/>
              </a:rPr>
              <a:t>•Use the </a:t>
            </a:r>
            <a:r>
              <a:rPr lang="en-US" altLang="ko-KR" sz="4500" dirty="0" err="1">
                <a:solidFill>
                  <a:srgbClr val="000000"/>
                </a:solidFill>
                <a:effectLst/>
              </a:rPr>
              <a:t>drop_duplicates</a:t>
            </a:r>
            <a:r>
              <a:rPr lang="en-US" altLang="ko-KR" sz="4500" dirty="0">
                <a:solidFill>
                  <a:srgbClr val="000000"/>
                </a:solidFill>
                <a:effectLst/>
              </a:rPr>
              <a:t>() function to delete duplicates in the dataset.</a:t>
            </a:r>
            <a:endParaRPr lang="en-US" altLang="ko-KR" sz="4500" b="1" dirty="0">
              <a:solidFill>
                <a:srgbClr val="000000"/>
              </a:solidFill>
              <a:effectLst/>
            </a:endParaRPr>
          </a:p>
        </p:txBody>
      </p:sp>
      <p:pic>
        <p:nvPicPr>
          <p:cNvPr id="6" name="Picture 5" descr="A table with names and numbers&#10;&#10;AI-generated content may be incorrect.">
            <a:extLst>
              <a:ext uri="{FF2B5EF4-FFF2-40B4-BE49-F238E27FC236}">
                <a16:creationId xmlns:a16="http://schemas.microsoft.com/office/drawing/2014/main" id="{1CA5EBA9-FD39-433E-6970-4C6467AA9D0B}"/>
              </a:ext>
            </a:extLst>
          </p:cNvPr>
          <p:cNvPicPr>
            <a:picLocks noChangeAspect="1"/>
          </p:cNvPicPr>
          <p:nvPr/>
        </p:nvPicPr>
        <p:blipFill>
          <a:blip r:embed="rId5"/>
          <a:stretch>
            <a:fillRect/>
          </a:stretch>
        </p:blipFill>
        <p:spPr>
          <a:xfrm>
            <a:off x="12230928" y="3537016"/>
            <a:ext cx="4731469" cy="5117711"/>
          </a:xfrm>
          <a:prstGeom prst="rect">
            <a:avLst/>
          </a:prstGeom>
        </p:spPr>
      </p:pic>
    </p:spTree>
    <p:extLst>
      <p:ext uri="{BB962C8B-B14F-4D97-AF65-F5344CB8AC3E}">
        <p14:creationId xmlns:p14="http://schemas.microsoft.com/office/powerpoint/2010/main" val="3687241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6F282-9B44-6D12-8E76-3D96527D8AA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5AF1C6B-8177-41F3-37E6-FF6F6FDCFAD9}"/>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87EEFEDA-B0FD-C37F-16D4-4B5E54762DE7}"/>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0CEBF122-0FA8-BA90-0F4C-8D3225E039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8DC0E995-8222-F46E-9444-FC43BCF25B4A}"/>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7A51712B-2FBB-7477-3BE7-A07AA1A076BA}"/>
              </a:ext>
            </a:extLst>
          </p:cNvPr>
          <p:cNvSpPr txBox="1"/>
          <p:nvPr/>
        </p:nvSpPr>
        <p:spPr>
          <a:xfrm>
            <a:off x="884858" y="1502624"/>
            <a:ext cx="16107038"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pic>
        <p:nvPicPr>
          <p:cNvPr id="5" name="Picture 4">
            <a:extLst>
              <a:ext uri="{FF2B5EF4-FFF2-40B4-BE49-F238E27FC236}">
                <a16:creationId xmlns:a16="http://schemas.microsoft.com/office/drawing/2014/main" id="{55D2DA12-FBAD-F36B-3A05-FB055A8AB84A}"/>
              </a:ext>
            </a:extLst>
          </p:cNvPr>
          <p:cNvPicPr>
            <a:picLocks noChangeAspect="1"/>
          </p:cNvPicPr>
          <p:nvPr/>
        </p:nvPicPr>
        <p:blipFill>
          <a:blip r:embed="rId5"/>
          <a:stretch>
            <a:fillRect/>
          </a:stretch>
        </p:blipFill>
        <p:spPr>
          <a:xfrm>
            <a:off x="2190915" y="3836094"/>
            <a:ext cx="14316411" cy="3962579"/>
          </a:xfrm>
          <a:prstGeom prst="rect">
            <a:avLst/>
          </a:prstGeom>
        </p:spPr>
      </p:pic>
    </p:spTree>
    <p:extLst>
      <p:ext uri="{BB962C8B-B14F-4D97-AF65-F5344CB8AC3E}">
        <p14:creationId xmlns:p14="http://schemas.microsoft.com/office/powerpoint/2010/main" val="764140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AA337-C47C-736A-6327-C559E77E69C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1D4FE2-689D-3938-073D-496BB4D53C99}"/>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69E43F0F-8A8E-0621-22E5-31D88F9FDB51}"/>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30732E48-85BC-BAC4-3834-5E6A5B4DDB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DF8B8393-E314-8F9F-F249-EEC06567D0F5}"/>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2013E29C-F425-BE7C-5BE0-B8EE94D27D37}"/>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1C0FF919-F80A-A16A-B565-8E7C78EB615D}"/>
              </a:ext>
            </a:extLst>
          </p:cNvPr>
          <p:cNvSpPr txBox="1"/>
          <p:nvPr/>
        </p:nvSpPr>
        <p:spPr>
          <a:xfrm>
            <a:off x="884858" y="3279717"/>
            <a:ext cx="11078542" cy="5632311"/>
          </a:xfrm>
          <a:prstGeom prst="rect">
            <a:avLst/>
          </a:prstGeom>
          <a:noFill/>
        </p:spPr>
        <p:txBody>
          <a:bodyPr wrap="square" rtlCol="0">
            <a:spAutoFit/>
          </a:bodyPr>
          <a:lstStyle/>
          <a:p>
            <a:pPr>
              <a:buNone/>
            </a:pPr>
            <a:r>
              <a:rPr lang="en-US" altLang="ko-KR" sz="4500" b="1" dirty="0">
                <a:solidFill>
                  <a:srgbClr val="000000"/>
                </a:solidFill>
              </a:rPr>
              <a:t>Inconsistent Format</a:t>
            </a:r>
          </a:p>
          <a:p>
            <a:pPr>
              <a:buNone/>
            </a:pPr>
            <a:r>
              <a:rPr lang="en-US" altLang="ko-KR" sz="4500" dirty="0">
                <a:solidFill>
                  <a:srgbClr val="000000"/>
                </a:solidFill>
                <a:effectLst/>
              </a:rPr>
              <a:t>Date and time may be recorded in inconsistent formats</a:t>
            </a:r>
          </a:p>
          <a:p>
            <a:pPr>
              <a:buNone/>
            </a:pPr>
            <a:endParaRPr lang="en-US" altLang="ko-KR" sz="4500" dirty="0">
              <a:solidFill>
                <a:srgbClr val="000000"/>
              </a:solidFill>
              <a:effectLst/>
            </a:endParaRPr>
          </a:p>
          <a:p>
            <a:pPr lvl="3"/>
            <a:r>
              <a:rPr lang="en-US" altLang="ko-KR" sz="4500" dirty="0">
                <a:solidFill>
                  <a:srgbClr val="000000"/>
                </a:solidFill>
                <a:effectLst/>
              </a:rPr>
              <a:t>•Human error</a:t>
            </a:r>
          </a:p>
          <a:p>
            <a:pPr lvl="3"/>
            <a:r>
              <a:rPr lang="en-US" altLang="ko-KR" sz="4500" dirty="0">
                <a:solidFill>
                  <a:srgbClr val="000000"/>
                </a:solidFill>
                <a:effectLst/>
              </a:rPr>
              <a:t>•Inconsistencies in data collection and encoding</a:t>
            </a:r>
          </a:p>
          <a:p>
            <a:pPr lvl="3"/>
            <a:r>
              <a:rPr lang="en-US" altLang="ko-KR" sz="4500" dirty="0">
                <a:solidFill>
                  <a:srgbClr val="000000"/>
                </a:solidFill>
                <a:effectLst/>
              </a:rPr>
              <a:t>•Different locale and formats</a:t>
            </a:r>
            <a:endParaRPr lang="en-US" altLang="ko-KR" sz="4500" b="1" dirty="0">
              <a:solidFill>
                <a:srgbClr val="000000"/>
              </a:solidFill>
              <a:effectLst/>
            </a:endParaRPr>
          </a:p>
        </p:txBody>
      </p:sp>
      <p:pic>
        <p:nvPicPr>
          <p:cNvPr id="5" name="Picture 4" descr="A black and white calendar with date and time&#10;&#10;AI-generated content may be incorrect.">
            <a:extLst>
              <a:ext uri="{FF2B5EF4-FFF2-40B4-BE49-F238E27FC236}">
                <a16:creationId xmlns:a16="http://schemas.microsoft.com/office/drawing/2014/main" id="{0BAE4407-9926-DB4D-398D-FADB0FA80482}"/>
              </a:ext>
            </a:extLst>
          </p:cNvPr>
          <p:cNvPicPr>
            <a:picLocks noChangeAspect="1"/>
          </p:cNvPicPr>
          <p:nvPr/>
        </p:nvPicPr>
        <p:blipFill>
          <a:blip r:embed="rId5"/>
          <a:stretch>
            <a:fillRect/>
          </a:stretch>
        </p:blipFill>
        <p:spPr>
          <a:xfrm>
            <a:off x="12498185" y="3279717"/>
            <a:ext cx="4464212" cy="5086276"/>
          </a:xfrm>
          <a:prstGeom prst="rect">
            <a:avLst/>
          </a:prstGeom>
        </p:spPr>
      </p:pic>
    </p:spTree>
    <p:extLst>
      <p:ext uri="{BB962C8B-B14F-4D97-AF65-F5344CB8AC3E}">
        <p14:creationId xmlns:p14="http://schemas.microsoft.com/office/powerpoint/2010/main" val="619336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D775B-041E-487E-BA68-0D68486502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D066F8-26BF-A065-4A0D-5BE864A7B838}"/>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306C4248-4FAD-BC71-7899-7E794DD271FA}"/>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93A48CD1-9B3F-345D-6E1B-19F6A0F461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B481A05B-B04E-AEC8-42F0-B84B040450D0}"/>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97ED2A81-485B-B517-2919-2F870206F2CF}"/>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CLEANING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C5267524-BBC0-F32E-0D85-F2566362FEEA}"/>
              </a:ext>
            </a:extLst>
          </p:cNvPr>
          <p:cNvSpPr txBox="1"/>
          <p:nvPr/>
        </p:nvSpPr>
        <p:spPr>
          <a:xfrm>
            <a:off x="884858" y="3279717"/>
            <a:ext cx="11078542" cy="5632311"/>
          </a:xfrm>
          <a:prstGeom prst="rect">
            <a:avLst/>
          </a:prstGeom>
          <a:noFill/>
        </p:spPr>
        <p:txBody>
          <a:bodyPr wrap="square" rtlCol="0">
            <a:spAutoFit/>
          </a:bodyPr>
          <a:lstStyle/>
          <a:p>
            <a:pPr>
              <a:buNone/>
            </a:pPr>
            <a:r>
              <a:rPr lang="en-US" altLang="ko-KR" sz="4500" b="1" dirty="0">
                <a:solidFill>
                  <a:srgbClr val="000000"/>
                </a:solidFill>
              </a:rPr>
              <a:t>Inconsistent Format</a:t>
            </a:r>
          </a:p>
          <a:p>
            <a:pPr>
              <a:buNone/>
            </a:pPr>
            <a:r>
              <a:rPr lang="en-US" altLang="ko-KR" sz="4500" dirty="0">
                <a:solidFill>
                  <a:srgbClr val="000000"/>
                </a:solidFill>
                <a:effectLst/>
              </a:rPr>
              <a:t>Date and time may be recorded in inconsistent formats</a:t>
            </a:r>
          </a:p>
          <a:p>
            <a:pPr>
              <a:buNone/>
            </a:pPr>
            <a:endParaRPr lang="en-US" altLang="ko-KR" sz="4500" dirty="0">
              <a:solidFill>
                <a:srgbClr val="000000"/>
              </a:solidFill>
              <a:effectLst/>
            </a:endParaRPr>
          </a:p>
          <a:p>
            <a:pPr lvl="3"/>
            <a:r>
              <a:rPr lang="en-US" altLang="ko-KR" sz="4500" dirty="0">
                <a:solidFill>
                  <a:srgbClr val="000000"/>
                </a:solidFill>
                <a:effectLst/>
              </a:rPr>
              <a:t>•Human error</a:t>
            </a:r>
          </a:p>
          <a:p>
            <a:pPr lvl="3"/>
            <a:r>
              <a:rPr lang="en-US" altLang="ko-KR" sz="4500" dirty="0">
                <a:solidFill>
                  <a:srgbClr val="000000"/>
                </a:solidFill>
                <a:effectLst/>
              </a:rPr>
              <a:t>•Inconsistencies in data collection and encoding</a:t>
            </a:r>
          </a:p>
          <a:p>
            <a:pPr lvl="3"/>
            <a:r>
              <a:rPr lang="en-US" altLang="ko-KR" sz="4500" dirty="0">
                <a:solidFill>
                  <a:srgbClr val="000000"/>
                </a:solidFill>
                <a:effectLst/>
              </a:rPr>
              <a:t>•Different locale and formats</a:t>
            </a:r>
            <a:endParaRPr lang="en-US" altLang="ko-KR" sz="4500" b="1" dirty="0">
              <a:solidFill>
                <a:srgbClr val="000000"/>
              </a:solidFill>
              <a:effectLst/>
            </a:endParaRPr>
          </a:p>
        </p:txBody>
      </p:sp>
      <p:pic>
        <p:nvPicPr>
          <p:cNvPr id="6" name="Picture 5" descr="A black and white rectangular sign with numbers and text&#10;&#10;AI-generated content may be incorrect.">
            <a:extLst>
              <a:ext uri="{FF2B5EF4-FFF2-40B4-BE49-F238E27FC236}">
                <a16:creationId xmlns:a16="http://schemas.microsoft.com/office/drawing/2014/main" id="{52C5DE95-3DBA-072A-3A83-2345D8B0D494}"/>
              </a:ext>
            </a:extLst>
          </p:cNvPr>
          <p:cNvPicPr>
            <a:picLocks noChangeAspect="1"/>
          </p:cNvPicPr>
          <p:nvPr/>
        </p:nvPicPr>
        <p:blipFill>
          <a:blip r:embed="rId5"/>
          <a:stretch>
            <a:fillRect/>
          </a:stretch>
        </p:blipFill>
        <p:spPr>
          <a:xfrm>
            <a:off x="12480716" y="3546836"/>
            <a:ext cx="4659481" cy="5156738"/>
          </a:xfrm>
          <a:prstGeom prst="rect">
            <a:avLst/>
          </a:prstGeom>
        </p:spPr>
      </p:pic>
    </p:spTree>
    <p:extLst>
      <p:ext uri="{BB962C8B-B14F-4D97-AF65-F5344CB8AC3E}">
        <p14:creationId xmlns:p14="http://schemas.microsoft.com/office/powerpoint/2010/main" val="1571422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88A6E-FBFA-1FB7-C216-058CA9A7A3D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50499DC-3BFE-0318-E67C-1B9B7BE49E63}"/>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2FD12F96-582C-910C-DAFC-45E87E43E7EB}"/>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8C4891CF-6314-2976-BFA1-23A91ED3B8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41AD3259-D6A6-B895-1D0C-C3738A519000}"/>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7137C5A0-C65C-58A2-05BB-69A545E41B8C}"/>
              </a:ext>
            </a:extLst>
          </p:cNvPr>
          <p:cNvSpPr txBox="1"/>
          <p:nvPr/>
        </p:nvSpPr>
        <p:spPr>
          <a:xfrm>
            <a:off x="884858" y="4424649"/>
            <a:ext cx="16107038"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Tree>
    <p:extLst>
      <p:ext uri="{BB962C8B-B14F-4D97-AF65-F5344CB8AC3E}">
        <p14:creationId xmlns:p14="http://schemas.microsoft.com/office/powerpoint/2010/main" val="2043249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2A277-8253-744C-5852-C525E1C8CED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35D61C6-6DFD-5EF3-8921-157575814CF6}"/>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1A03D06B-84A2-EEF2-EBD0-7F0C19436879}"/>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86568C8B-0E94-98DF-72AD-D5EF36D585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C6C3E0B7-A0EE-92D7-9C60-7AA9A8CD4A3D}"/>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D84172AA-D89D-3113-9F5A-B0B3179AA7E6}"/>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a:t>
            </a:r>
            <a:r>
              <a:rPr lang="en-US" altLang="ko-KR" sz="6500" b="1" dirty="0">
                <a:solidFill>
                  <a:srgbClr val="000000"/>
                </a:solidFill>
                <a:latin typeface="+mj-lt"/>
              </a:rPr>
              <a:t>PREPROCESSING</a:t>
            </a:r>
          </a:p>
        </p:txBody>
      </p:sp>
      <p:sp>
        <p:nvSpPr>
          <p:cNvPr id="8" name="TextBox 7">
            <a:extLst>
              <a:ext uri="{FF2B5EF4-FFF2-40B4-BE49-F238E27FC236}">
                <a16:creationId xmlns:a16="http://schemas.microsoft.com/office/drawing/2014/main" id="{50A5103D-DCC8-51F5-D093-25E9AE2A7625}"/>
              </a:ext>
            </a:extLst>
          </p:cNvPr>
          <p:cNvSpPr txBox="1"/>
          <p:nvPr/>
        </p:nvSpPr>
        <p:spPr>
          <a:xfrm>
            <a:off x="884858" y="4096343"/>
            <a:ext cx="8259142" cy="3554819"/>
          </a:xfrm>
          <a:prstGeom prst="rect">
            <a:avLst/>
          </a:prstGeom>
          <a:noFill/>
        </p:spPr>
        <p:txBody>
          <a:bodyPr wrap="square" rtlCol="0">
            <a:spAutoFit/>
          </a:bodyPr>
          <a:lstStyle/>
          <a:p>
            <a:pPr marL="685800" indent="-685800">
              <a:buFont typeface="Arial" panose="020B0604020202020204" pitchFamily="34" charset="0"/>
              <a:buChar char="•"/>
            </a:pPr>
            <a:r>
              <a:rPr lang="en-US" altLang="ko-KR" sz="4500" dirty="0">
                <a:solidFill>
                  <a:srgbClr val="000000"/>
                </a:solidFill>
              </a:rPr>
              <a:t>Querying</a:t>
            </a:r>
          </a:p>
          <a:p>
            <a:pPr marL="685800" indent="-685800">
              <a:buFont typeface="Arial" panose="020B0604020202020204" pitchFamily="34" charset="0"/>
              <a:buChar char="•"/>
            </a:pPr>
            <a:r>
              <a:rPr lang="en-US" altLang="ko-KR" sz="4500" dirty="0">
                <a:solidFill>
                  <a:srgbClr val="000000"/>
                </a:solidFill>
              </a:rPr>
              <a:t>Imputation</a:t>
            </a:r>
          </a:p>
          <a:p>
            <a:pPr marL="685800" indent="-685800">
              <a:buFont typeface="Arial" panose="020B0604020202020204" pitchFamily="34" charset="0"/>
              <a:buChar char="•"/>
            </a:pPr>
            <a:r>
              <a:rPr lang="en-US" altLang="ko-KR" sz="4500" dirty="0">
                <a:solidFill>
                  <a:srgbClr val="000000"/>
                </a:solidFill>
              </a:rPr>
              <a:t>Binning</a:t>
            </a:r>
          </a:p>
          <a:p>
            <a:pPr marL="685800" indent="-685800">
              <a:buFont typeface="Arial" panose="020B0604020202020204" pitchFamily="34" charset="0"/>
              <a:buChar char="•"/>
            </a:pPr>
            <a:r>
              <a:rPr lang="en-US" altLang="ko-KR" sz="4500" dirty="0">
                <a:solidFill>
                  <a:srgbClr val="000000"/>
                </a:solidFill>
              </a:rPr>
              <a:t>Outlier Detection</a:t>
            </a:r>
          </a:p>
          <a:p>
            <a:pPr marL="685800" indent="-685800">
              <a:buFont typeface="Arial" panose="020B0604020202020204" pitchFamily="34" charset="0"/>
              <a:buChar char="•"/>
            </a:pPr>
            <a:r>
              <a:rPr lang="en-US" altLang="ko-KR" sz="4500" dirty="0">
                <a:solidFill>
                  <a:srgbClr val="000000"/>
                </a:solidFill>
              </a:rPr>
              <a:t>One Hot Encoding</a:t>
            </a:r>
            <a:endParaRPr lang="en-US" altLang="ko-KR" sz="4500" dirty="0">
              <a:solidFill>
                <a:srgbClr val="000000"/>
              </a:solidFill>
              <a:effectLst/>
            </a:endParaRPr>
          </a:p>
        </p:txBody>
      </p:sp>
      <p:sp>
        <p:nvSpPr>
          <p:cNvPr id="2" name="TextBox 1">
            <a:extLst>
              <a:ext uri="{FF2B5EF4-FFF2-40B4-BE49-F238E27FC236}">
                <a16:creationId xmlns:a16="http://schemas.microsoft.com/office/drawing/2014/main" id="{442E359B-B203-2779-C8F1-37A6146D24EA}"/>
              </a:ext>
            </a:extLst>
          </p:cNvPr>
          <p:cNvSpPr txBox="1"/>
          <p:nvPr/>
        </p:nvSpPr>
        <p:spPr>
          <a:xfrm>
            <a:off x="9407066" y="4128069"/>
            <a:ext cx="8259142" cy="3554819"/>
          </a:xfrm>
          <a:prstGeom prst="rect">
            <a:avLst/>
          </a:prstGeom>
          <a:noFill/>
        </p:spPr>
        <p:txBody>
          <a:bodyPr wrap="square" rtlCol="0">
            <a:spAutoFit/>
          </a:bodyPr>
          <a:lstStyle/>
          <a:p>
            <a:pPr marL="685800" indent="-685800">
              <a:buFont typeface="Arial" panose="020B0604020202020204" pitchFamily="34" charset="0"/>
              <a:buChar char="•"/>
            </a:pPr>
            <a:r>
              <a:rPr lang="en-US" altLang="ko-KR" sz="4500" dirty="0">
                <a:solidFill>
                  <a:srgbClr val="000000"/>
                </a:solidFill>
              </a:rPr>
              <a:t>Log Transformation</a:t>
            </a:r>
          </a:p>
          <a:p>
            <a:pPr marL="685800" indent="-685800">
              <a:buFont typeface="Arial" panose="020B0604020202020204" pitchFamily="34" charset="0"/>
              <a:buChar char="•"/>
            </a:pPr>
            <a:r>
              <a:rPr lang="en-US" altLang="ko-KR" sz="4500" dirty="0">
                <a:solidFill>
                  <a:srgbClr val="000000"/>
                </a:solidFill>
              </a:rPr>
              <a:t>Aggregation</a:t>
            </a:r>
          </a:p>
          <a:p>
            <a:pPr marL="685800" indent="-685800">
              <a:buFont typeface="Arial" panose="020B0604020202020204" pitchFamily="34" charset="0"/>
              <a:buChar char="•"/>
            </a:pPr>
            <a:r>
              <a:rPr lang="en-US" altLang="ko-KR" sz="4500" dirty="0">
                <a:solidFill>
                  <a:srgbClr val="000000"/>
                </a:solidFill>
              </a:rPr>
              <a:t>Column Transformation</a:t>
            </a:r>
          </a:p>
          <a:p>
            <a:pPr marL="685800" indent="-685800">
              <a:buFont typeface="Arial" panose="020B0604020202020204" pitchFamily="34" charset="0"/>
              <a:buChar char="•"/>
            </a:pPr>
            <a:r>
              <a:rPr lang="en-US" altLang="ko-KR" sz="4500" dirty="0">
                <a:solidFill>
                  <a:srgbClr val="000000"/>
                </a:solidFill>
              </a:rPr>
              <a:t>Feature Scaling</a:t>
            </a:r>
          </a:p>
          <a:p>
            <a:pPr marL="685800" indent="-685800">
              <a:buFont typeface="Arial" panose="020B0604020202020204" pitchFamily="34" charset="0"/>
              <a:buChar char="•"/>
            </a:pPr>
            <a:r>
              <a:rPr lang="en-US" altLang="ko-KR" sz="4500" dirty="0">
                <a:solidFill>
                  <a:srgbClr val="000000"/>
                </a:solidFill>
              </a:rPr>
              <a:t>Feature Engineering</a:t>
            </a:r>
            <a:endParaRPr lang="en-US" altLang="ko-KR" sz="4500" dirty="0">
              <a:solidFill>
                <a:srgbClr val="000000"/>
              </a:solidFill>
              <a:effectLst/>
            </a:endParaRPr>
          </a:p>
        </p:txBody>
      </p:sp>
    </p:spTree>
    <p:extLst>
      <p:ext uri="{BB962C8B-B14F-4D97-AF65-F5344CB8AC3E}">
        <p14:creationId xmlns:p14="http://schemas.microsoft.com/office/powerpoint/2010/main" val="1895324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AA482-D927-542F-9A25-64EB05E07CF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739FDB6-CF38-9B04-056C-482C4BA9A48D}"/>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228D7096-4D8C-3090-4DE3-AF667F4A0CF8}"/>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ADB22CB7-9350-832A-5962-6F9730493D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70E64316-443B-A2F4-B4E6-387F2483F932}"/>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F93FFAAE-69DA-F819-81CD-A7683073236A}"/>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D8796F0F-0116-C8F3-7D2F-FAF68DD0AD18}"/>
              </a:ext>
            </a:extLst>
          </p:cNvPr>
          <p:cNvSpPr txBox="1"/>
          <p:nvPr/>
        </p:nvSpPr>
        <p:spPr>
          <a:xfrm>
            <a:off x="884858" y="3279717"/>
            <a:ext cx="16107038" cy="5632311"/>
          </a:xfrm>
          <a:prstGeom prst="rect">
            <a:avLst/>
          </a:prstGeom>
          <a:noFill/>
        </p:spPr>
        <p:txBody>
          <a:bodyPr wrap="square" rtlCol="0">
            <a:spAutoFit/>
          </a:bodyPr>
          <a:lstStyle/>
          <a:p>
            <a:pPr>
              <a:buNone/>
            </a:pPr>
            <a:r>
              <a:rPr lang="en-US" altLang="ko-KR" sz="4500" b="1" dirty="0">
                <a:solidFill>
                  <a:srgbClr val="000000"/>
                </a:solidFill>
              </a:rPr>
              <a:t>Querying</a:t>
            </a:r>
          </a:p>
          <a:p>
            <a:pPr>
              <a:buNone/>
            </a:pPr>
            <a:endParaRPr lang="en-US" altLang="ko-KR" sz="4500" b="1" dirty="0">
              <a:solidFill>
                <a:srgbClr val="000000"/>
              </a:solidFill>
              <a:effectLst/>
            </a:endParaRPr>
          </a:p>
          <a:p>
            <a:pPr marL="685800" indent="-685800">
              <a:buFont typeface="Arial" panose="020B0604020202020204" pitchFamily="34" charset="0"/>
              <a:buChar char="•"/>
            </a:pPr>
            <a:r>
              <a:rPr lang="en-US" altLang="ko-KR" sz="4500" dirty="0">
                <a:solidFill>
                  <a:srgbClr val="000000"/>
                </a:solidFill>
                <a:effectLst/>
              </a:rPr>
              <a:t>Use the </a:t>
            </a:r>
            <a:r>
              <a:rPr lang="en-US" altLang="ko-KR" sz="4500" b="1" dirty="0">
                <a:solidFill>
                  <a:srgbClr val="000000"/>
                </a:solidFill>
                <a:effectLst/>
              </a:rPr>
              <a:t>query() </a:t>
            </a:r>
            <a:r>
              <a:rPr lang="en-US" altLang="ko-KR" sz="4500" dirty="0">
                <a:solidFill>
                  <a:srgbClr val="000000"/>
                </a:solidFill>
                <a:effectLst/>
              </a:rPr>
              <a:t>function of pandas to write complex conditions for selecting appropriate info from the dataset.</a:t>
            </a:r>
          </a:p>
          <a:p>
            <a:pPr marL="685800" indent="-685800">
              <a:buFont typeface="Arial" panose="020B0604020202020204" pitchFamily="34" charset="0"/>
              <a:buChar char="•"/>
            </a:pPr>
            <a:r>
              <a:rPr lang="en-US" altLang="ko-KR" sz="4500" dirty="0">
                <a:solidFill>
                  <a:srgbClr val="000000"/>
                </a:solidFill>
                <a:effectLst/>
              </a:rPr>
              <a:t>The </a:t>
            </a:r>
            <a:r>
              <a:rPr lang="en-US" altLang="ko-KR" sz="4500" b="1" dirty="0">
                <a:solidFill>
                  <a:srgbClr val="000000"/>
                </a:solidFill>
                <a:effectLst/>
              </a:rPr>
              <a:t>query() </a:t>
            </a:r>
            <a:r>
              <a:rPr lang="en-US" altLang="ko-KR" sz="4500" dirty="0">
                <a:solidFill>
                  <a:srgbClr val="000000"/>
                </a:solidFill>
                <a:effectLst/>
              </a:rPr>
              <a:t>function queries the columns of a </a:t>
            </a:r>
            <a:r>
              <a:rPr lang="en-US" altLang="ko-KR" sz="4500" b="1" dirty="0" err="1">
                <a:solidFill>
                  <a:srgbClr val="000000"/>
                </a:solidFill>
                <a:effectLst/>
              </a:rPr>
              <a:t>DataFrame</a:t>
            </a:r>
            <a:r>
              <a:rPr lang="en-US" altLang="ko-KR" sz="4500" dirty="0">
                <a:solidFill>
                  <a:srgbClr val="000000"/>
                </a:solidFill>
                <a:effectLst/>
              </a:rPr>
              <a:t> with a </a:t>
            </a:r>
            <a:r>
              <a:rPr lang="en-US" altLang="ko-KR" sz="4500" i="1" dirty="0">
                <a:solidFill>
                  <a:srgbClr val="000000"/>
                </a:solidFill>
                <a:effectLst/>
              </a:rPr>
              <a:t>Boolean expression</a:t>
            </a:r>
            <a:r>
              <a:rPr lang="en-US" altLang="ko-KR" sz="4500" dirty="0">
                <a:solidFill>
                  <a:srgbClr val="000000"/>
                </a:solidFill>
                <a:effectLst/>
              </a:rPr>
              <a:t>.</a:t>
            </a:r>
          </a:p>
          <a:p>
            <a:pPr marL="685800" indent="-685800">
              <a:buFont typeface="Arial" panose="020B0604020202020204" pitchFamily="34" charset="0"/>
              <a:buChar char="•"/>
            </a:pPr>
            <a:r>
              <a:rPr lang="en-US" altLang="ko-KR" sz="4500" dirty="0">
                <a:solidFill>
                  <a:srgbClr val="000000"/>
                </a:solidFill>
                <a:effectLst/>
              </a:rPr>
              <a:t>This function provides a more streamlined syntax for getting a </a:t>
            </a:r>
            <a:r>
              <a:rPr lang="en-US" altLang="ko-KR" sz="4500" b="1" dirty="0">
                <a:solidFill>
                  <a:srgbClr val="000000"/>
                </a:solidFill>
                <a:effectLst/>
              </a:rPr>
              <a:t>subset of the </a:t>
            </a:r>
            <a:r>
              <a:rPr lang="en-US" altLang="ko-KR" sz="4500" b="1" dirty="0" err="1">
                <a:solidFill>
                  <a:srgbClr val="000000"/>
                </a:solidFill>
                <a:effectLst/>
              </a:rPr>
              <a:t>DataFrame</a:t>
            </a:r>
            <a:r>
              <a:rPr lang="en-US" altLang="ko-KR" sz="4500" dirty="0">
                <a:solidFill>
                  <a:srgbClr val="000000"/>
                </a:solidFill>
                <a:effectLst/>
              </a:rPr>
              <a:t>.</a:t>
            </a:r>
          </a:p>
        </p:txBody>
      </p:sp>
    </p:spTree>
    <p:extLst>
      <p:ext uri="{BB962C8B-B14F-4D97-AF65-F5344CB8AC3E}">
        <p14:creationId xmlns:p14="http://schemas.microsoft.com/office/powerpoint/2010/main" val="141951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5F753-AA0F-5006-2E31-33B0FB447B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69F781B-70CE-2E3A-2DD8-566F82B40B5D}"/>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F4C68677-BBEB-F23A-1C69-5AC51145E515}"/>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6753DB15-3930-B432-2B07-2E4CEF0E87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89A95720-E850-44E2-54D3-5DCCED24090B}"/>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4AD7CD9F-27D0-71FB-EAFE-F978822FFC65}"/>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109C53F3-3D63-27A5-4D57-056EA82FE845}"/>
              </a:ext>
            </a:extLst>
          </p:cNvPr>
          <p:cNvSpPr txBox="1"/>
          <p:nvPr/>
        </p:nvSpPr>
        <p:spPr>
          <a:xfrm>
            <a:off x="884858" y="2717958"/>
            <a:ext cx="16107038" cy="1477328"/>
          </a:xfrm>
          <a:prstGeom prst="rect">
            <a:avLst/>
          </a:prstGeom>
          <a:noFill/>
        </p:spPr>
        <p:txBody>
          <a:bodyPr wrap="square" rtlCol="0">
            <a:spAutoFit/>
          </a:bodyPr>
          <a:lstStyle/>
          <a:p>
            <a:pPr algn="ctr">
              <a:buNone/>
            </a:pPr>
            <a:r>
              <a:rPr lang="en-US" altLang="ko-KR" sz="4500" b="1" dirty="0">
                <a:solidFill>
                  <a:srgbClr val="000000"/>
                </a:solidFill>
              </a:rPr>
              <a:t>Querying</a:t>
            </a:r>
          </a:p>
          <a:p>
            <a:pPr algn="ctr">
              <a:buNone/>
            </a:pPr>
            <a:r>
              <a:rPr lang="en-US" altLang="ko-KR" sz="4500" dirty="0">
                <a:solidFill>
                  <a:srgbClr val="000000"/>
                </a:solidFill>
              </a:rPr>
              <a:t>Ex1. Select rows based on numerical value</a:t>
            </a:r>
          </a:p>
        </p:txBody>
      </p:sp>
      <p:sp>
        <p:nvSpPr>
          <p:cNvPr id="2" name="TextBox 1">
            <a:extLst>
              <a:ext uri="{FF2B5EF4-FFF2-40B4-BE49-F238E27FC236}">
                <a16:creationId xmlns:a16="http://schemas.microsoft.com/office/drawing/2014/main" id="{9269A173-9AC7-89D8-D26E-74775F14887D}"/>
              </a:ext>
            </a:extLst>
          </p:cNvPr>
          <p:cNvSpPr txBox="1"/>
          <p:nvPr/>
        </p:nvSpPr>
        <p:spPr>
          <a:xfrm>
            <a:off x="884858" y="8440958"/>
            <a:ext cx="16107038" cy="784830"/>
          </a:xfrm>
          <a:prstGeom prst="rect">
            <a:avLst/>
          </a:prstGeom>
          <a:noFill/>
        </p:spPr>
        <p:txBody>
          <a:bodyPr wrap="square" rtlCol="0">
            <a:spAutoFit/>
          </a:bodyPr>
          <a:lstStyle/>
          <a:p>
            <a:pPr algn="ctr">
              <a:buNone/>
            </a:pPr>
            <a:r>
              <a:rPr lang="en-US" altLang="ko-KR" sz="4500" dirty="0" err="1">
                <a:solidFill>
                  <a:srgbClr val="000000"/>
                </a:solidFill>
              </a:rPr>
              <a:t>df.query</a:t>
            </a:r>
            <a:r>
              <a:rPr lang="en-US" altLang="ko-KR" sz="4500" dirty="0">
                <a:solidFill>
                  <a:srgbClr val="000000"/>
                </a:solidFill>
              </a:rPr>
              <a:t>(‘CCPROG1 &gt;= 3.5’)</a:t>
            </a:r>
          </a:p>
        </p:txBody>
      </p:sp>
      <p:pic>
        <p:nvPicPr>
          <p:cNvPr id="6" name="Picture 5" descr="A table with numbers and letters&#10;&#10;AI-generated content may be incorrect.">
            <a:extLst>
              <a:ext uri="{FF2B5EF4-FFF2-40B4-BE49-F238E27FC236}">
                <a16:creationId xmlns:a16="http://schemas.microsoft.com/office/drawing/2014/main" id="{BFD868A3-5062-5E50-19CE-025848440F6F}"/>
              </a:ext>
            </a:extLst>
          </p:cNvPr>
          <p:cNvPicPr>
            <a:picLocks noChangeAspect="1"/>
          </p:cNvPicPr>
          <p:nvPr/>
        </p:nvPicPr>
        <p:blipFill>
          <a:blip r:embed="rId5"/>
          <a:stretch>
            <a:fillRect/>
          </a:stretch>
        </p:blipFill>
        <p:spPr>
          <a:xfrm>
            <a:off x="5046339" y="4502420"/>
            <a:ext cx="7914638" cy="3900438"/>
          </a:xfrm>
          <a:prstGeom prst="rect">
            <a:avLst/>
          </a:prstGeom>
        </p:spPr>
      </p:pic>
    </p:spTree>
    <p:extLst>
      <p:ext uri="{BB962C8B-B14F-4D97-AF65-F5344CB8AC3E}">
        <p14:creationId xmlns:p14="http://schemas.microsoft.com/office/powerpoint/2010/main" val="3559221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65BE3-D09D-1433-1F91-F62B3AF9F6C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A8B0046-A4CD-3CAF-322E-9F37EC0C16F0}"/>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EF12D9CE-8CEC-77B2-26B1-8D84F28961F8}"/>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8552B39D-B59F-F100-1E14-44DC85EA01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67493261-1F2C-4B99-54FB-473CE1FCF0D0}"/>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6E5B9E83-FC40-A29D-7EBC-0C498493AB8F}"/>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323563F0-0C3C-568D-8E40-F0CF3CB8AB28}"/>
              </a:ext>
            </a:extLst>
          </p:cNvPr>
          <p:cNvSpPr txBox="1"/>
          <p:nvPr/>
        </p:nvSpPr>
        <p:spPr>
          <a:xfrm>
            <a:off x="884858" y="2717958"/>
            <a:ext cx="16107038" cy="1477328"/>
          </a:xfrm>
          <a:prstGeom prst="rect">
            <a:avLst/>
          </a:prstGeom>
          <a:noFill/>
        </p:spPr>
        <p:txBody>
          <a:bodyPr wrap="square" rtlCol="0">
            <a:spAutoFit/>
          </a:bodyPr>
          <a:lstStyle/>
          <a:p>
            <a:pPr algn="ctr">
              <a:buNone/>
            </a:pPr>
            <a:r>
              <a:rPr lang="en-US" altLang="ko-KR" sz="4500" b="1" dirty="0">
                <a:solidFill>
                  <a:srgbClr val="000000"/>
                </a:solidFill>
              </a:rPr>
              <a:t>Querying</a:t>
            </a:r>
          </a:p>
          <a:p>
            <a:pPr algn="ctr">
              <a:buNone/>
            </a:pPr>
            <a:r>
              <a:rPr lang="en-US" altLang="ko-KR" sz="4500" dirty="0">
                <a:solidFill>
                  <a:srgbClr val="000000"/>
                </a:solidFill>
              </a:rPr>
              <a:t>Ex1. Select rows based on numerical value</a:t>
            </a:r>
          </a:p>
        </p:txBody>
      </p:sp>
      <p:sp>
        <p:nvSpPr>
          <p:cNvPr id="2" name="TextBox 1">
            <a:extLst>
              <a:ext uri="{FF2B5EF4-FFF2-40B4-BE49-F238E27FC236}">
                <a16:creationId xmlns:a16="http://schemas.microsoft.com/office/drawing/2014/main" id="{9095980E-300C-FF40-7304-9A63A22D9234}"/>
              </a:ext>
            </a:extLst>
          </p:cNvPr>
          <p:cNvSpPr txBox="1"/>
          <p:nvPr/>
        </p:nvSpPr>
        <p:spPr>
          <a:xfrm>
            <a:off x="884858" y="8440958"/>
            <a:ext cx="16107038" cy="784830"/>
          </a:xfrm>
          <a:prstGeom prst="rect">
            <a:avLst/>
          </a:prstGeom>
          <a:noFill/>
        </p:spPr>
        <p:txBody>
          <a:bodyPr wrap="square" rtlCol="0">
            <a:spAutoFit/>
          </a:bodyPr>
          <a:lstStyle/>
          <a:p>
            <a:pPr algn="ctr">
              <a:buNone/>
            </a:pPr>
            <a:r>
              <a:rPr lang="en-US" altLang="ko-KR" sz="4500" dirty="0" err="1">
                <a:solidFill>
                  <a:srgbClr val="000000"/>
                </a:solidFill>
              </a:rPr>
              <a:t>df.query</a:t>
            </a:r>
            <a:r>
              <a:rPr lang="en-US" altLang="ko-KR" sz="4500" dirty="0">
                <a:solidFill>
                  <a:srgbClr val="000000"/>
                </a:solidFill>
              </a:rPr>
              <a:t>(‘CCPROG1 &gt;= 3.5’)</a:t>
            </a:r>
          </a:p>
        </p:txBody>
      </p:sp>
      <p:pic>
        <p:nvPicPr>
          <p:cNvPr id="7" name="Picture 6" descr="A table with numbers and letters&#10;&#10;AI-generated content may be incorrect.">
            <a:extLst>
              <a:ext uri="{FF2B5EF4-FFF2-40B4-BE49-F238E27FC236}">
                <a16:creationId xmlns:a16="http://schemas.microsoft.com/office/drawing/2014/main" id="{7A7C34DF-0CFA-41DC-BF84-D58812F0F782}"/>
              </a:ext>
            </a:extLst>
          </p:cNvPr>
          <p:cNvPicPr>
            <a:picLocks noChangeAspect="1"/>
          </p:cNvPicPr>
          <p:nvPr/>
        </p:nvPicPr>
        <p:blipFill>
          <a:blip r:embed="rId5"/>
          <a:stretch>
            <a:fillRect/>
          </a:stretch>
        </p:blipFill>
        <p:spPr>
          <a:xfrm>
            <a:off x="4497064" y="4195287"/>
            <a:ext cx="8550903" cy="4125590"/>
          </a:xfrm>
          <a:prstGeom prst="rect">
            <a:avLst/>
          </a:prstGeom>
        </p:spPr>
      </p:pic>
    </p:spTree>
    <p:extLst>
      <p:ext uri="{BB962C8B-B14F-4D97-AF65-F5344CB8AC3E}">
        <p14:creationId xmlns:p14="http://schemas.microsoft.com/office/powerpoint/2010/main" val="22222470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01532-24E3-4C5F-45DB-41396C8F2DE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4437B3C-9AA8-A63E-D152-C6757732C203}"/>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2A67FC41-DE71-2648-A863-FF1C81E13C06}"/>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ADEAEBCD-26C5-4BD9-4068-4CF7148D0A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93149B32-EEA6-69D0-35B8-5461C566C86E}"/>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42C06104-6F08-2882-EF05-3C3985476A2E}"/>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AB154E9C-20C7-D973-C16E-60B58445A1C2}"/>
              </a:ext>
            </a:extLst>
          </p:cNvPr>
          <p:cNvSpPr txBox="1"/>
          <p:nvPr/>
        </p:nvSpPr>
        <p:spPr>
          <a:xfrm>
            <a:off x="884858" y="2717958"/>
            <a:ext cx="16107038" cy="1477328"/>
          </a:xfrm>
          <a:prstGeom prst="rect">
            <a:avLst/>
          </a:prstGeom>
          <a:noFill/>
        </p:spPr>
        <p:txBody>
          <a:bodyPr wrap="square" rtlCol="0">
            <a:spAutoFit/>
          </a:bodyPr>
          <a:lstStyle/>
          <a:p>
            <a:pPr algn="ctr">
              <a:buNone/>
            </a:pPr>
            <a:r>
              <a:rPr lang="en-US" altLang="ko-KR" sz="4500" b="1" dirty="0">
                <a:solidFill>
                  <a:srgbClr val="000000"/>
                </a:solidFill>
              </a:rPr>
              <a:t>Querying</a:t>
            </a:r>
          </a:p>
          <a:p>
            <a:pPr algn="ctr">
              <a:buNone/>
            </a:pPr>
            <a:r>
              <a:rPr lang="en-US" altLang="ko-KR" sz="4500" dirty="0">
                <a:solidFill>
                  <a:srgbClr val="000000"/>
                </a:solidFill>
              </a:rPr>
              <a:t>Ex2. Select rows based on string value</a:t>
            </a:r>
          </a:p>
        </p:txBody>
      </p:sp>
      <p:sp>
        <p:nvSpPr>
          <p:cNvPr id="2" name="TextBox 1">
            <a:extLst>
              <a:ext uri="{FF2B5EF4-FFF2-40B4-BE49-F238E27FC236}">
                <a16:creationId xmlns:a16="http://schemas.microsoft.com/office/drawing/2014/main" id="{116304D2-40EB-6379-04C5-24C8B0ED07AD}"/>
              </a:ext>
            </a:extLst>
          </p:cNvPr>
          <p:cNvSpPr txBox="1"/>
          <p:nvPr/>
        </p:nvSpPr>
        <p:spPr>
          <a:xfrm>
            <a:off x="884858" y="8440958"/>
            <a:ext cx="16107038" cy="784830"/>
          </a:xfrm>
          <a:prstGeom prst="rect">
            <a:avLst/>
          </a:prstGeom>
          <a:noFill/>
        </p:spPr>
        <p:txBody>
          <a:bodyPr wrap="square" rtlCol="0">
            <a:spAutoFit/>
          </a:bodyPr>
          <a:lstStyle/>
          <a:p>
            <a:pPr algn="ctr">
              <a:buNone/>
            </a:pPr>
            <a:r>
              <a:rPr lang="en-US" altLang="ko-KR" sz="4500">
                <a:solidFill>
                  <a:srgbClr val="000000"/>
                </a:solidFill>
              </a:rPr>
              <a:t>df.query(‘SECTION == “S17”’)</a:t>
            </a:r>
            <a:endParaRPr lang="en-US" altLang="ko-KR" sz="4500" dirty="0">
              <a:solidFill>
                <a:srgbClr val="000000"/>
              </a:solidFill>
            </a:endParaRPr>
          </a:p>
        </p:txBody>
      </p:sp>
      <p:pic>
        <p:nvPicPr>
          <p:cNvPr id="6" name="Picture 5" descr="A table with numbers and text&#10;&#10;AI-generated content may be incorrect.">
            <a:extLst>
              <a:ext uri="{FF2B5EF4-FFF2-40B4-BE49-F238E27FC236}">
                <a16:creationId xmlns:a16="http://schemas.microsoft.com/office/drawing/2014/main" id="{943C7951-40D6-AB54-CA84-8E1D43648171}"/>
              </a:ext>
            </a:extLst>
          </p:cNvPr>
          <p:cNvPicPr>
            <a:picLocks noChangeAspect="1"/>
          </p:cNvPicPr>
          <p:nvPr/>
        </p:nvPicPr>
        <p:blipFill>
          <a:blip r:embed="rId5"/>
          <a:stretch>
            <a:fillRect/>
          </a:stretch>
        </p:blipFill>
        <p:spPr>
          <a:xfrm>
            <a:off x="5026348" y="4392637"/>
            <a:ext cx="8235303" cy="3972121"/>
          </a:xfrm>
          <a:prstGeom prst="rect">
            <a:avLst/>
          </a:prstGeom>
        </p:spPr>
      </p:pic>
    </p:spTree>
    <p:extLst>
      <p:ext uri="{BB962C8B-B14F-4D97-AF65-F5344CB8AC3E}">
        <p14:creationId xmlns:p14="http://schemas.microsoft.com/office/powerpoint/2010/main" val="3063754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F526A-1460-EF7F-7DBF-7C5C4CA711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902C5EB-BCF3-BEEF-1179-3E3C7C2B072B}"/>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7F301B56-CC0D-575B-F750-2D6BE8FD897C}"/>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957B2B6F-630A-389E-6C38-4A8816FD9E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CB7131E1-FCCF-9AA7-F6FA-29F65986558B}"/>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4CE2288D-B3E4-0CAC-A80A-37F0C87A95F7}"/>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D71D4B39-8967-961C-6E11-77847D75A4C2}"/>
              </a:ext>
            </a:extLst>
          </p:cNvPr>
          <p:cNvSpPr txBox="1"/>
          <p:nvPr/>
        </p:nvSpPr>
        <p:spPr>
          <a:xfrm>
            <a:off x="884858" y="2717958"/>
            <a:ext cx="16107038" cy="1477328"/>
          </a:xfrm>
          <a:prstGeom prst="rect">
            <a:avLst/>
          </a:prstGeom>
          <a:noFill/>
        </p:spPr>
        <p:txBody>
          <a:bodyPr wrap="square" rtlCol="0">
            <a:spAutoFit/>
          </a:bodyPr>
          <a:lstStyle/>
          <a:p>
            <a:pPr algn="ctr">
              <a:buNone/>
            </a:pPr>
            <a:r>
              <a:rPr lang="en-US" altLang="ko-KR" sz="4500" b="1" dirty="0">
                <a:solidFill>
                  <a:srgbClr val="000000"/>
                </a:solidFill>
              </a:rPr>
              <a:t>Querying</a:t>
            </a:r>
          </a:p>
          <a:p>
            <a:pPr algn="ctr">
              <a:buNone/>
            </a:pPr>
            <a:r>
              <a:rPr lang="en-US" altLang="ko-KR" sz="4500" dirty="0">
                <a:solidFill>
                  <a:srgbClr val="000000"/>
                </a:solidFill>
              </a:rPr>
              <a:t>Ex2. Select rows based on string value</a:t>
            </a:r>
          </a:p>
        </p:txBody>
      </p:sp>
      <p:sp>
        <p:nvSpPr>
          <p:cNvPr id="2" name="TextBox 1">
            <a:extLst>
              <a:ext uri="{FF2B5EF4-FFF2-40B4-BE49-F238E27FC236}">
                <a16:creationId xmlns:a16="http://schemas.microsoft.com/office/drawing/2014/main" id="{C4C8ED8A-69CC-DF88-C0D1-22A98153082C}"/>
              </a:ext>
            </a:extLst>
          </p:cNvPr>
          <p:cNvSpPr txBox="1"/>
          <p:nvPr/>
        </p:nvSpPr>
        <p:spPr>
          <a:xfrm>
            <a:off x="884858" y="8440958"/>
            <a:ext cx="16107038" cy="784830"/>
          </a:xfrm>
          <a:prstGeom prst="rect">
            <a:avLst/>
          </a:prstGeom>
          <a:noFill/>
        </p:spPr>
        <p:txBody>
          <a:bodyPr wrap="square" rtlCol="0">
            <a:spAutoFit/>
          </a:bodyPr>
          <a:lstStyle/>
          <a:p>
            <a:pPr algn="ctr">
              <a:buNone/>
            </a:pPr>
            <a:r>
              <a:rPr lang="en-US" altLang="ko-KR" sz="4500">
                <a:solidFill>
                  <a:srgbClr val="000000"/>
                </a:solidFill>
              </a:rPr>
              <a:t>df.query(‘SECTION == “S17”’)</a:t>
            </a:r>
            <a:endParaRPr lang="en-US" altLang="ko-KR" sz="4500" dirty="0">
              <a:solidFill>
                <a:srgbClr val="000000"/>
              </a:solidFill>
            </a:endParaRPr>
          </a:p>
        </p:txBody>
      </p:sp>
      <p:pic>
        <p:nvPicPr>
          <p:cNvPr id="7" name="Picture 6" descr="A table with numbers and text&#10;&#10;AI-generated content may be incorrect.">
            <a:extLst>
              <a:ext uri="{FF2B5EF4-FFF2-40B4-BE49-F238E27FC236}">
                <a16:creationId xmlns:a16="http://schemas.microsoft.com/office/drawing/2014/main" id="{6477CA7B-E482-9B00-76DF-FCCCA52A94BE}"/>
              </a:ext>
            </a:extLst>
          </p:cNvPr>
          <p:cNvPicPr>
            <a:picLocks noChangeAspect="1"/>
          </p:cNvPicPr>
          <p:nvPr/>
        </p:nvPicPr>
        <p:blipFill>
          <a:blip r:embed="rId5"/>
          <a:stretch>
            <a:fillRect/>
          </a:stretch>
        </p:blipFill>
        <p:spPr>
          <a:xfrm>
            <a:off x="4603883" y="4195286"/>
            <a:ext cx="8668987" cy="4245672"/>
          </a:xfrm>
          <a:prstGeom prst="rect">
            <a:avLst/>
          </a:prstGeom>
        </p:spPr>
      </p:pic>
    </p:spTree>
    <p:extLst>
      <p:ext uri="{BB962C8B-B14F-4D97-AF65-F5344CB8AC3E}">
        <p14:creationId xmlns:p14="http://schemas.microsoft.com/office/powerpoint/2010/main" val="16740483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39BEA-BF12-8D40-4296-0758444196C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FDC53F0-7869-4314-EADE-4284EAE1B353}"/>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8ADCB0EF-27A3-4CEE-857E-D22993EA6031}"/>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291C4545-6318-8FD3-B8C6-0299859A29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EE306FC4-6D1C-0047-FFE1-0C6F70B70F84}"/>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A7027246-2F6F-0D74-3B45-D3C42B76C70F}"/>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C51C1E53-37E3-F09C-3E2D-3BA6A738D96C}"/>
              </a:ext>
            </a:extLst>
          </p:cNvPr>
          <p:cNvSpPr txBox="1"/>
          <p:nvPr/>
        </p:nvSpPr>
        <p:spPr>
          <a:xfrm>
            <a:off x="884858" y="2717958"/>
            <a:ext cx="16107038" cy="1477328"/>
          </a:xfrm>
          <a:prstGeom prst="rect">
            <a:avLst/>
          </a:prstGeom>
          <a:noFill/>
        </p:spPr>
        <p:txBody>
          <a:bodyPr wrap="square" rtlCol="0">
            <a:spAutoFit/>
          </a:bodyPr>
          <a:lstStyle/>
          <a:p>
            <a:pPr algn="ctr">
              <a:buNone/>
            </a:pPr>
            <a:r>
              <a:rPr lang="en-US" altLang="ko-KR" sz="4500" b="1" dirty="0">
                <a:solidFill>
                  <a:srgbClr val="000000"/>
                </a:solidFill>
              </a:rPr>
              <a:t>Querying</a:t>
            </a:r>
          </a:p>
          <a:p>
            <a:pPr algn="ctr">
              <a:buNone/>
            </a:pPr>
            <a:r>
              <a:rPr lang="en-US" altLang="ko-KR" sz="4500" dirty="0">
                <a:solidFill>
                  <a:srgbClr val="000000"/>
                </a:solidFill>
              </a:rPr>
              <a:t>Ex3. Select rows based on multiple conditions</a:t>
            </a:r>
          </a:p>
        </p:txBody>
      </p:sp>
      <p:sp>
        <p:nvSpPr>
          <p:cNvPr id="2" name="TextBox 1">
            <a:extLst>
              <a:ext uri="{FF2B5EF4-FFF2-40B4-BE49-F238E27FC236}">
                <a16:creationId xmlns:a16="http://schemas.microsoft.com/office/drawing/2014/main" id="{0584C20A-7F4A-2DD7-3BC5-9742FEDF1FB2}"/>
              </a:ext>
            </a:extLst>
          </p:cNvPr>
          <p:cNvSpPr txBox="1"/>
          <p:nvPr/>
        </p:nvSpPr>
        <p:spPr>
          <a:xfrm>
            <a:off x="884858" y="8440958"/>
            <a:ext cx="16107038" cy="784830"/>
          </a:xfrm>
          <a:prstGeom prst="rect">
            <a:avLst/>
          </a:prstGeom>
          <a:noFill/>
        </p:spPr>
        <p:txBody>
          <a:bodyPr wrap="square" rtlCol="0">
            <a:spAutoFit/>
          </a:bodyPr>
          <a:lstStyle/>
          <a:p>
            <a:pPr algn="ctr">
              <a:buNone/>
            </a:pPr>
            <a:r>
              <a:rPr lang="en-US" altLang="ko-KR" sz="4500">
                <a:solidFill>
                  <a:srgbClr val="000000"/>
                </a:solidFill>
              </a:rPr>
              <a:t>df.query(‘CCPROG1 &gt;= 3.0 and Section == “S17”’)</a:t>
            </a:r>
            <a:endParaRPr lang="en-US" altLang="ko-KR" sz="4500" dirty="0">
              <a:solidFill>
                <a:srgbClr val="000000"/>
              </a:solidFill>
            </a:endParaRPr>
          </a:p>
        </p:txBody>
      </p:sp>
      <p:pic>
        <p:nvPicPr>
          <p:cNvPr id="6" name="Picture 5" descr="A table with numbers and letters&#10;&#10;AI-generated content may be incorrect.">
            <a:extLst>
              <a:ext uri="{FF2B5EF4-FFF2-40B4-BE49-F238E27FC236}">
                <a16:creationId xmlns:a16="http://schemas.microsoft.com/office/drawing/2014/main" id="{97D1E5F6-006D-629F-B2F5-B73AC19F09EF}"/>
              </a:ext>
            </a:extLst>
          </p:cNvPr>
          <p:cNvPicPr>
            <a:picLocks noChangeAspect="1"/>
          </p:cNvPicPr>
          <p:nvPr/>
        </p:nvPicPr>
        <p:blipFill>
          <a:blip r:embed="rId5"/>
          <a:stretch>
            <a:fillRect/>
          </a:stretch>
        </p:blipFill>
        <p:spPr>
          <a:xfrm>
            <a:off x="4706270" y="4195286"/>
            <a:ext cx="8875459" cy="4319269"/>
          </a:xfrm>
          <a:prstGeom prst="rect">
            <a:avLst/>
          </a:prstGeom>
        </p:spPr>
      </p:pic>
    </p:spTree>
    <p:extLst>
      <p:ext uri="{BB962C8B-B14F-4D97-AF65-F5344CB8AC3E}">
        <p14:creationId xmlns:p14="http://schemas.microsoft.com/office/powerpoint/2010/main" val="13075526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FF4A3-ADE7-86FF-2DD0-254A227CFF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5CBC2C-6E6B-AAD3-2A9D-07037A4581CF}"/>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74ABE45E-9D03-2614-984F-BE2CD72A17CD}"/>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0EFE2478-3DE7-DCD5-32EB-A90BC09A32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644F7B09-41C6-9211-0D31-EDBEE05FC0C2}"/>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116EBDA2-B262-F5D2-BFBD-36073FEED387}"/>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B87BD78D-D61C-43AE-2FAA-C6DC5DCF0FFC}"/>
              </a:ext>
            </a:extLst>
          </p:cNvPr>
          <p:cNvSpPr txBox="1"/>
          <p:nvPr/>
        </p:nvSpPr>
        <p:spPr>
          <a:xfrm>
            <a:off x="884858" y="2717958"/>
            <a:ext cx="16107038" cy="1477328"/>
          </a:xfrm>
          <a:prstGeom prst="rect">
            <a:avLst/>
          </a:prstGeom>
          <a:noFill/>
        </p:spPr>
        <p:txBody>
          <a:bodyPr wrap="square" rtlCol="0">
            <a:spAutoFit/>
          </a:bodyPr>
          <a:lstStyle/>
          <a:p>
            <a:pPr algn="ctr">
              <a:buNone/>
            </a:pPr>
            <a:r>
              <a:rPr lang="en-US" altLang="ko-KR" sz="4500" b="1" dirty="0">
                <a:solidFill>
                  <a:srgbClr val="000000"/>
                </a:solidFill>
              </a:rPr>
              <a:t>Querying</a:t>
            </a:r>
          </a:p>
          <a:p>
            <a:pPr algn="ctr">
              <a:buNone/>
            </a:pPr>
            <a:r>
              <a:rPr lang="en-US" altLang="ko-KR" sz="4500" dirty="0">
                <a:solidFill>
                  <a:srgbClr val="000000"/>
                </a:solidFill>
              </a:rPr>
              <a:t>Ex3. Select rows based on multiple conditions</a:t>
            </a:r>
          </a:p>
        </p:txBody>
      </p:sp>
      <p:sp>
        <p:nvSpPr>
          <p:cNvPr id="2" name="TextBox 1">
            <a:extLst>
              <a:ext uri="{FF2B5EF4-FFF2-40B4-BE49-F238E27FC236}">
                <a16:creationId xmlns:a16="http://schemas.microsoft.com/office/drawing/2014/main" id="{4959185F-3856-93E8-978A-482E6285C21A}"/>
              </a:ext>
            </a:extLst>
          </p:cNvPr>
          <p:cNvSpPr txBox="1"/>
          <p:nvPr/>
        </p:nvSpPr>
        <p:spPr>
          <a:xfrm>
            <a:off x="884858" y="8440958"/>
            <a:ext cx="16107038" cy="784830"/>
          </a:xfrm>
          <a:prstGeom prst="rect">
            <a:avLst/>
          </a:prstGeom>
          <a:noFill/>
        </p:spPr>
        <p:txBody>
          <a:bodyPr wrap="square" rtlCol="0">
            <a:spAutoFit/>
          </a:bodyPr>
          <a:lstStyle/>
          <a:p>
            <a:pPr algn="ctr">
              <a:buNone/>
            </a:pPr>
            <a:r>
              <a:rPr lang="en-US" altLang="ko-KR" sz="4500">
                <a:solidFill>
                  <a:srgbClr val="000000"/>
                </a:solidFill>
              </a:rPr>
              <a:t>df.query(‘CCPROG1 &gt;= 3.0 and Section == “S17”’)</a:t>
            </a:r>
            <a:endParaRPr lang="en-US" altLang="ko-KR" sz="4500" dirty="0">
              <a:solidFill>
                <a:srgbClr val="000000"/>
              </a:solidFill>
            </a:endParaRPr>
          </a:p>
        </p:txBody>
      </p:sp>
      <p:pic>
        <p:nvPicPr>
          <p:cNvPr id="7" name="Picture 6" descr="A table with numbers and letters&#10;&#10;AI-generated content may be incorrect.">
            <a:extLst>
              <a:ext uri="{FF2B5EF4-FFF2-40B4-BE49-F238E27FC236}">
                <a16:creationId xmlns:a16="http://schemas.microsoft.com/office/drawing/2014/main" id="{DF836690-B51A-ADC3-42A9-B0B3906DF911}"/>
              </a:ext>
            </a:extLst>
          </p:cNvPr>
          <p:cNvPicPr>
            <a:picLocks noChangeAspect="1"/>
          </p:cNvPicPr>
          <p:nvPr/>
        </p:nvPicPr>
        <p:blipFill>
          <a:blip r:embed="rId5"/>
          <a:stretch>
            <a:fillRect/>
          </a:stretch>
        </p:blipFill>
        <p:spPr>
          <a:xfrm>
            <a:off x="4491463" y="4144478"/>
            <a:ext cx="8893828" cy="4347288"/>
          </a:xfrm>
          <a:prstGeom prst="rect">
            <a:avLst/>
          </a:prstGeom>
        </p:spPr>
      </p:pic>
    </p:spTree>
    <p:extLst>
      <p:ext uri="{BB962C8B-B14F-4D97-AF65-F5344CB8AC3E}">
        <p14:creationId xmlns:p14="http://schemas.microsoft.com/office/powerpoint/2010/main" val="105729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4C0D3-4DC0-B7C7-C191-6A571857EB2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3FDA85B-8E3C-E9B6-B8CB-E5154F541B80}"/>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C3D2BCA1-A469-1ED6-84C5-5DB13439BFFB}"/>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ABEF7760-7100-9D39-19B3-CAE437B5CE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851BDAC6-021E-81E3-7584-38CEC19F8844}"/>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0C0DB139-4BEC-5954-7D29-1DDD07B649F1}"/>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EA224D5E-AB0C-373B-6BF1-1618E94D6A98}"/>
              </a:ext>
            </a:extLst>
          </p:cNvPr>
          <p:cNvSpPr txBox="1"/>
          <p:nvPr/>
        </p:nvSpPr>
        <p:spPr>
          <a:xfrm>
            <a:off x="884858" y="2717958"/>
            <a:ext cx="16107038" cy="1477328"/>
          </a:xfrm>
          <a:prstGeom prst="rect">
            <a:avLst/>
          </a:prstGeom>
          <a:noFill/>
        </p:spPr>
        <p:txBody>
          <a:bodyPr wrap="square" rtlCol="0">
            <a:spAutoFit/>
          </a:bodyPr>
          <a:lstStyle/>
          <a:p>
            <a:pPr algn="ctr">
              <a:buNone/>
            </a:pPr>
            <a:r>
              <a:rPr lang="en-US" altLang="ko-KR" sz="4500" b="1" dirty="0">
                <a:solidFill>
                  <a:srgbClr val="000000"/>
                </a:solidFill>
              </a:rPr>
              <a:t>Querying</a:t>
            </a:r>
          </a:p>
          <a:p>
            <a:pPr algn="ctr">
              <a:buNone/>
            </a:pPr>
            <a:r>
              <a:rPr lang="en-US" altLang="ko-KR" sz="4500" dirty="0">
                <a:solidFill>
                  <a:srgbClr val="000000"/>
                </a:solidFill>
              </a:rPr>
              <a:t>Ex4. Select rows based on index</a:t>
            </a:r>
          </a:p>
        </p:txBody>
      </p:sp>
      <p:sp>
        <p:nvSpPr>
          <p:cNvPr id="2" name="TextBox 1">
            <a:extLst>
              <a:ext uri="{FF2B5EF4-FFF2-40B4-BE49-F238E27FC236}">
                <a16:creationId xmlns:a16="http://schemas.microsoft.com/office/drawing/2014/main" id="{2B083E0E-C704-361C-3AFD-255FE7FFAE15}"/>
              </a:ext>
            </a:extLst>
          </p:cNvPr>
          <p:cNvSpPr txBox="1"/>
          <p:nvPr/>
        </p:nvSpPr>
        <p:spPr>
          <a:xfrm>
            <a:off x="884858" y="8440958"/>
            <a:ext cx="16107038" cy="784830"/>
          </a:xfrm>
          <a:prstGeom prst="rect">
            <a:avLst/>
          </a:prstGeom>
          <a:noFill/>
        </p:spPr>
        <p:txBody>
          <a:bodyPr wrap="square" rtlCol="0">
            <a:spAutoFit/>
          </a:bodyPr>
          <a:lstStyle/>
          <a:p>
            <a:pPr algn="ctr">
              <a:buNone/>
            </a:pPr>
            <a:r>
              <a:rPr lang="en-US" altLang="ko-KR" sz="4500">
                <a:solidFill>
                  <a:srgbClr val="000000"/>
                </a:solidFill>
              </a:rPr>
              <a:t>df.query(‘index &gt; 2’)</a:t>
            </a:r>
            <a:endParaRPr lang="en-US" altLang="ko-KR" sz="4500" dirty="0">
              <a:solidFill>
                <a:srgbClr val="000000"/>
              </a:solidFill>
            </a:endParaRPr>
          </a:p>
        </p:txBody>
      </p:sp>
      <p:pic>
        <p:nvPicPr>
          <p:cNvPr id="10" name="Picture 9" descr="A table with numbers and letters&#10;&#10;AI-generated content may be incorrect.">
            <a:extLst>
              <a:ext uri="{FF2B5EF4-FFF2-40B4-BE49-F238E27FC236}">
                <a16:creationId xmlns:a16="http://schemas.microsoft.com/office/drawing/2014/main" id="{FEEA354A-3657-E068-79CE-A35E0A546950}"/>
              </a:ext>
            </a:extLst>
          </p:cNvPr>
          <p:cNvPicPr>
            <a:picLocks noChangeAspect="1"/>
          </p:cNvPicPr>
          <p:nvPr/>
        </p:nvPicPr>
        <p:blipFill>
          <a:blip r:embed="rId5"/>
          <a:stretch>
            <a:fillRect/>
          </a:stretch>
        </p:blipFill>
        <p:spPr>
          <a:xfrm>
            <a:off x="4598664" y="4195286"/>
            <a:ext cx="8651897" cy="4245672"/>
          </a:xfrm>
          <a:prstGeom prst="rect">
            <a:avLst/>
          </a:prstGeom>
        </p:spPr>
      </p:pic>
    </p:spTree>
    <p:extLst>
      <p:ext uri="{BB962C8B-B14F-4D97-AF65-F5344CB8AC3E}">
        <p14:creationId xmlns:p14="http://schemas.microsoft.com/office/powerpoint/2010/main" val="5442058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B44BD-1B3B-4FE6-31AD-0F5FF04F7B6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6C64AF-3673-9517-D5CC-EE06C094ABE4}"/>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F77C610F-40EF-5BD3-7FB7-ABA75B50CC5B}"/>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BD531511-F277-536C-CD65-67C97AD2F9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6C3CCB34-AA8E-6ED6-B155-2B86F2948CF1}"/>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68108C30-57CF-08D5-97B5-9E5038402468}"/>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B3C45C2B-0BE0-B5BD-2674-79AF071FB2F7}"/>
              </a:ext>
            </a:extLst>
          </p:cNvPr>
          <p:cNvSpPr txBox="1"/>
          <p:nvPr/>
        </p:nvSpPr>
        <p:spPr>
          <a:xfrm>
            <a:off x="884858" y="2717958"/>
            <a:ext cx="16107038" cy="1477328"/>
          </a:xfrm>
          <a:prstGeom prst="rect">
            <a:avLst/>
          </a:prstGeom>
          <a:noFill/>
        </p:spPr>
        <p:txBody>
          <a:bodyPr wrap="square" rtlCol="0">
            <a:spAutoFit/>
          </a:bodyPr>
          <a:lstStyle/>
          <a:p>
            <a:pPr algn="ctr">
              <a:buNone/>
            </a:pPr>
            <a:r>
              <a:rPr lang="en-US" altLang="ko-KR" sz="4500" b="1" dirty="0">
                <a:solidFill>
                  <a:srgbClr val="000000"/>
                </a:solidFill>
              </a:rPr>
              <a:t>Querying</a:t>
            </a:r>
          </a:p>
          <a:p>
            <a:pPr algn="ctr">
              <a:buNone/>
            </a:pPr>
            <a:r>
              <a:rPr lang="en-US" altLang="ko-KR" sz="4500" dirty="0">
                <a:solidFill>
                  <a:srgbClr val="000000"/>
                </a:solidFill>
              </a:rPr>
              <a:t>Ex5. Select rows by comparing multiple columns</a:t>
            </a:r>
          </a:p>
        </p:txBody>
      </p:sp>
      <p:sp>
        <p:nvSpPr>
          <p:cNvPr id="2" name="TextBox 1">
            <a:extLst>
              <a:ext uri="{FF2B5EF4-FFF2-40B4-BE49-F238E27FC236}">
                <a16:creationId xmlns:a16="http://schemas.microsoft.com/office/drawing/2014/main" id="{FCAFB63C-0841-E5F8-E255-B12CAA4DEC63}"/>
              </a:ext>
            </a:extLst>
          </p:cNvPr>
          <p:cNvSpPr txBox="1"/>
          <p:nvPr/>
        </p:nvSpPr>
        <p:spPr>
          <a:xfrm>
            <a:off x="884858" y="8440958"/>
            <a:ext cx="16107038" cy="784830"/>
          </a:xfrm>
          <a:prstGeom prst="rect">
            <a:avLst/>
          </a:prstGeom>
          <a:noFill/>
        </p:spPr>
        <p:txBody>
          <a:bodyPr wrap="square" rtlCol="0">
            <a:spAutoFit/>
          </a:bodyPr>
          <a:lstStyle/>
          <a:p>
            <a:pPr algn="ctr">
              <a:buNone/>
            </a:pPr>
            <a:r>
              <a:rPr lang="en-US" altLang="ko-KR" sz="4500">
                <a:solidFill>
                  <a:srgbClr val="000000"/>
                </a:solidFill>
              </a:rPr>
              <a:t>df.query(‘CCPROG1 &gt; CCPROG2’)</a:t>
            </a:r>
            <a:endParaRPr lang="en-US" altLang="ko-KR" sz="4500" dirty="0">
              <a:solidFill>
                <a:srgbClr val="000000"/>
              </a:solidFill>
            </a:endParaRPr>
          </a:p>
        </p:txBody>
      </p:sp>
      <p:pic>
        <p:nvPicPr>
          <p:cNvPr id="6" name="Picture 5" descr="A table with numbers and letters&#10;&#10;AI-generated content may be incorrect.">
            <a:extLst>
              <a:ext uri="{FF2B5EF4-FFF2-40B4-BE49-F238E27FC236}">
                <a16:creationId xmlns:a16="http://schemas.microsoft.com/office/drawing/2014/main" id="{0D2C590A-9DE4-3D1A-131E-A737E7F35515}"/>
              </a:ext>
            </a:extLst>
          </p:cNvPr>
          <p:cNvPicPr>
            <a:picLocks noChangeAspect="1"/>
          </p:cNvPicPr>
          <p:nvPr/>
        </p:nvPicPr>
        <p:blipFill>
          <a:blip r:embed="rId5"/>
          <a:stretch>
            <a:fillRect/>
          </a:stretch>
        </p:blipFill>
        <p:spPr>
          <a:xfrm>
            <a:off x="4715324" y="4195286"/>
            <a:ext cx="8857351" cy="4245672"/>
          </a:xfrm>
          <a:prstGeom prst="rect">
            <a:avLst/>
          </a:prstGeom>
        </p:spPr>
      </p:pic>
    </p:spTree>
    <p:extLst>
      <p:ext uri="{BB962C8B-B14F-4D97-AF65-F5344CB8AC3E}">
        <p14:creationId xmlns:p14="http://schemas.microsoft.com/office/powerpoint/2010/main" val="16749247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E3F82-CF8B-2186-B320-4B9C2C19C4F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64546DA-D056-0172-45DE-FD9087CBA86B}"/>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9AC299D7-4E7D-A920-F2A8-E4D633E66C57}"/>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EFAB0D5E-E36C-B324-E63B-741C71CAA4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083A6D4D-D58B-36B5-C928-1781F3989C28}"/>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AC8B2634-419B-C6CA-0C3F-9A80F35F0A42}"/>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A548CCBF-5369-BBA8-D86E-EB4B86DE91F5}"/>
              </a:ext>
            </a:extLst>
          </p:cNvPr>
          <p:cNvSpPr txBox="1"/>
          <p:nvPr/>
        </p:nvSpPr>
        <p:spPr>
          <a:xfrm>
            <a:off x="884858" y="2717958"/>
            <a:ext cx="16107038" cy="1477328"/>
          </a:xfrm>
          <a:prstGeom prst="rect">
            <a:avLst/>
          </a:prstGeom>
          <a:noFill/>
        </p:spPr>
        <p:txBody>
          <a:bodyPr wrap="square" rtlCol="0">
            <a:spAutoFit/>
          </a:bodyPr>
          <a:lstStyle/>
          <a:p>
            <a:pPr algn="ctr">
              <a:buNone/>
            </a:pPr>
            <a:r>
              <a:rPr lang="en-US" altLang="ko-KR" sz="4500" b="1" dirty="0">
                <a:solidFill>
                  <a:srgbClr val="000000"/>
                </a:solidFill>
              </a:rPr>
              <a:t>Querying</a:t>
            </a:r>
          </a:p>
          <a:p>
            <a:pPr algn="ctr">
              <a:buNone/>
            </a:pPr>
            <a:r>
              <a:rPr lang="en-US" altLang="ko-KR" sz="4500" dirty="0">
                <a:solidFill>
                  <a:srgbClr val="000000"/>
                </a:solidFill>
              </a:rPr>
              <a:t>Ex5. Select rows by comparing multiple columns</a:t>
            </a:r>
          </a:p>
        </p:txBody>
      </p:sp>
      <p:sp>
        <p:nvSpPr>
          <p:cNvPr id="2" name="TextBox 1">
            <a:extLst>
              <a:ext uri="{FF2B5EF4-FFF2-40B4-BE49-F238E27FC236}">
                <a16:creationId xmlns:a16="http://schemas.microsoft.com/office/drawing/2014/main" id="{89967D53-C683-BD65-1580-F338AD7FF245}"/>
              </a:ext>
            </a:extLst>
          </p:cNvPr>
          <p:cNvSpPr txBox="1"/>
          <p:nvPr/>
        </p:nvSpPr>
        <p:spPr>
          <a:xfrm>
            <a:off x="884858" y="8440958"/>
            <a:ext cx="16107038" cy="784830"/>
          </a:xfrm>
          <a:prstGeom prst="rect">
            <a:avLst/>
          </a:prstGeom>
          <a:noFill/>
        </p:spPr>
        <p:txBody>
          <a:bodyPr wrap="square" rtlCol="0">
            <a:spAutoFit/>
          </a:bodyPr>
          <a:lstStyle/>
          <a:p>
            <a:pPr algn="ctr">
              <a:buNone/>
            </a:pPr>
            <a:r>
              <a:rPr lang="en-US" altLang="ko-KR" sz="4500">
                <a:solidFill>
                  <a:srgbClr val="000000"/>
                </a:solidFill>
              </a:rPr>
              <a:t>df.query(‘CCPROG1 &gt; CCPROG2’)</a:t>
            </a:r>
            <a:endParaRPr lang="en-US" altLang="ko-KR" sz="4500" dirty="0">
              <a:solidFill>
                <a:srgbClr val="000000"/>
              </a:solidFill>
            </a:endParaRPr>
          </a:p>
        </p:txBody>
      </p:sp>
      <p:pic>
        <p:nvPicPr>
          <p:cNvPr id="7" name="Picture 6" descr="A table with numbers and text&#10;&#10;AI-generated content may be incorrect.">
            <a:extLst>
              <a:ext uri="{FF2B5EF4-FFF2-40B4-BE49-F238E27FC236}">
                <a16:creationId xmlns:a16="http://schemas.microsoft.com/office/drawing/2014/main" id="{106D1E40-585E-2B68-2491-A51FAB7FC209}"/>
              </a:ext>
            </a:extLst>
          </p:cNvPr>
          <p:cNvPicPr>
            <a:picLocks noChangeAspect="1"/>
          </p:cNvPicPr>
          <p:nvPr/>
        </p:nvPicPr>
        <p:blipFill>
          <a:blip r:embed="rId5"/>
          <a:stretch>
            <a:fillRect/>
          </a:stretch>
        </p:blipFill>
        <p:spPr>
          <a:xfrm>
            <a:off x="4567305" y="4220686"/>
            <a:ext cx="8742144" cy="4245672"/>
          </a:xfrm>
          <a:prstGeom prst="rect">
            <a:avLst/>
          </a:prstGeom>
        </p:spPr>
      </p:pic>
    </p:spTree>
    <p:extLst>
      <p:ext uri="{BB962C8B-B14F-4D97-AF65-F5344CB8AC3E}">
        <p14:creationId xmlns:p14="http://schemas.microsoft.com/office/powerpoint/2010/main" val="2510156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96DF4-8928-B95A-2F57-2551F34606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42496AE-A51A-C089-DA21-0009020FE639}"/>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52A57882-8D77-C281-C149-EF34D52424A7}"/>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7A57C92A-FDBF-C898-8958-908AA7F15D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8D1D3ECD-CD6C-CE27-1510-11EFBB3A54AB}"/>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8838CCC4-574D-6C92-9786-33A16CB3DF63}"/>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643FDB5C-BA71-1A5F-FE1E-D75C420F55EE}"/>
              </a:ext>
            </a:extLst>
          </p:cNvPr>
          <p:cNvSpPr txBox="1"/>
          <p:nvPr/>
        </p:nvSpPr>
        <p:spPr>
          <a:xfrm>
            <a:off x="884858" y="2691992"/>
            <a:ext cx="16107038" cy="7017306"/>
          </a:xfrm>
          <a:prstGeom prst="rect">
            <a:avLst/>
          </a:prstGeom>
          <a:noFill/>
        </p:spPr>
        <p:txBody>
          <a:bodyPr wrap="square" rtlCol="0">
            <a:spAutoFit/>
          </a:bodyPr>
          <a:lstStyle/>
          <a:p>
            <a:pPr>
              <a:buNone/>
            </a:pPr>
            <a:r>
              <a:rPr lang="en-US" altLang="ko-KR" sz="4500" b="1" dirty="0">
                <a:solidFill>
                  <a:srgbClr val="000000"/>
                </a:solidFill>
              </a:rPr>
              <a:t>Looping</a:t>
            </a:r>
          </a:p>
          <a:p>
            <a:pPr>
              <a:buNone/>
            </a:pPr>
            <a:endParaRPr lang="en-US" altLang="ko-KR" sz="4500" b="1" dirty="0">
              <a:solidFill>
                <a:srgbClr val="000000"/>
              </a:solidFill>
              <a:effectLst/>
            </a:endParaRPr>
          </a:p>
          <a:p>
            <a:r>
              <a:rPr lang="en-US" altLang="ko-KR" sz="4500" dirty="0">
                <a:solidFill>
                  <a:srgbClr val="000000"/>
                </a:solidFill>
                <a:effectLst/>
              </a:rPr>
              <a:t>Use </a:t>
            </a:r>
            <a:r>
              <a:rPr lang="en-US" altLang="ko-KR" sz="4500" b="1" dirty="0" err="1">
                <a:solidFill>
                  <a:srgbClr val="000000"/>
                </a:solidFill>
                <a:effectLst/>
              </a:rPr>
              <a:t>iterrows</a:t>
            </a:r>
            <a:r>
              <a:rPr lang="en-US" altLang="ko-KR" sz="4500" b="1" dirty="0">
                <a:solidFill>
                  <a:srgbClr val="000000"/>
                </a:solidFill>
                <a:effectLst/>
              </a:rPr>
              <a:t>() </a:t>
            </a:r>
            <a:r>
              <a:rPr lang="en-US" altLang="ko-KR" sz="4500" dirty="0">
                <a:solidFill>
                  <a:srgbClr val="000000"/>
                </a:solidFill>
                <a:effectLst/>
              </a:rPr>
              <a:t>to iterate over all rows and apply some operation over each row.</a:t>
            </a:r>
          </a:p>
          <a:p>
            <a:endParaRPr lang="en-US" altLang="ko-KR" sz="4500" dirty="0">
              <a:solidFill>
                <a:srgbClr val="000000"/>
              </a:solidFill>
              <a:effectLst/>
            </a:endParaRPr>
          </a:p>
          <a:p>
            <a:pPr lvl="1"/>
            <a:r>
              <a:rPr lang="en-US" altLang="ko-KR" sz="4500" b="1" dirty="0">
                <a:solidFill>
                  <a:srgbClr val="000000"/>
                </a:solidFill>
                <a:effectLst/>
              </a:rPr>
              <a:t>for </a:t>
            </a:r>
            <a:r>
              <a:rPr lang="en-US" altLang="ko-KR" sz="4500" b="1" dirty="0" err="1">
                <a:solidFill>
                  <a:srgbClr val="000000"/>
                </a:solidFill>
                <a:effectLst/>
              </a:rPr>
              <a:t>cur_idx</a:t>
            </a:r>
            <a:r>
              <a:rPr lang="en-US" altLang="ko-KR" sz="4500" b="1" dirty="0">
                <a:solidFill>
                  <a:srgbClr val="000000"/>
                </a:solidFill>
                <a:effectLst/>
              </a:rPr>
              <a:t>, </a:t>
            </a:r>
            <a:r>
              <a:rPr lang="en-US" altLang="ko-KR" sz="4500" b="1" dirty="0" err="1">
                <a:solidFill>
                  <a:srgbClr val="000000"/>
                </a:solidFill>
                <a:effectLst/>
              </a:rPr>
              <a:t>cur_row</a:t>
            </a:r>
            <a:r>
              <a:rPr lang="en-US" altLang="ko-KR" sz="4500" b="1" dirty="0">
                <a:solidFill>
                  <a:srgbClr val="000000"/>
                </a:solidFill>
                <a:effectLst/>
              </a:rPr>
              <a:t> in </a:t>
            </a:r>
            <a:r>
              <a:rPr lang="en-US" altLang="ko-KR" sz="4500" b="1" dirty="0" err="1">
                <a:solidFill>
                  <a:srgbClr val="000000"/>
                </a:solidFill>
                <a:effectLst/>
              </a:rPr>
              <a:t>df.iterrows</a:t>
            </a:r>
            <a:r>
              <a:rPr lang="en-US" altLang="ko-KR" sz="4500" b="1" dirty="0">
                <a:solidFill>
                  <a:srgbClr val="000000"/>
                </a:solidFill>
                <a:effectLst/>
              </a:rPr>
              <a:t>():</a:t>
            </a:r>
          </a:p>
          <a:p>
            <a:pPr lvl="1"/>
            <a:r>
              <a:rPr lang="en-US" altLang="ko-KR" sz="4500" b="1" dirty="0">
                <a:solidFill>
                  <a:srgbClr val="000000"/>
                </a:solidFill>
                <a:effectLst/>
              </a:rPr>
              <a:t>		# perform some operations</a:t>
            </a:r>
          </a:p>
          <a:p>
            <a:endParaRPr lang="en-US" altLang="ko-KR" sz="4500" dirty="0">
              <a:solidFill>
                <a:srgbClr val="000000"/>
              </a:solidFill>
              <a:effectLst/>
            </a:endParaRPr>
          </a:p>
          <a:p>
            <a:r>
              <a:rPr lang="en-US" altLang="ko-KR" sz="4500" dirty="0">
                <a:solidFill>
                  <a:srgbClr val="000000"/>
                </a:solidFill>
                <a:effectLst/>
              </a:rPr>
              <a:t>In this example, </a:t>
            </a:r>
            <a:r>
              <a:rPr lang="en-US" altLang="ko-KR" sz="4500" dirty="0" err="1">
                <a:solidFill>
                  <a:srgbClr val="000000"/>
                </a:solidFill>
                <a:effectLst/>
              </a:rPr>
              <a:t>cur_idx</a:t>
            </a:r>
            <a:r>
              <a:rPr lang="en-US" altLang="ko-KR" sz="4500" dirty="0">
                <a:solidFill>
                  <a:srgbClr val="000000"/>
                </a:solidFill>
                <a:effectLst/>
              </a:rPr>
              <a:t> is the index of the current row and </a:t>
            </a:r>
            <a:r>
              <a:rPr lang="en-US" altLang="ko-KR" sz="4500" dirty="0" err="1">
                <a:solidFill>
                  <a:srgbClr val="000000"/>
                </a:solidFill>
                <a:effectLst/>
              </a:rPr>
              <a:t>cur_row</a:t>
            </a:r>
            <a:r>
              <a:rPr lang="en-US" altLang="ko-KR" sz="4500" dirty="0">
                <a:solidFill>
                  <a:srgbClr val="000000"/>
                </a:solidFill>
                <a:effectLst/>
              </a:rPr>
              <a:t> is the actual row.</a:t>
            </a:r>
          </a:p>
        </p:txBody>
      </p:sp>
    </p:spTree>
    <p:extLst>
      <p:ext uri="{BB962C8B-B14F-4D97-AF65-F5344CB8AC3E}">
        <p14:creationId xmlns:p14="http://schemas.microsoft.com/office/powerpoint/2010/main" val="33357791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6159E-EC95-58EC-EB77-67D1D6C27EA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10DC3C6-5BF2-F75F-D460-86C4C214FFE9}"/>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81F4C91C-7668-5E92-4D9A-8439E5002831}"/>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0D194BCE-74DD-0410-F59D-B611C60801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5B30C09-2E1E-7EFD-0776-DAA5243D04DF}"/>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6E959844-CC02-93F5-E751-C89AD14F2DDE}"/>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3621F13A-E6C4-1454-A586-72B65DADF1F3}"/>
              </a:ext>
            </a:extLst>
          </p:cNvPr>
          <p:cNvSpPr txBox="1"/>
          <p:nvPr/>
        </p:nvSpPr>
        <p:spPr>
          <a:xfrm>
            <a:off x="884858" y="2717958"/>
            <a:ext cx="16107038" cy="784830"/>
          </a:xfrm>
          <a:prstGeom prst="rect">
            <a:avLst/>
          </a:prstGeom>
          <a:noFill/>
        </p:spPr>
        <p:txBody>
          <a:bodyPr wrap="square" rtlCol="0">
            <a:spAutoFit/>
          </a:bodyPr>
          <a:lstStyle/>
          <a:p>
            <a:pPr algn="ctr">
              <a:buNone/>
            </a:pPr>
            <a:r>
              <a:rPr lang="en-US" altLang="ko-KR" sz="4500" b="1" dirty="0">
                <a:solidFill>
                  <a:srgbClr val="000000"/>
                </a:solidFill>
              </a:rPr>
              <a:t>In place parameter</a:t>
            </a:r>
          </a:p>
        </p:txBody>
      </p:sp>
      <p:sp>
        <p:nvSpPr>
          <p:cNvPr id="2" name="TextBox 1">
            <a:extLst>
              <a:ext uri="{FF2B5EF4-FFF2-40B4-BE49-F238E27FC236}">
                <a16:creationId xmlns:a16="http://schemas.microsoft.com/office/drawing/2014/main" id="{622F1378-FA82-30B2-1F88-B2F78268F871}"/>
              </a:ext>
            </a:extLst>
          </p:cNvPr>
          <p:cNvSpPr txBox="1"/>
          <p:nvPr/>
        </p:nvSpPr>
        <p:spPr>
          <a:xfrm>
            <a:off x="884858" y="8440958"/>
            <a:ext cx="16107038" cy="784830"/>
          </a:xfrm>
          <a:prstGeom prst="rect">
            <a:avLst/>
          </a:prstGeom>
          <a:noFill/>
        </p:spPr>
        <p:txBody>
          <a:bodyPr wrap="square" rtlCol="0">
            <a:spAutoFit/>
          </a:bodyPr>
          <a:lstStyle/>
          <a:p>
            <a:pPr algn="ctr">
              <a:buNone/>
            </a:pPr>
            <a:r>
              <a:rPr lang="en-US" altLang="ko-KR" sz="4500">
                <a:solidFill>
                  <a:srgbClr val="000000"/>
                </a:solidFill>
              </a:rPr>
              <a:t>inplace=False</a:t>
            </a:r>
            <a:endParaRPr lang="en-US" altLang="ko-KR" sz="4500" dirty="0">
              <a:solidFill>
                <a:srgbClr val="000000"/>
              </a:solidFill>
            </a:endParaRPr>
          </a:p>
        </p:txBody>
      </p:sp>
      <p:pic>
        <p:nvPicPr>
          <p:cNvPr id="6" name="Picture 5" descr="A red arrow pointing to a black square with white text&#10;&#10;AI-generated content may be incorrect.">
            <a:extLst>
              <a:ext uri="{FF2B5EF4-FFF2-40B4-BE49-F238E27FC236}">
                <a16:creationId xmlns:a16="http://schemas.microsoft.com/office/drawing/2014/main" id="{1924C006-9523-1EAF-6B0E-161B28522566}"/>
              </a:ext>
            </a:extLst>
          </p:cNvPr>
          <p:cNvPicPr>
            <a:picLocks noChangeAspect="1"/>
          </p:cNvPicPr>
          <p:nvPr/>
        </p:nvPicPr>
        <p:blipFill>
          <a:blip r:embed="rId5"/>
          <a:stretch>
            <a:fillRect/>
          </a:stretch>
        </p:blipFill>
        <p:spPr>
          <a:xfrm>
            <a:off x="3533425" y="4020760"/>
            <a:ext cx="10809904" cy="4068896"/>
          </a:xfrm>
          <a:prstGeom prst="rect">
            <a:avLst/>
          </a:prstGeom>
        </p:spPr>
      </p:pic>
    </p:spTree>
    <p:extLst>
      <p:ext uri="{BB962C8B-B14F-4D97-AF65-F5344CB8AC3E}">
        <p14:creationId xmlns:p14="http://schemas.microsoft.com/office/powerpoint/2010/main" val="31307877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69BD-3071-F196-2BE2-BF0B07C3DF0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1FD160E-36F1-E3EB-3BC4-40F44B0BC087}"/>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FAC5E005-A0DB-F07F-A2C1-A6E127D34839}"/>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CB689E42-A1B6-01E9-0855-E3CD1DACE8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5BCC5B1-84B0-D4B3-EC36-378F9A851052}"/>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EFB3853A-693E-C9CD-0971-8AAD4CD4A431}"/>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9070F776-3764-5399-6EC1-791356EF502D}"/>
              </a:ext>
            </a:extLst>
          </p:cNvPr>
          <p:cNvSpPr txBox="1"/>
          <p:nvPr/>
        </p:nvSpPr>
        <p:spPr>
          <a:xfrm>
            <a:off x="884858" y="2717958"/>
            <a:ext cx="16107038" cy="784830"/>
          </a:xfrm>
          <a:prstGeom prst="rect">
            <a:avLst/>
          </a:prstGeom>
          <a:noFill/>
        </p:spPr>
        <p:txBody>
          <a:bodyPr wrap="square" rtlCol="0">
            <a:spAutoFit/>
          </a:bodyPr>
          <a:lstStyle/>
          <a:p>
            <a:pPr algn="ctr">
              <a:buNone/>
            </a:pPr>
            <a:r>
              <a:rPr lang="en-US" altLang="ko-KR" sz="4500" b="1" dirty="0">
                <a:solidFill>
                  <a:srgbClr val="000000"/>
                </a:solidFill>
              </a:rPr>
              <a:t>In place parameter</a:t>
            </a:r>
          </a:p>
        </p:txBody>
      </p:sp>
      <p:sp>
        <p:nvSpPr>
          <p:cNvPr id="2" name="TextBox 1">
            <a:extLst>
              <a:ext uri="{FF2B5EF4-FFF2-40B4-BE49-F238E27FC236}">
                <a16:creationId xmlns:a16="http://schemas.microsoft.com/office/drawing/2014/main" id="{DE863716-6D37-D078-F113-6D7AEFB61E25}"/>
              </a:ext>
            </a:extLst>
          </p:cNvPr>
          <p:cNvSpPr txBox="1"/>
          <p:nvPr/>
        </p:nvSpPr>
        <p:spPr>
          <a:xfrm>
            <a:off x="884858" y="8440958"/>
            <a:ext cx="16107038" cy="784830"/>
          </a:xfrm>
          <a:prstGeom prst="rect">
            <a:avLst/>
          </a:prstGeom>
          <a:noFill/>
        </p:spPr>
        <p:txBody>
          <a:bodyPr wrap="square" rtlCol="0">
            <a:spAutoFit/>
          </a:bodyPr>
          <a:lstStyle/>
          <a:p>
            <a:pPr algn="ctr">
              <a:buNone/>
            </a:pPr>
            <a:r>
              <a:rPr lang="en-US" altLang="ko-KR" sz="4500" dirty="0" err="1">
                <a:solidFill>
                  <a:srgbClr val="000000"/>
                </a:solidFill>
              </a:rPr>
              <a:t>inplace</a:t>
            </a:r>
            <a:r>
              <a:rPr lang="en-US" altLang="ko-KR" sz="4500" dirty="0">
                <a:solidFill>
                  <a:srgbClr val="000000"/>
                </a:solidFill>
              </a:rPr>
              <a:t>=True</a:t>
            </a:r>
          </a:p>
        </p:txBody>
      </p:sp>
      <p:pic>
        <p:nvPicPr>
          <p:cNvPr id="7" name="Picture 6" descr="A diagram of a operation&#10;&#10;AI-generated content may be incorrect.">
            <a:extLst>
              <a:ext uri="{FF2B5EF4-FFF2-40B4-BE49-F238E27FC236}">
                <a16:creationId xmlns:a16="http://schemas.microsoft.com/office/drawing/2014/main" id="{7C986FB0-C3DB-1543-7500-9D7BF6C92B7F}"/>
              </a:ext>
            </a:extLst>
          </p:cNvPr>
          <p:cNvPicPr>
            <a:picLocks noChangeAspect="1"/>
          </p:cNvPicPr>
          <p:nvPr/>
        </p:nvPicPr>
        <p:blipFill>
          <a:blip r:embed="rId5"/>
          <a:stretch>
            <a:fillRect/>
          </a:stretch>
        </p:blipFill>
        <p:spPr>
          <a:xfrm>
            <a:off x="4630396" y="4198793"/>
            <a:ext cx="8615962" cy="4064133"/>
          </a:xfrm>
          <a:prstGeom prst="rect">
            <a:avLst/>
          </a:prstGeom>
        </p:spPr>
      </p:pic>
    </p:spTree>
    <p:extLst>
      <p:ext uri="{BB962C8B-B14F-4D97-AF65-F5344CB8AC3E}">
        <p14:creationId xmlns:p14="http://schemas.microsoft.com/office/powerpoint/2010/main" val="35491340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2B631-A067-2A1D-0BD9-725A2A55BE7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A12565-8D86-6134-6329-1F059000C2FD}"/>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25CF6913-F206-61E2-165E-F7127B4AFF42}"/>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002F9315-17D1-8E53-2438-AF06913A1B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1D4A10F-2ECD-8B57-F150-4ADBB4ABBED3}"/>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666B9B46-0060-F766-F656-3BC243F59DE6}"/>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1C470A46-4584-7189-2334-36DDEE44B136}"/>
              </a:ext>
            </a:extLst>
          </p:cNvPr>
          <p:cNvSpPr txBox="1"/>
          <p:nvPr/>
        </p:nvSpPr>
        <p:spPr>
          <a:xfrm>
            <a:off x="884858" y="2691992"/>
            <a:ext cx="16107038" cy="5632311"/>
          </a:xfrm>
          <a:prstGeom prst="rect">
            <a:avLst/>
          </a:prstGeom>
          <a:noFill/>
        </p:spPr>
        <p:txBody>
          <a:bodyPr wrap="square" rtlCol="0">
            <a:spAutoFit/>
          </a:bodyPr>
          <a:lstStyle/>
          <a:p>
            <a:pPr>
              <a:buNone/>
            </a:pPr>
            <a:r>
              <a:rPr lang="en-US" altLang="ko-KR" sz="4500" b="1" dirty="0">
                <a:solidFill>
                  <a:srgbClr val="000000"/>
                </a:solidFill>
              </a:rPr>
              <a:t>Imputation</a:t>
            </a:r>
          </a:p>
          <a:p>
            <a:r>
              <a:rPr lang="en-US" altLang="ko-KR" sz="4500" dirty="0">
                <a:solidFill>
                  <a:srgbClr val="000000"/>
                </a:solidFill>
                <a:effectLst/>
              </a:rPr>
              <a:t>Datasets with missing values could be a result of:</a:t>
            </a:r>
          </a:p>
          <a:p>
            <a:pPr marL="1600200" lvl="2" indent="-685800">
              <a:buFont typeface="Arial" panose="020B0604020202020204" pitchFamily="34" charset="0"/>
              <a:buChar char="•"/>
            </a:pPr>
            <a:r>
              <a:rPr lang="en-US" altLang="ko-KR" sz="4500" dirty="0">
                <a:solidFill>
                  <a:srgbClr val="000000"/>
                </a:solidFill>
              </a:rPr>
              <a:t>E</a:t>
            </a:r>
            <a:r>
              <a:rPr lang="en-US" altLang="ko-KR" sz="4500" dirty="0">
                <a:solidFill>
                  <a:srgbClr val="000000"/>
                </a:solidFill>
                <a:effectLst/>
              </a:rPr>
              <a:t>rror in the data collection process</a:t>
            </a:r>
          </a:p>
          <a:p>
            <a:pPr marL="1600200" lvl="2" indent="-685800">
              <a:buFont typeface="Arial" panose="020B0604020202020204" pitchFamily="34" charset="0"/>
              <a:buChar char="•"/>
            </a:pPr>
            <a:r>
              <a:rPr lang="en-US" altLang="ko-KR" sz="4500" dirty="0">
                <a:solidFill>
                  <a:srgbClr val="000000"/>
                </a:solidFill>
                <a:effectLst/>
              </a:rPr>
              <a:t>Privacy/refusal to give information</a:t>
            </a:r>
          </a:p>
          <a:p>
            <a:pPr marL="1600200" lvl="2" indent="-685800">
              <a:buFont typeface="Arial" panose="020B0604020202020204" pitchFamily="34" charset="0"/>
              <a:buChar char="•"/>
            </a:pPr>
            <a:r>
              <a:rPr lang="en-US" altLang="ko-KR" sz="4500" dirty="0">
                <a:solidFill>
                  <a:srgbClr val="000000"/>
                </a:solidFill>
                <a:effectLst/>
              </a:rPr>
              <a:t>Interruptions/failure in sensors</a:t>
            </a:r>
          </a:p>
          <a:p>
            <a:endParaRPr lang="en-US" altLang="ko-KR" sz="4500" dirty="0">
              <a:solidFill>
                <a:srgbClr val="000000"/>
              </a:solidFill>
              <a:effectLst/>
            </a:endParaRPr>
          </a:p>
          <a:p>
            <a:r>
              <a:rPr lang="en-US" altLang="ko-KR" sz="4500" dirty="0">
                <a:solidFill>
                  <a:srgbClr val="000000"/>
                </a:solidFill>
                <a:effectLst/>
              </a:rPr>
              <a:t>Rows with missing values might be dropped from the dataset. However, this might not be the best approach in all cases.</a:t>
            </a:r>
          </a:p>
        </p:txBody>
      </p:sp>
    </p:spTree>
    <p:extLst>
      <p:ext uri="{BB962C8B-B14F-4D97-AF65-F5344CB8AC3E}">
        <p14:creationId xmlns:p14="http://schemas.microsoft.com/office/powerpoint/2010/main" val="39704419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E9D0D-4657-188E-C6DD-AC4C7311FBC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0A9D273-7FF1-C741-FA30-F4F0343393DC}"/>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E7AA4122-EAF0-B02E-99C0-44BD423AD8DC}"/>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7A084718-A585-B1CB-406D-EAE8818142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47CE9C3C-1DDE-CE31-4B1E-0683D7F80103}"/>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A0C2CB81-DDFF-6D37-6E11-892B8A0E424E}"/>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01259B2A-7F96-C637-7367-124A917A8525}"/>
              </a:ext>
            </a:extLst>
          </p:cNvPr>
          <p:cNvSpPr txBox="1"/>
          <p:nvPr/>
        </p:nvSpPr>
        <p:spPr>
          <a:xfrm>
            <a:off x="884858" y="2691992"/>
            <a:ext cx="16107038" cy="5632311"/>
          </a:xfrm>
          <a:prstGeom prst="rect">
            <a:avLst/>
          </a:prstGeom>
          <a:noFill/>
        </p:spPr>
        <p:txBody>
          <a:bodyPr wrap="square" rtlCol="0">
            <a:spAutoFit/>
          </a:bodyPr>
          <a:lstStyle/>
          <a:p>
            <a:pPr>
              <a:buNone/>
            </a:pPr>
            <a:r>
              <a:rPr lang="en-US" altLang="ko-KR" sz="4500" b="1" dirty="0">
                <a:solidFill>
                  <a:srgbClr val="000000"/>
                </a:solidFill>
              </a:rPr>
              <a:t>Imputation</a:t>
            </a:r>
          </a:p>
          <a:p>
            <a:r>
              <a:rPr lang="en-US" altLang="ko-KR" sz="4500" dirty="0">
                <a:solidFill>
                  <a:srgbClr val="000000"/>
                </a:solidFill>
                <a:effectLst/>
              </a:rPr>
              <a:t>Use a threshold value to decide whether to drop or not.</a:t>
            </a:r>
          </a:p>
          <a:p>
            <a:endParaRPr lang="en-US" altLang="ko-KR" sz="4500" dirty="0">
              <a:solidFill>
                <a:srgbClr val="000000"/>
              </a:solidFill>
              <a:effectLst/>
            </a:endParaRPr>
          </a:p>
          <a:p>
            <a:r>
              <a:rPr lang="en-US" altLang="ko-KR" sz="4500" dirty="0">
                <a:solidFill>
                  <a:srgbClr val="000000"/>
                </a:solidFill>
                <a:effectLst/>
              </a:rPr>
              <a:t>Drop columns with missing value less than the threshold t:</a:t>
            </a:r>
          </a:p>
          <a:p>
            <a:r>
              <a:rPr lang="en-US" altLang="ko-KR" sz="4500" dirty="0">
                <a:solidFill>
                  <a:srgbClr val="000000"/>
                </a:solidFill>
                <a:effectLst/>
              </a:rPr>
              <a:t>		</a:t>
            </a:r>
            <a:r>
              <a:rPr lang="en-US" altLang="ko-KR" sz="4500" b="1" dirty="0" err="1">
                <a:solidFill>
                  <a:srgbClr val="000000"/>
                </a:solidFill>
                <a:effectLst/>
              </a:rPr>
              <a:t>df</a:t>
            </a:r>
            <a:r>
              <a:rPr lang="en-US" altLang="ko-KR" sz="4500" b="1" dirty="0">
                <a:solidFill>
                  <a:srgbClr val="000000"/>
                </a:solidFill>
                <a:effectLst/>
              </a:rPr>
              <a:t> = </a:t>
            </a:r>
            <a:r>
              <a:rPr lang="en-US" altLang="ko-KR" sz="4500" b="1" dirty="0" err="1">
                <a:solidFill>
                  <a:srgbClr val="000000"/>
                </a:solidFill>
                <a:effectLst/>
              </a:rPr>
              <a:t>df</a:t>
            </a:r>
            <a:r>
              <a:rPr lang="en-US" altLang="ko-KR" sz="4500" b="1" dirty="0">
                <a:solidFill>
                  <a:srgbClr val="000000"/>
                </a:solidFill>
                <a:effectLst/>
              </a:rPr>
              <a:t>[</a:t>
            </a:r>
            <a:r>
              <a:rPr lang="en-US" altLang="ko-KR" sz="4500" b="1" dirty="0" err="1">
                <a:solidFill>
                  <a:srgbClr val="000000"/>
                </a:solidFill>
                <a:effectLst/>
              </a:rPr>
              <a:t>df.columns</a:t>
            </a:r>
            <a:r>
              <a:rPr lang="en-US" altLang="ko-KR" sz="4500" b="1" dirty="0">
                <a:solidFill>
                  <a:srgbClr val="000000"/>
                </a:solidFill>
                <a:effectLst/>
              </a:rPr>
              <a:t>[</a:t>
            </a:r>
            <a:r>
              <a:rPr lang="en-US" altLang="ko-KR" sz="4500" b="1" dirty="0" err="1">
                <a:solidFill>
                  <a:srgbClr val="000000"/>
                </a:solidFill>
                <a:effectLst/>
              </a:rPr>
              <a:t>df.isnull</a:t>
            </a:r>
            <a:r>
              <a:rPr lang="en-US" altLang="ko-KR" sz="4500" b="1" dirty="0">
                <a:solidFill>
                  <a:srgbClr val="000000"/>
                </a:solidFill>
                <a:effectLst/>
              </a:rPr>
              <a:t>().mean() &lt; t]]</a:t>
            </a:r>
          </a:p>
          <a:p>
            <a:endParaRPr lang="en-US" altLang="ko-KR" sz="4500" dirty="0">
              <a:solidFill>
                <a:srgbClr val="000000"/>
              </a:solidFill>
              <a:effectLst/>
            </a:endParaRPr>
          </a:p>
          <a:p>
            <a:r>
              <a:rPr lang="en-US" altLang="ko-KR" sz="4500" dirty="0">
                <a:solidFill>
                  <a:srgbClr val="000000"/>
                </a:solidFill>
                <a:effectLst/>
              </a:rPr>
              <a:t>Drop rows with missing value less than the threshold t:</a:t>
            </a:r>
          </a:p>
          <a:p>
            <a:r>
              <a:rPr lang="en-US" altLang="ko-KR" sz="4500" dirty="0">
                <a:solidFill>
                  <a:srgbClr val="000000"/>
                </a:solidFill>
                <a:effectLst/>
              </a:rPr>
              <a:t>		</a:t>
            </a:r>
            <a:r>
              <a:rPr lang="en-US" altLang="ko-KR" sz="4500" b="1" dirty="0" err="1">
                <a:solidFill>
                  <a:srgbClr val="000000"/>
                </a:solidFill>
                <a:effectLst/>
              </a:rPr>
              <a:t>df</a:t>
            </a:r>
            <a:r>
              <a:rPr lang="en-US" altLang="ko-KR" sz="4500" b="1" dirty="0">
                <a:solidFill>
                  <a:srgbClr val="000000"/>
                </a:solidFill>
                <a:effectLst/>
              </a:rPr>
              <a:t> = </a:t>
            </a:r>
            <a:r>
              <a:rPr lang="en-US" altLang="ko-KR" sz="4500" b="1" dirty="0" err="1">
                <a:solidFill>
                  <a:srgbClr val="000000"/>
                </a:solidFill>
                <a:effectLst/>
              </a:rPr>
              <a:t>df.loc</a:t>
            </a:r>
            <a:r>
              <a:rPr lang="en-US" altLang="ko-KR" sz="4500" b="1" dirty="0">
                <a:solidFill>
                  <a:srgbClr val="000000"/>
                </a:solidFill>
                <a:effectLst/>
              </a:rPr>
              <a:t>[</a:t>
            </a:r>
            <a:r>
              <a:rPr lang="en-US" altLang="ko-KR" sz="4500" b="1" dirty="0" err="1">
                <a:solidFill>
                  <a:srgbClr val="000000"/>
                </a:solidFill>
                <a:effectLst/>
              </a:rPr>
              <a:t>df.isnull</a:t>
            </a:r>
            <a:r>
              <a:rPr lang="en-US" altLang="ko-KR" sz="4500" b="1" dirty="0">
                <a:solidFill>
                  <a:srgbClr val="000000"/>
                </a:solidFill>
                <a:effectLst/>
              </a:rPr>
              <a:t>().mean(axis=1) &lt; t]]</a:t>
            </a:r>
          </a:p>
        </p:txBody>
      </p:sp>
    </p:spTree>
    <p:extLst>
      <p:ext uri="{BB962C8B-B14F-4D97-AF65-F5344CB8AC3E}">
        <p14:creationId xmlns:p14="http://schemas.microsoft.com/office/powerpoint/2010/main" val="2174788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C0771-07C6-A012-1C4B-A85DEC7647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185B33-5D33-A6CB-C75B-AB8B03A33D98}"/>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105D9044-D1C7-4346-57DD-79C5697590FC}"/>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5E7A28D5-9380-D366-70F2-2FA433CC0C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0F2494D0-7F3E-C72D-B3D9-37F34F02BEA6}"/>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A7319462-7AF8-44ED-9342-37B73749C20D}"/>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930185D8-DB5A-BC23-A723-F3D36626211D}"/>
              </a:ext>
            </a:extLst>
          </p:cNvPr>
          <p:cNvSpPr txBox="1"/>
          <p:nvPr/>
        </p:nvSpPr>
        <p:spPr>
          <a:xfrm>
            <a:off x="884858" y="2691992"/>
            <a:ext cx="16107038" cy="4939814"/>
          </a:xfrm>
          <a:prstGeom prst="rect">
            <a:avLst/>
          </a:prstGeom>
          <a:noFill/>
        </p:spPr>
        <p:txBody>
          <a:bodyPr wrap="square" rtlCol="0">
            <a:spAutoFit/>
          </a:bodyPr>
          <a:lstStyle/>
          <a:p>
            <a:pPr>
              <a:buNone/>
            </a:pPr>
            <a:r>
              <a:rPr lang="en-US" altLang="ko-KR" sz="4500" b="1" dirty="0">
                <a:solidFill>
                  <a:srgbClr val="000000"/>
                </a:solidFill>
              </a:rPr>
              <a:t>Imputation</a:t>
            </a:r>
          </a:p>
          <a:p>
            <a:pPr>
              <a:buNone/>
            </a:pPr>
            <a:endParaRPr lang="en-US" altLang="ko-KR" sz="4500" b="1" dirty="0">
              <a:solidFill>
                <a:srgbClr val="000000"/>
              </a:solidFill>
            </a:endParaRPr>
          </a:p>
          <a:p>
            <a:pPr marL="685800" indent="-685800">
              <a:buFont typeface="Arial" panose="020B0604020202020204" pitchFamily="34" charset="0"/>
              <a:buChar char="•"/>
            </a:pPr>
            <a:r>
              <a:rPr lang="en-US" altLang="ko-KR" sz="4500" dirty="0">
                <a:solidFill>
                  <a:srgbClr val="000000"/>
                </a:solidFill>
                <a:effectLst/>
              </a:rPr>
              <a:t>Another approach is called imputation, where missing values are estimated based on existing values.</a:t>
            </a:r>
          </a:p>
          <a:p>
            <a:pPr marL="685800" indent="-685800">
              <a:buFont typeface="Arial" panose="020B0604020202020204" pitchFamily="34" charset="0"/>
              <a:buChar char="•"/>
            </a:pPr>
            <a:endParaRPr lang="en-US" altLang="ko-KR" sz="4500" dirty="0">
              <a:solidFill>
                <a:srgbClr val="000000"/>
              </a:solidFill>
              <a:effectLst/>
            </a:endParaRPr>
          </a:p>
          <a:p>
            <a:pPr marL="685800" indent="-685800">
              <a:buFont typeface="Arial" panose="020B0604020202020204" pitchFamily="34" charset="0"/>
              <a:buChar char="•"/>
            </a:pPr>
            <a:r>
              <a:rPr lang="en-US" altLang="ko-KR" sz="4500" dirty="0">
                <a:solidFill>
                  <a:srgbClr val="000000"/>
                </a:solidFill>
                <a:effectLst/>
              </a:rPr>
              <a:t>There are two types of imputations – numerical imputation and categorical imputation</a:t>
            </a:r>
            <a:endParaRPr lang="en-US" altLang="ko-KR" sz="4500" b="1" dirty="0">
              <a:solidFill>
                <a:srgbClr val="000000"/>
              </a:solidFill>
              <a:effectLst/>
            </a:endParaRPr>
          </a:p>
        </p:txBody>
      </p:sp>
    </p:spTree>
    <p:extLst>
      <p:ext uri="{BB962C8B-B14F-4D97-AF65-F5344CB8AC3E}">
        <p14:creationId xmlns:p14="http://schemas.microsoft.com/office/powerpoint/2010/main" val="7321196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737F3-3B4A-8861-E525-F0E900F05CB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F3E3AF9-D98F-7C84-8D13-A63D7FEC36D7}"/>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76A82854-4AB1-F840-E6FD-291123D26664}"/>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45BF813C-EC24-16AC-C26A-75D23925EF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810621B1-B611-85C2-DCA2-8C11109E4F91}"/>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7FB68C93-2D7A-6B8F-F89F-FF1D33969AEC}"/>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75846225-06A1-4C19-F01B-DAF3F84032FE}"/>
              </a:ext>
            </a:extLst>
          </p:cNvPr>
          <p:cNvSpPr txBox="1"/>
          <p:nvPr/>
        </p:nvSpPr>
        <p:spPr>
          <a:xfrm>
            <a:off x="884858" y="2691992"/>
            <a:ext cx="16107038" cy="6324808"/>
          </a:xfrm>
          <a:prstGeom prst="rect">
            <a:avLst/>
          </a:prstGeom>
          <a:noFill/>
        </p:spPr>
        <p:txBody>
          <a:bodyPr wrap="square" rtlCol="0">
            <a:spAutoFit/>
          </a:bodyPr>
          <a:lstStyle/>
          <a:p>
            <a:pPr>
              <a:buNone/>
            </a:pPr>
            <a:r>
              <a:rPr lang="en-US" altLang="ko-KR" sz="4500" b="1" dirty="0">
                <a:solidFill>
                  <a:srgbClr val="000000"/>
                </a:solidFill>
              </a:rPr>
              <a:t>Imputation</a:t>
            </a:r>
          </a:p>
          <a:p>
            <a:pPr>
              <a:buNone/>
            </a:pPr>
            <a:endParaRPr lang="en-US" altLang="ko-KR" sz="4500" b="1" dirty="0">
              <a:solidFill>
                <a:srgbClr val="000000"/>
              </a:solidFill>
            </a:endParaRPr>
          </a:p>
          <a:p>
            <a:pPr marL="685800" indent="-685800">
              <a:buFont typeface="Arial" panose="020B0604020202020204" pitchFamily="34" charset="0"/>
              <a:buChar char="•"/>
            </a:pPr>
            <a:r>
              <a:rPr lang="en-US" altLang="ko-KR" sz="4500" dirty="0">
                <a:solidFill>
                  <a:srgbClr val="000000"/>
                </a:solidFill>
                <a:effectLst/>
              </a:rPr>
              <a:t>In numerical imputation, use the </a:t>
            </a:r>
            <a:r>
              <a:rPr lang="en-US" altLang="ko-KR" sz="4500" b="1" dirty="0">
                <a:solidFill>
                  <a:srgbClr val="000000"/>
                </a:solidFill>
                <a:effectLst/>
              </a:rPr>
              <a:t>median</a:t>
            </a:r>
            <a:r>
              <a:rPr lang="en-US" altLang="ko-KR" sz="4500" dirty="0">
                <a:solidFill>
                  <a:srgbClr val="000000"/>
                </a:solidFill>
                <a:effectLst/>
              </a:rPr>
              <a:t> or </a:t>
            </a:r>
            <a:r>
              <a:rPr lang="en-US" altLang="ko-KR" sz="4500" b="1" dirty="0">
                <a:solidFill>
                  <a:srgbClr val="000000"/>
                </a:solidFill>
                <a:effectLst/>
              </a:rPr>
              <a:t>average</a:t>
            </a:r>
            <a:r>
              <a:rPr lang="en-US" altLang="ko-KR" sz="4500" dirty="0">
                <a:solidFill>
                  <a:srgbClr val="000000"/>
                </a:solidFill>
                <a:effectLst/>
              </a:rPr>
              <a:t> of the other values as an estimate of the missing values.</a:t>
            </a:r>
          </a:p>
          <a:p>
            <a:pPr marL="685800" indent="-685800">
              <a:buFont typeface="Arial" panose="020B0604020202020204" pitchFamily="34" charset="0"/>
              <a:buChar char="•"/>
            </a:pPr>
            <a:r>
              <a:rPr lang="en-US" altLang="ko-KR" sz="4500" dirty="0">
                <a:solidFill>
                  <a:srgbClr val="000000"/>
                </a:solidFill>
                <a:effectLst/>
              </a:rPr>
              <a:t>For example, the age of one person is missing. Then, just use the median age of all other people in the dataset to estimate the age of that person – the missing age is likely the same as the most common age in the dataset.</a:t>
            </a:r>
          </a:p>
          <a:p>
            <a:pPr marL="685800" indent="-685800">
              <a:buFont typeface="Arial" panose="020B0604020202020204" pitchFamily="34" charset="0"/>
              <a:buChar char="•"/>
            </a:pPr>
            <a:r>
              <a:rPr lang="en-US" altLang="ko-KR" sz="4500" b="1" dirty="0">
                <a:solidFill>
                  <a:srgbClr val="000000"/>
                </a:solidFill>
                <a:effectLst/>
              </a:rPr>
              <a:t>Note: </a:t>
            </a:r>
            <a:r>
              <a:rPr lang="en-US" altLang="ko-KR" sz="4500" dirty="0">
                <a:solidFill>
                  <a:srgbClr val="000000"/>
                </a:solidFill>
                <a:effectLst/>
              </a:rPr>
              <a:t>Check the dataset whether this is a good idea or not.</a:t>
            </a:r>
            <a:endParaRPr lang="en-US" altLang="ko-KR" sz="4500" b="1" dirty="0">
              <a:solidFill>
                <a:srgbClr val="000000"/>
              </a:solidFill>
              <a:effectLst/>
            </a:endParaRPr>
          </a:p>
        </p:txBody>
      </p:sp>
    </p:spTree>
    <p:extLst>
      <p:ext uri="{BB962C8B-B14F-4D97-AF65-F5344CB8AC3E}">
        <p14:creationId xmlns:p14="http://schemas.microsoft.com/office/powerpoint/2010/main" val="23164046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156B2-2816-280A-79BE-6D9114DE64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E331B3C-EEEE-F990-A6B7-C412A7FFB6E7}"/>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FC70033C-7E51-DE27-7A33-B1DA5729D15B}"/>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16888458-57D0-3DD1-D768-0431FC20F2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BF7B27C0-F1CA-6398-7C7B-0351E12049D3}"/>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A3D57382-8C10-BCC8-7C6C-9567F0E301BE}"/>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DA944815-A304-55D4-9F3B-DA6218C06459}"/>
              </a:ext>
            </a:extLst>
          </p:cNvPr>
          <p:cNvSpPr txBox="1"/>
          <p:nvPr/>
        </p:nvSpPr>
        <p:spPr>
          <a:xfrm>
            <a:off x="884858" y="2691992"/>
            <a:ext cx="16107038" cy="6324808"/>
          </a:xfrm>
          <a:prstGeom prst="rect">
            <a:avLst/>
          </a:prstGeom>
          <a:noFill/>
        </p:spPr>
        <p:txBody>
          <a:bodyPr wrap="square" rtlCol="0">
            <a:spAutoFit/>
          </a:bodyPr>
          <a:lstStyle/>
          <a:p>
            <a:pPr>
              <a:buNone/>
            </a:pPr>
            <a:r>
              <a:rPr lang="en-US" altLang="ko-KR" sz="4500" b="1" dirty="0">
                <a:solidFill>
                  <a:srgbClr val="000000"/>
                </a:solidFill>
              </a:rPr>
              <a:t>Imputation</a:t>
            </a:r>
          </a:p>
          <a:p>
            <a:pPr marL="685800" indent="-685800">
              <a:buFont typeface="Arial" panose="020B0604020202020204" pitchFamily="34" charset="0"/>
              <a:buChar char="•"/>
            </a:pPr>
            <a:r>
              <a:rPr lang="en-US" altLang="ko-KR" sz="4500" dirty="0">
                <a:solidFill>
                  <a:srgbClr val="000000"/>
                </a:solidFill>
                <a:effectLst/>
              </a:rPr>
              <a:t>In categorical imputation, use the </a:t>
            </a:r>
            <a:r>
              <a:rPr lang="en-US" altLang="ko-KR" sz="4500" b="1" dirty="0">
                <a:solidFill>
                  <a:srgbClr val="000000"/>
                </a:solidFill>
                <a:effectLst/>
              </a:rPr>
              <a:t>mode</a:t>
            </a:r>
            <a:r>
              <a:rPr lang="en-US" altLang="ko-KR" sz="4500" dirty="0">
                <a:solidFill>
                  <a:srgbClr val="000000"/>
                </a:solidFill>
                <a:effectLst/>
              </a:rPr>
              <a:t> as the estimate for the missing values.</a:t>
            </a:r>
          </a:p>
          <a:p>
            <a:pPr marL="685800" indent="-685800">
              <a:buFont typeface="Arial" panose="020B0604020202020204" pitchFamily="34" charset="0"/>
              <a:buChar char="•"/>
            </a:pPr>
            <a:r>
              <a:rPr lang="en-US" altLang="ko-KR" sz="4500" dirty="0">
                <a:solidFill>
                  <a:srgbClr val="000000"/>
                </a:solidFill>
                <a:effectLst/>
              </a:rPr>
              <a:t>For example, a person’s smoking information is missing. However, 95% of the people in the dataset are non-smokers. Assume that the missing value is “non-smoker.”</a:t>
            </a:r>
          </a:p>
          <a:p>
            <a:pPr marL="685800" indent="-685800">
              <a:buFont typeface="Arial" panose="020B0604020202020204" pitchFamily="34" charset="0"/>
              <a:buChar char="•"/>
            </a:pPr>
            <a:r>
              <a:rPr lang="en-US" altLang="ko-KR" sz="4500" b="1" dirty="0">
                <a:solidFill>
                  <a:srgbClr val="000000"/>
                </a:solidFill>
                <a:effectLst/>
              </a:rPr>
              <a:t>Note: </a:t>
            </a:r>
            <a:r>
              <a:rPr lang="en-US" altLang="ko-KR" sz="4500" dirty="0">
                <a:solidFill>
                  <a:srgbClr val="000000"/>
                </a:solidFill>
                <a:effectLst/>
              </a:rPr>
              <a:t>This might not be the best approach if there is no dominant value in the dataset, and the values are approximately uniformly distributed.</a:t>
            </a:r>
            <a:endParaRPr lang="en-US" altLang="ko-KR" sz="4500" b="1" dirty="0">
              <a:solidFill>
                <a:srgbClr val="000000"/>
              </a:solidFill>
              <a:effectLst/>
            </a:endParaRPr>
          </a:p>
        </p:txBody>
      </p:sp>
    </p:spTree>
    <p:extLst>
      <p:ext uri="{BB962C8B-B14F-4D97-AF65-F5344CB8AC3E}">
        <p14:creationId xmlns:p14="http://schemas.microsoft.com/office/powerpoint/2010/main" val="838740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9B1AF-8783-5D0F-1196-4B0D12F6446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25971E0-CA22-919D-17BA-CD60ABA6F50C}"/>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011ECB69-EDB5-0F2C-1EC0-BEAB462809EF}"/>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26480856-85D6-6311-B02F-F06A401035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E8E0E015-C158-9F87-8650-E1678329FFB5}"/>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2E9CA11D-D5B5-B805-5751-A53AC99397CE}"/>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92701D43-8B7F-FDC4-C555-A66BCB5B70DB}"/>
              </a:ext>
            </a:extLst>
          </p:cNvPr>
          <p:cNvSpPr txBox="1"/>
          <p:nvPr/>
        </p:nvSpPr>
        <p:spPr>
          <a:xfrm>
            <a:off x="884858" y="2691992"/>
            <a:ext cx="16107038" cy="4247317"/>
          </a:xfrm>
          <a:prstGeom prst="rect">
            <a:avLst/>
          </a:prstGeom>
          <a:noFill/>
        </p:spPr>
        <p:txBody>
          <a:bodyPr wrap="square" rtlCol="0">
            <a:spAutoFit/>
          </a:bodyPr>
          <a:lstStyle/>
          <a:p>
            <a:pPr>
              <a:buNone/>
            </a:pPr>
            <a:r>
              <a:rPr lang="en-US" altLang="ko-KR" sz="4500" b="1" dirty="0">
                <a:solidFill>
                  <a:srgbClr val="000000"/>
                </a:solidFill>
              </a:rPr>
              <a:t>Binning</a:t>
            </a:r>
          </a:p>
          <a:p>
            <a:pPr>
              <a:buNone/>
            </a:pPr>
            <a:endParaRPr lang="en-US" altLang="ko-KR" sz="4500" b="1" dirty="0">
              <a:solidFill>
                <a:srgbClr val="000000"/>
              </a:solidFill>
            </a:endParaRPr>
          </a:p>
          <a:p>
            <a:pPr marL="685800" indent="-685800">
              <a:buFont typeface="Arial" panose="020B0604020202020204" pitchFamily="34" charset="0"/>
              <a:buChar char="•"/>
            </a:pPr>
            <a:r>
              <a:rPr lang="en-US" altLang="ko-KR" sz="4500" b="1" dirty="0">
                <a:solidFill>
                  <a:srgbClr val="000000"/>
                </a:solidFill>
                <a:effectLst/>
              </a:rPr>
              <a:t>Binning </a:t>
            </a:r>
            <a:r>
              <a:rPr lang="en-US" altLang="ko-KR" sz="4500" dirty="0">
                <a:solidFill>
                  <a:srgbClr val="000000"/>
                </a:solidFill>
                <a:effectLst/>
              </a:rPr>
              <a:t>refers to a technique where data is </a:t>
            </a:r>
            <a:r>
              <a:rPr lang="en-US" altLang="ko-KR" sz="4500" b="1" dirty="0">
                <a:solidFill>
                  <a:srgbClr val="000000"/>
                </a:solidFill>
                <a:effectLst/>
              </a:rPr>
              <a:t>grouped together </a:t>
            </a:r>
            <a:r>
              <a:rPr lang="en-US" altLang="ko-KR" sz="4500" dirty="0">
                <a:solidFill>
                  <a:srgbClr val="000000"/>
                </a:solidFill>
                <a:effectLst/>
              </a:rPr>
              <a:t>into a series of categories.</a:t>
            </a:r>
          </a:p>
          <a:p>
            <a:pPr marL="685800" indent="-685800">
              <a:buFont typeface="Arial" panose="020B0604020202020204" pitchFamily="34" charset="0"/>
              <a:buChar char="•"/>
            </a:pPr>
            <a:r>
              <a:rPr lang="en-US" altLang="ko-KR" sz="4500" dirty="0">
                <a:solidFill>
                  <a:srgbClr val="000000"/>
                </a:solidFill>
                <a:effectLst/>
              </a:rPr>
              <a:t>There are two types of binning – binning numerical data and binning categorical data</a:t>
            </a:r>
            <a:endParaRPr lang="en-US" altLang="ko-KR" sz="4500" b="1" dirty="0">
              <a:solidFill>
                <a:srgbClr val="000000"/>
              </a:solidFill>
              <a:effectLst/>
            </a:endParaRPr>
          </a:p>
        </p:txBody>
      </p:sp>
    </p:spTree>
    <p:extLst>
      <p:ext uri="{BB962C8B-B14F-4D97-AF65-F5344CB8AC3E}">
        <p14:creationId xmlns:p14="http://schemas.microsoft.com/office/powerpoint/2010/main" val="32226361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1A415-AE9D-DD9E-03C1-EC9E82736E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78026C8-4F97-A88C-8739-183127F60819}"/>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53CA1E5C-2D85-428D-12B3-48B7C8ECB62C}"/>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10DB5436-88A0-EA2F-C1ED-84C3B9786C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10B368AB-A1A0-FB21-CA3B-C5816712ADBA}"/>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566C87FD-1E9E-AF1A-00E6-53AA78160B7B}"/>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E9B4EBCA-F286-CE7C-3C15-B60104A15373}"/>
              </a:ext>
            </a:extLst>
          </p:cNvPr>
          <p:cNvSpPr txBox="1"/>
          <p:nvPr/>
        </p:nvSpPr>
        <p:spPr>
          <a:xfrm>
            <a:off x="884858" y="2717958"/>
            <a:ext cx="16107038" cy="784830"/>
          </a:xfrm>
          <a:prstGeom prst="rect">
            <a:avLst/>
          </a:prstGeom>
          <a:noFill/>
        </p:spPr>
        <p:txBody>
          <a:bodyPr wrap="square" rtlCol="0">
            <a:spAutoFit/>
          </a:bodyPr>
          <a:lstStyle/>
          <a:p>
            <a:pPr algn="ctr">
              <a:buNone/>
            </a:pPr>
            <a:r>
              <a:rPr lang="en-US" altLang="ko-KR" sz="4500" b="1" dirty="0">
                <a:solidFill>
                  <a:srgbClr val="000000"/>
                </a:solidFill>
              </a:rPr>
              <a:t>Binning</a:t>
            </a:r>
          </a:p>
        </p:txBody>
      </p:sp>
      <p:sp>
        <p:nvSpPr>
          <p:cNvPr id="2" name="TextBox 1">
            <a:extLst>
              <a:ext uri="{FF2B5EF4-FFF2-40B4-BE49-F238E27FC236}">
                <a16:creationId xmlns:a16="http://schemas.microsoft.com/office/drawing/2014/main" id="{E9D17D24-B5E6-1888-FCB0-8F801912E0F4}"/>
              </a:ext>
            </a:extLst>
          </p:cNvPr>
          <p:cNvSpPr txBox="1"/>
          <p:nvPr/>
        </p:nvSpPr>
        <p:spPr>
          <a:xfrm>
            <a:off x="884858" y="8440958"/>
            <a:ext cx="16107038" cy="784830"/>
          </a:xfrm>
          <a:prstGeom prst="rect">
            <a:avLst/>
          </a:prstGeom>
          <a:noFill/>
        </p:spPr>
        <p:txBody>
          <a:bodyPr wrap="square" rtlCol="0">
            <a:spAutoFit/>
          </a:bodyPr>
          <a:lstStyle/>
          <a:p>
            <a:pPr algn="ctr">
              <a:buNone/>
            </a:pPr>
            <a:r>
              <a:rPr lang="en-US" altLang="ko-KR" sz="4500">
                <a:solidFill>
                  <a:srgbClr val="000000"/>
                </a:solidFill>
              </a:rPr>
              <a:t>Numerical data are grouped in different ranges of values.</a:t>
            </a:r>
            <a:endParaRPr lang="en-US" altLang="ko-KR" sz="4500" dirty="0">
              <a:solidFill>
                <a:srgbClr val="000000"/>
              </a:solidFill>
            </a:endParaRPr>
          </a:p>
        </p:txBody>
      </p:sp>
      <p:pic>
        <p:nvPicPr>
          <p:cNvPr id="6" name="Picture 5" descr="A table with black text and black arrows&#10;&#10;AI-generated content may be incorrect.">
            <a:extLst>
              <a:ext uri="{FF2B5EF4-FFF2-40B4-BE49-F238E27FC236}">
                <a16:creationId xmlns:a16="http://schemas.microsoft.com/office/drawing/2014/main" id="{3DB5F5A9-431A-95CA-71F2-3DEF66A490A5}"/>
              </a:ext>
            </a:extLst>
          </p:cNvPr>
          <p:cNvPicPr>
            <a:picLocks noChangeAspect="1"/>
          </p:cNvPicPr>
          <p:nvPr/>
        </p:nvPicPr>
        <p:blipFill>
          <a:blip r:embed="rId5"/>
          <a:stretch>
            <a:fillRect/>
          </a:stretch>
        </p:blipFill>
        <p:spPr>
          <a:xfrm>
            <a:off x="3994964" y="3836094"/>
            <a:ext cx="9886825" cy="4445381"/>
          </a:xfrm>
          <a:prstGeom prst="rect">
            <a:avLst/>
          </a:prstGeom>
        </p:spPr>
      </p:pic>
    </p:spTree>
    <p:extLst>
      <p:ext uri="{BB962C8B-B14F-4D97-AF65-F5344CB8AC3E}">
        <p14:creationId xmlns:p14="http://schemas.microsoft.com/office/powerpoint/2010/main" val="16505125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CB5C7-6F9A-7C78-0006-649ADE0A166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CCAD82-541B-72A5-4A62-6115FA2C790D}"/>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6F286395-F955-7483-50AB-4AA2D4ED0E7A}"/>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962419B8-848C-9B0C-FBB9-452E842EE8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A2DFD151-0738-3D3A-D8E7-2EE1E9DE53DC}"/>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95A1DA44-FCAF-8DB6-8FF3-B79554B9416B}"/>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314C2E4D-D3F7-DB9F-BD1D-11314C848E31}"/>
              </a:ext>
            </a:extLst>
          </p:cNvPr>
          <p:cNvSpPr txBox="1"/>
          <p:nvPr/>
        </p:nvSpPr>
        <p:spPr>
          <a:xfrm>
            <a:off x="884858" y="2717958"/>
            <a:ext cx="16107038" cy="784830"/>
          </a:xfrm>
          <a:prstGeom prst="rect">
            <a:avLst/>
          </a:prstGeom>
          <a:noFill/>
        </p:spPr>
        <p:txBody>
          <a:bodyPr wrap="square" rtlCol="0">
            <a:spAutoFit/>
          </a:bodyPr>
          <a:lstStyle/>
          <a:p>
            <a:pPr algn="ctr">
              <a:buNone/>
            </a:pPr>
            <a:r>
              <a:rPr lang="en-US" altLang="ko-KR" sz="4500" b="1" dirty="0">
                <a:solidFill>
                  <a:srgbClr val="000000"/>
                </a:solidFill>
              </a:rPr>
              <a:t>Binning</a:t>
            </a:r>
          </a:p>
        </p:txBody>
      </p:sp>
      <p:sp>
        <p:nvSpPr>
          <p:cNvPr id="2" name="TextBox 1">
            <a:extLst>
              <a:ext uri="{FF2B5EF4-FFF2-40B4-BE49-F238E27FC236}">
                <a16:creationId xmlns:a16="http://schemas.microsoft.com/office/drawing/2014/main" id="{AB792DEC-26CB-162D-B4E8-B086ADA28DE9}"/>
              </a:ext>
            </a:extLst>
          </p:cNvPr>
          <p:cNvSpPr txBox="1"/>
          <p:nvPr/>
        </p:nvSpPr>
        <p:spPr>
          <a:xfrm>
            <a:off x="884858" y="8440958"/>
            <a:ext cx="16107038" cy="784830"/>
          </a:xfrm>
          <a:prstGeom prst="rect">
            <a:avLst/>
          </a:prstGeom>
          <a:noFill/>
        </p:spPr>
        <p:txBody>
          <a:bodyPr wrap="square" rtlCol="0">
            <a:spAutoFit/>
          </a:bodyPr>
          <a:lstStyle/>
          <a:p>
            <a:pPr algn="ctr">
              <a:buNone/>
            </a:pPr>
            <a:r>
              <a:rPr lang="en-US" altLang="ko-KR" sz="4500" dirty="0">
                <a:solidFill>
                  <a:srgbClr val="000000"/>
                </a:solidFill>
              </a:rPr>
              <a:t>Categorical data are grouped by related values.</a:t>
            </a:r>
          </a:p>
        </p:txBody>
      </p:sp>
      <p:pic>
        <p:nvPicPr>
          <p:cNvPr id="7" name="Picture 6" descr="A black and white chart with black text&#10;&#10;AI-generated content may be incorrect.">
            <a:extLst>
              <a:ext uri="{FF2B5EF4-FFF2-40B4-BE49-F238E27FC236}">
                <a16:creationId xmlns:a16="http://schemas.microsoft.com/office/drawing/2014/main" id="{1D6DED6B-B9B5-1BFF-46BF-CDD25E4F3A85}"/>
              </a:ext>
            </a:extLst>
          </p:cNvPr>
          <p:cNvPicPr>
            <a:picLocks noChangeAspect="1"/>
          </p:cNvPicPr>
          <p:nvPr/>
        </p:nvPicPr>
        <p:blipFill>
          <a:blip r:embed="rId5"/>
          <a:stretch>
            <a:fillRect/>
          </a:stretch>
        </p:blipFill>
        <p:spPr>
          <a:xfrm>
            <a:off x="5727700" y="3416996"/>
            <a:ext cx="6832600" cy="5103620"/>
          </a:xfrm>
          <a:prstGeom prst="rect">
            <a:avLst/>
          </a:prstGeom>
        </p:spPr>
      </p:pic>
    </p:spTree>
    <p:extLst>
      <p:ext uri="{BB962C8B-B14F-4D97-AF65-F5344CB8AC3E}">
        <p14:creationId xmlns:p14="http://schemas.microsoft.com/office/powerpoint/2010/main" val="36578094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ED10C-9384-17BD-0D6C-D4C6BAB5AB5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1E67B4-91C5-9A81-C778-EC35103A364D}"/>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60531F73-AA0B-7BA4-AF56-79B14F97E99D}"/>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00DA27A7-EB91-35E7-E745-4BF6E96987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D9EAE290-7F35-AA57-3E60-1757A43CA4A4}"/>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DA04FCCD-621B-A111-C412-0CAB700AAC48}"/>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392C51CB-3429-B3E5-71FF-90CC857ADC86}"/>
              </a:ext>
            </a:extLst>
          </p:cNvPr>
          <p:cNvSpPr txBox="1"/>
          <p:nvPr/>
        </p:nvSpPr>
        <p:spPr>
          <a:xfrm>
            <a:off x="884858" y="2691992"/>
            <a:ext cx="16107038" cy="6324808"/>
          </a:xfrm>
          <a:prstGeom prst="rect">
            <a:avLst/>
          </a:prstGeom>
          <a:noFill/>
        </p:spPr>
        <p:txBody>
          <a:bodyPr wrap="square" rtlCol="0">
            <a:spAutoFit/>
          </a:bodyPr>
          <a:lstStyle/>
          <a:p>
            <a:pPr>
              <a:buNone/>
            </a:pPr>
            <a:r>
              <a:rPr lang="en-US" altLang="ko-KR" sz="4500" b="1" dirty="0">
                <a:solidFill>
                  <a:srgbClr val="000000"/>
                </a:solidFill>
              </a:rPr>
              <a:t>Binning</a:t>
            </a:r>
          </a:p>
          <a:p>
            <a:pPr>
              <a:buNone/>
            </a:pPr>
            <a:endParaRPr lang="en-US" altLang="ko-KR" sz="4500" b="1" dirty="0">
              <a:solidFill>
                <a:srgbClr val="000000"/>
              </a:solidFill>
            </a:endParaRPr>
          </a:p>
          <a:p>
            <a:pPr marL="685800" indent="-685800">
              <a:buFont typeface="Arial" panose="020B0604020202020204" pitchFamily="34" charset="0"/>
              <a:buChar char="•"/>
            </a:pPr>
            <a:r>
              <a:rPr lang="en-US" altLang="ko-KR" sz="4500" dirty="0">
                <a:solidFill>
                  <a:srgbClr val="000000"/>
                </a:solidFill>
                <a:effectLst/>
              </a:rPr>
              <a:t>Binning is useful in cases wherein the dataset is too specific for the research questions.</a:t>
            </a:r>
          </a:p>
          <a:p>
            <a:pPr marL="685800" indent="-685800">
              <a:buFont typeface="Arial" panose="020B0604020202020204" pitchFamily="34" charset="0"/>
              <a:buChar char="•"/>
            </a:pPr>
            <a:r>
              <a:rPr lang="en-US" altLang="ko-KR" sz="4500" dirty="0">
                <a:solidFill>
                  <a:srgbClr val="000000"/>
                </a:solidFill>
                <a:effectLst/>
              </a:rPr>
              <a:t>It could reveal relationships and insights in a clearer way that could not easily be seen if the original values were used.</a:t>
            </a:r>
          </a:p>
          <a:p>
            <a:pPr marL="685800" indent="-685800">
              <a:buFont typeface="Arial" panose="020B0604020202020204" pitchFamily="34" charset="0"/>
              <a:buChar char="•"/>
            </a:pPr>
            <a:r>
              <a:rPr lang="en-US" altLang="ko-KR" sz="4500" dirty="0">
                <a:solidFill>
                  <a:srgbClr val="000000"/>
                </a:solidFill>
                <a:effectLst/>
              </a:rPr>
              <a:t>In machine learning, binning helps prevent overfitting, where models are tailor-fitted to specific examples instead of being able to recognize general cases.</a:t>
            </a:r>
          </a:p>
        </p:txBody>
      </p:sp>
    </p:spTree>
    <p:extLst>
      <p:ext uri="{BB962C8B-B14F-4D97-AF65-F5344CB8AC3E}">
        <p14:creationId xmlns:p14="http://schemas.microsoft.com/office/powerpoint/2010/main" val="12277039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FF06A-29A2-FC06-299F-0AB58C0D26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98A731C-1748-A440-3CE0-A767F9E3A0BC}"/>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B6A6ECE4-29FD-2B54-BA99-6AC96CF13A10}"/>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6D67B3B5-E13B-8FA6-62EB-3383CB66E1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467B47BC-1081-9243-FFB4-CBC6D2FD5045}"/>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050FEF9D-2C02-84BE-98C2-FE6D3FA583EE}"/>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73109898-17B6-AADB-8422-DE0A0D6E6F72}"/>
              </a:ext>
            </a:extLst>
          </p:cNvPr>
          <p:cNvSpPr txBox="1"/>
          <p:nvPr/>
        </p:nvSpPr>
        <p:spPr>
          <a:xfrm>
            <a:off x="884858" y="2691992"/>
            <a:ext cx="16107038" cy="4939814"/>
          </a:xfrm>
          <a:prstGeom prst="rect">
            <a:avLst/>
          </a:prstGeom>
          <a:noFill/>
        </p:spPr>
        <p:txBody>
          <a:bodyPr wrap="square" rtlCol="0">
            <a:spAutoFit/>
          </a:bodyPr>
          <a:lstStyle/>
          <a:p>
            <a:pPr>
              <a:buNone/>
            </a:pPr>
            <a:r>
              <a:rPr lang="en-US" altLang="ko-KR" sz="4500" b="1" dirty="0">
                <a:solidFill>
                  <a:srgbClr val="000000"/>
                </a:solidFill>
              </a:rPr>
              <a:t>Outlier Detection</a:t>
            </a:r>
          </a:p>
          <a:p>
            <a:pPr>
              <a:buNone/>
            </a:pPr>
            <a:endParaRPr lang="en-US" altLang="ko-KR" sz="4500" b="1" dirty="0">
              <a:solidFill>
                <a:srgbClr val="000000"/>
              </a:solidFill>
            </a:endParaRPr>
          </a:p>
          <a:p>
            <a:r>
              <a:rPr lang="en-US" altLang="ko-KR" sz="4500" dirty="0">
                <a:solidFill>
                  <a:srgbClr val="000000"/>
                </a:solidFill>
                <a:effectLst/>
              </a:rPr>
              <a:t>Outliers are extreme values in the dataset. These might be detection using different approaches:</a:t>
            </a:r>
          </a:p>
          <a:p>
            <a:pPr marL="2057400" lvl="3" indent="-685800">
              <a:buFont typeface="Arial" panose="020B0604020202020204" pitchFamily="34" charset="0"/>
              <a:buChar char="•"/>
            </a:pPr>
            <a:r>
              <a:rPr lang="en-US" altLang="ko-KR" sz="4500" dirty="0">
                <a:solidFill>
                  <a:srgbClr val="000000"/>
                </a:solidFill>
                <a:effectLst/>
              </a:rPr>
              <a:t>Visualization techniques</a:t>
            </a:r>
          </a:p>
          <a:p>
            <a:pPr marL="2057400" lvl="3" indent="-685800">
              <a:buFont typeface="Arial" panose="020B0604020202020204" pitchFamily="34" charset="0"/>
              <a:buChar char="•"/>
            </a:pPr>
            <a:r>
              <a:rPr lang="en-US" altLang="ko-KR" sz="4500" dirty="0">
                <a:solidFill>
                  <a:srgbClr val="000000"/>
                </a:solidFill>
                <a:effectLst/>
              </a:rPr>
              <a:t>Standard deviation/Z-score</a:t>
            </a:r>
          </a:p>
          <a:p>
            <a:pPr marL="2057400" lvl="3" indent="-685800">
              <a:buFont typeface="Arial" panose="020B0604020202020204" pitchFamily="34" charset="0"/>
              <a:buChar char="•"/>
            </a:pPr>
            <a:r>
              <a:rPr lang="en-US" altLang="ko-KR" sz="4500" dirty="0">
                <a:solidFill>
                  <a:srgbClr val="000000"/>
                </a:solidFill>
                <a:effectLst/>
              </a:rPr>
              <a:t>Percentiles</a:t>
            </a:r>
          </a:p>
        </p:txBody>
      </p:sp>
    </p:spTree>
    <p:extLst>
      <p:ext uri="{BB962C8B-B14F-4D97-AF65-F5344CB8AC3E}">
        <p14:creationId xmlns:p14="http://schemas.microsoft.com/office/powerpoint/2010/main" val="41208399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CB5F4-0FDF-B8CF-39B9-65A37650478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C1321C3-21E4-B2F6-8F43-9B52AC488C96}"/>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F3C9E824-A834-E73D-12EE-92DA35E01428}"/>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AFFF9B5F-0984-49A1-4D70-C482E04FB4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E2EC16-0950-1ADE-9D4F-9FF0095488C3}"/>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ED26FA7F-3937-68C3-6C95-EFCC690F0DDA}"/>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A8A846C1-B4F1-A1F5-E7F5-A6D7DBB9A066}"/>
              </a:ext>
            </a:extLst>
          </p:cNvPr>
          <p:cNvSpPr txBox="1"/>
          <p:nvPr/>
        </p:nvSpPr>
        <p:spPr>
          <a:xfrm>
            <a:off x="884858" y="2717958"/>
            <a:ext cx="16107038" cy="1477328"/>
          </a:xfrm>
          <a:prstGeom prst="rect">
            <a:avLst/>
          </a:prstGeom>
          <a:noFill/>
        </p:spPr>
        <p:txBody>
          <a:bodyPr wrap="square" rtlCol="0">
            <a:spAutoFit/>
          </a:bodyPr>
          <a:lstStyle/>
          <a:p>
            <a:pPr algn="ctr">
              <a:buNone/>
            </a:pPr>
            <a:r>
              <a:rPr lang="en-US" altLang="ko-KR" sz="4500" b="1" dirty="0">
                <a:solidFill>
                  <a:srgbClr val="000000"/>
                </a:solidFill>
              </a:rPr>
              <a:t>Outlier Detection</a:t>
            </a:r>
          </a:p>
          <a:p>
            <a:pPr algn="ctr">
              <a:buNone/>
            </a:pPr>
            <a:r>
              <a:rPr lang="en-US" altLang="ko-KR" sz="4500" dirty="0">
                <a:solidFill>
                  <a:srgbClr val="000000"/>
                </a:solidFill>
              </a:rPr>
              <a:t>Detect outliers by plotting data points in a graph</a:t>
            </a:r>
          </a:p>
        </p:txBody>
      </p:sp>
      <p:pic>
        <p:nvPicPr>
          <p:cNvPr id="6" name="Picture 5">
            <a:extLst>
              <a:ext uri="{FF2B5EF4-FFF2-40B4-BE49-F238E27FC236}">
                <a16:creationId xmlns:a16="http://schemas.microsoft.com/office/drawing/2014/main" id="{64773C0F-337B-C55D-5478-1916689FF87E}"/>
              </a:ext>
            </a:extLst>
          </p:cNvPr>
          <p:cNvPicPr>
            <a:picLocks noChangeAspect="1"/>
          </p:cNvPicPr>
          <p:nvPr/>
        </p:nvPicPr>
        <p:blipFill>
          <a:blip r:embed="rId5"/>
          <a:stretch>
            <a:fillRect/>
          </a:stretch>
        </p:blipFill>
        <p:spPr>
          <a:xfrm>
            <a:off x="3992450" y="4468837"/>
            <a:ext cx="10303099" cy="5151549"/>
          </a:xfrm>
          <a:prstGeom prst="rect">
            <a:avLst/>
          </a:prstGeom>
        </p:spPr>
      </p:pic>
    </p:spTree>
    <p:extLst>
      <p:ext uri="{BB962C8B-B14F-4D97-AF65-F5344CB8AC3E}">
        <p14:creationId xmlns:p14="http://schemas.microsoft.com/office/powerpoint/2010/main" val="443157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56A0A-F445-B92F-C3CD-0D1AB9D7280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09D793F-6F1B-592A-D43E-4945BEF98C4E}"/>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0A24DFB8-75C6-B9C4-9C3A-8808A7688C37}"/>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5124B2E5-C10D-32F9-10E0-5F78D4B705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41FFC8DB-4B19-6A0E-A8FE-E97AF530F416}"/>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C53DA788-F1AF-6A1E-FA64-41EB5E0800D4}"/>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D7FCF991-3258-3A2F-605C-F58BAD279FA2}"/>
              </a:ext>
            </a:extLst>
          </p:cNvPr>
          <p:cNvSpPr txBox="1"/>
          <p:nvPr/>
        </p:nvSpPr>
        <p:spPr>
          <a:xfrm>
            <a:off x="884858" y="3352392"/>
            <a:ext cx="16107038" cy="4939814"/>
          </a:xfrm>
          <a:prstGeom prst="rect">
            <a:avLst/>
          </a:prstGeom>
          <a:noFill/>
        </p:spPr>
        <p:txBody>
          <a:bodyPr wrap="square" rtlCol="0">
            <a:spAutoFit/>
          </a:bodyPr>
          <a:lstStyle/>
          <a:p>
            <a:r>
              <a:rPr lang="en-US" altLang="ko-KR" sz="4500" b="1" dirty="0">
                <a:solidFill>
                  <a:srgbClr val="000000"/>
                </a:solidFill>
              </a:rPr>
              <a:t>Outlier Detection</a:t>
            </a:r>
          </a:p>
          <a:p>
            <a:pPr marL="685800" indent="-685800">
              <a:buFont typeface="Arial" panose="020B0604020202020204" pitchFamily="34" charset="0"/>
              <a:buChar char="•"/>
            </a:pPr>
            <a:endParaRPr lang="en-US" altLang="ko-KR" sz="4500" b="1" dirty="0">
              <a:solidFill>
                <a:srgbClr val="000000"/>
              </a:solidFill>
            </a:endParaRPr>
          </a:p>
          <a:p>
            <a:pPr marL="685800" indent="-685800">
              <a:buFont typeface="Arial" panose="020B0604020202020204" pitchFamily="34" charset="0"/>
              <a:buChar char="•"/>
            </a:pPr>
            <a:r>
              <a:rPr lang="en-US" altLang="ko-KR" sz="4500" dirty="0">
                <a:solidFill>
                  <a:srgbClr val="000000"/>
                </a:solidFill>
                <a:effectLst/>
              </a:rPr>
              <a:t>Use a more quantitative approach by measuring the z-score, or the number of standard deviations from the mean of each data point.</a:t>
            </a:r>
          </a:p>
          <a:p>
            <a:pPr marL="685800" indent="-685800">
              <a:buFont typeface="Arial" panose="020B0604020202020204" pitchFamily="34" charset="0"/>
              <a:buChar char="•"/>
            </a:pPr>
            <a:r>
              <a:rPr lang="en-US" altLang="ko-KR" sz="4500" dirty="0">
                <a:solidFill>
                  <a:srgbClr val="000000"/>
                </a:solidFill>
                <a:effectLst/>
              </a:rPr>
              <a:t>If our data is nearly normal, then anything outside 3 standard deviations from the mean is an outlier.</a:t>
            </a:r>
          </a:p>
        </p:txBody>
      </p:sp>
    </p:spTree>
    <p:extLst>
      <p:ext uri="{BB962C8B-B14F-4D97-AF65-F5344CB8AC3E}">
        <p14:creationId xmlns:p14="http://schemas.microsoft.com/office/powerpoint/2010/main" val="18006075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AA99B-DC6D-15C6-2A99-687026DA93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7F057EF-F323-B579-C63C-33DE65900521}"/>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6DF4A60D-9414-C397-C269-9DBF7FD3EFE4}"/>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3C9B16B0-CE9F-0DBA-485C-E1E939C71F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1791B206-36A6-4432-6253-7175165436B9}"/>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D09A042F-982D-E7DA-2CDF-83E184D6D2D2}"/>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59BFE3AD-28E0-503D-B673-D5C02FD2806A}"/>
              </a:ext>
            </a:extLst>
          </p:cNvPr>
          <p:cNvSpPr txBox="1"/>
          <p:nvPr/>
        </p:nvSpPr>
        <p:spPr>
          <a:xfrm>
            <a:off x="884858" y="2174100"/>
            <a:ext cx="16107038" cy="1477328"/>
          </a:xfrm>
          <a:prstGeom prst="rect">
            <a:avLst/>
          </a:prstGeom>
          <a:noFill/>
        </p:spPr>
        <p:txBody>
          <a:bodyPr wrap="square" rtlCol="0">
            <a:spAutoFit/>
          </a:bodyPr>
          <a:lstStyle/>
          <a:p>
            <a:pPr algn="ctr">
              <a:buNone/>
            </a:pPr>
            <a:r>
              <a:rPr lang="en-US" altLang="ko-KR" sz="4500" b="1" dirty="0">
                <a:solidFill>
                  <a:srgbClr val="000000"/>
                </a:solidFill>
              </a:rPr>
              <a:t>Outlier Detection</a:t>
            </a:r>
          </a:p>
          <a:p>
            <a:pPr algn="ctr">
              <a:buNone/>
            </a:pPr>
            <a:r>
              <a:rPr lang="en-US" altLang="ko-KR" sz="4500" dirty="0">
                <a:solidFill>
                  <a:srgbClr val="000000"/>
                </a:solidFill>
              </a:rPr>
              <a:t>Detect outliers by plotting data points in a graph</a:t>
            </a:r>
          </a:p>
        </p:txBody>
      </p:sp>
      <p:pic>
        <p:nvPicPr>
          <p:cNvPr id="5" name="Picture 4">
            <a:extLst>
              <a:ext uri="{FF2B5EF4-FFF2-40B4-BE49-F238E27FC236}">
                <a16:creationId xmlns:a16="http://schemas.microsoft.com/office/drawing/2014/main" id="{44D01178-C3C3-2DAA-8147-E8032C6A13A9}"/>
              </a:ext>
            </a:extLst>
          </p:cNvPr>
          <p:cNvPicPr>
            <a:picLocks noChangeAspect="1"/>
          </p:cNvPicPr>
          <p:nvPr/>
        </p:nvPicPr>
        <p:blipFill>
          <a:blip r:embed="rId5"/>
          <a:stretch>
            <a:fillRect/>
          </a:stretch>
        </p:blipFill>
        <p:spPr>
          <a:xfrm>
            <a:off x="3992889" y="3757006"/>
            <a:ext cx="9890975" cy="5145110"/>
          </a:xfrm>
          <a:prstGeom prst="rect">
            <a:avLst/>
          </a:prstGeom>
        </p:spPr>
      </p:pic>
      <p:sp>
        <p:nvSpPr>
          <p:cNvPr id="7" name="TextBox 6">
            <a:extLst>
              <a:ext uri="{FF2B5EF4-FFF2-40B4-BE49-F238E27FC236}">
                <a16:creationId xmlns:a16="http://schemas.microsoft.com/office/drawing/2014/main" id="{AEFB0DFA-1C0D-63DA-01D9-CAD0411FB721}"/>
              </a:ext>
            </a:extLst>
          </p:cNvPr>
          <p:cNvSpPr txBox="1"/>
          <p:nvPr/>
        </p:nvSpPr>
        <p:spPr>
          <a:xfrm>
            <a:off x="884858" y="8887879"/>
            <a:ext cx="16107038" cy="1477328"/>
          </a:xfrm>
          <a:prstGeom prst="rect">
            <a:avLst/>
          </a:prstGeom>
          <a:noFill/>
        </p:spPr>
        <p:txBody>
          <a:bodyPr wrap="square" rtlCol="0">
            <a:spAutoFit/>
          </a:bodyPr>
          <a:lstStyle/>
          <a:p>
            <a:pPr algn="ctr">
              <a:buNone/>
            </a:pPr>
            <a:r>
              <a:rPr lang="en-US" altLang="ko-KR" sz="4500" dirty="0">
                <a:solidFill>
                  <a:srgbClr val="000000"/>
                </a:solidFill>
              </a:rPr>
              <a:t>Get the middle </a:t>
            </a:r>
            <a:r>
              <a:rPr lang="ko-KR" altLang="en-US" sz="4500" dirty="0">
                <a:solidFill>
                  <a:srgbClr val="000000"/>
                </a:solidFill>
              </a:rPr>
              <a:t>𝑥 </a:t>
            </a:r>
            <a:r>
              <a:rPr lang="en-US" altLang="ko-KR" sz="4500" dirty="0">
                <a:solidFill>
                  <a:srgbClr val="000000"/>
                </a:solidFill>
              </a:rPr>
              <a:t>percent of the data. Anything outside the</a:t>
            </a:r>
          </a:p>
          <a:p>
            <a:pPr algn="ctr">
              <a:buNone/>
            </a:pPr>
            <a:r>
              <a:rPr lang="en-US" altLang="ko-KR" sz="4500" dirty="0">
                <a:solidFill>
                  <a:srgbClr val="000000"/>
                </a:solidFill>
              </a:rPr>
              <a:t>middle </a:t>
            </a:r>
            <a:r>
              <a:rPr lang="ko-KR" altLang="en-US" sz="4500" dirty="0">
                <a:solidFill>
                  <a:srgbClr val="000000"/>
                </a:solidFill>
              </a:rPr>
              <a:t>𝑥 </a:t>
            </a:r>
            <a:r>
              <a:rPr lang="en-US" altLang="ko-KR" sz="4500" dirty="0">
                <a:solidFill>
                  <a:srgbClr val="000000"/>
                </a:solidFill>
              </a:rPr>
              <a:t>percent is an outlier.</a:t>
            </a:r>
          </a:p>
        </p:txBody>
      </p:sp>
    </p:spTree>
    <p:extLst>
      <p:ext uri="{BB962C8B-B14F-4D97-AF65-F5344CB8AC3E}">
        <p14:creationId xmlns:p14="http://schemas.microsoft.com/office/powerpoint/2010/main" val="24897159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A7C14-7420-0AFE-387D-9726DDF5BD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9F54BC-92C5-6982-133C-54E5FC984290}"/>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C7C179A8-AB42-08D1-1315-280492B195D0}"/>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137277D0-E53E-CFFA-676D-927B2E7A06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346E179F-E62B-731A-EF32-6487D40BD744}"/>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89EF8CDA-B3A4-951B-E8EB-986C03B4B398}"/>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F08094FD-0748-F0AB-01EF-8C7649C1EAB7}"/>
              </a:ext>
            </a:extLst>
          </p:cNvPr>
          <p:cNvSpPr txBox="1"/>
          <p:nvPr/>
        </p:nvSpPr>
        <p:spPr>
          <a:xfrm>
            <a:off x="884858" y="3352392"/>
            <a:ext cx="16107038" cy="6324808"/>
          </a:xfrm>
          <a:prstGeom prst="rect">
            <a:avLst/>
          </a:prstGeom>
          <a:noFill/>
        </p:spPr>
        <p:txBody>
          <a:bodyPr wrap="square" rtlCol="0">
            <a:spAutoFit/>
          </a:bodyPr>
          <a:lstStyle/>
          <a:p>
            <a:r>
              <a:rPr lang="en-US" altLang="ko-KR" sz="4500" b="1" dirty="0">
                <a:solidFill>
                  <a:srgbClr val="000000"/>
                </a:solidFill>
              </a:rPr>
              <a:t>Outlier Detection</a:t>
            </a:r>
          </a:p>
          <a:p>
            <a:pPr marL="685800" indent="-685800">
              <a:buFont typeface="Arial" panose="020B0604020202020204" pitchFamily="34" charset="0"/>
              <a:buChar char="•"/>
            </a:pPr>
            <a:endParaRPr lang="en-US" altLang="ko-KR" sz="4500" b="1" dirty="0">
              <a:solidFill>
                <a:srgbClr val="000000"/>
              </a:solidFill>
            </a:endParaRPr>
          </a:p>
          <a:p>
            <a:pPr marL="685800" indent="-685800">
              <a:buFont typeface="Arial" panose="020B0604020202020204" pitchFamily="34" charset="0"/>
              <a:buChar char="•"/>
            </a:pPr>
            <a:r>
              <a:rPr lang="en-US" altLang="ko-KR" sz="4500" b="1" dirty="0">
                <a:solidFill>
                  <a:srgbClr val="000000"/>
                </a:solidFill>
                <a:effectLst/>
              </a:rPr>
              <a:t>Drop </a:t>
            </a:r>
            <a:r>
              <a:rPr lang="en-US" altLang="ko-KR" sz="4500" dirty="0">
                <a:solidFill>
                  <a:srgbClr val="000000"/>
                </a:solidFill>
                <a:effectLst/>
              </a:rPr>
              <a:t>– Remove the rows with outliers to exclude them from analysis since these might be extreme cases that do not happen normally.</a:t>
            </a:r>
          </a:p>
          <a:p>
            <a:pPr marL="685800" indent="-685800">
              <a:buFont typeface="Arial" panose="020B0604020202020204" pitchFamily="34" charset="0"/>
              <a:buChar char="•"/>
            </a:pPr>
            <a:r>
              <a:rPr lang="en-US" altLang="ko-KR" sz="4500" b="1" dirty="0">
                <a:solidFill>
                  <a:srgbClr val="000000"/>
                </a:solidFill>
                <a:effectLst/>
              </a:rPr>
              <a:t>Use a cap </a:t>
            </a:r>
            <a:r>
              <a:rPr lang="en-US" altLang="ko-KR" sz="4500" dirty="0">
                <a:solidFill>
                  <a:srgbClr val="000000"/>
                </a:solidFill>
                <a:effectLst/>
              </a:rPr>
              <a:t>– Instead of reducing data size, simply clamp the values within the desired range. This can help prevent adverse effects on algorithms and models that are sensitive to outliers but may affect the actual distribution of the data.</a:t>
            </a:r>
          </a:p>
        </p:txBody>
      </p:sp>
    </p:spTree>
    <p:extLst>
      <p:ext uri="{BB962C8B-B14F-4D97-AF65-F5344CB8AC3E}">
        <p14:creationId xmlns:p14="http://schemas.microsoft.com/office/powerpoint/2010/main" val="27565597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9461F-EB35-75F3-5844-6A501072925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64991D7-95F0-7C31-F8F5-E049DFC29E36}"/>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68BE168D-6C42-9B9F-4DB0-D2A8FC81AB05}"/>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FC733675-1E93-F7B0-F4CA-8584E71EEA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39F50C3A-D53E-1496-170F-E70867955D75}"/>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CB6CD849-CA18-BD04-0C11-D3444E4020F8}"/>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496D14A2-7461-A012-4B70-DB07891779E9}"/>
              </a:ext>
            </a:extLst>
          </p:cNvPr>
          <p:cNvSpPr txBox="1"/>
          <p:nvPr/>
        </p:nvSpPr>
        <p:spPr>
          <a:xfrm>
            <a:off x="884858" y="3352392"/>
            <a:ext cx="16107038" cy="4939814"/>
          </a:xfrm>
          <a:prstGeom prst="rect">
            <a:avLst/>
          </a:prstGeom>
          <a:noFill/>
        </p:spPr>
        <p:txBody>
          <a:bodyPr wrap="square" rtlCol="0">
            <a:spAutoFit/>
          </a:bodyPr>
          <a:lstStyle/>
          <a:p>
            <a:r>
              <a:rPr lang="en-US" altLang="ko-KR" sz="4500" b="1" dirty="0">
                <a:solidFill>
                  <a:srgbClr val="000000"/>
                </a:solidFill>
              </a:rPr>
              <a:t>Outlier Detection</a:t>
            </a:r>
          </a:p>
          <a:p>
            <a:pPr lvl="1"/>
            <a:r>
              <a:rPr lang="en-US" altLang="ko-KR" sz="4500" b="1" dirty="0">
                <a:solidFill>
                  <a:srgbClr val="000000"/>
                </a:solidFill>
                <a:effectLst/>
              </a:rPr>
              <a:t>Consideration:</a:t>
            </a:r>
          </a:p>
          <a:p>
            <a:pPr marL="2057400" lvl="3" indent="-685800">
              <a:buFont typeface="Arial" panose="020B0604020202020204" pitchFamily="34" charset="0"/>
              <a:buChar char="•"/>
            </a:pPr>
            <a:r>
              <a:rPr lang="en-US" altLang="ko-KR" sz="4500" dirty="0">
                <a:solidFill>
                  <a:srgbClr val="000000"/>
                </a:solidFill>
                <a:effectLst/>
              </a:rPr>
              <a:t>There are many causes of outliers, from errors in encoding to real rare occurrences in the dataset.</a:t>
            </a:r>
          </a:p>
          <a:p>
            <a:pPr marL="2057400" lvl="3" indent="-685800">
              <a:buFont typeface="Arial" panose="020B0604020202020204" pitchFamily="34" charset="0"/>
              <a:buChar char="•"/>
            </a:pPr>
            <a:r>
              <a:rPr lang="en-US" altLang="ko-KR" sz="4500" dirty="0">
                <a:solidFill>
                  <a:srgbClr val="000000"/>
                </a:solidFill>
                <a:effectLst/>
              </a:rPr>
              <a:t>By removing or disregarding them, some important insights might be removed from our data.</a:t>
            </a:r>
          </a:p>
          <a:p>
            <a:pPr marL="2057400" lvl="3" indent="-685800">
              <a:buFont typeface="Arial" panose="020B0604020202020204" pitchFamily="34" charset="0"/>
              <a:buChar char="•"/>
            </a:pPr>
            <a:r>
              <a:rPr lang="en-US" altLang="ko-KR" sz="4500" dirty="0">
                <a:solidFill>
                  <a:srgbClr val="000000"/>
                </a:solidFill>
                <a:effectLst/>
              </a:rPr>
              <a:t>Thus, be careful in handling outliers.</a:t>
            </a:r>
          </a:p>
        </p:txBody>
      </p:sp>
    </p:spTree>
    <p:extLst>
      <p:ext uri="{BB962C8B-B14F-4D97-AF65-F5344CB8AC3E}">
        <p14:creationId xmlns:p14="http://schemas.microsoft.com/office/powerpoint/2010/main" val="5235946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5357B-4A7E-DD31-A01E-750C0A28DF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7ADE82D-185C-EA66-C5DD-0AEA69C7385F}"/>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9F842EF7-5459-E6C0-2883-E62545A4FBDD}"/>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4749DBEB-E207-36A6-C77D-45364124D7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A8341253-E47C-9253-0F4A-AFA2B8201032}"/>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6D51A44A-9662-4B41-9914-A2766DEB8698}"/>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09B49614-38AE-275B-5EDB-6A4D93EF3C66}"/>
              </a:ext>
            </a:extLst>
          </p:cNvPr>
          <p:cNvSpPr txBox="1"/>
          <p:nvPr/>
        </p:nvSpPr>
        <p:spPr>
          <a:xfrm>
            <a:off x="884858" y="3352392"/>
            <a:ext cx="16107038" cy="5632311"/>
          </a:xfrm>
          <a:prstGeom prst="rect">
            <a:avLst/>
          </a:prstGeom>
          <a:noFill/>
        </p:spPr>
        <p:txBody>
          <a:bodyPr wrap="square" rtlCol="0">
            <a:spAutoFit/>
          </a:bodyPr>
          <a:lstStyle/>
          <a:p>
            <a:r>
              <a:rPr lang="en-US" altLang="ko-KR" sz="4500" b="1" dirty="0">
                <a:solidFill>
                  <a:srgbClr val="000000"/>
                </a:solidFill>
              </a:rPr>
              <a:t>One Hot Encoding</a:t>
            </a:r>
          </a:p>
          <a:p>
            <a:endParaRPr lang="en-US" altLang="ko-KR" sz="4500" b="1" dirty="0">
              <a:solidFill>
                <a:srgbClr val="000000"/>
              </a:solidFill>
            </a:endParaRPr>
          </a:p>
          <a:p>
            <a:pPr marL="1600200" lvl="2" indent="-685800">
              <a:buFont typeface="Arial" panose="020B0604020202020204" pitchFamily="34" charset="0"/>
              <a:buChar char="•"/>
            </a:pPr>
            <a:r>
              <a:rPr lang="en-US" altLang="ko-KR" sz="4500" dirty="0">
                <a:solidFill>
                  <a:srgbClr val="000000"/>
                </a:solidFill>
              </a:rPr>
              <a:t>Some data modelling techniques, including machine learning algorithms, require different data representation.</a:t>
            </a:r>
          </a:p>
          <a:p>
            <a:pPr marL="1600200" lvl="2" indent="-685800">
              <a:buFont typeface="Arial" panose="020B0604020202020204" pitchFamily="34" charset="0"/>
              <a:buChar char="•"/>
            </a:pPr>
            <a:r>
              <a:rPr lang="en-US" altLang="ko-KR" sz="4500" dirty="0">
                <a:solidFill>
                  <a:srgbClr val="000000"/>
                </a:solidFill>
              </a:rPr>
              <a:t>In the Boolean representation, each property is represented as a column where the value is 1 if it is true and 0 otherwise.</a:t>
            </a:r>
          </a:p>
          <a:p>
            <a:pPr marL="1600200" lvl="2" indent="-685800">
              <a:buFont typeface="Arial" panose="020B0604020202020204" pitchFamily="34" charset="0"/>
              <a:buChar char="•"/>
            </a:pPr>
            <a:r>
              <a:rPr lang="en-US" altLang="ko-KR" sz="4500" dirty="0">
                <a:solidFill>
                  <a:srgbClr val="000000"/>
                </a:solidFill>
              </a:rPr>
              <a:t>For example, in content-based recommender systems, the item profile was represented as a Boolean vector.</a:t>
            </a:r>
          </a:p>
        </p:txBody>
      </p:sp>
    </p:spTree>
    <p:extLst>
      <p:ext uri="{BB962C8B-B14F-4D97-AF65-F5344CB8AC3E}">
        <p14:creationId xmlns:p14="http://schemas.microsoft.com/office/powerpoint/2010/main" val="15973639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43AC-1B70-8702-266E-6F902EEABD3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73D2709-E7EE-6D22-BF85-DC2CC4D865AA}"/>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EA1F5AA4-2C1F-55A9-E890-8B7AE639A229}"/>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663FC68C-E968-32F7-D833-0750BAC483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7220E9AE-18A4-5805-C14F-BD3FBAEA4707}"/>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17923E10-7319-584A-243F-B3E7F49ACB1C}"/>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FC3CA16F-2B52-0711-E2CF-672FD01EE40F}"/>
              </a:ext>
            </a:extLst>
          </p:cNvPr>
          <p:cNvSpPr txBox="1"/>
          <p:nvPr/>
        </p:nvSpPr>
        <p:spPr>
          <a:xfrm>
            <a:off x="884858" y="2351802"/>
            <a:ext cx="16107038" cy="1477328"/>
          </a:xfrm>
          <a:prstGeom prst="rect">
            <a:avLst/>
          </a:prstGeom>
          <a:noFill/>
        </p:spPr>
        <p:txBody>
          <a:bodyPr wrap="square" rtlCol="0">
            <a:spAutoFit/>
          </a:bodyPr>
          <a:lstStyle/>
          <a:p>
            <a:pPr algn="ctr">
              <a:buNone/>
            </a:pPr>
            <a:r>
              <a:rPr lang="en-US" altLang="ko-KR" sz="4500" b="1" dirty="0">
                <a:solidFill>
                  <a:srgbClr val="000000"/>
                </a:solidFill>
              </a:rPr>
              <a:t>One Hot Encoding</a:t>
            </a:r>
          </a:p>
          <a:p>
            <a:pPr algn="ctr">
              <a:buNone/>
            </a:pPr>
            <a:r>
              <a:rPr lang="en-US" altLang="ko-KR" sz="4500" dirty="0">
                <a:solidFill>
                  <a:srgbClr val="000000"/>
                </a:solidFill>
              </a:rPr>
              <a:t>Sometimes, data must be represented in this format.</a:t>
            </a:r>
          </a:p>
        </p:txBody>
      </p:sp>
      <p:pic>
        <p:nvPicPr>
          <p:cNvPr id="6" name="Picture 5" descr="A table with numbers and a arrow&#10;&#10;AI-generated content may be incorrect.">
            <a:extLst>
              <a:ext uri="{FF2B5EF4-FFF2-40B4-BE49-F238E27FC236}">
                <a16:creationId xmlns:a16="http://schemas.microsoft.com/office/drawing/2014/main" id="{2BA594A3-A895-03B3-4458-264B23935026}"/>
              </a:ext>
            </a:extLst>
          </p:cNvPr>
          <p:cNvPicPr>
            <a:picLocks noChangeAspect="1"/>
          </p:cNvPicPr>
          <p:nvPr/>
        </p:nvPicPr>
        <p:blipFill>
          <a:blip r:embed="rId5"/>
          <a:stretch>
            <a:fillRect/>
          </a:stretch>
        </p:blipFill>
        <p:spPr>
          <a:xfrm>
            <a:off x="2467814" y="4112953"/>
            <a:ext cx="12592588" cy="5045239"/>
          </a:xfrm>
          <a:prstGeom prst="rect">
            <a:avLst/>
          </a:prstGeom>
        </p:spPr>
      </p:pic>
    </p:spTree>
    <p:extLst>
      <p:ext uri="{BB962C8B-B14F-4D97-AF65-F5344CB8AC3E}">
        <p14:creationId xmlns:p14="http://schemas.microsoft.com/office/powerpoint/2010/main" val="32306424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D207-046A-3B57-9CF6-1F8717B7136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58338B2-532B-B1B9-B4A6-2445B28421E9}"/>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B058E4FD-14D3-0320-5A26-24367E4DD0A9}"/>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9599E229-FD61-C5B1-F249-F768FD5360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939175B3-F595-E0B2-D5F4-BECD9CC833B1}"/>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3633EA44-4F0E-E509-1FC9-6AF984B6DF4D}"/>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EFE3DC47-917B-E708-6159-B18DC5BD0002}"/>
              </a:ext>
            </a:extLst>
          </p:cNvPr>
          <p:cNvSpPr txBox="1"/>
          <p:nvPr/>
        </p:nvSpPr>
        <p:spPr>
          <a:xfrm>
            <a:off x="884858" y="2351802"/>
            <a:ext cx="16107038" cy="1477328"/>
          </a:xfrm>
          <a:prstGeom prst="rect">
            <a:avLst/>
          </a:prstGeom>
          <a:noFill/>
        </p:spPr>
        <p:txBody>
          <a:bodyPr wrap="square" rtlCol="0">
            <a:spAutoFit/>
          </a:bodyPr>
          <a:lstStyle/>
          <a:p>
            <a:pPr algn="ctr">
              <a:buNone/>
            </a:pPr>
            <a:r>
              <a:rPr lang="en-US" altLang="ko-KR" sz="4500" b="1" dirty="0">
                <a:solidFill>
                  <a:srgbClr val="000000"/>
                </a:solidFill>
              </a:rPr>
              <a:t>One Hot Encoding</a:t>
            </a:r>
          </a:p>
          <a:p>
            <a:pPr algn="ctr">
              <a:buNone/>
            </a:pPr>
            <a:r>
              <a:rPr lang="en-US" altLang="ko-KR" sz="4500" dirty="0" err="1">
                <a:solidFill>
                  <a:srgbClr val="000000"/>
                </a:solidFill>
              </a:rPr>
              <a:t>boolean_cols</a:t>
            </a:r>
            <a:r>
              <a:rPr lang="en-US" altLang="ko-KR" sz="4500" dirty="0">
                <a:solidFill>
                  <a:srgbClr val="000000"/>
                </a:solidFill>
              </a:rPr>
              <a:t> = </a:t>
            </a:r>
            <a:r>
              <a:rPr lang="en-US" altLang="ko-KR" sz="4500" dirty="0" err="1">
                <a:solidFill>
                  <a:srgbClr val="000000"/>
                </a:solidFill>
              </a:rPr>
              <a:t>pd.get_dummies</a:t>
            </a:r>
            <a:r>
              <a:rPr lang="en-US" altLang="ko-KR" sz="4500" dirty="0">
                <a:solidFill>
                  <a:srgbClr val="000000"/>
                </a:solidFill>
              </a:rPr>
              <a:t>(</a:t>
            </a:r>
            <a:r>
              <a:rPr lang="en-US" altLang="ko-KR" sz="4500" dirty="0" err="1">
                <a:solidFill>
                  <a:srgbClr val="000000"/>
                </a:solidFill>
              </a:rPr>
              <a:t>df</a:t>
            </a:r>
            <a:r>
              <a:rPr lang="en-US" altLang="ko-KR" sz="4500" dirty="0">
                <a:solidFill>
                  <a:srgbClr val="000000"/>
                </a:solidFill>
              </a:rPr>
              <a:t>[‘Color’])</a:t>
            </a:r>
          </a:p>
        </p:txBody>
      </p:sp>
      <p:pic>
        <p:nvPicPr>
          <p:cNvPr id="5" name="Picture 4" descr="A table with numbers and letters&#10;&#10;AI-generated content may be incorrect.">
            <a:extLst>
              <a:ext uri="{FF2B5EF4-FFF2-40B4-BE49-F238E27FC236}">
                <a16:creationId xmlns:a16="http://schemas.microsoft.com/office/drawing/2014/main" id="{6C9F5A4A-B88A-9432-6CA2-64DBD6D4B245}"/>
              </a:ext>
            </a:extLst>
          </p:cNvPr>
          <p:cNvPicPr>
            <a:picLocks noChangeAspect="1"/>
          </p:cNvPicPr>
          <p:nvPr/>
        </p:nvPicPr>
        <p:blipFill>
          <a:blip r:embed="rId5"/>
          <a:stretch>
            <a:fillRect/>
          </a:stretch>
        </p:blipFill>
        <p:spPr>
          <a:xfrm>
            <a:off x="2374078" y="4226577"/>
            <a:ext cx="12686324" cy="5365691"/>
          </a:xfrm>
          <a:prstGeom prst="rect">
            <a:avLst/>
          </a:prstGeom>
        </p:spPr>
      </p:pic>
    </p:spTree>
    <p:extLst>
      <p:ext uri="{BB962C8B-B14F-4D97-AF65-F5344CB8AC3E}">
        <p14:creationId xmlns:p14="http://schemas.microsoft.com/office/powerpoint/2010/main" val="5664489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09159-7698-9CF1-65FB-7F6F2969BE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B19E12E-96A3-21CF-CB4D-7D253613CA70}"/>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B4363343-2381-2BE1-1AAA-9F3C65856549}"/>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CB52A4DC-0FE9-84F7-2666-E5C51BFB3B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79DD4B52-72E0-F7F9-3BF4-B2D7573A1F07}"/>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8B84C62B-78CD-5DA4-9630-5D20B2C72640}"/>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74196D0E-8F50-4D6E-BA7E-98FCBD722EA0}"/>
              </a:ext>
            </a:extLst>
          </p:cNvPr>
          <p:cNvSpPr txBox="1"/>
          <p:nvPr/>
        </p:nvSpPr>
        <p:spPr>
          <a:xfrm>
            <a:off x="884858" y="2351802"/>
            <a:ext cx="16107038" cy="1477328"/>
          </a:xfrm>
          <a:prstGeom prst="rect">
            <a:avLst/>
          </a:prstGeom>
          <a:noFill/>
        </p:spPr>
        <p:txBody>
          <a:bodyPr wrap="square" rtlCol="0">
            <a:spAutoFit/>
          </a:bodyPr>
          <a:lstStyle/>
          <a:p>
            <a:pPr algn="ctr">
              <a:buNone/>
            </a:pPr>
            <a:r>
              <a:rPr lang="en-US" altLang="ko-KR" sz="4500" b="1" dirty="0">
                <a:solidFill>
                  <a:srgbClr val="000000"/>
                </a:solidFill>
              </a:rPr>
              <a:t>One Hot Encoding</a:t>
            </a:r>
          </a:p>
          <a:p>
            <a:pPr algn="ctr">
              <a:buNone/>
            </a:pPr>
            <a:r>
              <a:rPr lang="en-US" altLang="ko-KR" sz="4500" dirty="0" err="1">
                <a:solidFill>
                  <a:srgbClr val="000000"/>
                </a:solidFill>
              </a:rPr>
              <a:t>df</a:t>
            </a:r>
            <a:r>
              <a:rPr lang="en-US" altLang="ko-KR" sz="4500" dirty="0">
                <a:solidFill>
                  <a:srgbClr val="000000"/>
                </a:solidFill>
              </a:rPr>
              <a:t> = </a:t>
            </a:r>
            <a:r>
              <a:rPr lang="en-US" altLang="ko-KR" sz="4500" dirty="0" err="1">
                <a:solidFill>
                  <a:srgbClr val="000000"/>
                </a:solidFill>
              </a:rPr>
              <a:t>df.join</a:t>
            </a:r>
            <a:r>
              <a:rPr lang="en-US" altLang="ko-KR" sz="4500" dirty="0">
                <a:solidFill>
                  <a:srgbClr val="000000"/>
                </a:solidFill>
              </a:rPr>
              <a:t>(</a:t>
            </a:r>
            <a:r>
              <a:rPr lang="en-US" altLang="ko-KR" sz="4500" dirty="0" err="1">
                <a:solidFill>
                  <a:srgbClr val="000000"/>
                </a:solidFill>
              </a:rPr>
              <a:t>boolean_cols</a:t>
            </a:r>
            <a:r>
              <a:rPr lang="en-US" altLang="ko-KR" sz="4500" dirty="0">
                <a:solidFill>
                  <a:srgbClr val="000000"/>
                </a:solidFill>
              </a:rPr>
              <a:t>).drop(‘Color’, axis=1)</a:t>
            </a:r>
          </a:p>
        </p:txBody>
      </p:sp>
      <p:pic>
        <p:nvPicPr>
          <p:cNvPr id="6" name="Picture 5" descr="A table with numbers and letters&#10;&#10;AI-generated content may be incorrect.">
            <a:extLst>
              <a:ext uri="{FF2B5EF4-FFF2-40B4-BE49-F238E27FC236}">
                <a16:creationId xmlns:a16="http://schemas.microsoft.com/office/drawing/2014/main" id="{BDC3D041-B382-E230-327D-1B8D7C985101}"/>
              </a:ext>
            </a:extLst>
          </p:cNvPr>
          <p:cNvPicPr>
            <a:picLocks noChangeAspect="1"/>
          </p:cNvPicPr>
          <p:nvPr/>
        </p:nvPicPr>
        <p:blipFill>
          <a:blip r:embed="rId5"/>
          <a:stretch>
            <a:fillRect/>
          </a:stretch>
        </p:blipFill>
        <p:spPr>
          <a:xfrm>
            <a:off x="4454941" y="4424187"/>
            <a:ext cx="8258445" cy="5389507"/>
          </a:xfrm>
          <a:prstGeom prst="rect">
            <a:avLst/>
          </a:prstGeom>
        </p:spPr>
      </p:pic>
    </p:spTree>
    <p:extLst>
      <p:ext uri="{BB962C8B-B14F-4D97-AF65-F5344CB8AC3E}">
        <p14:creationId xmlns:p14="http://schemas.microsoft.com/office/powerpoint/2010/main" val="35153635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549CA-1664-1DF4-277A-7BCE7278A78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8552235-60BB-9812-96B8-B5CBD687C7D4}"/>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1FB02F64-8A04-752B-B7FD-01A2793286C6}"/>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D31AB5CF-C3BA-AA5F-9780-ECB0D9CDB3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81027818-A01C-AEE3-28DA-165E09DD9C21}"/>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F1AAC11E-3EA7-B84C-B27B-FB5220A10342}"/>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7F1C6A6C-BDDA-10AB-53E2-8A31F1904B59}"/>
              </a:ext>
            </a:extLst>
          </p:cNvPr>
          <p:cNvSpPr txBox="1"/>
          <p:nvPr/>
        </p:nvSpPr>
        <p:spPr>
          <a:xfrm>
            <a:off x="884858" y="3352392"/>
            <a:ext cx="16107038" cy="2169825"/>
          </a:xfrm>
          <a:prstGeom prst="rect">
            <a:avLst/>
          </a:prstGeom>
          <a:noFill/>
        </p:spPr>
        <p:txBody>
          <a:bodyPr wrap="square" rtlCol="0">
            <a:spAutoFit/>
          </a:bodyPr>
          <a:lstStyle/>
          <a:p>
            <a:r>
              <a:rPr lang="en-US" altLang="ko-KR" sz="4500" b="1" dirty="0">
                <a:solidFill>
                  <a:srgbClr val="000000"/>
                </a:solidFill>
              </a:rPr>
              <a:t>Log Transformation</a:t>
            </a:r>
          </a:p>
          <a:p>
            <a:r>
              <a:rPr lang="en-US" altLang="ko-KR" sz="4500" dirty="0">
                <a:solidFill>
                  <a:srgbClr val="000000"/>
                </a:solidFill>
              </a:rPr>
              <a:t>Log transformation may be applied on non-normal data to make them more normally distributed.</a:t>
            </a:r>
          </a:p>
        </p:txBody>
      </p:sp>
      <p:pic>
        <p:nvPicPr>
          <p:cNvPr id="5" name="Picture 4" descr="A comparison of a graph&#10;&#10;AI-generated content may be incorrect.">
            <a:extLst>
              <a:ext uri="{FF2B5EF4-FFF2-40B4-BE49-F238E27FC236}">
                <a16:creationId xmlns:a16="http://schemas.microsoft.com/office/drawing/2014/main" id="{E6D320AD-E511-9618-78CA-D179ED2F6389}"/>
              </a:ext>
            </a:extLst>
          </p:cNvPr>
          <p:cNvPicPr>
            <a:picLocks noChangeAspect="1"/>
          </p:cNvPicPr>
          <p:nvPr/>
        </p:nvPicPr>
        <p:blipFill>
          <a:blip r:embed="rId5"/>
          <a:stretch>
            <a:fillRect/>
          </a:stretch>
        </p:blipFill>
        <p:spPr>
          <a:xfrm>
            <a:off x="4072431" y="5522217"/>
            <a:ext cx="9731892" cy="4731641"/>
          </a:xfrm>
          <a:prstGeom prst="rect">
            <a:avLst/>
          </a:prstGeom>
        </p:spPr>
      </p:pic>
    </p:spTree>
    <p:extLst>
      <p:ext uri="{BB962C8B-B14F-4D97-AF65-F5344CB8AC3E}">
        <p14:creationId xmlns:p14="http://schemas.microsoft.com/office/powerpoint/2010/main" val="10365286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3D393-08C9-FB5C-05BD-1A6DC88C6E6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998D9F-13BE-F14C-EBF1-DC65F358BACE}"/>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FE737ED5-1D2A-3E6E-AF37-18B5F7B958F7}"/>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9D6C5373-DA80-0E29-43F6-F728AABBC6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FA519CB4-17EE-88C7-7F4D-E6F6EDD8B078}"/>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F6097DDA-DC77-BF2C-0BEF-DD44C7888C91}"/>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1A89F757-5BDF-737A-E951-AE324B323D68}"/>
              </a:ext>
            </a:extLst>
          </p:cNvPr>
          <p:cNvSpPr txBox="1"/>
          <p:nvPr/>
        </p:nvSpPr>
        <p:spPr>
          <a:xfrm>
            <a:off x="884858" y="3352392"/>
            <a:ext cx="16107038" cy="2169825"/>
          </a:xfrm>
          <a:prstGeom prst="rect">
            <a:avLst/>
          </a:prstGeom>
          <a:noFill/>
        </p:spPr>
        <p:txBody>
          <a:bodyPr wrap="square" rtlCol="0">
            <a:spAutoFit/>
          </a:bodyPr>
          <a:lstStyle/>
          <a:p>
            <a:r>
              <a:rPr lang="en-US" altLang="ko-KR" sz="4500" b="1" dirty="0">
                <a:solidFill>
                  <a:srgbClr val="000000"/>
                </a:solidFill>
              </a:rPr>
              <a:t>Log Transformation</a:t>
            </a:r>
          </a:p>
          <a:p>
            <a:pPr marL="1143000" lvl="1" indent="-685800">
              <a:buFont typeface="Arial" panose="020B0604020202020204" pitchFamily="34" charset="0"/>
              <a:buChar char="•"/>
            </a:pPr>
            <a:r>
              <a:rPr lang="en-US" altLang="ko-KR" sz="4500" dirty="0">
                <a:solidFill>
                  <a:srgbClr val="000000"/>
                </a:solidFill>
              </a:rPr>
              <a:t>The log operation log(</a:t>
            </a:r>
            <a:r>
              <a:rPr lang="ko-KR" altLang="en-US" sz="4500" dirty="0">
                <a:solidFill>
                  <a:srgbClr val="000000"/>
                </a:solidFill>
              </a:rPr>
              <a:t>𝑛</a:t>
            </a:r>
            <a:r>
              <a:rPr lang="en-US" altLang="ko-KR" sz="4500" dirty="0">
                <a:solidFill>
                  <a:srgbClr val="000000"/>
                </a:solidFill>
              </a:rPr>
              <a:t>) evaluates to </a:t>
            </a:r>
            <a:r>
              <a:rPr lang="ko-KR" altLang="en-US" sz="4500" dirty="0">
                <a:solidFill>
                  <a:srgbClr val="000000"/>
                </a:solidFill>
              </a:rPr>
              <a:t>𝑥</a:t>
            </a:r>
            <a:r>
              <a:rPr lang="en-US" altLang="ko-KR" sz="4500" dirty="0">
                <a:solidFill>
                  <a:srgbClr val="000000"/>
                </a:solidFill>
              </a:rPr>
              <a:t>, where 10</a:t>
            </a:r>
            <a:r>
              <a:rPr lang="ko-KR" altLang="en-US" sz="4500" dirty="0">
                <a:solidFill>
                  <a:srgbClr val="000000"/>
                </a:solidFill>
              </a:rPr>
              <a:t>𝑥 </a:t>
            </a:r>
            <a:r>
              <a:rPr lang="en-US" altLang="ko-KR" sz="4500" dirty="0">
                <a:solidFill>
                  <a:srgbClr val="000000"/>
                </a:solidFill>
              </a:rPr>
              <a:t>= </a:t>
            </a:r>
            <a:r>
              <a:rPr lang="ko-KR" altLang="en-US" sz="4500" dirty="0">
                <a:solidFill>
                  <a:srgbClr val="000000"/>
                </a:solidFill>
              </a:rPr>
              <a:t>𝑛</a:t>
            </a:r>
          </a:p>
          <a:p>
            <a:pPr marL="1143000" lvl="1" indent="-685800">
              <a:buFont typeface="Arial" panose="020B0604020202020204" pitchFamily="34" charset="0"/>
              <a:buChar char="•"/>
            </a:pPr>
            <a:r>
              <a:rPr lang="en-US" altLang="ko-KR" sz="4500" dirty="0">
                <a:solidFill>
                  <a:srgbClr val="000000"/>
                </a:solidFill>
              </a:rPr>
              <a:t>Note that relationship between </a:t>
            </a:r>
            <a:r>
              <a:rPr lang="ko-KR" altLang="en-US" sz="4500" dirty="0">
                <a:solidFill>
                  <a:srgbClr val="000000"/>
                </a:solidFill>
              </a:rPr>
              <a:t>𝑛 </a:t>
            </a:r>
            <a:r>
              <a:rPr lang="en-US" altLang="ko-KR" sz="4500" dirty="0">
                <a:solidFill>
                  <a:srgbClr val="000000"/>
                </a:solidFill>
              </a:rPr>
              <a:t>and log(</a:t>
            </a:r>
            <a:r>
              <a:rPr lang="ko-KR" altLang="en-US" sz="4500" dirty="0">
                <a:solidFill>
                  <a:srgbClr val="000000"/>
                </a:solidFill>
              </a:rPr>
              <a:t>𝑛</a:t>
            </a:r>
            <a:r>
              <a:rPr lang="en-US" altLang="ko-KR" sz="4500" dirty="0">
                <a:solidFill>
                  <a:srgbClr val="000000"/>
                </a:solidFill>
              </a:rPr>
              <a:t>).</a:t>
            </a:r>
          </a:p>
        </p:txBody>
      </p:sp>
      <p:pic>
        <p:nvPicPr>
          <p:cNvPr id="6" name="Picture 5" descr="A graph with a red line&#10;&#10;AI-generated content may be incorrect.">
            <a:extLst>
              <a:ext uri="{FF2B5EF4-FFF2-40B4-BE49-F238E27FC236}">
                <a16:creationId xmlns:a16="http://schemas.microsoft.com/office/drawing/2014/main" id="{80775CCB-395F-752F-922F-82ECD9BE22ED}"/>
              </a:ext>
            </a:extLst>
          </p:cNvPr>
          <p:cNvPicPr>
            <a:picLocks noChangeAspect="1"/>
          </p:cNvPicPr>
          <p:nvPr/>
        </p:nvPicPr>
        <p:blipFill>
          <a:blip r:embed="rId5"/>
          <a:stretch>
            <a:fillRect/>
          </a:stretch>
        </p:blipFill>
        <p:spPr>
          <a:xfrm>
            <a:off x="2479431" y="5571261"/>
            <a:ext cx="13318000" cy="4001372"/>
          </a:xfrm>
          <a:prstGeom prst="rect">
            <a:avLst/>
          </a:prstGeom>
        </p:spPr>
      </p:pic>
    </p:spTree>
    <p:extLst>
      <p:ext uri="{BB962C8B-B14F-4D97-AF65-F5344CB8AC3E}">
        <p14:creationId xmlns:p14="http://schemas.microsoft.com/office/powerpoint/2010/main" val="30668369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2498C-B878-8E40-B110-1AD775A887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F3680E8-F5FB-935C-9AFD-D3F2B81BE544}"/>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75144918-2EF3-9B91-3B58-9CA21905487C}"/>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E20602BF-7A3C-9A58-C56F-B1ADB0AA0C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CF582C65-3A30-1EFE-412D-8E06D376ED6F}"/>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780086EF-79E6-0212-00F9-9468B2CD7F2E}"/>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AC35B5DD-5F45-05A9-276A-1065A65CB4C4}"/>
              </a:ext>
            </a:extLst>
          </p:cNvPr>
          <p:cNvSpPr txBox="1"/>
          <p:nvPr/>
        </p:nvSpPr>
        <p:spPr>
          <a:xfrm>
            <a:off x="884858" y="3352392"/>
            <a:ext cx="16107038" cy="5632311"/>
          </a:xfrm>
          <a:prstGeom prst="rect">
            <a:avLst/>
          </a:prstGeom>
          <a:noFill/>
        </p:spPr>
        <p:txBody>
          <a:bodyPr wrap="square" rtlCol="0">
            <a:spAutoFit/>
          </a:bodyPr>
          <a:lstStyle/>
          <a:p>
            <a:r>
              <a:rPr lang="en-US" altLang="ko-KR" sz="4500" b="1" dirty="0">
                <a:solidFill>
                  <a:srgbClr val="000000"/>
                </a:solidFill>
              </a:rPr>
              <a:t>Log Transformation</a:t>
            </a:r>
          </a:p>
          <a:p>
            <a:endParaRPr lang="en-US" altLang="ko-KR" sz="4500" b="1" dirty="0">
              <a:solidFill>
                <a:srgbClr val="000000"/>
              </a:solidFill>
            </a:endParaRPr>
          </a:p>
          <a:p>
            <a:pPr marL="1143000" lvl="1" indent="-685800">
              <a:buFont typeface="Arial" panose="020B0604020202020204" pitchFamily="34" charset="0"/>
              <a:buChar char="•"/>
            </a:pPr>
            <a:r>
              <a:rPr lang="en-US" altLang="ko-KR" sz="4500" dirty="0">
                <a:solidFill>
                  <a:srgbClr val="000000"/>
                </a:solidFill>
              </a:rPr>
              <a:t>By applying the log function to every data point, the values are transformed by reducing the effect of extremely high values while preserving the order.</a:t>
            </a:r>
          </a:p>
          <a:p>
            <a:pPr marL="1143000" lvl="1" indent="-685800">
              <a:buFont typeface="Arial" panose="020B0604020202020204" pitchFamily="34" charset="0"/>
              <a:buChar char="•"/>
            </a:pPr>
            <a:r>
              <a:rPr lang="en-US" altLang="ko-KR" sz="4500" dirty="0">
                <a:solidFill>
                  <a:srgbClr val="000000"/>
                </a:solidFill>
              </a:rPr>
              <a:t>Note: The order of the data points are preserved in log transformation, but the scale of the distances between each data point might be distorted.</a:t>
            </a:r>
          </a:p>
        </p:txBody>
      </p:sp>
    </p:spTree>
    <p:extLst>
      <p:ext uri="{BB962C8B-B14F-4D97-AF65-F5344CB8AC3E}">
        <p14:creationId xmlns:p14="http://schemas.microsoft.com/office/powerpoint/2010/main" val="26787859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E01AD-0B0C-4D32-DC60-D06BE72A5F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539C3B7-0ECB-E447-99F9-928D9648F32E}"/>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437FEB7D-DBCB-BF23-5796-C44765F65FA5}"/>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C6B6C599-8D7F-6A45-A752-1D8B447145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F6E48E0B-4F2D-ED08-8E66-61E8CD9BFAE8}"/>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914607FD-1DD1-37DD-DA65-48B74CF063E0}"/>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0E07A98A-5CED-61D6-A692-DC92CF5EB704}"/>
              </a:ext>
            </a:extLst>
          </p:cNvPr>
          <p:cNvSpPr txBox="1"/>
          <p:nvPr/>
        </p:nvSpPr>
        <p:spPr>
          <a:xfrm>
            <a:off x="884858" y="3352392"/>
            <a:ext cx="16107038" cy="4939814"/>
          </a:xfrm>
          <a:prstGeom prst="rect">
            <a:avLst/>
          </a:prstGeom>
          <a:noFill/>
        </p:spPr>
        <p:txBody>
          <a:bodyPr wrap="square" rtlCol="0">
            <a:spAutoFit/>
          </a:bodyPr>
          <a:lstStyle/>
          <a:p>
            <a:r>
              <a:rPr lang="en-US" altLang="ko-KR" sz="4500" b="1" dirty="0">
                <a:solidFill>
                  <a:srgbClr val="000000"/>
                </a:solidFill>
              </a:rPr>
              <a:t>Aggregation</a:t>
            </a:r>
          </a:p>
          <a:p>
            <a:endParaRPr lang="en-US" altLang="ko-KR" sz="4500" b="1" dirty="0">
              <a:solidFill>
                <a:srgbClr val="000000"/>
              </a:solidFill>
            </a:endParaRPr>
          </a:p>
          <a:p>
            <a:pPr marL="1143000" lvl="1" indent="-685800">
              <a:buFont typeface="Arial" panose="020B0604020202020204" pitchFamily="34" charset="0"/>
              <a:buChar char="•"/>
            </a:pPr>
            <a:r>
              <a:rPr lang="en-US" altLang="ko-KR" sz="4500" dirty="0">
                <a:solidFill>
                  <a:srgbClr val="000000"/>
                </a:solidFill>
              </a:rPr>
              <a:t>Apply aggregation to summarize data.</a:t>
            </a:r>
          </a:p>
          <a:p>
            <a:pPr marL="1143000" lvl="1" indent="-685800">
              <a:buFont typeface="Arial" panose="020B0604020202020204" pitchFamily="34" charset="0"/>
              <a:buChar char="•"/>
            </a:pPr>
            <a:r>
              <a:rPr lang="en-US" altLang="ko-KR" sz="4500" dirty="0">
                <a:solidFill>
                  <a:srgbClr val="000000"/>
                </a:solidFill>
              </a:rPr>
              <a:t>Aggregation is generally performed when we have several rows that belong to the same group or same instance.</a:t>
            </a:r>
          </a:p>
          <a:p>
            <a:pPr marL="1143000" lvl="1" indent="-685800">
              <a:buFont typeface="Arial" panose="020B0604020202020204" pitchFamily="34" charset="0"/>
              <a:buChar char="•"/>
            </a:pPr>
            <a:r>
              <a:rPr lang="en-US" altLang="ko-KR" sz="4500" dirty="0">
                <a:solidFill>
                  <a:srgbClr val="000000"/>
                </a:solidFill>
              </a:rPr>
              <a:t>There are two types of aggregation – aggregating numerical data and aggregating categorical data</a:t>
            </a:r>
          </a:p>
        </p:txBody>
      </p:sp>
    </p:spTree>
    <p:extLst>
      <p:ext uri="{BB962C8B-B14F-4D97-AF65-F5344CB8AC3E}">
        <p14:creationId xmlns:p14="http://schemas.microsoft.com/office/powerpoint/2010/main" val="6531440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3F521-C4E5-EB64-C44A-55D041A9A8C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259167-28B0-405E-07ED-61E9CB3F3784}"/>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267CF250-E786-6F7E-2AA2-1F3661949CC9}"/>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D98DD790-291B-B553-92F1-20D9CE6D0D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968F08DD-2DB2-E710-8A98-A22D8FED430D}"/>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03D444AC-2984-D02A-A684-4EEE9A3B8BDA}"/>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E563C26F-0740-1086-116C-E2BE3A01FE9E}"/>
              </a:ext>
            </a:extLst>
          </p:cNvPr>
          <p:cNvSpPr txBox="1"/>
          <p:nvPr/>
        </p:nvSpPr>
        <p:spPr>
          <a:xfrm>
            <a:off x="884858" y="2329367"/>
            <a:ext cx="16107038" cy="784830"/>
          </a:xfrm>
          <a:prstGeom prst="rect">
            <a:avLst/>
          </a:prstGeom>
          <a:noFill/>
        </p:spPr>
        <p:txBody>
          <a:bodyPr wrap="square" rtlCol="0">
            <a:spAutoFit/>
          </a:bodyPr>
          <a:lstStyle/>
          <a:p>
            <a:pPr algn="ctr">
              <a:buNone/>
            </a:pPr>
            <a:r>
              <a:rPr lang="en-US" altLang="ko-KR" sz="4500" b="1" dirty="0">
                <a:solidFill>
                  <a:srgbClr val="000000"/>
                </a:solidFill>
              </a:rPr>
              <a:t>Aggregation</a:t>
            </a:r>
          </a:p>
        </p:txBody>
      </p:sp>
      <p:sp>
        <p:nvSpPr>
          <p:cNvPr id="7" name="TextBox 6">
            <a:extLst>
              <a:ext uri="{FF2B5EF4-FFF2-40B4-BE49-F238E27FC236}">
                <a16:creationId xmlns:a16="http://schemas.microsoft.com/office/drawing/2014/main" id="{967DA882-338D-D9DB-2035-B04742752544}"/>
              </a:ext>
            </a:extLst>
          </p:cNvPr>
          <p:cNvSpPr txBox="1"/>
          <p:nvPr/>
        </p:nvSpPr>
        <p:spPr>
          <a:xfrm>
            <a:off x="884858" y="8412266"/>
            <a:ext cx="16107038" cy="784830"/>
          </a:xfrm>
          <a:prstGeom prst="rect">
            <a:avLst/>
          </a:prstGeom>
          <a:noFill/>
        </p:spPr>
        <p:txBody>
          <a:bodyPr wrap="square" rtlCol="0">
            <a:spAutoFit/>
          </a:bodyPr>
          <a:lstStyle/>
          <a:p>
            <a:pPr algn="ctr">
              <a:buNone/>
            </a:pPr>
            <a:r>
              <a:rPr lang="en-US" altLang="ko-KR" sz="4500" dirty="0">
                <a:solidFill>
                  <a:srgbClr val="000000"/>
                </a:solidFill>
              </a:rPr>
              <a:t>Sum or mean might be extracted from numerical data.</a:t>
            </a:r>
          </a:p>
        </p:txBody>
      </p:sp>
      <p:pic>
        <p:nvPicPr>
          <p:cNvPr id="6" name="Picture 5" descr="A black and white diagram with numbers and a arrow&#10;&#10;AI-generated content may be incorrect.">
            <a:extLst>
              <a:ext uri="{FF2B5EF4-FFF2-40B4-BE49-F238E27FC236}">
                <a16:creationId xmlns:a16="http://schemas.microsoft.com/office/drawing/2014/main" id="{097DFB3C-166E-E0A1-FA06-3C62D1065F0A}"/>
              </a:ext>
            </a:extLst>
          </p:cNvPr>
          <p:cNvPicPr>
            <a:picLocks noChangeAspect="1"/>
          </p:cNvPicPr>
          <p:nvPr/>
        </p:nvPicPr>
        <p:blipFill>
          <a:blip r:embed="rId5"/>
          <a:stretch>
            <a:fillRect/>
          </a:stretch>
        </p:blipFill>
        <p:spPr>
          <a:xfrm>
            <a:off x="3702115" y="3417620"/>
            <a:ext cx="10472524" cy="4691223"/>
          </a:xfrm>
          <a:prstGeom prst="rect">
            <a:avLst/>
          </a:prstGeom>
        </p:spPr>
      </p:pic>
    </p:spTree>
    <p:extLst>
      <p:ext uri="{BB962C8B-B14F-4D97-AF65-F5344CB8AC3E}">
        <p14:creationId xmlns:p14="http://schemas.microsoft.com/office/powerpoint/2010/main" val="13520997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BF5B0-8755-FF78-4640-BFD1375AC39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80DA350-5B15-5341-78D8-89105F6E0F70}"/>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2619AEC3-02CE-9A5D-4445-7C7CA42D27D2}"/>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974725A1-8420-27C5-5EB6-D4E1735AE3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D5BC5E0C-A8AB-82EC-8D0B-5F7086BB1EFF}"/>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AA6AB6D9-AA06-083F-E776-3D3E2FFEC90A}"/>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BEAAE774-86F6-AD5B-010C-52BD91E48561}"/>
              </a:ext>
            </a:extLst>
          </p:cNvPr>
          <p:cNvSpPr txBox="1"/>
          <p:nvPr/>
        </p:nvSpPr>
        <p:spPr>
          <a:xfrm>
            <a:off x="884858" y="2329367"/>
            <a:ext cx="16107038" cy="784830"/>
          </a:xfrm>
          <a:prstGeom prst="rect">
            <a:avLst/>
          </a:prstGeom>
          <a:noFill/>
        </p:spPr>
        <p:txBody>
          <a:bodyPr wrap="square" rtlCol="0">
            <a:spAutoFit/>
          </a:bodyPr>
          <a:lstStyle/>
          <a:p>
            <a:pPr algn="ctr">
              <a:buNone/>
            </a:pPr>
            <a:r>
              <a:rPr lang="en-US" altLang="ko-KR" sz="4500" b="1" dirty="0">
                <a:solidFill>
                  <a:srgbClr val="000000"/>
                </a:solidFill>
              </a:rPr>
              <a:t>Aggregation</a:t>
            </a:r>
          </a:p>
        </p:txBody>
      </p:sp>
      <p:sp>
        <p:nvSpPr>
          <p:cNvPr id="7" name="TextBox 6">
            <a:extLst>
              <a:ext uri="{FF2B5EF4-FFF2-40B4-BE49-F238E27FC236}">
                <a16:creationId xmlns:a16="http://schemas.microsoft.com/office/drawing/2014/main" id="{AE8D7777-B44E-5552-2492-4D89841A1527}"/>
              </a:ext>
            </a:extLst>
          </p:cNvPr>
          <p:cNvSpPr txBox="1"/>
          <p:nvPr/>
        </p:nvSpPr>
        <p:spPr>
          <a:xfrm>
            <a:off x="884858" y="8412266"/>
            <a:ext cx="16107038" cy="784830"/>
          </a:xfrm>
          <a:prstGeom prst="rect">
            <a:avLst/>
          </a:prstGeom>
          <a:noFill/>
        </p:spPr>
        <p:txBody>
          <a:bodyPr wrap="square" rtlCol="0">
            <a:spAutoFit/>
          </a:bodyPr>
          <a:lstStyle/>
          <a:p>
            <a:pPr algn="ctr">
              <a:buNone/>
            </a:pPr>
            <a:r>
              <a:rPr lang="en-US" altLang="ko-KR" sz="4500" dirty="0">
                <a:solidFill>
                  <a:srgbClr val="000000"/>
                </a:solidFill>
              </a:rPr>
              <a:t>Mode within a group can be used for categorical data.</a:t>
            </a:r>
          </a:p>
        </p:txBody>
      </p:sp>
      <p:pic>
        <p:nvPicPr>
          <p:cNvPr id="5" name="Picture 4" descr="A black and white chart with black text&#10;&#10;AI-generated content may be incorrect.">
            <a:extLst>
              <a:ext uri="{FF2B5EF4-FFF2-40B4-BE49-F238E27FC236}">
                <a16:creationId xmlns:a16="http://schemas.microsoft.com/office/drawing/2014/main" id="{DDB2D236-033C-5F08-33FB-D9F8C390219E}"/>
              </a:ext>
            </a:extLst>
          </p:cNvPr>
          <p:cNvPicPr>
            <a:picLocks noChangeAspect="1"/>
          </p:cNvPicPr>
          <p:nvPr/>
        </p:nvPicPr>
        <p:blipFill>
          <a:blip r:embed="rId5"/>
          <a:stretch>
            <a:fillRect/>
          </a:stretch>
        </p:blipFill>
        <p:spPr>
          <a:xfrm>
            <a:off x="3664782" y="3240780"/>
            <a:ext cx="10958435" cy="4923057"/>
          </a:xfrm>
          <a:prstGeom prst="rect">
            <a:avLst/>
          </a:prstGeom>
        </p:spPr>
      </p:pic>
    </p:spTree>
    <p:extLst>
      <p:ext uri="{BB962C8B-B14F-4D97-AF65-F5344CB8AC3E}">
        <p14:creationId xmlns:p14="http://schemas.microsoft.com/office/powerpoint/2010/main" val="1093191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BDFCD-E6C3-A92C-0EDE-BBA64B9F061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D989F57-6CF9-D376-48F3-64D181393D2C}"/>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4D3246B9-63C4-9D39-E7E5-CF0925D72CD5}"/>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A75C703F-AECA-1624-204E-47AF370A5C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0FAB89E4-790C-21EC-E4A0-B560813E7AE2}"/>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218E6A30-C7B5-6DAA-ECF0-643D09C47219}"/>
              </a:ext>
            </a:extLst>
          </p:cNvPr>
          <p:cNvSpPr txBox="1"/>
          <p:nvPr/>
        </p:nvSpPr>
        <p:spPr>
          <a:xfrm>
            <a:off x="2107926" y="1006706"/>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88CF5D57-BD12-5127-A898-6F89B809CF68}"/>
              </a:ext>
            </a:extLst>
          </p:cNvPr>
          <p:cNvSpPr txBox="1"/>
          <p:nvPr/>
        </p:nvSpPr>
        <p:spPr>
          <a:xfrm>
            <a:off x="884858" y="2329367"/>
            <a:ext cx="16107038" cy="784830"/>
          </a:xfrm>
          <a:prstGeom prst="rect">
            <a:avLst/>
          </a:prstGeom>
          <a:noFill/>
        </p:spPr>
        <p:txBody>
          <a:bodyPr wrap="square" rtlCol="0">
            <a:spAutoFit/>
          </a:bodyPr>
          <a:lstStyle/>
          <a:p>
            <a:pPr algn="ctr">
              <a:buNone/>
            </a:pPr>
            <a:r>
              <a:rPr lang="en-US" altLang="ko-KR" sz="4500" b="1" dirty="0">
                <a:solidFill>
                  <a:srgbClr val="000000"/>
                </a:solidFill>
              </a:rPr>
              <a:t>Column Transformation</a:t>
            </a:r>
          </a:p>
        </p:txBody>
      </p:sp>
      <p:sp>
        <p:nvSpPr>
          <p:cNvPr id="7" name="TextBox 6">
            <a:extLst>
              <a:ext uri="{FF2B5EF4-FFF2-40B4-BE49-F238E27FC236}">
                <a16:creationId xmlns:a16="http://schemas.microsoft.com/office/drawing/2014/main" id="{61E81FEA-184C-85F4-61E4-48064A427033}"/>
              </a:ext>
            </a:extLst>
          </p:cNvPr>
          <p:cNvSpPr txBox="1"/>
          <p:nvPr/>
        </p:nvSpPr>
        <p:spPr>
          <a:xfrm>
            <a:off x="884858" y="8412266"/>
            <a:ext cx="16107038" cy="784830"/>
          </a:xfrm>
          <a:prstGeom prst="rect">
            <a:avLst/>
          </a:prstGeom>
          <a:noFill/>
        </p:spPr>
        <p:txBody>
          <a:bodyPr wrap="square" rtlCol="0">
            <a:spAutoFit/>
          </a:bodyPr>
          <a:lstStyle/>
          <a:p>
            <a:pPr algn="ctr">
              <a:buNone/>
            </a:pPr>
            <a:r>
              <a:rPr lang="en-US" altLang="ko-KR" sz="4500" dirty="0">
                <a:solidFill>
                  <a:srgbClr val="000000"/>
                </a:solidFill>
              </a:rPr>
              <a:t>Transform columns to extract better info from the dataset.</a:t>
            </a:r>
          </a:p>
        </p:txBody>
      </p:sp>
      <p:pic>
        <p:nvPicPr>
          <p:cNvPr id="6" name="Picture 5" descr="A black and white chart with black text&#10;&#10;AI-generated content may be incorrect.">
            <a:extLst>
              <a:ext uri="{FF2B5EF4-FFF2-40B4-BE49-F238E27FC236}">
                <a16:creationId xmlns:a16="http://schemas.microsoft.com/office/drawing/2014/main" id="{A042BE33-EA25-7C99-A50A-550D3E6B13C0}"/>
              </a:ext>
            </a:extLst>
          </p:cNvPr>
          <p:cNvPicPr>
            <a:picLocks noChangeAspect="1"/>
          </p:cNvPicPr>
          <p:nvPr/>
        </p:nvPicPr>
        <p:blipFill>
          <a:blip r:embed="rId5"/>
          <a:stretch>
            <a:fillRect/>
          </a:stretch>
        </p:blipFill>
        <p:spPr>
          <a:xfrm>
            <a:off x="3709153" y="3385245"/>
            <a:ext cx="10869694" cy="4959172"/>
          </a:xfrm>
          <a:prstGeom prst="rect">
            <a:avLst/>
          </a:prstGeom>
        </p:spPr>
      </p:pic>
    </p:spTree>
    <p:extLst>
      <p:ext uri="{BB962C8B-B14F-4D97-AF65-F5344CB8AC3E}">
        <p14:creationId xmlns:p14="http://schemas.microsoft.com/office/powerpoint/2010/main" val="6887956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19E58-40BD-2C04-1ECC-225B131E1E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DE9CDE7-C1C1-5D93-5A51-1D9356605F71}"/>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DB5B69CB-6165-CE7D-2452-1C5B884D34A5}"/>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4A7B6595-E99D-DA35-D27C-8625ECE3B1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A74C1B44-CDA0-EDB6-79A0-CB712A49C36E}"/>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3DC0D035-0D5D-BAAF-1560-5CB8420EF4D5}"/>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8CE76E95-2406-59C3-2628-BAB1A98E8830}"/>
              </a:ext>
            </a:extLst>
          </p:cNvPr>
          <p:cNvSpPr txBox="1"/>
          <p:nvPr/>
        </p:nvSpPr>
        <p:spPr>
          <a:xfrm>
            <a:off x="884858" y="3352392"/>
            <a:ext cx="16107038" cy="5632311"/>
          </a:xfrm>
          <a:prstGeom prst="rect">
            <a:avLst/>
          </a:prstGeom>
          <a:noFill/>
        </p:spPr>
        <p:txBody>
          <a:bodyPr wrap="square" rtlCol="0">
            <a:spAutoFit/>
          </a:bodyPr>
          <a:lstStyle/>
          <a:p>
            <a:r>
              <a:rPr lang="en-US" altLang="ko-KR" sz="4500" b="1" dirty="0">
                <a:solidFill>
                  <a:srgbClr val="000000"/>
                </a:solidFill>
              </a:rPr>
              <a:t>Column Transformation</a:t>
            </a:r>
          </a:p>
          <a:p>
            <a:endParaRPr lang="en-US" altLang="ko-KR" sz="4500" b="1" dirty="0">
              <a:solidFill>
                <a:srgbClr val="000000"/>
              </a:solidFill>
            </a:endParaRPr>
          </a:p>
          <a:p>
            <a:r>
              <a:rPr lang="en-US" altLang="ko-KR" sz="4500" dirty="0">
                <a:solidFill>
                  <a:srgbClr val="000000"/>
                </a:solidFill>
              </a:rPr>
              <a:t>Transform dates into better representations since computers cannot understand order given dates such as “2019-06-04”.</a:t>
            </a:r>
          </a:p>
          <a:p>
            <a:pPr marL="1143000" lvl="1" indent="-685800">
              <a:buFont typeface="Arial" panose="020B0604020202020204" pitchFamily="34" charset="0"/>
              <a:buChar char="•"/>
            </a:pPr>
            <a:r>
              <a:rPr lang="en-US" altLang="ko-KR" sz="4500" dirty="0">
                <a:solidFill>
                  <a:srgbClr val="000000"/>
                </a:solidFill>
              </a:rPr>
              <a:t>Extract the month, day, and year, and put them in separate columns as numerical values.</a:t>
            </a:r>
          </a:p>
          <a:p>
            <a:pPr marL="1143000" lvl="1" indent="-685800">
              <a:buFont typeface="Arial" panose="020B0604020202020204" pitchFamily="34" charset="0"/>
              <a:buChar char="•"/>
            </a:pPr>
            <a:r>
              <a:rPr lang="en-US" altLang="ko-KR" sz="4500" dirty="0">
                <a:solidFill>
                  <a:srgbClr val="000000"/>
                </a:solidFill>
              </a:rPr>
              <a:t>Use a single numerical representation for each date (e.g., the number of seconds since a constant date).</a:t>
            </a:r>
          </a:p>
        </p:txBody>
      </p:sp>
    </p:spTree>
    <p:extLst>
      <p:ext uri="{BB962C8B-B14F-4D97-AF65-F5344CB8AC3E}">
        <p14:creationId xmlns:p14="http://schemas.microsoft.com/office/powerpoint/2010/main" val="13474675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924B-4A28-0041-7962-C0E47385B9A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482C7A5-BEE4-3110-54A3-F0CA9B8892A6}"/>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60593475-F9BE-F463-BC49-6C4DF9C4FC9D}"/>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223765A3-6ECA-44B6-6D56-7A5D8645EA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1B0F3AFC-8DB4-C441-AB32-626079A0BD4F}"/>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8413160B-D0B0-7640-872B-621294CA7CC3}"/>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2492ADE6-6208-2BDD-E1E7-B23FE243346F}"/>
              </a:ext>
            </a:extLst>
          </p:cNvPr>
          <p:cNvSpPr txBox="1"/>
          <p:nvPr/>
        </p:nvSpPr>
        <p:spPr>
          <a:xfrm>
            <a:off x="884858" y="3352392"/>
            <a:ext cx="8970342" cy="6324808"/>
          </a:xfrm>
          <a:prstGeom prst="rect">
            <a:avLst/>
          </a:prstGeom>
          <a:noFill/>
        </p:spPr>
        <p:txBody>
          <a:bodyPr wrap="square" rtlCol="0">
            <a:spAutoFit/>
          </a:bodyPr>
          <a:lstStyle/>
          <a:p>
            <a:r>
              <a:rPr lang="en-US" altLang="ko-KR" sz="4500" b="1" dirty="0">
                <a:solidFill>
                  <a:srgbClr val="000000"/>
                </a:solidFill>
              </a:rPr>
              <a:t>Feature Scaling</a:t>
            </a:r>
          </a:p>
          <a:p>
            <a:endParaRPr lang="en-US" altLang="ko-KR" sz="4500" b="1" dirty="0">
              <a:solidFill>
                <a:srgbClr val="000000"/>
              </a:solidFill>
            </a:endParaRPr>
          </a:p>
          <a:p>
            <a:pPr marL="685800" indent="-685800">
              <a:buFont typeface="Arial" panose="020B0604020202020204" pitchFamily="34" charset="0"/>
              <a:buChar char="•"/>
            </a:pPr>
            <a:r>
              <a:rPr lang="en-US" altLang="ko-KR" sz="4500" dirty="0">
                <a:solidFill>
                  <a:srgbClr val="000000"/>
                </a:solidFill>
              </a:rPr>
              <a:t>Different variables may have different ranges.</a:t>
            </a:r>
          </a:p>
          <a:p>
            <a:pPr marL="685800" indent="-685800">
              <a:buFont typeface="Arial" panose="020B0604020202020204" pitchFamily="34" charset="0"/>
              <a:buChar char="•"/>
            </a:pPr>
            <a:r>
              <a:rPr lang="en-US" altLang="ko-KR" sz="4500" dirty="0">
                <a:solidFill>
                  <a:srgbClr val="000000"/>
                </a:solidFill>
              </a:rPr>
              <a:t>Some algorithms will be affected if one variable “overpowers” others.</a:t>
            </a:r>
          </a:p>
          <a:p>
            <a:pPr marL="685800" indent="-685800">
              <a:buFont typeface="Arial" panose="020B0604020202020204" pitchFamily="34" charset="0"/>
              <a:buChar char="•"/>
            </a:pPr>
            <a:r>
              <a:rPr lang="en-US" altLang="ko-KR" sz="4500" dirty="0">
                <a:solidFill>
                  <a:srgbClr val="000000"/>
                </a:solidFill>
              </a:rPr>
              <a:t>Example, Euclidean distance will be affected if the scale of the variables are not equal</a:t>
            </a:r>
          </a:p>
        </p:txBody>
      </p:sp>
      <p:pic>
        <p:nvPicPr>
          <p:cNvPr id="5" name="Picture 4" descr="A table with numbers and text&#10;&#10;AI-generated content may be incorrect.">
            <a:extLst>
              <a:ext uri="{FF2B5EF4-FFF2-40B4-BE49-F238E27FC236}">
                <a16:creationId xmlns:a16="http://schemas.microsoft.com/office/drawing/2014/main" id="{CA6C34BF-7EDC-E005-F1CA-443239C212B3}"/>
              </a:ext>
            </a:extLst>
          </p:cNvPr>
          <p:cNvPicPr>
            <a:picLocks noChangeAspect="1"/>
          </p:cNvPicPr>
          <p:nvPr/>
        </p:nvPicPr>
        <p:blipFill>
          <a:blip r:embed="rId5"/>
          <a:stretch>
            <a:fillRect/>
          </a:stretch>
        </p:blipFill>
        <p:spPr>
          <a:xfrm>
            <a:off x="10751016" y="3352392"/>
            <a:ext cx="6058397" cy="5795939"/>
          </a:xfrm>
          <a:prstGeom prst="rect">
            <a:avLst/>
          </a:prstGeom>
        </p:spPr>
      </p:pic>
    </p:spTree>
    <p:extLst>
      <p:ext uri="{BB962C8B-B14F-4D97-AF65-F5344CB8AC3E}">
        <p14:creationId xmlns:p14="http://schemas.microsoft.com/office/powerpoint/2010/main" val="29605399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0D2D7-73C6-997D-2B13-6642AB56B6A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4928FF-0873-6CC2-D3C3-6D71E8B14185}"/>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ECAA868E-E70F-9519-A399-B045F1CB5AB8}"/>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33A7AB19-B51D-2EE6-AB0E-EA6A389453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E457E033-5635-5F11-0E68-12F13F5B99EE}"/>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C25C5DCF-CDCD-5651-E675-41C3AD40B992}"/>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46B805E7-B542-603E-72C0-A2162AB3BBEF}"/>
              </a:ext>
            </a:extLst>
          </p:cNvPr>
          <p:cNvSpPr txBox="1"/>
          <p:nvPr/>
        </p:nvSpPr>
        <p:spPr>
          <a:xfrm>
            <a:off x="884858" y="3352392"/>
            <a:ext cx="9376742" cy="2169825"/>
          </a:xfrm>
          <a:prstGeom prst="rect">
            <a:avLst/>
          </a:prstGeom>
          <a:noFill/>
        </p:spPr>
        <p:txBody>
          <a:bodyPr wrap="square" rtlCol="0">
            <a:spAutoFit/>
          </a:bodyPr>
          <a:lstStyle/>
          <a:p>
            <a:r>
              <a:rPr lang="en-US" altLang="ko-KR" sz="4500" b="1" dirty="0">
                <a:solidFill>
                  <a:srgbClr val="000000"/>
                </a:solidFill>
              </a:rPr>
              <a:t>Feature Scaling</a:t>
            </a:r>
          </a:p>
          <a:p>
            <a:r>
              <a:rPr lang="en-US" altLang="ko-KR" sz="4500" dirty="0">
                <a:solidFill>
                  <a:srgbClr val="000000"/>
                </a:solidFill>
              </a:rPr>
              <a:t>Normalization scales all features into a</a:t>
            </a:r>
          </a:p>
          <a:p>
            <a:r>
              <a:rPr lang="en-US" altLang="ko-KR" sz="4500" dirty="0">
                <a:solidFill>
                  <a:srgbClr val="000000"/>
                </a:solidFill>
              </a:rPr>
              <a:t>range of 0 to 1.</a:t>
            </a:r>
          </a:p>
        </p:txBody>
      </p:sp>
      <p:pic>
        <p:nvPicPr>
          <p:cNvPr id="5" name="Picture 4" descr="A table with numbers and text&#10;&#10;AI-generated content may be incorrect.">
            <a:extLst>
              <a:ext uri="{FF2B5EF4-FFF2-40B4-BE49-F238E27FC236}">
                <a16:creationId xmlns:a16="http://schemas.microsoft.com/office/drawing/2014/main" id="{342E4BC8-DB43-1BBA-AE01-795C8175F35C}"/>
              </a:ext>
            </a:extLst>
          </p:cNvPr>
          <p:cNvPicPr>
            <a:picLocks noChangeAspect="1"/>
          </p:cNvPicPr>
          <p:nvPr/>
        </p:nvPicPr>
        <p:blipFill>
          <a:blip r:embed="rId5"/>
          <a:stretch>
            <a:fillRect/>
          </a:stretch>
        </p:blipFill>
        <p:spPr>
          <a:xfrm>
            <a:off x="10751016" y="3352392"/>
            <a:ext cx="6058397" cy="5795939"/>
          </a:xfrm>
          <a:prstGeom prst="rect">
            <a:avLst/>
          </a:prstGeom>
        </p:spPr>
      </p:pic>
      <p:sp>
        <p:nvSpPr>
          <p:cNvPr id="2" name="TextBox 1">
            <a:extLst>
              <a:ext uri="{FF2B5EF4-FFF2-40B4-BE49-F238E27FC236}">
                <a16:creationId xmlns:a16="http://schemas.microsoft.com/office/drawing/2014/main" id="{8675CC95-D043-E09F-8F64-64C94E979F39}"/>
              </a:ext>
            </a:extLst>
          </p:cNvPr>
          <p:cNvSpPr txBox="1"/>
          <p:nvPr/>
        </p:nvSpPr>
        <p:spPr>
          <a:xfrm>
            <a:off x="884858" y="8391961"/>
            <a:ext cx="9376742" cy="784830"/>
          </a:xfrm>
          <a:prstGeom prst="rect">
            <a:avLst/>
          </a:prstGeom>
          <a:noFill/>
        </p:spPr>
        <p:txBody>
          <a:bodyPr wrap="square" rtlCol="0">
            <a:spAutoFit/>
          </a:bodyPr>
          <a:lstStyle/>
          <a:p>
            <a:r>
              <a:rPr lang="en-US" altLang="ko-KR" sz="4500" dirty="0">
                <a:solidFill>
                  <a:srgbClr val="000000"/>
                </a:solidFill>
              </a:rPr>
              <a:t>Note: This is susceptible to outliers.</a:t>
            </a:r>
          </a:p>
        </p:txBody>
      </p:sp>
      <p:pic>
        <p:nvPicPr>
          <p:cNvPr id="7" name="Picture 6" descr="A black text on a white background&#10;&#10;AI-generated content may be incorrect.">
            <a:extLst>
              <a:ext uri="{FF2B5EF4-FFF2-40B4-BE49-F238E27FC236}">
                <a16:creationId xmlns:a16="http://schemas.microsoft.com/office/drawing/2014/main" id="{3C2E9FAD-FC99-611D-F7A3-C6A58CE972F8}"/>
              </a:ext>
            </a:extLst>
          </p:cNvPr>
          <p:cNvPicPr>
            <a:picLocks noChangeAspect="1"/>
          </p:cNvPicPr>
          <p:nvPr/>
        </p:nvPicPr>
        <p:blipFill>
          <a:blip r:embed="rId6"/>
          <a:stretch>
            <a:fillRect/>
          </a:stretch>
        </p:blipFill>
        <p:spPr>
          <a:xfrm>
            <a:off x="3051051" y="5449574"/>
            <a:ext cx="4485934" cy="2942387"/>
          </a:xfrm>
          <a:prstGeom prst="rect">
            <a:avLst/>
          </a:prstGeom>
        </p:spPr>
      </p:pic>
    </p:spTree>
    <p:extLst>
      <p:ext uri="{BB962C8B-B14F-4D97-AF65-F5344CB8AC3E}">
        <p14:creationId xmlns:p14="http://schemas.microsoft.com/office/powerpoint/2010/main" val="35804049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5EE59-BD76-9464-5B85-02427EB454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9FA6580-8B6E-5B18-69CC-A4B85A43AD42}"/>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7075BC20-8B62-0F55-A82C-2DDF5D376017}"/>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6B3E57EE-A55D-AB11-CA18-5CFE5B1B21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60ED5160-2702-B646-5DDD-1E42060CD972}"/>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1F533F5F-2F61-2A95-DCD0-C0A333956C49}"/>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F69FC5D9-53FA-C7C6-CADA-D5B6A6769BC5}"/>
              </a:ext>
            </a:extLst>
          </p:cNvPr>
          <p:cNvSpPr txBox="1"/>
          <p:nvPr/>
        </p:nvSpPr>
        <p:spPr>
          <a:xfrm>
            <a:off x="884858" y="3352392"/>
            <a:ext cx="9376742" cy="2169825"/>
          </a:xfrm>
          <a:prstGeom prst="rect">
            <a:avLst/>
          </a:prstGeom>
          <a:noFill/>
        </p:spPr>
        <p:txBody>
          <a:bodyPr wrap="square" rtlCol="0">
            <a:spAutoFit/>
          </a:bodyPr>
          <a:lstStyle/>
          <a:p>
            <a:r>
              <a:rPr lang="en-US" altLang="ko-KR" sz="4500" b="1" dirty="0">
                <a:solidFill>
                  <a:srgbClr val="000000"/>
                </a:solidFill>
              </a:rPr>
              <a:t>Feature Scaling</a:t>
            </a:r>
          </a:p>
          <a:p>
            <a:r>
              <a:rPr lang="en-US" altLang="ko-KR" sz="4500" dirty="0">
                <a:solidFill>
                  <a:srgbClr val="000000"/>
                </a:solidFill>
              </a:rPr>
              <a:t>Standardization (z-score) measures the</a:t>
            </a:r>
          </a:p>
          <a:p>
            <a:r>
              <a:rPr lang="en-US" altLang="ko-KR" sz="4500" dirty="0">
                <a:solidFill>
                  <a:srgbClr val="000000"/>
                </a:solidFill>
              </a:rPr>
              <a:t>distance of each point from the mean.</a:t>
            </a:r>
          </a:p>
        </p:txBody>
      </p:sp>
      <p:sp>
        <p:nvSpPr>
          <p:cNvPr id="2" name="TextBox 1">
            <a:extLst>
              <a:ext uri="{FF2B5EF4-FFF2-40B4-BE49-F238E27FC236}">
                <a16:creationId xmlns:a16="http://schemas.microsoft.com/office/drawing/2014/main" id="{19750FA2-726A-E573-C5FA-0A046BB81C7F}"/>
              </a:ext>
            </a:extLst>
          </p:cNvPr>
          <p:cNvSpPr txBox="1"/>
          <p:nvPr/>
        </p:nvSpPr>
        <p:spPr>
          <a:xfrm>
            <a:off x="884858" y="8391961"/>
            <a:ext cx="9376742" cy="1477328"/>
          </a:xfrm>
          <a:prstGeom prst="rect">
            <a:avLst/>
          </a:prstGeom>
          <a:noFill/>
        </p:spPr>
        <p:txBody>
          <a:bodyPr wrap="square" rtlCol="0">
            <a:spAutoFit/>
          </a:bodyPr>
          <a:lstStyle/>
          <a:p>
            <a:r>
              <a:rPr lang="en-US" altLang="ko-KR" sz="4500" dirty="0">
                <a:solidFill>
                  <a:srgbClr val="000000"/>
                </a:solidFill>
              </a:rPr>
              <a:t>Note: Less susceptible to outliers, since</a:t>
            </a:r>
          </a:p>
          <a:p>
            <a:r>
              <a:rPr lang="en-US" altLang="ko-KR" sz="4500" dirty="0">
                <a:solidFill>
                  <a:srgbClr val="000000"/>
                </a:solidFill>
              </a:rPr>
              <a:t>it considers the standard deviation.</a:t>
            </a:r>
          </a:p>
        </p:txBody>
      </p:sp>
      <p:pic>
        <p:nvPicPr>
          <p:cNvPr id="9" name="Picture 8" descr="A black and white math equation&#10;&#10;AI-generated content may be incorrect.">
            <a:extLst>
              <a:ext uri="{FF2B5EF4-FFF2-40B4-BE49-F238E27FC236}">
                <a16:creationId xmlns:a16="http://schemas.microsoft.com/office/drawing/2014/main" id="{FC0794A2-44B8-1AA2-39AB-CAD98DFDEC41}"/>
              </a:ext>
            </a:extLst>
          </p:cNvPr>
          <p:cNvPicPr>
            <a:picLocks noChangeAspect="1"/>
          </p:cNvPicPr>
          <p:nvPr/>
        </p:nvPicPr>
        <p:blipFill>
          <a:blip r:embed="rId5"/>
          <a:stretch>
            <a:fillRect/>
          </a:stretch>
        </p:blipFill>
        <p:spPr>
          <a:xfrm>
            <a:off x="2979983" y="5522217"/>
            <a:ext cx="5186491" cy="3009777"/>
          </a:xfrm>
          <a:prstGeom prst="rect">
            <a:avLst/>
          </a:prstGeom>
        </p:spPr>
      </p:pic>
      <p:pic>
        <p:nvPicPr>
          <p:cNvPr id="11" name="Picture 10" descr="A table with numbers and text&#10;&#10;AI-generated content may be incorrect.">
            <a:extLst>
              <a:ext uri="{FF2B5EF4-FFF2-40B4-BE49-F238E27FC236}">
                <a16:creationId xmlns:a16="http://schemas.microsoft.com/office/drawing/2014/main" id="{5D361D6D-57BB-1029-A700-EA8CE50809A7}"/>
              </a:ext>
            </a:extLst>
          </p:cNvPr>
          <p:cNvPicPr>
            <a:picLocks noChangeAspect="1"/>
          </p:cNvPicPr>
          <p:nvPr/>
        </p:nvPicPr>
        <p:blipFill>
          <a:blip r:embed="rId6"/>
          <a:stretch>
            <a:fillRect/>
          </a:stretch>
        </p:blipFill>
        <p:spPr>
          <a:xfrm>
            <a:off x="11051617" y="3110374"/>
            <a:ext cx="6766069" cy="6543826"/>
          </a:xfrm>
          <a:prstGeom prst="rect">
            <a:avLst/>
          </a:prstGeom>
        </p:spPr>
      </p:pic>
    </p:spTree>
    <p:extLst>
      <p:ext uri="{BB962C8B-B14F-4D97-AF65-F5344CB8AC3E}">
        <p14:creationId xmlns:p14="http://schemas.microsoft.com/office/powerpoint/2010/main" val="3517791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F195E-C0AD-0C4C-0F3A-6D446EED43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DA1FF6-69A8-7CE0-A326-D05630615E86}"/>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8497D3CE-1038-EC97-3002-72649AB36E6D}"/>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882925C3-E12E-F7F9-8259-59A046B883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39080BB0-9F88-D979-1884-D0FF9E23AC0A}"/>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3CB3578F-8568-6946-7C07-E9D6F3D9BB71}"/>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1A17CBC0-A778-8E6D-2155-00B1083D111C}"/>
              </a:ext>
            </a:extLst>
          </p:cNvPr>
          <p:cNvSpPr txBox="1"/>
          <p:nvPr/>
        </p:nvSpPr>
        <p:spPr>
          <a:xfrm>
            <a:off x="884858" y="3352392"/>
            <a:ext cx="16107038" cy="4247317"/>
          </a:xfrm>
          <a:prstGeom prst="rect">
            <a:avLst/>
          </a:prstGeom>
          <a:noFill/>
        </p:spPr>
        <p:txBody>
          <a:bodyPr wrap="square" rtlCol="0">
            <a:spAutoFit/>
          </a:bodyPr>
          <a:lstStyle/>
          <a:p>
            <a:r>
              <a:rPr lang="en-US" altLang="ko-KR" sz="4500" b="1" dirty="0">
                <a:solidFill>
                  <a:srgbClr val="000000"/>
                </a:solidFill>
              </a:rPr>
              <a:t>Feature Engineering</a:t>
            </a:r>
          </a:p>
          <a:p>
            <a:endParaRPr lang="en-US" altLang="ko-KR" sz="4500" b="1" dirty="0">
              <a:solidFill>
                <a:srgbClr val="000000"/>
              </a:solidFill>
            </a:endParaRPr>
          </a:p>
          <a:p>
            <a:pPr marL="685800" indent="-685800">
              <a:buFont typeface="Arial" panose="020B0604020202020204" pitchFamily="34" charset="0"/>
              <a:buChar char="•"/>
            </a:pPr>
            <a:r>
              <a:rPr lang="en-US" altLang="ko-KR" sz="4500" dirty="0">
                <a:solidFill>
                  <a:srgbClr val="000000"/>
                </a:solidFill>
              </a:rPr>
              <a:t>Feature engineering refers to the use of domain knowledge to extract new features from data.</a:t>
            </a:r>
          </a:p>
          <a:p>
            <a:pPr marL="685800" indent="-685800">
              <a:buFont typeface="Arial" panose="020B0604020202020204" pitchFamily="34" charset="0"/>
              <a:buChar char="•"/>
            </a:pPr>
            <a:r>
              <a:rPr lang="en-US" altLang="ko-KR" sz="4500" dirty="0">
                <a:solidFill>
                  <a:srgbClr val="000000"/>
                </a:solidFill>
              </a:rPr>
              <a:t>This can help generate better insights and improve performance of machine learning algorithms.</a:t>
            </a:r>
          </a:p>
        </p:txBody>
      </p:sp>
    </p:spTree>
    <p:extLst>
      <p:ext uri="{BB962C8B-B14F-4D97-AF65-F5344CB8AC3E}">
        <p14:creationId xmlns:p14="http://schemas.microsoft.com/office/powerpoint/2010/main" val="41600998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E822E-401F-843E-56E1-1716E4A4A41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9791435-DCDB-C568-DE49-8AB2B8934D26}"/>
              </a:ext>
            </a:extLst>
          </p:cNvPr>
          <p:cNvSpPr txBox="1"/>
          <p:nvPr/>
        </p:nvSpPr>
        <p:spPr>
          <a:xfrm>
            <a:off x="1780674" y="3651428"/>
            <a:ext cx="184731" cy="369332"/>
          </a:xfrm>
          <a:prstGeom prst="rect">
            <a:avLst/>
          </a:prstGeom>
          <a:noFill/>
        </p:spPr>
        <p:txBody>
          <a:bodyPr wrap="none" rtlCol="0">
            <a:spAutoFit/>
          </a:bodyPr>
          <a:lstStyle/>
          <a:p>
            <a:endParaRPr kumimoji="1" lang="ko-KR" altLang="en-US">
              <a:latin typeface="+mj-lt"/>
            </a:endParaRPr>
          </a:p>
        </p:txBody>
      </p:sp>
      <p:pic>
        <p:nvPicPr>
          <p:cNvPr id="12" name="Picture 11">
            <a:extLst>
              <a:ext uri="{FF2B5EF4-FFF2-40B4-BE49-F238E27FC236}">
                <a16:creationId xmlns:a16="http://schemas.microsoft.com/office/drawing/2014/main" id="{41FF2615-F4AA-0599-D75D-D6DD43CC36EE}"/>
              </a:ext>
            </a:extLst>
          </p:cNvPr>
          <p:cNvPicPr>
            <a:picLocks noChangeAspect="1"/>
          </p:cNvPicPr>
          <p:nvPr/>
        </p:nvPicPr>
        <p:blipFill>
          <a:blip r:embed="rId3"/>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9F0244BE-6D39-15AF-59DD-0075792B3A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FE2B7D8D-6E6B-F0A8-D21D-2AA1EA653A01}"/>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63C029AA-0E4A-A692-8627-9E9BB822F421}"/>
              </a:ext>
            </a:extLst>
          </p:cNvPr>
          <p:cNvSpPr txBox="1"/>
          <p:nvPr/>
        </p:nvSpPr>
        <p:spPr>
          <a:xfrm>
            <a:off x="2107926" y="1502624"/>
            <a:ext cx="12952476" cy="1437701"/>
          </a:xfrm>
          <a:prstGeom prst="rect">
            <a:avLst/>
          </a:prstGeom>
          <a:noFill/>
        </p:spPr>
        <p:txBody>
          <a:bodyPr wrap="square" rtlCol="0">
            <a:spAutoFit/>
          </a:bodyPr>
          <a:lstStyle/>
          <a:p>
            <a:pPr algn="ctr">
              <a:lnSpc>
                <a:spcPct val="150000"/>
              </a:lnSpc>
              <a:buNone/>
            </a:pPr>
            <a:r>
              <a:rPr lang="en-US" altLang="ko-KR" sz="6500" b="1" dirty="0">
                <a:solidFill>
                  <a:srgbClr val="000000"/>
                </a:solidFill>
                <a:effectLst/>
                <a:latin typeface="+mj-lt"/>
              </a:rPr>
              <a:t>DATA PREPROCESSING</a:t>
            </a:r>
            <a:endParaRPr lang="en-US" altLang="ko-KR" sz="6500" b="1" dirty="0">
              <a:solidFill>
                <a:srgbClr val="000000"/>
              </a:solidFill>
              <a:latin typeface="+mj-lt"/>
            </a:endParaRPr>
          </a:p>
        </p:txBody>
      </p:sp>
      <p:sp>
        <p:nvSpPr>
          <p:cNvPr id="8" name="TextBox 7">
            <a:extLst>
              <a:ext uri="{FF2B5EF4-FFF2-40B4-BE49-F238E27FC236}">
                <a16:creationId xmlns:a16="http://schemas.microsoft.com/office/drawing/2014/main" id="{5BCBA216-B447-BE98-7D54-EA47BB1540F2}"/>
              </a:ext>
            </a:extLst>
          </p:cNvPr>
          <p:cNvSpPr txBox="1"/>
          <p:nvPr/>
        </p:nvSpPr>
        <p:spPr>
          <a:xfrm>
            <a:off x="884858" y="3352392"/>
            <a:ext cx="16107038" cy="4939814"/>
          </a:xfrm>
          <a:prstGeom prst="rect">
            <a:avLst/>
          </a:prstGeom>
          <a:noFill/>
        </p:spPr>
        <p:txBody>
          <a:bodyPr wrap="square" rtlCol="0">
            <a:spAutoFit/>
          </a:bodyPr>
          <a:lstStyle/>
          <a:p>
            <a:r>
              <a:rPr lang="en-US" altLang="ko-KR" sz="4500" b="1" dirty="0">
                <a:solidFill>
                  <a:srgbClr val="000000"/>
                </a:solidFill>
              </a:rPr>
              <a:t>Feature Engineering</a:t>
            </a:r>
          </a:p>
          <a:p>
            <a:endParaRPr lang="en-US" altLang="ko-KR" sz="4500" b="1" dirty="0">
              <a:solidFill>
                <a:srgbClr val="000000"/>
              </a:solidFill>
            </a:endParaRPr>
          </a:p>
          <a:p>
            <a:r>
              <a:rPr lang="en-US" altLang="ko-KR" sz="4500" dirty="0">
                <a:solidFill>
                  <a:srgbClr val="000000"/>
                </a:solidFill>
              </a:rPr>
              <a:t>Examples</a:t>
            </a:r>
          </a:p>
          <a:p>
            <a:pPr marL="1143000" lvl="1" indent="-685800">
              <a:buFont typeface="Arial" panose="020B0604020202020204" pitchFamily="34" charset="0"/>
              <a:buChar char="•"/>
            </a:pPr>
            <a:r>
              <a:rPr lang="en-US" altLang="ko-KR" sz="4500" dirty="0">
                <a:solidFill>
                  <a:srgbClr val="000000"/>
                </a:solidFill>
              </a:rPr>
              <a:t>From the height and weight, extract the body mass index</a:t>
            </a:r>
          </a:p>
          <a:p>
            <a:pPr marL="1143000" lvl="1" indent="-685800">
              <a:buFont typeface="Arial" panose="020B0604020202020204" pitchFamily="34" charset="0"/>
              <a:buChar char="•"/>
            </a:pPr>
            <a:r>
              <a:rPr lang="en-US" altLang="ko-KR" sz="4500" dirty="0">
                <a:solidFill>
                  <a:srgbClr val="000000"/>
                </a:solidFill>
              </a:rPr>
              <a:t>From the date, determine whether it is a holiday or not.</a:t>
            </a:r>
          </a:p>
          <a:p>
            <a:pPr marL="1143000" lvl="1" indent="-685800">
              <a:buFont typeface="Arial" panose="020B0604020202020204" pitchFamily="34" charset="0"/>
              <a:buChar char="•"/>
            </a:pPr>
            <a:r>
              <a:rPr lang="en-US" altLang="ko-KR" sz="4500" dirty="0">
                <a:solidFill>
                  <a:srgbClr val="000000"/>
                </a:solidFill>
              </a:rPr>
              <a:t>From the location, determine the nearest hospital/school/etc.</a:t>
            </a:r>
          </a:p>
          <a:p>
            <a:pPr marL="1143000" lvl="1" indent="-685800">
              <a:buFont typeface="Arial" panose="020B0604020202020204" pitchFamily="34" charset="0"/>
              <a:buChar char="•"/>
            </a:pPr>
            <a:r>
              <a:rPr lang="en-US" altLang="ko-KR" sz="4500" dirty="0">
                <a:solidFill>
                  <a:srgbClr val="000000"/>
                </a:solidFill>
              </a:rPr>
              <a:t>From the geo-coordinates (latitude), estimate the climate.</a:t>
            </a:r>
          </a:p>
        </p:txBody>
      </p:sp>
    </p:spTree>
    <p:extLst>
      <p:ext uri="{BB962C8B-B14F-4D97-AF65-F5344CB8AC3E}">
        <p14:creationId xmlns:p14="http://schemas.microsoft.com/office/powerpoint/2010/main" val="21119297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0CDCD16-A210-3C36-1AD5-F90444F5B4F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FEA4C46-6563-6E55-A2EF-BA2E914C2846}"/>
              </a:ext>
            </a:extLst>
          </p:cNvPr>
          <p:cNvSpPr txBox="1"/>
          <p:nvPr/>
        </p:nvSpPr>
        <p:spPr>
          <a:xfrm>
            <a:off x="1780674" y="3721768"/>
            <a:ext cx="184731" cy="369332"/>
          </a:xfrm>
          <a:prstGeom prst="rect">
            <a:avLst/>
          </a:prstGeom>
          <a:noFill/>
        </p:spPr>
        <p:txBody>
          <a:bodyPr wrap="none" rtlCol="0">
            <a:spAutoFit/>
          </a:bodyPr>
          <a:lstStyle/>
          <a:p>
            <a:endParaRPr kumimoji="1" lang="ko-KR" altLang="en-US"/>
          </a:p>
        </p:txBody>
      </p:sp>
      <p:sp>
        <p:nvSpPr>
          <p:cNvPr id="3" name="TextBox 2">
            <a:extLst>
              <a:ext uri="{FF2B5EF4-FFF2-40B4-BE49-F238E27FC236}">
                <a16:creationId xmlns:a16="http://schemas.microsoft.com/office/drawing/2014/main" id="{7E712D01-4209-0990-6492-FCEF27EEE080}"/>
              </a:ext>
            </a:extLst>
          </p:cNvPr>
          <p:cNvSpPr txBox="1"/>
          <p:nvPr/>
        </p:nvSpPr>
        <p:spPr>
          <a:xfrm>
            <a:off x="1406770" y="2429106"/>
            <a:ext cx="11752641" cy="6460230"/>
          </a:xfrm>
          <a:prstGeom prst="rect">
            <a:avLst/>
          </a:prstGeom>
          <a:noFill/>
        </p:spPr>
        <p:txBody>
          <a:bodyPr wrap="square" rtlCol="0">
            <a:spAutoFit/>
          </a:bodyPr>
          <a:lstStyle/>
          <a:p>
            <a:pPr>
              <a:lnSpc>
                <a:spcPct val="150000"/>
              </a:lnSpc>
              <a:defRPr sz="1800"/>
            </a:pPr>
            <a:r>
              <a:rPr lang="en-PH" sz="4000" dirty="0"/>
              <a:t>Thank you for listening!</a:t>
            </a:r>
          </a:p>
          <a:p>
            <a:pPr>
              <a:lnSpc>
                <a:spcPct val="150000"/>
              </a:lnSpc>
              <a:defRPr sz="1800"/>
            </a:pPr>
            <a:endParaRPr lang="en-PH" sz="4000" i="1" dirty="0"/>
          </a:p>
          <a:p>
            <a:pPr>
              <a:lnSpc>
                <a:spcPct val="150000"/>
              </a:lnSpc>
              <a:defRPr sz="1800"/>
            </a:pPr>
            <a:endParaRPr lang="en-PH" sz="4000" i="1" dirty="0"/>
          </a:p>
          <a:p>
            <a:pPr>
              <a:lnSpc>
                <a:spcPct val="150000"/>
              </a:lnSpc>
              <a:defRPr sz="1800"/>
            </a:pPr>
            <a:r>
              <a:rPr lang="en-PH" sz="4000" i="1" dirty="0"/>
              <a:t>Let’s Connect:</a:t>
            </a:r>
            <a:br>
              <a:rPr lang="en-PH" sz="4000" i="1" dirty="0"/>
            </a:br>
            <a:r>
              <a:rPr lang="en-PH" sz="4000" b="1" dirty="0"/>
              <a:t>Gabriel Avelino Sampedro, Ph.D</a:t>
            </a:r>
            <a:r>
              <a:rPr lang="en-PH" sz="4000" i="1" dirty="0"/>
              <a:t>.</a:t>
            </a:r>
          </a:p>
          <a:p>
            <a:pPr>
              <a:lnSpc>
                <a:spcPct val="150000"/>
              </a:lnSpc>
              <a:defRPr sz="1800"/>
            </a:pPr>
            <a:r>
              <a:rPr lang="en-PH" sz="4000" i="1" dirty="0">
                <a:hlinkClick r:id="rId3"/>
              </a:rPr>
              <a:t>garsampedro@ieee.org</a:t>
            </a:r>
            <a:endParaRPr lang="en-PH" sz="4000" i="1" dirty="0"/>
          </a:p>
          <a:p>
            <a:pPr>
              <a:lnSpc>
                <a:spcPct val="150000"/>
              </a:lnSpc>
              <a:defRPr sz="1800"/>
            </a:pPr>
            <a:r>
              <a:rPr lang="en-PH" sz="4000" i="1" dirty="0"/>
              <a:t>WhatsApp: +63 999 992 9515</a:t>
            </a:r>
            <a:endParaRPr lang="en-PH" sz="3600" i="1" dirty="0"/>
          </a:p>
        </p:txBody>
      </p:sp>
      <p:pic>
        <p:nvPicPr>
          <p:cNvPr id="12" name="Picture 11">
            <a:extLst>
              <a:ext uri="{FF2B5EF4-FFF2-40B4-BE49-F238E27FC236}">
                <a16:creationId xmlns:a16="http://schemas.microsoft.com/office/drawing/2014/main" id="{8D1708CE-A71B-EAF5-F29B-ED26B7455234}"/>
              </a:ext>
            </a:extLst>
          </p:cNvPr>
          <p:cNvPicPr>
            <a:picLocks noChangeAspect="1"/>
          </p:cNvPicPr>
          <p:nvPr/>
        </p:nvPicPr>
        <p:blipFill>
          <a:blip r:embed="rId4"/>
          <a:stretch>
            <a:fillRect/>
          </a:stretch>
        </p:blipFill>
        <p:spPr>
          <a:xfrm>
            <a:off x="334109" y="346606"/>
            <a:ext cx="2145322" cy="1186388"/>
          </a:xfrm>
          <a:prstGeom prst="rect">
            <a:avLst/>
          </a:prstGeom>
        </p:spPr>
      </p:pic>
      <p:pic>
        <p:nvPicPr>
          <p:cNvPr id="13" name="Picture 2" descr="Unveiling Partnerships that Make Science Castle Philippines 2025 Possible |  Leave a Nest">
            <a:extLst>
              <a:ext uri="{FF2B5EF4-FFF2-40B4-BE49-F238E27FC236}">
                <a16:creationId xmlns:a16="http://schemas.microsoft.com/office/drawing/2014/main" id="{135529EE-43A1-F955-B87B-8CD5D4A6AD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60402" y="0"/>
            <a:ext cx="2605806" cy="19543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C7D2095C-21EE-DC2B-8B17-A4F7317372B1}"/>
              </a:ext>
            </a:extLst>
          </p:cNvPr>
          <p:cNvCxnSpPr/>
          <p:nvPr/>
        </p:nvCxnSpPr>
        <p:spPr>
          <a:xfrm>
            <a:off x="2816352" y="896112"/>
            <a:ext cx="12244050" cy="0"/>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504633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8C010A4030C30940AC5B3B3E5099227D" ma:contentTypeVersion="5" ma:contentTypeDescription="새 문서를 만듭니다." ma:contentTypeScope="" ma:versionID="3db2be6f11029d7e283f406f4e4a40eb">
  <xsd:schema xmlns:xsd="http://www.w3.org/2001/XMLSchema" xmlns:xs="http://www.w3.org/2001/XMLSchema" xmlns:p="http://schemas.microsoft.com/office/2006/metadata/properties" xmlns:ns3="ad3ea3dd-8c76-4c68-85d7-d38a05f43789" targetNamespace="http://schemas.microsoft.com/office/2006/metadata/properties" ma:root="true" ma:fieldsID="58d87fa2133091d014aa0cf80148812c" ns3:_="">
    <xsd:import namespace="ad3ea3dd-8c76-4c68-85d7-d38a05f43789"/>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3ea3dd-8c76-4c68-85d7-d38a05f437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D5E26E-5AF7-4D5D-9167-3C1A55DD158D}">
  <ds:schemaRefs>
    <ds:schemaRef ds:uri="ad3ea3dd-8c76-4c68-85d7-d38a05f4378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4E9B8C8-33FE-4201-A048-261AE8E6062B}">
  <ds:schemaRefs>
    <ds:schemaRef ds:uri="http://schemas.microsoft.com/office/2006/metadata/properties"/>
    <ds:schemaRef ds:uri="http://schemas.microsoft.com/office/2006/documentManagement/types"/>
    <ds:schemaRef ds:uri="http://purl.org/dc/terms/"/>
    <ds:schemaRef ds:uri="http://schemas.microsoft.com/office/infopath/2007/PartnerControls"/>
    <ds:schemaRef ds:uri="ad3ea3dd-8c76-4c68-85d7-d38a05f43789"/>
    <ds:schemaRef ds:uri="http://purl.org/dc/elements/1.1/"/>
    <ds:schemaRef ds:uri="http://purl.org/dc/dcmitype/"/>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79C5D3C-9C26-449E-A7E8-2BB6BB68DA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3166</TotalTime>
  <Words>2255</Words>
  <Application>Microsoft Macintosh PowerPoint</Application>
  <PresentationFormat>Custom</PresentationFormat>
  <Paragraphs>420</Paragraphs>
  <Slides>71</Slides>
  <Notes>70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71</vt:i4>
      </vt:variant>
    </vt:vector>
  </HeadingPairs>
  <TitlesOfParts>
    <vt:vector size="75" baseType="lpstr">
      <vt:lpstr>Arial</vt:lpstr>
      <vt:lpstr>Calibri</vt:lpstr>
      <vt:lpstr>맑은 고딕</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LG</dc:creator>
  <cp:lastModifiedBy>The Academic Editor</cp:lastModifiedBy>
  <cp:revision>199</cp:revision>
  <dcterms:created xsi:type="dcterms:W3CDTF">2006-08-16T00:00:00Z</dcterms:created>
  <dcterms:modified xsi:type="dcterms:W3CDTF">2025-12-12T01:29:23Z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0x0101008C010A4030C30940AC5B3B3E5099227D</vt:lpwstr>
  </property>
</Properties>
</file>