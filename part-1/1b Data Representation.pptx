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4"/>
  </p:notesMasterIdLst>
  <p:sldIdLst>
    <p:sldId id="256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291" r:id="rId33"/>
  </p:sldIdLst>
  <p:sldSz cx="18288000" cy="10287000"/>
  <p:notesSz cx="6858000" cy="9144000"/>
  <p:embeddedFontLst>
    <p:embeddedFont>
      <p:font typeface="맑은 고딕" panose="020B0503020000020004" pitchFamily="34" charset="-127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AD7"/>
    <a:srgbClr val="E46C0A"/>
    <a:srgbClr val="EC1651"/>
    <a:srgbClr val="FBC422"/>
    <a:srgbClr val="FE98F9"/>
    <a:srgbClr val="F9C7C9"/>
    <a:srgbClr val="394CB5"/>
    <a:srgbClr val="EC4A52"/>
    <a:srgbClr val="FAB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 autoAdjust="0"/>
    <p:restoredTop sz="85159" autoAdjust="0"/>
  </p:normalViewPr>
  <p:slideViewPr>
    <p:cSldViewPr snapToGrid="0">
      <p:cViewPr varScale="1">
        <p:scale>
          <a:sx n="68" d="100"/>
          <a:sy n="68" d="100"/>
        </p:scale>
        <p:origin x="8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054AF-692A-42DF-91F9-81DF289757A7}" type="datetimeFigureOut">
              <a:rPr lang="ko-KR" altLang="en-US" smtClean="0"/>
              <a:t>2025. 12. 12.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5E348-0E32-436E-906A-2326BDCE49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77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6F20-9B57-DEA2-B31F-26125375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D1FFF-A716-DFC9-C0B9-5DC24035F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D9C62-B8C3-4533-0ED1-F7683F771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55F09-E607-4E77-B473-12670B290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3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B6A3-5C04-4181-7490-990AE3CC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A0B9B-EFE2-0F6E-2F24-FC224FA31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4B62F-AC0E-09F8-A35B-55070A0E6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151F-E2A1-DA36-45DC-97FE8E224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721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94CC-A0BD-F6CA-F699-E15369C88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9E19B-2745-4AA0-03C4-9D1FC857E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9835A-67B5-281D-E996-633C4FD4C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A3C67-1AE5-F324-A3FC-4EBB3CE96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916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873E-C15E-39D0-CA70-9F087557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045CA-EA64-3549-1507-0ED9D6FAB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AE56A-CC10-E858-DBC7-1E91CE2F9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6CBE2-F62C-AFC9-D2F9-92610C4E5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17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64774-0177-241D-F9C1-2D10B8CE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F77DB-93F8-D5A7-A24B-D7FF373B2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A2DE5-8D23-B260-1523-E4DAFEAC0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5930-2144-EBF8-588D-6C8F1655C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00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7DD88-1D9D-B5FB-59A8-33C8A6D9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E78EF-8910-4F53-A7F5-78F5B7387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74A66-EE58-B507-AE11-94CD0727A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C1DD6-5AC1-E8C5-B858-A608F294B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55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9C47-390D-0A09-40FF-66DD8F72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EA27B-B960-C955-9CC5-88B27DBB4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270FB-5F77-5BFD-A06A-9C3BC8EC5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23EA9-1B03-6DD6-CA93-A194A5CC8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224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3BF29-9FFE-B585-EFBC-3AD09A9A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F987A-511A-0EB6-B6C5-441C9A13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5D1BC-24FB-EFFC-28EA-8C102A92D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58FCD-4805-918C-60F0-BFC565224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93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DF150-C0E4-392B-D051-4826D115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E9CAF-0C78-5E70-DBA6-5AF7273FE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5FDCB-6750-2703-26C4-19D0913B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CCCCB-4B49-81B7-3BBD-0F4678955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773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DDAB-510B-4A2E-05AA-653FC6C0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FFCF5-5E58-4853-ADEA-8ADAE0503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44EEF-0C06-B64A-FC5B-027B131F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F933-33B3-F7C6-EDA7-F82DCFC0F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193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2D3F-8B1D-011F-82BE-95AABD2D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A6F1F-A404-D455-8623-D5862C617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890CC-10DE-3C30-BF7E-BDF32E6C6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D5087-E5BF-4863-D966-4841F883F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280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AB95-054C-8C0F-F8A4-9A8932D8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8379D-CE67-437C-2DCC-F7073A8E5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33F3B-24BA-B8AF-7BBA-755798A5A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70B14-DFA9-F040-F5B5-2B7E56D79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726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1CAFC-F605-0923-0E63-3A29C959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22B92-23AB-5633-A516-56C75EE0A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2FBC1-02A7-B035-6A05-E1A646FC6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C80CB-9B5D-5023-C086-3443C1640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891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DA80-1DA1-8C76-4BAF-D6B060E8D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45ACC-0A16-1605-50EB-14EAC5477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5463A-CCB2-5DE4-80E9-129F78683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1095B-F431-CF5F-6500-5523D970D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96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5361-C627-7155-0CE4-E461F2272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69740-818C-6827-91F7-D732A737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C21D9-D71B-B603-05A3-0CBF968A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999E3-E397-B624-A281-A24E570A1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82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CF2D-7F9E-E8A3-DBE6-C39D19C9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871F8-55D8-DB91-9171-ED59FF351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9C0C4-870A-8100-DE7B-217678CF8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9D35B-5C0D-B5A2-FA35-0A16EFFF1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049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E02C-53F2-51A5-3FDD-2A28220C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08F22-D097-A337-A58F-BC551BE85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44B6E-E5B0-3AB9-DEC7-160AF037F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DE470-74BB-16F0-8AF6-1CE483121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8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61FF-D0DA-FA3C-E4AD-A9B8B502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3B94F-C568-DD8D-3488-841FEFD0D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6E203-4F55-75CA-F5A2-7DA274203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9F563-B6F0-F607-E0C7-B19C17A95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233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A3424-BF53-C6CD-05AD-F0844B86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F4BAB-2E10-3488-EE59-D72EAEC4F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1B17A-AE70-8593-316D-E846FBE4A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17EBA-CE0A-FB38-4580-935D7FE8C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4041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3B1D-E7DF-8F1E-DE1A-AAC1FD61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0EC99-AA38-FFE5-4B2C-E7848CF64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1E043-FB31-99DB-B314-08A3C3840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F57F7-946F-E742-2230-F7D409FCC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195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2356-5D2A-C7FA-8BBE-8F1667AB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3E67D-AFE8-5904-D7AA-666DFB3C9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A8BC2-E642-A170-2EB0-92C26569F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CD091-565A-486F-8441-F477B5FD8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670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725C-DD47-06F1-8008-365A7FD0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957A7-BE59-2322-3E24-34D52F97A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76472-8DBB-F001-9033-8F25552C3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8AF99-0B18-21D1-360B-CCEC44351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613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9AE7-8350-1595-9442-CB7C4485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C671C-C98B-6DAA-DD93-A6808E6B0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7F490-7F8A-86B0-AE76-CAF3916E9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F9860-ABE2-4722-6FD0-8C9DB22CE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347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599EF-EBFC-C0E2-AB6B-4F77B7C36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ADEF5-D374-E748-90FF-51B90CBF7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BB8FD-0CA2-E0D3-52F4-9E6D9356E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54D0C-E408-52C2-7643-B06BFFCBC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7785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678BE-25ED-BCED-BC60-B4DEF2D7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97E2A-50D6-EAEA-2C12-14C231340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08EEA-FC19-17B5-55B7-E59727E9B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11078-5452-F30D-338B-E8E49F23C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8095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A510-FF97-5D20-576B-04307381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66A9D-43B2-EAB5-2AAC-53A02F23D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65C60-5BD0-3243-7A89-1D4AC3965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79F45-F699-E101-893C-1C03CCD3F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2084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A25C-EAFA-CCAB-67D4-AB31EF3E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2A3F6-B2C7-DD11-E8D6-FE41A40DA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9B6E4-11A0-52CB-9011-75C3F3468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D6A29-50A0-1A02-F148-43496F422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797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3758-4F56-1F48-E1AF-B8A58BD2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340F5-11C5-642A-27CB-28B553567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E2D72-1DA0-90B0-293E-56D0EC843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5D877-627F-F00F-F2C5-313C6EE0F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5E348-0E32-436E-906A-2326BDCE49F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230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garsampedro@ieee.org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39800"/>
            <a:ext cx="9906000" cy="12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523F20-348A-0B6C-1F4E-A7CDC2322569}"/>
              </a:ext>
            </a:extLst>
          </p:cNvPr>
          <p:cNvSpPr txBox="1"/>
          <p:nvPr/>
        </p:nvSpPr>
        <p:spPr>
          <a:xfrm>
            <a:off x="1780674" y="3721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90244-C446-989A-CC4E-D088DD1E92BD}"/>
              </a:ext>
            </a:extLst>
          </p:cNvPr>
          <p:cNvSpPr txBox="1"/>
          <p:nvPr/>
        </p:nvSpPr>
        <p:spPr>
          <a:xfrm>
            <a:off x="888474" y="3696950"/>
            <a:ext cx="176281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Data Representation</a:t>
            </a:r>
            <a:endParaRPr lang="en-PH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A9BD-2359-CFFE-2216-6789969E2063}"/>
              </a:ext>
            </a:extLst>
          </p:cNvPr>
          <p:cNvSpPr txBox="1"/>
          <p:nvPr/>
        </p:nvSpPr>
        <p:spPr>
          <a:xfrm>
            <a:off x="888474" y="7334672"/>
            <a:ext cx="1260960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800" b="1" dirty="0"/>
              <a:t>Gabriel Avelino Sampedro, Ph.D.</a:t>
            </a:r>
            <a:endParaRPr lang="en-PH" sz="2800" dirty="0"/>
          </a:p>
          <a:p>
            <a:r>
              <a:rPr lang="en-PH" sz="2800" dirty="0"/>
              <a:t>Chairman, Korean Institute of Communications and Information Sciences - PH Section</a:t>
            </a:r>
          </a:p>
          <a:p>
            <a:r>
              <a:rPr lang="en-PH" sz="2800" dirty="0"/>
              <a:t>Founder / CEO, Philippine Coding Camp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084F3-CBBE-2C10-FCCF-2275C594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93" y="364079"/>
            <a:ext cx="3567184" cy="1972695"/>
          </a:xfrm>
          <a:prstGeom prst="rect">
            <a:avLst/>
          </a:prstGeom>
        </p:spPr>
      </p:pic>
      <p:pic>
        <p:nvPicPr>
          <p:cNvPr id="7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76074BCB-4457-350E-D4A1-7193CDE04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5538" y="0"/>
            <a:ext cx="3282462" cy="246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3960-984A-185E-48BA-C5C1BDF5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10A8B4-0906-4368-A0A0-23D020B5183D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9CBE87-2B9B-0797-AF25-12AC7B91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BB9B0DCE-58BA-12A8-55AA-E1441F122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56AF08-41A3-5587-B085-C2C45E35F50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422D79-788C-906F-5E6F-504A3D108991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31C108-DB1E-B537-0653-351A7C65988D}"/>
              </a:ext>
            </a:extLst>
          </p:cNvPr>
          <p:cNvSpPr txBox="1"/>
          <p:nvPr/>
        </p:nvSpPr>
        <p:spPr>
          <a:xfrm>
            <a:off x="884858" y="3020486"/>
            <a:ext cx="1610703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800" dirty="0">
                <a:solidFill>
                  <a:srgbClr val="000000"/>
                </a:solidFill>
                <a:effectLst/>
              </a:rPr>
              <a:t>Real-world data must be represented into a data structure to</a:t>
            </a:r>
          </a:p>
          <a:p>
            <a:pPr algn="ctr">
              <a:buNone/>
            </a:pPr>
            <a:r>
              <a:rPr lang="en-US" altLang="ko-KR" sz="3800" dirty="0">
                <a:solidFill>
                  <a:srgbClr val="000000"/>
                </a:solidFill>
                <a:effectLst/>
              </a:rPr>
              <a:t>apply computer algorithms for analysis.</a:t>
            </a:r>
          </a:p>
        </p:txBody>
      </p:sp>
      <p:pic>
        <p:nvPicPr>
          <p:cNvPr id="1028" name="Picture 4" descr="File - Free files and folders icons">
            <a:extLst>
              <a:ext uri="{FF2B5EF4-FFF2-40B4-BE49-F238E27FC236}">
                <a16:creationId xmlns:a16="http://schemas.microsoft.com/office/drawing/2014/main" id="{B4CE5B9A-41DF-27B8-2FA7-7FED28754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029" y="4789599"/>
            <a:ext cx="2794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C7059C-B7D7-0E19-D954-1A17D6FF3D66}"/>
              </a:ext>
            </a:extLst>
          </p:cNvPr>
          <p:cNvSpPr txBox="1"/>
          <p:nvPr/>
        </p:nvSpPr>
        <p:spPr>
          <a:xfrm>
            <a:off x="4376029" y="7823632"/>
            <a:ext cx="27939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500" b="1" dirty="0">
                <a:solidFill>
                  <a:srgbClr val="000000"/>
                </a:solidFill>
                <a:effectLst/>
                <a:latin typeface="+mj-lt"/>
              </a:rPr>
              <a:t>Real-world Data</a:t>
            </a:r>
            <a:endParaRPr lang="en-US" altLang="ko-KR" sz="3500" b="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1030" name="Picture 6" descr="Table - Free web icons">
            <a:extLst>
              <a:ext uri="{FF2B5EF4-FFF2-40B4-BE49-F238E27FC236}">
                <a16:creationId xmlns:a16="http://schemas.microsoft.com/office/drawing/2014/main" id="{0D40C60C-5D4C-9E32-FFA4-5C09C38D7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6039" y="4458187"/>
            <a:ext cx="3456823" cy="345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57CE95-F47B-3020-F084-9EF6C542A365}"/>
              </a:ext>
            </a:extLst>
          </p:cNvPr>
          <p:cNvSpPr txBox="1"/>
          <p:nvPr/>
        </p:nvSpPr>
        <p:spPr>
          <a:xfrm>
            <a:off x="9883683" y="7823631"/>
            <a:ext cx="39705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3500" b="1" dirty="0">
                <a:solidFill>
                  <a:srgbClr val="000000"/>
                </a:solidFill>
                <a:effectLst/>
                <a:latin typeface="+mj-lt"/>
              </a:rPr>
              <a:t>Data Structure Representation</a:t>
            </a:r>
            <a:endParaRPr lang="en-US" altLang="ko-KR" sz="3500" b="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1032" name="Picture 8" descr="Right arrow - Free arrows icons">
            <a:extLst>
              <a:ext uri="{FF2B5EF4-FFF2-40B4-BE49-F238E27FC236}">
                <a16:creationId xmlns:a16="http://schemas.microsoft.com/office/drawing/2014/main" id="{BAB95DFC-27E8-8B7D-A851-70DDF6776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214" y="5697648"/>
            <a:ext cx="977900" cy="97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97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B1CFA-7810-96B2-240C-CAA8D288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2917E6B-9FC7-C518-CA66-ED04DF9CE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FEE3DCAC-0A6E-EA86-DF73-7360D09D7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820D6D-8628-B53E-D6BE-F04510F77C35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50474E-4089-49D5-C69E-A04701C35405}"/>
              </a:ext>
            </a:extLst>
          </p:cNvPr>
          <p:cNvSpPr txBox="1"/>
          <p:nvPr/>
        </p:nvSpPr>
        <p:spPr>
          <a:xfrm>
            <a:off x="2107926" y="4424649"/>
            <a:ext cx="12952476" cy="1644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7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7500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9955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1EFE7-B1A2-6384-B7E4-D4160C7F5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4AB7A3-4CEC-CB33-E88F-8913371C9451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F67786-C3B5-83FC-0584-61D912D0E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D64EEFFB-99FD-5215-A1BB-89D99AFAD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4A964C-D5BE-C886-2176-D6BB5A7264E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A49E53-0B74-6042-6254-7C7A3EF887F9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DB3F-5D51-65E6-1C58-EC601CBE3EDF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A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data matrix 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is a common representation of data</a:t>
            </a:r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D56E5A92-4A0B-CF54-DA5C-7E3145A23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064" y="3140743"/>
            <a:ext cx="8695751" cy="515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1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54C9-0B55-C7F9-D7BD-210983B3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FD4B67-2A8C-802E-7FA0-C6F843BCEE70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653D29-385F-94C8-112C-148393717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F195E792-5FC3-7EC8-804B-8E0AF6952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24D861-19F1-8DAA-DC7B-5D543BBBB8FA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AF98C2-3E96-A9CD-116D-6DE255068D47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3BE87-076E-0785-FFD3-6E44F37581E7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Each row is a single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observation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in the dataset.</a:t>
            </a:r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24F4E79E-41EC-C2DC-98CD-77FCC324B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634" y="3140743"/>
            <a:ext cx="8789758" cy="50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4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E05FE-4FFD-A027-09C0-04FD3093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4775DA-160E-D969-3D70-39C2553A50B4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C6B35-9DDD-39EC-EC9D-561F8EE65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94481938-C8BB-A004-9850-EB9EFA397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46642F-ABCD-BC3F-AE94-821A89BE7749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B69D88-B848-34C1-33B6-F4EF3CB6D08A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3CAE7-8BFC-7A3E-18CE-CED8823344E3}"/>
              </a:ext>
            </a:extLst>
          </p:cNvPr>
          <p:cNvSpPr txBox="1"/>
          <p:nvPr/>
        </p:nvSpPr>
        <p:spPr>
          <a:xfrm>
            <a:off x="884858" y="8683002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Each column is a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variable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, which represents a characteristic of each observation.</a:t>
            </a:r>
          </a:p>
        </p:txBody>
      </p:sp>
      <p:pic>
        <p:nvPicPr>
          <p:cNvPr id="6" name="Picture 5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C29390D3-1382-16ED-94E2-441C9AA4F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449" y="3316777"/>
            <a:ext cx="8362819" cy="487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4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6BE1-3C45-6396-FFFC-29465AC02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5883BC-489F-5B20-D418-96CF066C3B75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F6AA9A-1A3A-C216-BEC0-6A73335F5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8FD0BB16-1C88-3A64-6EAF-F14F80D51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E01E0F-2857-989A-A8D6-FB800DC348DA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E3FAC2-41D3-BF51-62B3-23542E139DF3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C447F-3D69-89C4-4A9B-1AD16A41F4EB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Each variable is of a certain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type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of data.</a:t>
            </a:r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EE9B9F09-71E8-EDA6-D901-01469D334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449" y="3316777"/>
            <a:ext cx="8452355" cy="487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0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1984-760F-D81F-0011-822032C1C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B50EC6-DD83-FBB5-F2FF-59BA4E4E4487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62E039-DC07-AF12-8F34-4C6E22EF0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CD0802FB-ACAD-3448-A94A-ECE86AAD4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27FFB1-72DC-A0D6-FCCD-5729DC5F7BF5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731974-521F-8E7A-F40F-AB1B0F1D378D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245D6-B4F3-E2BC-E102-95F0E476C028}"/>
              </a:ext>
            </a:extLst>
          </p:cNvPr>
          <p:cNvSpPr txBox="1"/>
          <p:nvPr/>
        </p:nvSpPr>
        <p:spPr>
          <a:xfrm>
            <a:off x="884858" y="2899690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b="1" dirty="0">
                <a:solidFill>
                  <a:srgbClr val="000000"/>
                </a:solidFill>
                <a:effectLst/>
              </a:rPr>
              <a:t>pandas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(panel data) is a Python package designed for analysis of tabular data represented as vectors and matrices.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FEF58-36EA-5ACB-4BA9-547C8569F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5980" y="4337391"/>
            <a:ext cx="11304422" cy="55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2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C7282-066C-21AF-35DE-21275C8A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873BD5-3A30-2DF1-13A5-0CE7B57E8C91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F12CBC-2F01-26EA-A266-83516F21A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E2BC3883-889B-DBC2-0131-366604F5C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FD05D5-E951-2A0A-CB3A-CC9FE72DA58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E1E81A7-F6E3-F9C2-A554-558156426E99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CC059-E770-CE61-6439-9C5947AEB133}"/>
              </a:ext>
            </a:extLst>
          </p:cNvPr>
          <p:cNvSpPr txBox="1"/>
          <p:nvPr/>
        </p:nvSpPr>
        <p:spPr>
          <a:xfrm>
            <a:off x="884858" y="2899690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b="1" dirty="0">
                <a:solidFill>
                  <a:srgbClr val="000000"/>
                </a:solidFill>
                <a:effectLst/>
              </a:rPr>
              <a:t>pandas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works seamlessly with other data science libraries for Python.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C059E7D-A8C1-3BC8-7AEC-45C7E84B4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770" y="4552911"/>
            <a:ext cx="15447342" cy="382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3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763D-A330-CBB8-957B-513D1E5C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B4F12-2B37-C033-3947-007F8BB679EE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01CF33-2EB5-E235-996B-78CE7C95B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0579EB0D-4084-13F3-DF55-DF9803FB2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1468DF-F8B1-A9C5-7094-EADE14C85A62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253EB7-BF84-96A9-79D5-8CC42E9779BC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67623-8824-00AD-0D23-707ED289F690}"/>
              </a:ext>
            </a:extLst>
          </p:cNvPr>
          <p:cNvSpPr txBox="1"/>
          <p:nvPr/>
        </p:nvSpPr>
        <p:spPr>
          <a:xfrm>
            <a:off x="884858" y="3376766"/>
            <a:ext cx="8259142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5000" b="1" dirty="0" err="1">
                <a:solidFill>
                  <a:srgbClr val="000000"/>
                </a:solidFill>
                <a:effectLst/>
              </a:rPr>
              <a:t>DataFrame</a:t>
            </a:r>
            <a:endParaRPr lang="en-US" altLang="ko-KR" sz="5000" b="1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US" altLang="ko-KR" sz="4000" b="1" dirty="0">
              <a:solidFill>
                <a:srgbClr val="000000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The primary pandas data structure.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Two-dimensional, size-mutable, potentially heterogeneous tabular data.</a:t>
            </a:r>
          </a:p>
        </p:txBody>
      </p:sp>
      <p:pic>
        <p:nvPicPr>
          <p:cNvPr id="6" name="Picture 5" descr="A table with names and numbers&#10;&#10;AI-generated content may be incorrect.">
            <a:extLst>
              <a:ext uri="{FF2B5EF4-FFF2-40B4-BE49-F238E27FC236}">
                <a16:creationId xmlns:a16="http://schemas.microsoft.com/office/drawing/2014/main" id="{C6FC6893-F490-AD21-3061-3DDCAB393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559" y="3543912"/>
            <a:ext cx="7073260" cy="55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63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4DD4-5D01-C7AE-051F-DC96DE05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F024F-FDFF-ABF8-57C3-286C6076F80F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527645-47A9-A030-2C22-ACE6796EF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1B92469A-FC61-0BCE-A31C-470161DB0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6FAD42-088A-FBBA-E335-901F48ABB167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B74C8E-35B6-F99C-B664-43067089D1A1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244921-8B07-7EF0-607D-DCA432C2B09D}"/>
              </a:ext>
            </a:extLst>
          </p:cNvPr>
          <p:cNvSpPr txBox="1"/>
          <p:nvPr/>
        </p:nvSpPr>
        <p:spPr>
          <a:xfrm>
            <a:off x="884858" y="3376766"/>
            <a:ext cx="8259142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5000" b="1" dirty="0" err="1">
                <a:solidFill>
                  <a:srgbClr val="000000"/>
                </a:solidFill>
                <a:effectLst/>
              </a:rPr>
              <a:t>DataFrame</a:t>
            </a:r>
            <a:endParaRPr lang="en-US" altLang="ko-KR" sz="5000" b="1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endParaRPr lang="en-US" altLang="ko-KR" sz="4000" b="1" dirty="0">
              <a:solidFill>
                <a:srgbClr val="000000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Data structure also contains labeled axes.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Arithmetic operations align on both row and column labels.</a:t>
            </a:r>
          </a:p>
          <a:p>
            <a:endParaRPr lang="en-US" altLang="ko-KR" sz="4000" dirty="0">
              <a:solidFill>
                <a:srgbClr val="000000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Can be thought of as a </a:t>
            </a:r>
            <a:r>
              <a:rPr lang="en-US" altLang="ko-KR" sz="4000" dirty="0" err="1">
                <a:solidFill>
                  <a:srgbClr val="000000"/>
                </a:solidFill>
                <a:effectLst/>
              </a:rPr>
              <a:t>dict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-like container for Series objects.</a:t>
            </a:r>
          </a:p>
        </p:txBody>
      </p:sp>
      <p:pic>
        <p:nvPicPr>
          <p:cNvPr id="6" name="Picture 5" descr="A table with names and numbers&#10;&#10;AI-generated content may be incorrect.">
            <a:extLst>
              <a:ext uri="{FF2B5EF4-FFF2-40B4-BE49-F238E27FC236}">
                <a16:creationId xmlns:a16="http://schemas.microsoft.com/office/drawing/2014/main" id="{BBDB3BDC-4880-E72E-3181-DA8C74499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559" y="3543912"/>
            <a:ext cx="7073260" cy="557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0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D5904-F9C5-D6D7-1B01-6A96235F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39CEF6-5AAF-9D6A-EA38-F3A41C377B8D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1086E4-D125-188B-6306-1C3499A1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2BD4A2FE-065C-B377-57EF-240AEA0E9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2B2047-6C9A-2AEA-5F61-DA8BF2667EC7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9C1601-6BEB-44A6-02F9-6206651E871A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322C96-88D1-14DE-8562-C83537D82045}"/>
              </a:ext>
            </a:extLst>
          </p:cNvPr>
          <p:cNvSpPr txBox="1"/>
          <p:nvPr/>
        </p:nvSpPr>
        <p:spPr>
          <a:xfrm>
            <a:off x="1780674" y="3376766"/>
            <a:ext cx="1057054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Series</a:t>
            </a:r>
            <a:endParaRPr lang="en-US" altLang="ko-KR" sz="4000" b="1" dirty="0">
              <a:solidFill>
                <a:srgbClr val="000000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One-dimensional </a:t>
            </a:r>
            <a:r>
              <a:rPr lang="en-US" altLang="ko-KR" sz="4000" b="1" dirty="0" err="1">
                <a:solidFill>
                  <a:srgbClr val="000000"/>
                </a:solidFill>
                <a:effectLst/>
              </a:rPr>
              <a:t>ndarray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with axis labels.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Labels do not need to be unique.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The object supports both integer- and label-based indexing.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Operations between Series align values based on their associated index values – they do not need to be of the same length.</a:t>
            </a:r>
          </a:p>
        </p:txBody>
      </p:sp>
      <p:pic>
        <p:nvPicPr>
          <p:cNvPr id="5" name="Picture 4" descr="A group of names on a white background&#10;&#10;AI-generated content may be incorrect.">
            <a:extLst>
              <a:ext uri="{FF2B5EF4-FFF2-40B4-BE49-F238E27FC236}">
                <a16:creationId xmlns:a16="http://schemas.microsoft.com/office/drawing/2014/main" id="{789008A2-D115-F27B-592A-658FBBB40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3111" y="3376766"/>
            <a:ext cx="3474581" cy="555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1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6F39-051B-3A24-6B93-A5F0A54C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AFFE41-EDE0-C2D1-9345-17973715C562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76A617-C9E5-4631-10AF-5032DCE1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8F28B96B-AC45-F2D9-3168-DA1CBA11D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71D93F-36DA-546D-7020-573FA3779208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6953F4D-A9BC-2707-8713-F7A79369DA0E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D842B6-586D-E197-B03F-137575644360}"/>
              </a:ext>
            </a:extLst>
          </p:cNvPr>
          <p:cNvSpPr txBox="1"/>
          <p:nvPr/>
        </p:nvSpPr>
        <p:spPr>
          <a:xfrm>
            <a:off x="884858" y="2899690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A </a:t>
            </a:r>
            <a:r>
              <a:rPr lang="en-US" altLang="ko-KR" sz="4000" b="1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is a combination of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multiple Series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5" name="Picture 4" descr="A diagram of a series of numbers&#10;&#10;AI-generated content may be incorrect.">
            <a:extLst>
              <a:ext uri="{FF2B5EF4-FFF2-40B4-BE49-F238E27FC236}">
                <a16:creationId xmlns:a16="http://schemas.microsoft.com/office/drawing/2014/main" id="{DBE567F8-056A-F8F4-E7A6-0F809EEA1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209" y="3969646"/>
            <a:ext cx="13804335" cy="478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36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A25E7-E04C-A90E-FD78-CA898E23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BF0CE3-7E48-B5E0-C96A-B8E9618EAF4D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F30738-7106-BE7A-8ABF-9B2CD683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62B5F335-5C53-E884-61DF-944058904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FFFF3D-0528-F365-8943-E554AF53798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815BA4C-6CA6-6411-8C05-09843558105C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594DC-E746-4785-57EC-BDF8F3C171DB}"/>
              </a:ext>
            </a:extLst>
          </p:cNvPr>
          <p:cNvSpPr txBox="1"/>
          <p:nvPr/>
        </p:nvSpPr>
        <p:spPr>
          <a:xfrm>
            <a:off x="884858" y="2899690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Applying an operation on a Series by a scalar performs the operation on each member of the Series.</a:t>
            </a:r>
          </a:p>
        </p:txBody>
      </p:sp>
      <p:pic>
        <p:nvPicPr>
          <p:cNvPr id="6" name="Picture 5" descr="A diagram of a number and a number&#10;&#10;AI-generated content may be incorrect.">
            <a:extLst>
              <a:ext uri="{FF2B5EF4-FFF2-40B4-BE49-F238E27FC236}">
                <a16:creationId xmlns:a16="http://schemas.microsoft.com/office/drawing/2014/main" id="{58B4530F-5595-3F70-87B1-798AD5D36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7528" y="4337391"/>
            <a:ext cx="9801697" cy="532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7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11E2-8637-496D-4BCE-3101AA88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8FC532-34FD-7BA3-DBA2-E26F7D238682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C653D0-AB0D-716C-555B-9D32CEB93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D80C17AC-0EDC-9D49-EAF2-91D813868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CAC813-2719-3562-8D26-9ADDB0780364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5E5145-2B5A-6235-FA4C-6B39B310FF53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A5C5F-9FBB-9F7D-148B-41626546C7F3}"/>
              </a:ext>
            </a:extLst>
          </p:cNvPr>
          <p:cNvSpPr txBox="1"/>
          <p:nvPr/>
        </p:nvSpPr>
        <p:spPr>
          <a:xfrm>
            <a:off x="884858" y="2899690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Applying an operation on a Series and another Series performs the operation element-wise.</a:t>
            </a:r>
          </a:p>
        </p:txBody>
      </p:sp>
      <p:pic>
        <p:nvPicPr>
          <p:cNvPr id="5" name="Picture 4" descr="A diagram of a number and a series&#10;&#10;AI-generated content may be incorrect.">
            <a:extLst>
              <a:ext uri="{FF2B5EF4-FFF2-40B4-BE49-F238E27FC236}">
                <a16:creationId xmlns:a16="http://schemas.microsoft.com/office/drawing/2014/main" id="{401B8F00-0DA4-6D95-A41B-4C1EB9E76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6352" y="4223129"/>
            <a:ext cx="11990591" cy="556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4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78DE-DEB1-0F13-064B-A82D22E13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D16347-531A-A898-CCDD-D058859220EF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CB649D-F5DF-C599-EDE5-8F7CDD024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955A73D7-2690-0691-15A6-11A95E450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00F77A-21D1-55BE-B355-2CF0523E122A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ADD465-3EE7-93DE-C75B-9DDDDF366AE6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78250-9894-50C1-EF97-7CE25F4433CB}"/>
              </a:ext>
            </a:extLst>
          </p:cNvPr>
          <p:cNvSpPr txBox="1"/>
          <p:nvPr/>
        </p:nvSpPr>
        <p:spPr>
          <a:xfrm>
            <a:off x="884858" y="2899690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You can use ? In </a:t>
            </a:r>
            <a:r>
              <a:rPr lang="en-US" altLang="ko-KR" sz="4000" dirty="0" err="1">
                <a:solidFill>
                  <a:srgbClr val="000000"/>
                </a:solidFill>
                <a:effectLst/>
              </a:rPr>
              <a:t>Jupyter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for any function to quickly view its documentation.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For example, to find out how the </a:t>
            </a:r>
            <a:r>
              <a:rPr lang="en-US" altLang="ko-KR" sz="4000" dirty="0" err="1">
                <a:solidFill>
                  <a:srgbClr val="000000"/>
                </a:solidFill>
                <a:effectLst/>
              </a:rPr>
              <a:t>read_csv</a:t>
            </a:r>
            <a:r>
              <a:rPr lang="en-US" altLang="ko-KR" sz="4000" dirty="0">
                <a:solidFill>
                  <a:srgbClr val="000000"/>
                </a:solidFill>
                <a:effectLst/>
              </a:rPr>
              <a:t> function works:</a:t>
            </a:r>
          </a:p>
        </p:txBody>
      </p:sp>
      <p:pic>
        <p:nvPicPr>
          <p:cNvPr id="6" name="Picture 5" descr="A black arrow pointing to a white box&#10;&#10;AI-generated content may be incorrect.">
            <a:extLst>
              <a:ext uri="{FF2B5EF4-FFF2-40B4-BE49-F238E27FC236}">
                <a16:creationId xmlns:a16="http://schemas.microsoft.com/office/drawing/2014/main" id="{D62CF785-1D7D-414C-270D-872566402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89" y="4680495"/>
            <a:ext cx="16201221" cy="471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43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B397-088C-24B8-3BE3-F3458A1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CC5CA8A-9560-3625-8EED-EB2704C7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EEB94FC9-6E61-2E55-4364-A10903CCA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DA35BD-7C31-2A80-E88A-8D5E7C53E80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AA7C19-4E1E-80A0-544A-5AAD4107D215}"/>
              </a:ext>
            </a:extLst>
          </p:cNvPr>
          <p:cNvSpPr txBox="1"/>
          <p:nvPr/>
        </p:nvSpPr>
        <p:spPr>
          <a:xfrm>
            <a:off x="2107926" y="4424649"/>
            <a:ext cx="12952476" cy="1644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7500" b="1" dirty="0">
                <a:solidFill>
                  <a:srgbClr val="000000"/>
                </a:solidFill>
                <a:effectLst/>
                <a:latin typeface="+mj-lt"/>
              </a:rPr>
              <a:t>BASIC OPERATIONS</a:t>
            </a:r>
            <a:endParaRPr lang="en-US" altLang="ko-KR" sz="7500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757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0BE82-2B74-709E-5386-3ECCCBC3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B859816-7347-4700-D5C2-826352577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B3FDAC93-85EB-CEE6-7DAE-682157621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7822D2-C46B-D043-C4AB-11CFC4E3F610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206378-104A-4190-0BDF-5872FA6442A0}"/>
              </a:ext>
            </a:extLst>
          </p:cNvPr>
          <p:cNvSpPr txBox="1"/>
          <p:nvPr/>
        </p:nvSpPr>
        <p:spPr>
          <a:xfrm>
            <a:off x="2107926" y="1239775"/>
            <a:ext cx="12952476" cy="1644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7500" b="1" dirty="0">
                <a:solidFill>
                  <a:srgbClr val="000000"/>
                </a:solidFill>
                <a:effectLst/>
                <a:latin typeface="+mj-lt"/>
              </a:rPr>
              <a:t>BASIC OPERATIONS</a:t>
            </a:r>
            <a:endParaRPr lang="en-US" altLang="ko-KR" sz="7500" b="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4" name="Picture 3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23C90E31-233E-0FF1-98C5-73E61C53A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912" y="2847524"/>
            <a:ext cx="13600175" cy="680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60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8E0C1-9228-404C-E04B-BC251392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7442CB-E33A-C09A-6498-5DD14120FC17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9B1CD8-DDB3-B595-BAC6-34AFC803E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F4339E8A-0C83-CB5A-C3B2-716D3CE00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A3D4A5-39A9-28C7-F5B1-AA73EEA1B8BD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B285498-B3B3-7279-2185-0D87468FB732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latin typeface="+mj-lt"/>
              </a:rPr>
              <a:t>BASIC 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2265D-1E6C-A595-08D7-4D804209E413}"/>
              </a:ext>
            </a:extLst>
          </p:cNvPr>
          <p:cNvSpPr txBox="1"/>
          <p:nvPr/>
        </p:nvSpPr>
        <p:spPr>
          <a:xfrm>
            <a:off x="884858" y="3516465"/>
            <a:ext cx="825914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View Dataset Info</a:t>
            </a:r>
          </a:p>
          <a:p>
            <a:pPr>
              <a:buNone/>
            </a:pPr>
            <a:endParaRPr lang="en-US" altLang="ko-KR" sz="4000" b="1" dirty="0">
              <a:solidFill>
                <a:srgbClr val="000000"/>
              </a:solidFill>
              <a:effectLst/>
            </a:endParaRPr>
          </a:p>
          <a:p>
            <a:r>
              <a:rPr lang="en-US" altLang="ko-KR" sz="4000" dirty="0">
                <a:solidFill>
                  <a:srgbClr val="000000"/>
                </a:solidFill>
                <a:effectLst/>
              </a:rPr>
              <a:t>View dataset information such as the variables, the datatype of each variable, the number of observations, the number of missing values, and other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6E239-2958-4D37-ECF9-381A8B523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898" y="3516466"/>
            <a:ext cx="7897321" cy="53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0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C9A0-B6A9-6B03-73D4-B0CFB8072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44534D-4D5A-86EE-9FC6-A89EA03E61E9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B2FBC1-C04A-B323-8B99-5F2856183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2A981D0C-28B1-1E35-5BC3-A8E1F52B3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5CD23A-8C42-B1A4-001C-27777A493901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39106B-71DD-8937-D483-3AA55F70F257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458FA-D048-DAB9-EE59-5FA7E68F5DCC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Select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8EEB5-6E4B-CA6E-0E63-8579DF13914D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Select CSMODEL column as a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Series</a:t>
            </a:r>
          </a:p>
        </p:txBody>
      </p:sp>
      <p:pic>
        <p:nvPicPr>
          <p:cNvPr id="10" name="Picture 9" descr="A black and white text on a rectangular sign&#10;&#10;AI-generated content may be incorrect.">
            <a:extLst>
              <a:ext uri="{FF2B5EF4-FFF2-40B4-BE49-F238E27FC236}">
                <a16:creationId xmlns:a16="http://schemas.microsoft.com/office/drawing/2014/main" id="{B8C15EDF-0415-15F2-5BC8-DCF3289F6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263" y="3916030"/>
            <a:ext cx="12181802" cy="464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29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94031-7D6D-56F3-6680-C72CC37D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94B8A-A6BC-F11C-4909-49026124DAD8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CBB682-E431-5636-5E29-349B57115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04C0C4C1-67B1-E8C7-2A1A-F679B86C6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3DE0BB-A4AB-5624-1DB1-CC96D2DBDFE9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7E24DD-5D49-2191-CDFF-9048F37F9AE9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C1505-C4DD-8973-C740-7965C216BA4F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Select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3738D-53EE-EAB6-98BB-11EB89333996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Select ID and CSMODEL columns as a </a:t>
            </a:r>
            <a:r>
              <a:rPr lang="en-US" altLang="ko-KR" sz="4000" b="1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32883A82-94D4-5A83-26E2-A0B447644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437" y="4020760"/>
            <a:ext cx="12586965" cy="42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613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5E194-1814-1561-1712-55F9F4B6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D475C-2500-F07A-6C66-1DC1EBBA100F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BFCCE4-3A16-1CE2-A822-24A191C8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E377C834-18DD-CD72-12F9-1CB3C16E5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747618-8A48-8A2E-9D24-A629466463AB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A47AF1E-6372-4339-168E-6E064086360B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395C1-3148-7274-EE6B-1C5EFF8676A2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Select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14E8F-FED6-86A9-5475-529DC41086C3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Select the second observation as a 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Series.</a:t>
            </a:r>
          </a:p>
        </p:txBody>
      </p:sp>
      <p:pic>
        <p:nvPicPr>
          <p:cNvPr id="8" name="Picture 7" descr="A diagram of a model&#10;&#10;AI-generated content may be incorrect.">
            <a:extLst>
              <a:ext uri="{FF2B5EF4-FFF2-40B4-BE49-F238E27FC236}">
                <a16:creationId xmlns:a16="http://schemas.microsoft.com/office/drawing/2014/main" id="{15358B9A-FE1D-569E-144F-E8908A7EB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926" y="3916030"/>
            <a:ext cx="14330988" cy="47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57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29DC-8BE9-5262-187F-302E38B3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D8C7F7-EDC2-D924-3D5B-0D114123E993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85BA29-9CDC-4DC7-368A-000D36007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3D0EA157-EF22-83CC-CD31-86F78BBAF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E4AA89-334C-B362-13A5-C3FCB7B0CAFF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96DB1C9-3476-F6AE-0BC1-A6243F321FEB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92C24-825E-5CF2-A257-1CE08BD8E2CE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Select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BEA01-C1A6-E7AD-9196-EF1F2711A373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Select the 2nd to 3rd observations as a </a:t>
            </a:r>
            <a:r>
              <a:rPr lang="en-US" altLang="ko-KR" sz="4000" b="1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altLang="ko-KR" sz="4000" b="1" dirty="0">
                <a:solidFill>
                  <a:srgbClr val="000000"/>
                </a:solidFill>
                <a:effectLst/>
              </a:rPr>
              <a:t>.</a:t>
            </a:r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B5FDC045-CEEE-D56C-A22F-4B511F08F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244" y="3835168"/>
            <a:ext cx="15491652" cy="45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22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56CC7-2740-0EA9-175D-C22BF5F1E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3E55B2-6A64-21AF-5E3A-E05FC9842769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B58D59-FF27-6F2E-279E-DE9B3F88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85C0B70F-CD13-CFFE-116C-4B46909F0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03332-25CE-F3A7-0808-39966DED2BF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6D0ACD3-1818-F146-80BF-9CBE6AE1805A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A01B8-DE1F-3937-5814-E6DDDE5F1872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Filter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4096E-F22A-CB1A-394E-8D858F6F7BF8}"/>
              </a:ext>
            </a:extLst>
          </p:cNvPr>
          <p:cNvSpPr txBox="1"/>
          <p:nvPr/>
        </p:nvSpPr>
        <p:spPr>
          <a:xfrm>
            <a:off x="884858" y="8683002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Select observations where CSMODEL</a:t>
            </a:r>
          </a:p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grade is 3.0 or above.</a:t>
            </a:r>
            <a:endParaRPr lang="en-US" altLang="ko-KR" sz="4000" b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8" name="Picture 7" descr="A diagram of a model&#10;&#10;AI-generated content may be incorrect.">
            <a:extLst>
              <a:ext uri="{FF2B5EF4-FFF2-40B4-BE49-F238E27FC236}">
                <a16:creationId xmlns:a16="http://schemas.microsoft.com/office/drawing/2014/main" id="{A1AEA5F5-CDEB-2EDA-D926-E65AD1612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039" y="4120415"/>
            <a:ext cx="14671910" cy="420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2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C00E-FE52-3F21-53EA-95913DF86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C3AC4-07FB-B3C4-4303-30D69E16BEB7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4B474B-D84B-F968-3004-A7C4F77BD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55FEB97C-6013-00A0-0C0F-7D90060A9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4B18A3D-285C-A9E3-0545-A3013A04D7AE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85933FC-A078-1733-6979-3E7F4A26489C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D24D6-9E52-9100-FF7F-9BF11B29F49E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Sort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2A9D7-BB46-839C-F73B-0AA6B98F2C77}"/>
              </a:ext>
            </a:extLst>
          </p:cNvPr>
          <p:cNvSpPr txBox="1"/>
          <p:nvPr/>
        </p:nvSpPr>
        <p:spPr>
          <a:xfrm>
            <a:off x="884858" y="8683002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Sort observations according</a:t>
            </a:r>
          </a:p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to CSMODEL grade.</a:t>
            </a:r>
            <a:endParaRPr lang="en-US" altLang="ko-KR" sz="4000" b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9E22A657-8A2E-2D5E-1900-5BC8FEE62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129" y="3914244"/>
            <a:ext cx="14644496" cy="461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40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6575A-5209-F058-D29F-EF3DB4E6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FDF07A-A2A5-E294-258C-0611FBCC068C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D0E146-EDD3-EA3F-3C5C-253448934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D201638F-28BF-47BD-5BFF-BD554369D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0090CD-CFDE-92BC-CA84-C45C20CB4F69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B89FF2E-635D-8646-E8D2-E9389036CB45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6C86D-4FF9-6545-A0F0-889DB9EC2009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Add New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6DD5A-5954-FD5C-AD50-E48456F07FB7}"/>
              </a:ext>
            </a:extLst>
          </p:cNvPr>
          <p:cNvSpPr txBox="1"/>
          <p:nvPr/>
        </p:nvSpPr>
        <p:spPr>
          <a:xfrm>
            <a:off x="884858" y="8683002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Add new column “Type” where the value if “Good” if CSMODEL grade is at least 3.0 and “Okay” otherwise.</a:t>
            </a:r>
            <a:endParaRPr lang="en-US" altLang="ko-KR" sz="4000" b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Picture 9" descr="A table with numbers and a number&#10;&#10;AI-generated content may be incorrect.">
            <a:extLst>
              <a:ext uri="{FF2B5EF4-FFF2-40B4-BE49-F238E27FC236}">
                <a16:creationId xmlns:a16="http://schemas.microsoft.com/office/drawing/2014/main" id="{65EC8894-E463-EDDE-478C-E297B4DC2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96" y="4106675"/>
            <a:ext cx="16331408" cy="431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66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9047-C82F-755A-90FD-67ECCD52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149535-B153-339E-12A4-ABB8981125BB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D1C4D2-379A-1C9E-A239-CDFFD91D2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EA49FB26-22C8-C1BE-7FA4-58D60A71A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524193-D38C-01E6-EC6F-3A555E17892C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5A133B-9D40-C759-80E0-B0EBAB6A4888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C8BF1-61EA-1877-943E-66A0A1EB80A3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Aggregate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BB777-7627-BCDA-693D-31323BCF75EF}"/>
              </a:ext>
            </a:extLst>
          </p:cNvPr>
          <p:cNvSpPr txBox="1"/>
          <p:nvPr/>
        </p:nvSpPr>
        <p:spPr>
          <a:xfrm>
            <a:off x="884858" y="8683002"/>
            <a:ext cx="16107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Get the average for column CSMODEL.</a:t>
            </a:r>
            <a:endParaRPr lang="en-US" altLang="ko-KR" sz="4000" b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5" name="Picture 4" descr="A black and white chart with white text&#10;&#10;AI-generated content may be incorrect.">
            <a:extLst>
              <a:ext uri="{FF2B5EF4-FFF2-40B4-BE49-F238E27FC236}">
                <a16:creationId xmlns:a16="http://schemas.microsoft.com/office/drawing/2014/main" id="{9F1F4710-E11E-F464-70F9-218ED1F44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039" y="3836094"/>
            <a:ext cx="14594849" cy="47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3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F29BD-CA10-8487-496B-71347D15A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A1A7A5-17F9-CE12-0560-9930C418DBAA}"/>
              </a:ext>
            </a:extLst>
          </p:cNvPr>
          <p:cNvSpPr txBox="1"/>
          <p:nvPr/>
        </p:nvSpPr>
        <p:spPr>
          <a:xfrm>
            <a:off x="1780674" y="3651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89B096-B0B0-2FEB-FF6F-65DE0B541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8628D11A-A51B-CC8D-4B2A-5DD2E5BDE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B7C385-06FB-9484-870F-51855A21BC45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4EFE99D-D473-7F03-A7D0-06D987A20EC8}"/>
              </a:ext>
            </a:extLst>
          </p:cNvPr>
          <p:cNvSpPr txBox="1"/>
          <p:nvPr/>
        </p:nvSpPr>
        <p:spPr>
          <a:xfrm>
            <a:off x="2107926" y="1532994"/>
            <a:ext cx="12952476" cy="143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6500" b="1" dirty="0">
                <a:solidFill>
                  <a:srgbClr val="000000"/>
                </a:solidFill>
                <a:effectLst/>
                <a:latin typeface="+mj-lt"/>
              </a:rPr>
              <a:t>DATA REPRESENTATION</a:t>
            </a:r>
            <a:endParaRPr lang="en-US" altLang="ko-KR" sz="65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3BF37-146F-3475-615F-54388884D10B}"/>
              </a:ext>
            </a:extLst>
          </p:cNvPr>
          <p:cNvSpPr txBox="1"/>
          <p:nvPr/>
        </p:nvSpPr>
        <p:spPr>
          <a:xfrm>
            <a:off x="884858" y="2899690"/>
            <a:ext cx="161070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5000" b="1" dirty="0">
                <a:solidFill>
                  <a:srgbClr val="000000"/>
                </a:solidFill>
                <a:effectLst/>
              </a:rPr>
              <a:t>Group by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5EF36-9E87-08ED-6B38-736B268321F5}"/>
              </a:ext>
            </a:extLst>
          </p:cNvPr>
          <p:cNvSpPr txBox="1"/>
          <p:nvPr/>
        </p:nvSpPr>
        <p:spPr>
          <a:xfrm>
            <a:off x="884858" y="8683002"/>
            <a:ext cx="1610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Group the data by section. Then, get the min and</a:t>
            </a:r>
          </a:p>
          <a:p>
            <a:pPr algn="ctr">
              <a:buNone/>
            </a:pPr>
            <a:r>
              <a:rPr lang="en-US" altLang="ko-KR" sz="4000" dirty="0">
                <a:solidFill>
                  <a:srgbClr val="000000"/>
                </a:solidFill>
                <a:effectLst/>
              </a:rPr>
              <a:t>max grade per section for CSMODEL.</a:t>
            </a:r>
            <a:endParaRPr lang="en-US" altLang="ko-KR" sz="4000" b="1" dirty="0">
              <a:solidFill>
                <a:srgbClr val="000000"/>
              </a:solidFill>
              <a:effectLst/>
            </a:endParaRPr>
          </a:p>
        </p:txBody>
      </p:sp>
      <p:pic>
        <p:nvPicPr>
          <p:cNvPr id="8" name="Picture 7" descr="A diagram of a model&#10;&#10;AI-generated content may be incorrect.">
            <a:extLst>
              <a:ext uri="{FF2B5EF4-FFF2-40B4-BE49-F238E27FC236}">
                <a16:creationId xmlns:a16="http://schemas.microsoft.com/office/drawing/2014/main" id="{95C3787F-CC3D-5AC2-FB4F-139418038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270" y="4064527"/>
            <a:ext cx="13694459" cy="426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57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DCD16-A210-3C36-1AD5-F90444F5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EA4C46-6563-6E55-A2EF-BA2E914C2846}"/>
              </a:ext>
            </a:extLst>
          </p:cNvPr>
          <p:cNvSpPr txBox="1"/>
          <p:nvPr/>
        </p:nvSpPr>
        <p:spPr>
          <a:xfrm>
            <a:off x="1780674" y="3721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12D01-4209-0990-6492-FCEF27EEE080}"/>
              </a:ext>
            </a:extLst>
          </p:cNvPr>
          <p:cNvSpPr txBox="1"/>
          <p:nvPr/>
        </p:nvSpPr>
        <p:spPr>
          <a:xfrm>
            <a:off x="1406770" y="2429106"/>
            <a:ext cx="11752641" cy="646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lang="en-PH" sz="4000" dirty="0"/>
              <a:t>Thank you for listening!</a:t>
            </a:r>
          </a:p>
          <a:p>
            <a:pPr>
              <a:lnSpc>
                <a:spcPct val="150000"/>
              </a:lnSpc>
              <a:defRPr sz="1800"/>
            </a:pPr>
            <a:endParaRPr lang="en-PH" sz="4000" i="1" dirty="0"/>
          </a:p>
          <a:p>
            <a:pPr>
              <a:lnSpc>
                <a:spcPct val="150000"/>
              </a:lnSpc>
              <a:defRPr sz="1800"/>
            </a:pPr>
            <a:endParaRPr lang="en-PH" sz="4000" i="1" dirty="0"/>
          </a:p>
          <a:p>
            <a:pPr>
              <a:lnSpc>
                <a:spcPct val="150000"/>
              </a:lnSpc>
              <a:defRPr sz="1800"/>
            </a:pPr>
            <a:r>
              <a:rPr lang="en-PH" sz="4000" i="1" dirty="0"/>
              <a:t>Let’s Connect:</a:t>
            </a:r>
            <a:br>
              <a:rPr lang="en-PH" sz="4000" i="1" dirty="0"/>
            </a:br>
            <a:r>
              <a:rPr lang="en-PH" sz="4000" b="1" dirty="0"/>
              <a:t>Gabriel Avelino Sampedro, Ph.D</a:t>
            </a:r>
            <a:r>
              <a:rPr lang="en-PH" sz="4000" i="1" dirty="0"/>
              <a:t>.</a:t>
            </a:r>
          </a:p>
          <a:p>
            <a:pPr>
              <a:lnSpc>
                <a:spcPct val="150000"/>
              </a:lnSpc>
              <a:defRPr sz="1800"/>
            </a:pPr>
            <a:r>
              <a:rPr lang="en-PH" sz="4000" i="1" dirty="0">
                <a:hlinkClick r:id="rId3"/>
              </a:rPr>
              <a:t>garsampedro@ieee.org</a:t>
            </a:r>
            <a:endParaRPr lang="en-PH" sz="4000" i="1" dirty="0"/>
          </a:p>
          <a:p>
            <a:pPr>
              <a:lnSpc>
                <a:spcPct val="150000"/>
              </a:lnSpc>
              <a:defRPr sz="1800"/>
            </a:pPr>
            <a:r>
              <a:rPr lang="en-PH" sz="4000" i="1" dirty="0"/>
              <a:t>WhatsApp: +63 999 992 9515</a:t>
            </a:r>
            <a:endParaRPr lang="en-PH" sz="3600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1708CE-A71B-EAF5-F29B-ED26B7455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09" y="346606"/>
            <a:ext cx="2145322" cy="1186388"/>
          </a:xfrm>
          <a:prstGeom prst="rect">
            <a:avLst/>
          </a:prstGeom>
        </p:spPr>
      </p:pic>
      <p:pic>
        <p:nvPicPr>
          <p:cNvPr id="13" name="Picture 2" descr="Unveiling Partnerships that Make Science Castle Philippines 2025 Possible |  Leave a Nest">
            <a:extLst>
              <a:ext uri="{FF2B5EF4-FFF2-40B4-BE49-F238E27FC236}">
                <a16:creationId xmlns:a16="http://schemas.microsoft.com/office/drawing/2014/main" id="{135529EE-43A1-F955-B87B-8CD5D4A6A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0402" y="0"/>
            <a:ext cx="2605806" cy="195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D2095C-21EE-DC2B-8B17-A4F7317372B1}"/>
              </a:ext>
            </a:extLst>
          </p:cNvPr>
          <p:cNvCxnSpPr/>
          <p:nvPr/>
        </p:nvCxnSpPr>
        <p:spPr>
          <a:xfrm>
            <a:off x="2816352" y="896112"/>
            <a:ext cx="12244050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463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C010A4030C30940AC5B3B3E5099227D" ma:contentTypeVersion="5" ma:contentTypeDescription="새 문서를 만듭니다." ma:contentTypeScope="" ma:versionID="3db2be6f11029d7e283f406f4e4a40eb">
  <xsd:schema xmlns:xsd="http://www.w3.org/2001/XMLSchema" xmlns:xs="http://www.w3.org/2001/XMLSchema" xmlns:p="http://schemas.microsoft.com/office/2006/metadata/properties" xmlns:ns3="ad3ea3dd-8c76-4c68-85d7-d38a05f43789" targetNamespace="http://schemas.microsoft.com/office/2006/metadata/properties" ma:root="true" ma:fieldsID="58d87fa2133091d014aa0cf80148812c" ns3:_="">
    <xsd:import namespace="ad3ea3dd-8c76-4c68-85d7-d38a05f437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3ea3dd-8c76-4c68-85d7-d38a05f437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9C5D3C-9C26-449E-A7E8-2BB6BB68DA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D5E26E-5AF7-4D5D-9167-3C1A55DD158D}">
  <ds:schemaRefs>
    <ds:schemaRef ds:uri="ad3ea3dd-8c76-4c68-85d7-d38a05f437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E9B8C8-33FE-4201-A048-261AE8E6062B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ad3ea3dd-8c76-4c68-85d7-d38a05f43789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552</Words>
  <Application>Microsoft Macintosh PowerPoint</Application>
  <PresentationFormat>Custom</PresentationFormat>
  <Paragraphs>119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맑은 고딕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LG</dc:creator>
  <cp:lastModifiedBy>The Academic Editor</cp:lastModifiedBy>
  <cp:revision>133</cp:revision>
  <dcterms:created xsi:type="dcterms:W3CDTF">2006-08-16T00:00:00Z</dcterms:created>
  <dcterms:modified xsi:type="dcterms:W3CDTF">2025-12-12T01:29:31Z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0x0101008C010A4030C30940AC5B3B3E5099227D</vt:lpwstr>
  </property>
</Properties>
</file>